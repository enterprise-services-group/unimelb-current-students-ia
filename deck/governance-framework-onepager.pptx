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14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192" y="2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3491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9418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Code POC Governance Framework — Draft for Discussion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Assuring safe experimentation with custom code in the Squiz digital web content platform  ·  Draft v0.1  ·  June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94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658368" cy="365760"/>
          </a:xfrm>
          <a:prstGeom prst="rect">
            <a:avLst/>
          </a:prstGeom>
          <a:solidFill>
            <a:srgbClr val="09418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365760" y="1170432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097280" y="1170432"/>
            <a:ext cx="713232" cy="365760"/>
          </a:xfrm>
          <a:prstGeom prst="rect">
            <a:avLst/>
          </a:prstGeom>
          <a:solidFill>
            <a:srgbClr val="09418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1097280" y="1170432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883664" y="1170432"/>
            <a:ext cx="502920" cy="365760"/>
          </a:xfrm>
          <a:prstGeom prst="rect">
            <a:avLst/>
          </a:prstGeom>
          <a:solidFill>
            <a:srgbClr val="09418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1883664" y="11704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459736" y="1170432"/>
            <a:ext cx="640080" cy="365760"/>
          </a:xfrm>
          <a:prstGeom prst="rect">
            <a:avLst/>
          </a:prstGeom>
          <a:solidFill>
            <a:srgbClr val="09418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2459736" y="11704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172968" y="1170432"/>
            <a:ext cx="804672" cy="365760"/>
          </a:xfrm>
          <a:prstGeom prst="rect">
            <a:avLst/>
          </a:prstGeom>
          <a:solidFill>
            <a:srgbClr val="09418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3172968" y="1170432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(measure)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050792" y="1170432"/>
            <a:ext cx="704088" cy="164592"/>
          </a:xfrm>
          <a:prstGeom prst="rect">
            <a:avLst/>
          </a:prstGeom>
          <a:solidFill>
            <a:srgbClr val="1B8C3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4050792" y="1170432"/>
            <a:ext cx="704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↗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4050792" y="1371600"/>
            <a:ext cx="704088" cy="164592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4050792" y="1371600"/>
            <a:ext cx="704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↘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365760" y="16459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94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Assurances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1956537"/>
            <a:ext cx="274320" cy="274320"/>
          </a:xfrm>
          <a:prstGeom prst="ellipse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365760" y="195653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📋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1938249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Evidence-led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" y="2084553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C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research recommends what we build; CSAT confirms whether it stays.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65760" y="2459457"/>
            <a:ext cx="274320" cy="274320"/>
          </a:xfrm>
          <a:prstGeom prst="ellipse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365760" y="245945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⚖️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" y="2441169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Risk-tiered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" y="2587473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C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 CSS moves fast; structural HTML gets full a11y audit.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65760" y="2962377"/>
            <a:ext cx="274320" cy="274320"/>
          </a:xfrm>
          <a:prstGeom prst="ellipse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1" name="Text 29"/>
          <p:cNvSpPr/>
          <p:nvPr/>
        </p:nvSpPr>
        <p:spPr>
          <a:xfrm>
            <a:off x="365760" y="296237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🛡️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1520" y="2944089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Safety-checked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1520" y="3090393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C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2.2 AA review, live register, sandbox re-test before every major upgrade.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65760" y="3465297"/>
            <a:ext cx="274320" cy="274320"/>
          </a:xfrm>
          <a:prstGeom prst="ellipse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5" name="Text 33"/>
          <p:cNvSpPr/>
          <p:nvPr/>
        </p:nvSpPr>
        <p:spPr>
          <a:xfrm>
            <a:off x="365760" y="346529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⏱️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31520" y="3447009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Time-bound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520" y="3593313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C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POC has an expiry that forces a promote-or-retire decision.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850829" y="91440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94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Tiering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50829" y="1170432"/>
            <a:ext cx="4069080" cy="201168"/>
          </a:xfrm>
          <a:prstGeom prst="rect">
            <a:avLst/>
          </a:prstGeom>
          <a:solidFill>
            <a:srgbClr val="062A5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0" name="Text 38"/>
          <p:cNvSpPr/>
          <p:nvPr/>
        </p:nvSpPr>
        <p:spPr>
          <a:xfrm>
            <a:off x="4850829" y="117043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810949" y="117043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953949" y="11704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Required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850829" y="1399032"/>
            <a:ext cx="40690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Text 42"/>
          <p:cNvSpPr/>
          <p:nvPr/>
        </p:nvSpPr>
        <p:spPr>
          <a:xfrm>
            <a:off x="4850829" y="1399032"/>
            <a:ext cx="960120" cy="475488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94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— Cosmetic CSS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810949" y="1399032"/>
            <a:ext cx="1143000" cy="475488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only: colour, spacing, decoration.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953949" y="1399032"/>
            <a:ext cx="1965960" cy="475488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Approver: Mgr, Student Comms.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4850829" y="1874520"/>
            <a:ext cx="4069080" cy="475488"/>
          </a:xfrm>
          <a:prstGeom prst="rect">
            <a:avLst/>
          </a:prstGeom>
          <a:solidFill>
            <a:srgbClr val="F0F2F5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8" name="Text 46"/>
          <p:cNvSpPr/>
          <p:nvPr/>
        </p:nvSpPr>
        <p:spPr>
          <a:xfrm>
            <a:off x="4850829" y="1874520"/>
            <a:ext cx="960120" cy="475488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94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— Layout / Additive HTML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810949" y="1874520"/>
            <a:ext cx="1143000" cy="475488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changes layout/reading order; HTML adds content without altering semantics.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953949" y="1874520"/>
            <a:ext cx="1965960" cy="475488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Approver: Mgr + DXM Lead.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4850829" y="2350008"/>
            <a:ext cx="40690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2" name="Text 50"/>
          <p:cNvSpPr/>
          <p:nvPr/>
        </p:nvSpPr>
        <p:spPr>
          <a:xfrm>
            <a:off x="4850829" y="2350008"/>
            <a:ext cx="960120" cy="475488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94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— Structural HTML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810949" y="2350008"/>
            <a:ext cx="1143000" cy="475488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changes headings, landmarks, lists, tables, figures.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6953949" y="2350008"/>
            <a:ext cx="1965960" cy="475488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Approver: </a:t>
            </a:r>
          </a:p>
          <a:p>
            <a:pPr marL="0" indent="0" algn="ctr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A11y lead + DXM Lead + </a:t>
            </a:r>
            <a:r>
              <a:rPr lang="en-US" sz="6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Mgr</a:t>
            </a: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Student Comms.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4850829" y="289864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94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Red-lines — Custom Code Must Never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896549" y="3118104"/>
            <a:ext cx="40233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any JavaScript or depend on scripted behaviour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external third-party content (iframes, widgets, scripts)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Capture, store or transmit personal data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global navigation, site-wide templates or master pages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screen-reader experience (headings, landmarks, reading order, alt text)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 the register or the approval workflow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4849113" y="3936492"/>
            <a:ext cx="4069080" cy="841248"/>
          </a:xfrm>
          <a:prstGeom prst="rect">
            <a:avLst/>
          </a:prstGeom>
          <a:solidFill>
            <a:srgbClr val="F0F2F5"/>
          </a:solidFill>
          <a:ln w="6350">
            <a:solidFill>
              <a:srgbClr val="09418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8" name="Text 56"/>
          <p:cNvSpPr/>
          <p:nvPr/>
        </p:nvSpPr>
        <p:spPr>
          <a:xfrm>
            <a:off x="4958841" y="3982212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/ Considerations / Decisions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958841" y="4174236"/>
            <a:ext cx="38496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time-boxed, risk-tiered custom-code POCs</a:t>
            </a:r>
            <a:endParaRPr lang="en-US" sz="7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accessibility, register and upgrade-test gates</a:t>
            </a:r>
            <a:endParaRPr lang="en-US" sz="7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portfolio cap of [N] concurrent live POCs</a:t>
            </a:r>
            <a:endParaRPr lang="en-US" sz="7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promote-or-retire discipline, incl. DXM roadmap intake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365760" y="4004180"/>
            <a:ext cx="4069080" cy="354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dirty="0">
                <a:solidFill>
                  <a:srgbClr val="094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scope: </a:t>
            </a: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Bespoke HTML + CSS (no JS) for trialling new design elements.  </a:t>
            </a:r>
          </a:p>
          <a:p>
            <a:pPr marL="0" indent="0">
              <a:buNone/>
            </a:pPr>
            <a:r>
              <a:rPr lang="en-US" sz="7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</a:t>
            </a: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JavaScript, third-party embeds, personal data capture, global template changes.  </a:t>
            </a:r>
          </a:p>
          <a:p>
            <a:pPr marL="0" indent="0">
              <a:buNone/>
            </a:pPr>
            <a:r>
              <a:rPr lang="en-US" sz="700" b="1" dirty="0">
                <a:solidFill>
                  <a:srgbClr val="094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Measurement: </a:t>
            </a: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uplift vs baseline + behavioural metrics + guardrails (perf, a11y).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365760" y="4381371"/>
            <a:ext cx="3685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8C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register in Confluence </a:t>
            </a:r>
          </a:p>
          <a:p>
            <a:pPr marL="0" indent="0">
              <a:buNone/>
            </a:pPr>
            <a:r>
              <a:rPr lang="en-US" sz="650" dirty="0">
                <a:solidFill>
                  <a:srgbClr val="8C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workflow for auditable approvals </a:t>
            </a:r>
          </a:p>
          <a:p>
            <a:pPr marL="0" indent="0">
              <a:buNone/>
            </a:pPr>
            <a:r>
              <a:rPr lang="en-US" sz="650" dirty="0">
                <a:solidFill>
                  <a:srgbClr val="8C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Tech-debt dashboard with RAG status </a:t>
            </a:r>
          </a:p>
          <a:p>
            <a:pPr marL="0" indent="0">
              <a:buNone/>
            </a:pPr>
            <a:r>
              <a:rPr lang="en-US" sz="650" dirty="0">
                <a:solidFill>
                  <a:srgbClr val="8C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RACI: DXM consulted from Design stage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94183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359</Words>
  <Application>Microsoft Macintosh PowerPoint</Application>
  <PresentationFormat>On-screen Show (16:9)</PresentationFormat>
  <Paragraphs>58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 Code POC Governance Framework — One-Page Summary</dc:title>
  <dc:subject>PptxGenJS Presentation</dc:subject>
  <dc:creator>David Mulholland</dc:creator>
  <cp:lastModifiedBy>David Mulholland</cp:lastModifiedBy>
  <cp:revision>2</cp:revision>
  <dcterms:created xsi:type="dcterms:W3CDTF">2026-06-15T03:23:00Z</dcterms:created>
  <dcterms:modified xsi:type="dcterms:W3CDTF">2026-06-15T05:28:44Z</dcterms:modified>
</cp:coreProperties>
</file>