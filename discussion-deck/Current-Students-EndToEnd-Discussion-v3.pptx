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9" r:id="rId20"/>
    <p:sldId id="270" r:id="rId21"/>
    <p:sldId id="261" r:id="rId7"/>
    <p:sldId id="262" r:id="rId8"/>
    <p:sldId id="263" r:id="rId9"/>
    <p:sldId id="264" r:id="rId10"/>
    <p:sldId id="265" r:id="rId11"/>
    <p:sldId id="266" r:id="rId12"/>
    <p:sldId id="267" r:id="rId13"/>
    <p:sldId id="268" r:id="rId14"/>
    <p:sldId id="271"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825"/>
    <p:restoredTop sz="94610"/>
  </p:normalViewPr>
  <p:slideViewPr>
    <p:cSldViewPr snapToGrid="0" snapToObjects="1">
      <p:cViewPr>
        <p:scale>
          <a:sx n="120" d="100"/>
          <a:sy n="120" d="100"/>
        </p:scale>
        <p:origin x="464"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1183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Website, faculty sites, further study (study.unimelb) and alumni. This is the lens for everything that follows — 'is the overlap intentional, and does it help or hinder the user?' Keep the room out of solution mode for now.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(~5 min). The key insight is the faculty band spanning all three phases. Link flows (bottom section) show what the June 2026 crawl found: three active connections (faculty→students.unimelb 4,629 links; faculty→study 529 links; study→students.unimelb 273 links) and two completely broken connections (students.unimelb→alumni 0 links; faculty→alumni 0 links despite 13 mentoring streams existing on alumni.unimelb). The gap labels between core boxes show study→students.unimelb (273 links, active) and students→alumni (0 links, broken). Invite corrections to the picture — 'does this match what you see from your site's perspective?'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current student journey topics. Five data-backed findings from the June 2026 crawl across the current-student estate. For each: is this the right picture? Is the split intentional? Does it serve or confuse students? Keep out of solution mode — map the territory first.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a:effectLst/>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8640" y="502920"/>
            <a:ext cx="2011680" cy="632143"/>
          </a:xfrm>
          <a:prstGeom prst="rect">
            <a:avLst/>
          </a:prstGeom>
        </p:spPr>
      </p:pic>
      <p:sp>
        <p:nvSpPr>
          <p:cNvPr id="3" name="Shape 0"/>
          <p:cNvSpPr/>
          <p:nvPr/>
        </p:nvSpPr>
        <p:spPr>
          <a:xfrm>
            <a:off x="566928" y="2286000"/>
            <a:ext cx="292608" cy="292608"/>
          </a:xfrm>
          <a:prstGeom prst="rect">
            <a:avLst/>
          </a:prstGeom>
          <a:solidFill>
            <a:srgbClr val="46C8F0"/>
          </a:solidFill>
          <a:ln/>
        </p:spPr>
        <p:txBody>
          <a:bodyPr/>
          <a:lstStyle/>
          <a:p>
            <a:endParaRPr lang="en-AU"/>
          </a:p>
        </p:txBody>
      </p:sp>
      <p:sp>
        <p:nvSpPr>
          <p:cNvPr id="4" name="Text 1"/>
          <p:cNvSpPr/>
          <p:nvPr/>
        </p:nvSpPr>
        <p:spPr>
          <a:xfrm>
            <a:off x="987552" y="2267712"/>
            <a:ext cx="9144000" cy="347472"/>
          </a:xfrm>
          <a:prstGeom prst="rect">
            <a:avLst/>
          </a:prstGeom>
          <a:noFill/>
          <a:ln/>
        </p:spPr>
        <p:txBody>
          <a:bodyPr wrap="square" lIns="0" tIns="0" rIns="0" bIns="0" rtlCol="0" anchor="ctr"/>
          <a:lstStyle/>
          <a:p>
            <a:pPr marL="0" indent="0">
              <a:buNone/>
            </a:pPr>
            <a:r>
              <a:rPr lang="en-US" sz="1200" b="1" kern="0" spc="30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marL="0" indent="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marL="0" indent="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marL="0" indent="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marL="0" indent="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txBody>
          <a:bodyPr/>
          <a:lstStyle/>
          <a:p>
            <a:endParaRPr lang="en-AU"/>
          </a:p>
        </p:txBody>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txBody>
          <a:bodyPr/>
          <a:lstStyle/>
          <a:p>
            <a:endParaRPr lang="en-AU"/>
          </a:p>
        </p:txBody>
      </p:sp>
      <p:sp>
        <p:nvSpPr>
          <p:cNvPr id="9" name="Text 7"/>
          <p:cNvSpPr/>
          <p:nvPr/>
        </p:nvSpPr>
        <p:spPr>
          <a:xfrm>
            <a:off x="786384" y="28895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marL="0" indent="0" algn="ctr">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txBody>
          <a:bodyPr/>
          <a:lstStyle/>
          <a:p>
            <a:endParaRPr lang="en-AU"/>
          </a:p>
        </p:txBody>
      </p:sp>
      <p:sp>
        <p:nvSpPr>
          <p:cNvPr id="12" name="Text 10"/>
          <p:cNvSpPr/>
          <p:nvPr/>
        </p:nvSpPr>
        <p:spPr>
          <a:xfrm>
            <a:off x="2455164" y="28895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marL="0" indent="0" algn="ctr">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txBody>
          <a:bodyPr/>
          <a:lstStyle/>
          <a:p>
            <a:endParaRPr lang="en-AU"/>
          </a:p>
        </p:txBody>
      </p:sp>
      <p:sp>
        <p:nvSpPr>
          <p:cNvPr id="15" name="Text 13"/>
          <p:cNvSpPr/>
          <p:nvPr/>
        </p:nvSpPr>
        <p:spPr>
          <a:xfrm>
            <a:off x="4123944" y="28895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marL="0" indent="0" algn="ctr">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txBody>
          <a:bodyPr/>
          <a:lstStyle/>
          <a:p>
            <a:endParaRPr lang="en-AU"/>
          </a:p>
        </p:txBody>
      </p:sp>
      <p:sp>
        <p:nvSpPr>
          <p:cNvPr id="18" name="Text 16"/>
          <p:cNvSpPr/>
          <p:nvPr/>
        </p:nvSpPr>
        <p:spPr>
          <a:xfrm>
            <a:off x="5792724" y="28895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marL="0" indent="0" algn="ctr">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txBody>
          <a:bodyPr/>
          <a:lstStyle/>
          <a:p>
            <a:endParaRPr lang="en-AU"/>
          </a:p>
        </p:txBody>
      </p:sp>
      <p:sp>
        <p:nvSpPr>
          <p:cNvPr id="21" name="Text 19"/>
          <p:cNvSpPr/>
          <p:nvPr/>
        </p:nvSpPr>
        <p:spPr>
          <a:xfrm>
            <a:off x="7461504" y="28895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marL="0" indent="0" algn="ctr">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txBody>
          <a:bodyPr/>
          <a:lstStyle/>
          <a:p>
            <a:endParaRPr lang="en-AU"/>
          </a:p>
        </p:txBody>
      </p:sp>
      <p:sp>
        <p:nvSpPr>
          <p:cNvPr id="24" name="Text 22"/>
          <p:cNvSpPr/>
          <p:nvPr/>
        </p:nvSpPr>
        <p:spPr>
          <a:xfrm>
            <a:off x="9130284" y="28895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marL="0" indent="0" algn="ctr">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txBody>
          <a:bodyPr/>
          <a:lstStyle/>
          <a:p>
            <a:endParaRPr lang="en-AU"/>
          </a:p>
        </p:txBody>
      </p:sp>
      <p:sp>
        <p:nvSpPr>
          <p:cNvPr id="27" name="Text 25"/>
          <p:cNvSpPr/>
          <p:nvPr/>
        </p:nvSpPr>
        <p:spPr>
          <a:xfrm>
            <a:off x="10799064" y="28895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marL="0" indent="0" algn="ctr">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marL="0" indent="0" algn="ctr">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txBody>
          <a:bodyPr/>
          <a:lstStyle/>
          <a:p>
            <a:endParaRPr lang="en-AU"/>
          </a:p>
        </p:txBody>
      </p:sp>
      <p:sp>
        <p:nvSpPr>
          <p:cNvPr id="31" name="Shape 29"/>
          <p:cNvSpPr/>
          <p:nvPr/>
        </p:nvSpPr>
        <p:spPr>
          <a:xfrm>
            <a:off x="566928" y="4617720"/>
            <a:ext cx="91440" cy="960120"/>
          </a:xfrm>
          <a:prstGeom prst="rect">
            <a:avLst/>
          </a:prstGeom>
          <a:solidFill>
            <a:srgbClr val="46C8F0"/>
          </a:solidFill>
          <a:ln/>
        </p:spPr>
        <p:txBody>
          <a:bodyPr/>
          <a:lstStyle/>
          <a:p>
            <a:endParaRPr lang="en-AU"/>
          </a:p>
        </p:txBody>
      </p:sp>
      <p:sp>
        <p:nvSpPr>
          <p:cNvPr id="32" name="Text 30"/>
          <p:cNvSpPr/>
          <p:nvPr/>
        </p:nvSpPr>
        <p:spPr>
          <a:xfrm>
            <a:off x="868680" y="4617720"/>
            <a:ext cx="10332720" cy="960120"/>
          </a:xfrm>
          <a:prstGeom prst="rect">
            <a:avLst/>
          </a:prstGeom>
          <a:noFill/>
          <a:ln/>
        </p:spPr>
        <p:txBody>
          <a:bodyPr wrap="square" lIns="0" tIns="0" rIns="0" bIns="0" rtlCol="0" anchor="ctr"/>
          <a:lstStyle/>
          <a:p>
            <a:pPr marL="0" indent="0">
              <a:buNone/>
            </a:pPr>
            <a:r>
              <a:rPr lang="en-US" sz="1500" b="1" dirty="0">
                <a:solidFill>
                  <a:srgbClr val="000F46"/>
                </a:solidFill>
                <a:latin typeface="Source Sans 3" pitchFamily="34" charset="0"/>
                <a:ea typeface="Source Sans 3" pitchFamily="34" charset="-122"/>
                <a:cs typeface="Source Sans 3" pitchFamily="34" charset="-120"/>
              </a:rPr>
              <a:t>To discuss:  </a:t>
            </a: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170000"/>
            <a:ext cx="10881360" cy="749808"/>
          </a:xfrm>
          <a:prstGeom prst="rect">
            <a:avLst/>
          </a:prstGeom>
          <a:noFill/>
          <a:ln/>
        </p:spPr>
        <p:txBody>
          <a:bodyPr wrap="square" lIns="0" tIns="0" rIns="0" bIns="0" rtlCol="0" anchor="ctr"/>
          <a:lstStyle/>
          <a:p>
            <a:pPr marL="0" indent="0">
              <a:lnSpc>
                <a:spcPct val="112000"/>
              </a:lnSpc>
              <a:buNone/>
            </a:pPr>
            <a:r>
              <a:rPr lang="en-US" sz="13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 following links the same way a user would. Each page was read, classified and tagged by topic. The crawl covered the Current Students Website (students.unimelb.edu.au), 12 faculty &amp; school current-student sections, and both estate-adjacent sites.</a:t>
            </a:r>
            <a:endParaRPr lang="en-US" sz="1350" dirty="0"/>
          </a:p>
        </p:txBody>
      </p:sp>
      <p:sp>
        <p:nvSpPr>
          <p:cNvPr id="7" name="Shape 5"/>
          <p:cNvSpPr/>
          <p:nvPr/>
        </p:nvSpPr>
        <p:spPr>
          <a:xfrm>
            <a:off x="566928" y="2084832"/>
            <a:ext cx="2651760" cy="1572768"/>
          </a:xfrm>
          <a:prstGeom prst="rect">
            <a:avLst/>
          </a:prstGeom>
          <a:solidFill>
            <a:srgbClr val="F4F4F4"/>
          </a:solidFill>
          <a:ln/>
        </p:spPr>
        <p:txBody>
          <a:bodyPr/>
          <a:lstStyle/>
          <a:p>
            <a:endParaRPr lang="en-AU"/>
          </a:p>
        </p:txBody>
      </p:sp>
      <p:sp>
        <p:nvSpPr>
          <p:cNvPr id="8" name="Shape 6"/>
          <p:cNvSpPr/>
          <p:nvPr/>
        </p:nvSpPr>
        <p:spPr>
          <a:xfrm>
            <a:off x="566928" y="2084832"/>
            <a:ext cx="2651760" cy="91440"/>
          </a:xfrm>
          <a:prstGeom prst="rect">
            <a:avLst/>
          </a:prstGeom>
          <a:solidFill>
            <a:srgbClr val="46C8F0"/>
          </a:solidFill>
          <a:ln/>
        </p:spPr>
        <p:txBody>
          <a:bodyPr/>
          <a:lstStyle/>
          <a:p>
            <a:endParaRPr lang="en-AU"/>
          </a:p>
        </p:txBody>
      </p:sp>
      <p:sp>
        <p:nvSpPr>
          <p:cNvPr id="9" name="Text 7"/>
          <p:cNvSpPr/>
          <p:nvPr/>
        </p:nvSpPr>
        <p:spPr>
          <a:xfrm>
            <a:off x="566928" y="2212848"/>
            <a:ext cx="2651760" cy="804672"/>
          </a:xfrm>
          <a:prstGeom prst="rect">
            <a:avLst/>
          </a:prstGeom>
          <a:noFill/>
          <a:ln/>
        </p:spPr>
        <p:txBody>
          <a:bodyPr wrap="square" lIns="0" tIns="0" rIns="0" bIns="0" rtlCol="0" anchor="ctr"/>
          <a:lstStyle/>
          <a:p>
            <a:pPr marL="0" indent="0" algn="ctr">
              <a:buNone/>
            </a:pPr>
            <a:r>
              <a:rPr lang="en-US" sz="4400" b="1" dirty="0">
                <a:solidFill>
                  <a:srgbClr val="000F46"/>
                </a:solidFill>
                <a:latin typeface="Fraunces" pitchFamily="34" charset="0"/>
                <a:ea typeface="Fraunces" pitchFamily="34" charset="-122"/>
                <a:cs typeface="Fraunces" pitchFamily="34" charset="-120"/>
              </a:rPr>
              <a:t>~100</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students.unimelb.edu.au</a:t>
            </a:r>
            <a:endParaRPr lang="en-US" sz="1150" dirty="0"/>
          </a:p>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Current Students Website</a:t>
            </a:r>
            <a:endParaRPr lang="en-US" sz="1150" dirty="0"/>
          </a:p>
        </p:txBody>
      </p:sp>
      <p:sp>
        <p:nvSpPr>
          <p:cNvPr id="11" name="Shape 9"/>
          <p:cNvSpPr/>
          <p:nvPr/>
        </p:nvSpPr>
        <p:spPr>
          <a:xfrm>
            <a:off x="3364992" y="2084832"/>
            <a:ext cx="2651760" cy="1572768"/>
          </a:xfrm>
          <a:prstGeom prst="rect">
            <a:avLst/>
          </a:prstGeom>
          <a:solidFill>
            <a:srgbClr val="F4F4F4"/>
          </a:solidFill>
          <a:ln/>
        </p:spPr>
        <p:txBody>
          <a:bodyPr/>
          <a:lstStyle/>
          <a:p>
            <a:endParaRPr lang="en-AU"/>
          </a:p>
        </p:txBody>
      </p:sp>
      <p:sp>
        <p:nvSpPr>
          <p:cNvPr id="12" name="Shape 10"/>
          <p:cNvSpPr/>
          <p:nvPr/>
        </p:nvSpPr>
        <p:spPr>
          <a:xfrm>
            <a:off x="3364992" y="2084832"/>
            <a:ext cx="2651760" cy="91440"/>
          </a:xfrm>
          <a:prstGeom prst="rect">
            <a:avLst/>
          </a:prstGeom>
          <a:solidFill>
            <a:srgbClr val="46C8F0"/>
          </a:solidFill>
          <a:ln/>
        </p:spPr>
        <p:txBody>
          <a:bodyPr/>
          <a:lstStyle/>
          <a:p>
            <a:endParaRPr lang="en-AU"/>
          </a:p>
        </p:txBody>
      </p:sp>
      <p:sp>
        <p:nvSpPr>
          <p:cNvPr id="13" name="Text 11"/>
          <p:cNvSpPr/>
          <p:nvPr/>
        </p:nvSpPr>
        <p:spPr>
          <a:xfrm>
            <a:off x="3364992" y="2212848"/>
            <a:ext cx="2651760" cy="804672"/>
          </a:xfrm>
          <a:prstGeom prst="rect">
            <a:avLst/>
          </a:prstGeom>
          <a:noFill/>
          <a:ln/>
        </p:spPr>
        <p:txBody>
          <a:bodyPr wrap="square" lIns="0" tIns="0" rIns="0" bIns="0" rtlCol="0" anchor="ctr"/>
          <a:lstStyle/>
          <a:p>
            <a:pPr marL="0" indent="0" algn="ctr">
              <a:buNone/>
            </a:pPr>
            <a:r>
              <a:rPr lang="en-US" sz="4400" b="1" dirty="0">
                <a:solidFill>
                  <a:srgbClr val="000F46"/>
                </a:solidFill>
                <a:latin typeface="Fraunces" pitchFamily="34" charset="0"/>
                <a:ea typeface="Fraunces" pitchFamily="34" charset="-122"/>
                <a:cs typeface="Fraunces" pitchFamily="34" charset="-120"/>
              </a:rPr>
              <a:t>~1000</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pages across 12 faculty</a:t>
            </a:r>
            <a:endParaRPr lang="en-US" sz="1150" dirty="0"/>
          </a:p>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&amp; school current-student sites</a:t>
            </a:r>
            <a:endParaRPr lang="en-US" sz="1150" dirty="0"/>
          </a:p>
        </p:txBody>
      </p:sp>
      <p:sp>
        <p:nvSpPr>
          <p:cNvPr id="15" name="Shape 13"/>
          <p:cNvSpPr/>
          <p:nvPr/>
        </p:nvSpPr>
        <p:spPr>
          <a:xfrm>
            <a:off x="6163056" y="2084832"/>
            <a:ext cx="2651760" cy="1572768"/>
          </a:xfrm>
          <a:prstGeom prst="rect">
            <a:avLst/>
          </a:prstGeom>
          <a:solidFill>
            <a:srgbClr val="F4F4F4"/>
          </a:solidFill>
          <a:ln/>
        </p:spPr>
        <p:txBody>
          <a:bodyPr/>
          <a:lstStyle/>
          <a:p>
            <a:endParaRPr lang="en-AU"/>
          </a:p>
        </p:txBody>
      </p:sp>
      <p:sp>
        <p:nvSpPr>
          <p:cNvPr id="16" name="Shape 14"/>
          <p:cNvSpPr/>
          <p:nvPr/>
        </p:nvSpPr>
        <p:spPr>
          <a:xfrm>
            <a:off x="6163056" y="2084832"/>
            <a:ext cx="2651760" cy="91440"/>
          </a:xfrm>
          <a:prstGeom prst="rect">
            <a:avLst/>
          </a:prstGeom>
          <a:solidFill>
            <a:srgbClr val="46C8F0"/>
          </a:solidFill>
          <a:ln/>
        </p:spPr>
        <p:txBody>
          <a:bodyPr/>
          <a:lstStyle/>
          <a:p>
            <a:endParaRPr lang="en-AU"/>
          </a:p>
        </p:txBody>
      </p:sp>
      <p:sp>
        <p:nvSpPr>
          <p:cNvPr id="17" name="Text 15"/>
          <p:cNvSpPr/>
          <p:nvPr/>
        </p:nvSpPr>
        <p:spPr>
          <a:xfrm>
            <a:off x="6163056" y="2212848"/>
            <a:ext cx="2651760" cy="804672"/>
          </a:xfrm>
          <a:prstGeom prst="rect">
            <a:avLst/>
          </a:prstGeom>
          <a:noFill/>
          <a:ln/>
        </p:spPr>
        <p:txBody>
          <a:bodyPr wrap="square" lIns="0" tIns="0" rIns="0" bIns="0" rtlCol="0" anchor="ctr"/>
          <a:lstStyle/>
          <a:p>
            <a:pPr marL="0" indent="0" algn="ctr">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9" name="Shape 17"/>
          <p:cNvSpPr/>
          <p:nvPr/>
        </p:nvSpPr>
        <p:spPr>
          <a:xfrm>
            <a:off x="8961120" y="2084832"/>
            <a:ext cx="2651760" cy="1572768"/>
          </a:xfrm>
          <a:prstGeom prst="rect">
            <a:avLst/>
          </a:prstGeom>
          <a:solidFill>
            <a:srgbClr val="F4F4F4"/>
          </a:solidFill>
          <a:ln/>
        </p:spPr>
        <p:txBody>
          <a:bodyPr/>
          <a:lstStyle/>
          <a:p>
            <a:endParaRPr lang="en-AU"/>
          </a:p>
        </p:txBody>
      </p:sp>
      <p:sp>
        <p:nvSpPr>
          <p:cNvPr id="20" name="Shape 18"/>
          <p:cNvSpPr/>
          <p:nvPr/>
        </p:nvSpPr>
        <p:spPr>
          <a:xfrm>
            <a:off x="8961120" y="2084832"/>
            <a:ext cx="2651760" cy="91440"/>
          </a:xfrm>
          <a:prstGeom prst="rect">
            <a:avLst/>
          </a:prstGeom>
          <a:solidFill>
            <a:srgbClr val="46C8F0"/>
          </a:solidFill>
          <a:ln/>
        </p:spPr>
        <p:txBody>
          <a:bodyPr/>
          <a:lstStyle/>
          <a:p>
            <a:endParaRPr lang="en-AU"/>
          </a:p>
        </p:txBody>
      </p:sp>
      <p:sp>
        <p:nvSpPr>
          <p:cNvPr id="21" name="Text 19"/>
          <p:cNvSpPr/>
          <p:nvPr/>
        </p:nvSpPr>
        <p:spPr>
          <a:xfrm>
            <a:off x="8961120" y="2212848"/>
            <a:ext cx="2651760" cy="804672"/>
          </a:xfrm>
          <a:prstGeom prst="rect">
            <a:avLst/>
          </a:prstGeom>
          <a:noFill/>
          <a:ln/>
        </p:spPr>
        <p:txBody>
          <a:bodyPr wrap="square" lIns="0" tIns="0" rIns="0" bIns="0" rtlCol="0" anchor="ctr"/>
          <a:lstStyle/>
          <a:p>
            <a:pPr marL="0" indent="0" algn="ctr">
              <a:buNone/>
            </a:pPr>
            <a:r>
              <a:rPr lang="en-US" sz="4400" b="1" dirty="0">
                <a:solidFill>
                  <a:srgbClr val="000F46"/>
                </a:solidFill>
                <a:latin typeface="Fraunces" pitchFamily="34" charset="0"/>
                <a:ea typeface="Fraunces" pitchFamily="34" charset="-122"/>
                <a:cs typeface="Fraunces" pitchFamily="34" charset="-120"/>
              </a:rPr>
              <a:t>~100</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marL="0" indent="0" algn="ctr">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23" name="Shape 21"/>
          <p:cNvSpPr/>
          <p:nvPr/>
        </p:nvSpPr>
        <p:spPr>
          <a:xfrm>
            <a:off x="566928" y="3941496"/>
            <a:ext cx="2651760" cy="64008"/>
          </a:xfrm>
          <a:prstGeom prst="rect">
            <a:avLst/>
          </a:prstGeom>
          <a:solidFill>
            <a:srgbClr val="46C8F0"/>
          </a:solidFill>
          <a:ln/>
        </p:spPr>
        <p:txBody>
          <a:bodyPr/>
          <a:lstStyle/>
          <a:p>
            <a:endParaRPr lang="en-AU"/>
          </a:p>
        </p:txBody>
      </p:sp>
      <p:sp>
        <p:nvSpPr>
          <p:cNvPr id="24" name="Text 22"/>
          <p:cNvSpPr/>
          <p:nvPr/>
        </p:nvSpPr>
        <p:spPr>
          <a:xfrm>
            <a:off x="566928" y="4032936"/>
            <a:ext cx="2651760" cy="274320"/>
          </a:xfrm>
          <a:prstGeom prst="rect">
            <a:avLst/>
          </a:prstGeom>
          <a:noFill/>
          <a:ln/>
        </p:spPr>
        <p:txBody>
          <a:bodyPr wrap="square" lIns="0" tIns="0" rIns="0" bIns="0" rtlCol="0" anchor="ctr"/>
          <a:lstStyle/>
          <a:p>
            <a:pPr marL="0" indent="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marL="0" indent="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Current Students Website, 8 faculties, study.unimelb, alumni. No cross-links in any direction.</a:t>
            </a:r>
            <a:endParaRPr lang="en-US" sz="1100" dirty="0"/>
          </a:p>
        </p:txBody>
      </p:sp>
      <p:sp>
        <p:nvSpPr>
          <p:cNvPr id="26" name="Shape 24"/>
          <p:cNvSpPr/>
          <p:nvPr/>
        </p:nvSpPr>
        <p:spPr>
          <a:xfrm>
            <a:off x="3364992" y="3941496"/>
            <a:ext cx="2651760" cy="64008"/>
          </a:xfrm>
          <a:prstGeom prst="rect">
            <a:avLst/>
          </a:prstGeom>
          <a:solidFill>
            <a:srgbClr val="46C8F0"/>
          </a:solidFill>
          <a:ln/>
        </p:spPr>
        <p:txBody>
          <a:bodyPr/>
          <a:lstStyle/>
          <a:p>
            <a:endParaRPr lang="en-AU"/>
          </a:p>
        </p:txBody>
      </p:sp>
      <p:sp>
        <p:nvSpPr>
          <p:cNvPr id="27" name="Text 25"/>
          <p:cNvSpPr/>
          <p:nvPr/>
        </p:nvSpPr>
        <p:spPr>
          <a:xfrm>
            <a:off x="3364992" y="4032936"/>
            <a:ext cx="2651760" cy="274320"/>
          </a:xfrm>
          <a:prstGeom prst="rect">
            <a:avLst/>
          </a:prstGeom>
          <a:noFill/>
          <a:ln/>
        </p:spPr>
        <p:txBody>
          <a:bodyPr wrap="square" lIns="0" tIns="0" rIns="0" bIns="0" rtlCol="0" anchor="ctr"/>
          <a:lstStyle/>
          <a:p>
            <a:pPr marL="0" indent="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marL="0" indent="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941496"/>
            <a:ext cx="2651760" cy="64008"/>
          </a:xfrm>
          <a:prstGeom prst="rect">
            <a:avLst/>
          </a:prstGeom>
          <a:solidFill>
            <a:srgbClr val="46C8F0"/>
          </a:solidFill>
          <a:ln/>
        </p:spPr>
        <p:txBody>
          <a:bodyPr/>
          <a:lstStyle/>
          <a:p>
            <a:endParaRPr lang="en-AU"/>
          </a:p>
        </p:txBody>
      </p:sp>
      <p:sp>
        <p:nvSpPr>
          <p:cNvPr id="30" name="Text 28"/>
          <p:cNvSpPr/>
          <p:nvPr/>
        </p:nvSpPr>
        <p:spPr>
          <a:xfrm>
            <a:off x="6163056" y="4032936"/>
            <a:ext cx="2651760" cy="274320"/>
          </a:xfrm>
          <a:prstGeom prst="rect">
            <a:avLst/>
          </a:prstGeom>
          <a:noFill/>
          <a:ln/>
        </p:spPr>
        <p:txBody>
          <a:bodyPr wrap="square" lIns="0" tIns="0" rIns="0" bIns="0" rtlCol="0" anchor="ctr"/>
          <a:lstStyle/>
          <a:p>
            <a:pPr marL="0" indent="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marL="0" indent="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941496"/>
            <a:ext cx="2651760" cy="64008"/>
          </a:xfrm>
          <a:prstGeom prst="rect">
            <a:avLst/>
          </a:prstGeom>
          <a:solidFill>
            <a:srgbClr val="46C8F0"/>
          </a:solidFill>
          <a:ln/>
        </p:spPr>
        <p:txBody>
          <a:bodyPr/>
          <a:lstStyle/>
          <a:p>
            <a:endParaRPr lang="en-AU"/>
          </a:p>
        </p:txBody>
      </p:sp>
      <p:sp>
        <p:nvSpPr>
          <p:cNvPr id="33" name="Text 31"/>
          <p:cNvSpPr/>
          <p:nvPr/>
        </p:nvSpPr>
        <p:spPr>
          <a:xfrm>
            <a:off x="8961120" y="4032936"/>
            <a:ext cx="2651760" cy="274320"/>
          </a:xfrm>
          <a:prstGeom prst="rect">
            <a:avLst/>
          </a:prstGeom>
          <a:noFill/>
          <a:ln/>
        </p:spPr>
        <p:txBody>
          <a:bodyPr wrap="square" lIns="0" tIns="0" rIns="0" bIns="0" rtlCol="0" anchor="ctr"/>
          <a:lstStyle/>
          <a:p>
            <a:pPr marL="0" indent="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marL="0" indent="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marL="0" indent="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marL="0" indent="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txBody>
          <a:bodyPr/>
          <a:lstStyle/>
          <a:p>
            <a:endParaRPr lang="en-AU"/>
          </a:p>
        </p:txBody>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txBody>
          <a:bodyPr/>
          <a:lstStyle/>
          <a:p>
            <a:endParaRPr lang="en-AU"/>
          </a:p>
        </p:txBody>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txBody>
          <a:bodyPr/>
          <a:lstStyle/>
          <a:p>
            <a:endParaRPr lang="en-AU"/>
          </a:p>
        </p:txBody>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txBody>
          <a:bodyPr/>
          <a:lstStyle/>
          <a:p>
            <a:endParaRPr lang="en-AU"/>
          </a:p>
        </p:txBody>
      </p:sp>
      <p:sp>
        <p:nvSpPr>
          <p:cNvPr id="11" name="Text 9"/>
          <p:cNvSpPr/>
          <p:nvPr/>
        </p:nvSpPr>
        <p:spPr>
          <a:xfrm>
            <a:off x="6995160" y="2386584"/>
            <a:ext cx="1737360" cy="530352"/>
          </a:xfrm>
          <a:prstGeom prst="rect">
            <a:avLst/>
          </a:prstGeom>
          <a:noFill/>
          <a:ln/>
        </p:spPr>
        <p:txBody>
          <a:bodyPr wrap="square" lIns="0" tIns="0" rIns="0" bIns="0" rtlCol="0" anchor="ctr"/>
          <a:lstStyle/>
          <a:p>
            <a:pPr marL="0" indent="0" algn="ctr">
              <a:buNone/>
            </a:pPr>
            <a:r>
              <a:rPr lang="en-US" sz="1150" b="1" dirty="0">
                <a:solidFill>
                  <a:srgbClr val="000F46"/>
                </a:solidFill>
                <a:latin typeface="Source Sans 3" pitchFamily="34" charset="0"/>
                <a:ea typeface="Source Sans 3" pitchFamily="34" charset="-122"/>
                <a:cs typeface="Source Sans 3" pitchFamily="34" charset="-120"/>
              </a:rPr>
              <a:t>Current Students</a:t>
            </a:r>
            <a:endParaRPr lang="en-US" sz="1150" dirty="0"/>
          </a:p>
          <a:p>
            <a:pPr marL="0" indent="0" algn="ctr">
              <a:buNone/>
            </a:pPr>
            <a:r>
              <a:rPr lang="en-US" sz="1150" b="1" dirty="0">
                <a:solidFill>
                  <a:srgbClr val="000F46"/>
                </a:solidFill>
                <a:latin typeface="Source Sans 3" pitchFamily="34" charset="0"/>
                <a:ea typeface="Source Sans 3" pitchFamily="34" charset="-122"/>
                <a:cs typeface="Source Sans 3" pitchFamily="34" charset="-120"/>
              </a:rPr>
              <a:t>Website</a:t>
            </a:r>
            <a:endParaRPr lang="en-US" sz="1150" dirty="0"/>
          </a:p>
        </p:txBody>
      </p:sp>
      <p:sp>
        <p:nvSpPr>
          <p:cNvPr id="12" name="Text 10"/>
          <p:cNvSpPr/>
          <p:nvPr/>
        </p:nvSpPr>
        <p:spPr>
          <a:xfrm>
            <a:off x="9765792" y="2414016"/>
            <a:ext cx="1600200" cy="502920"/>
          </a:xfrm>
          <a:prstGeom prst="rect">
            <a:avLst/>
          </a:prstGeom>
          <a:noFill/>
          <a:ln/>
        </p:spPr>
        <p:txBody>
          <a:bodyPr wrap="square" lIns="0" tIns="0" rIns="0" bIns="0" rtlCol="0" anchor="ctr"/>
          <a:lstStyle/>
          <a:p>
            <a:pPr marL="0" indent="0" algn="ctr">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marL="0" indent="0" algn="ctr">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76872" y="4846320"/>
            <a:ext cx="1691640" cy="347472"/>
          </a:xfrm>
          <a:prstGeom prst="rect">
            <a:avLst/>
          </a:prstGeom>
          <a:noFill/>
          <a:ln/>
        </p:spPr>
        <p:txBody>
          <a:bodyPr wrap="square" lIns="0" tIns="0" rIns="0" bIns="0" rtlCol="0" anchor="ctr"/>
          <a:lstStyle/>
          <a:p>
            <a:pPr marL="0" indent="0" algn="ctr">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65792" y="4846320"/>
            <a:ext cx="1554480" cy="347472"/>
          </a:xfrm>
          <a:prstGeom prst="rect">
            <a:avLst/>
          </a:prstGeom>
          <a:noFill/>
          <a:ln/>
        </p:spPr>
        <p:txBody>
          <a:bodyPr wrap="square" lIns="0" tIns="0" rIns="0" bIns="0" rtlCol="0" anchor="ctr"/>
          <a:lstStyle/>
          <a:p>
            <a:pPr marL="0" indent="0" algn="ctr">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marL="0" indent="0" algn="ctr">
              <a:buNone/>
            </a:pPr>
            <a:r>
              <a:rPr lang="en-US" sz="1100" b="1" dirty="0">
                <a:solidFill>
                  <a:schemeClr val="bg1"/>
                </a:solidFill>
                <a:highlight>
                  <a:srgbClr val="808080"/>
                </a:highlight>
                <a:latin typeface="Source Code Pro" pitchFamily="34" charset="0"/>
                <a:ea typeface="Source Code Pro" pitchFamily="34" charset="-122"/>
                <a:cs typeface="Source Code Pro" pitchFamily="34" charset="-120"/>
              </a:rPr>
              <a:t>overlap</a:t>
            </a:r>
            <a:endParaRPr lang="en-US" sz="1100" dirty="0">
              <a:solidFill>
                <a:schemeClr val="bg1"/>
              </a:solidFill>
              <a:highlight>
                <a:srgbClr val="808080"/>
              </a:high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Three phases — one student journey</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417320"/>
            <a:ext cx="5760720" cy="2560320"/>
          </a:xfrm>
          <a:prstGeom prst="rect">
            <a:avLst/>
          </a:prstGeom>
          <a:noFill/>
          <a:ln/>
        </p:spPr>
        <p:txBody>
          <a:bodyPr wrap="square" lIns="0" tIns="0" rIns="0" bIns="0" rtlCol="0" anchor="t"/>
          <a:lstStyle/>
          <a:p>
            <a:pPr marL="0" indent="0">
              <a:lnSpc>
                <a:spcPct val="122000"/>
              </a:lnSpc>
              <a:buNone/>
            </a:pPr>
            <a:r>
              <a:rPr lang="en-US" sz="1550" dirty="0">
                <a:solidFill>
                  <a:srgbClr val="1C1C28"/>
                </a:solidFill>
                <a:latin typeface="Source Sans 3" pitchFamily="34" charset="0"/>
                <a:ea typeface="Source Sans 3" pitchFamily="34" charset="-122"/>
                <a:cs typeface="Source Sans 3" pitchFamily="34" charset="-120"/>
              </a:rPr>
              <a:t>Faculty sites span all three phases — prospectus content for applicants, 1,150 current-student (CS) pages, and alumni networks. The link flows below show how estates connect and where the connections are broken. Arrows show direction and volume of links found in the June 2026 crawl.</a:t>
            </a:r>
            <a:endParaRPr lang="en-US" sz="1550" dirty="0"/>
          </a:p>
        </p:txBody>
      </p:sp>
      <p:sp>
        <p:nvSpPr>
          <p:cNvPr id="7" name="Shape 5"/>
          <p:cNvSpPr/>
          <p:nvPr/>
        </p:nvSpPr>
        <p:spPr>
          <a:xfrm>
            <a:off x="6720840" y="1412748"/>
            <a:ext cx="1280160" cy="256032"/>
          </a:xfrm>
          <a:prstGeom prst="rect">
            <a:avLst/>
          </a:prstGeom>
          <a:solidFill>
            <a:srgbClr val="EAF6FB"/>
          </a:solidFill>
          <a:ln w="6350">
            <a:solidFill>
              <a:srgbClr val="2F95B7"/>
            </a:solidFill>
            <a:prstDash val="solid"/>
          </a:ln>
        </p:spPr>
        <p:txBody>
          <a:bodyPr/>
          <a:lstStyle/>
          <a:p>
            <a:endParaRPr lang="en-AU"/>
          </a:p>
        </p:txBody>
      </p:sp>
      <p:sp>
        <p:nvSpPr>
          <p:cNvPr id="8" name="Text 6"/>
          <p:cNvSpPr/>
          <p:nvPr/>
        </p:nvSpPr>
        <p:spPr>
          <a:xfrm>
            <a:off x="6720840" y="1412748"/>
            <a:ext cx="1280160" cy="256032"/>
          </a:xfrm>
          <a:prstGeom prst="rect">
            <a:avLst/>
          </a:prstGeom>
          <a:noFill/>
          <a:ln/>
        </p:spPr>
        <p:txBody>
          <a:bodyPr wrap="square" lIns="0" tIns="0" rIns="0" bIns="0" rtlCol="0" anchor="ctr"/>
          <a:lstStyle/>
          <a:p>
            <a:pPr marL="0" indent="0" algn="ctr">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BEFORE</a:t>
            </a:r>
            <a:endParaRPr lang="en-US" sz="700" dirty="0"/>
          </a:p>
          <a:p>
            <a:pPr marL="0" indent="0" algn="ctr">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ENROLMENT</a:t>
            </a:r>
            <a:endParaRPr lang="en-US" sz="700" dirty="0"/>
          </a:p>
        </p:txBody>
      </p:sp>
      <p:sp>
        <p:nvSpPr>
          <p:cNvPr id="9" name="Shape 7"/>
          <p:cNvSpPr/>
          <p:nvPr/>
        </p:nvSpPr>
        <p:spPr>
          <a:xfrm>
            <a:off x="8321040" y="1412748"/>
            <a:ext cx="1874520" cy="256032"/>
          </a:xfrm>
          <a:prstGeom prst="rect">
            <a:avLst/>
          </a:prstGeom>
          <a:solidFill>
            <a:srgbClr val="000F46"/>
          </a:solidFill>
          <a:ln w="6350">
            <a:solidFill>
              <a:srgbClr val="000F46"/>
            </a:solidFill>
            <a:prstDash val="solid"/>
          </a:ln>
        </p:spPr>
        <p:txBody>
          <a:bodyPr/>
          <a:lstStyle/>
          <a:p>
            <a:endParaRPr lang="en-AU"/>
          </a:p>
        </p:txBody>
      </p:sp>
      <p:sp>
        <p:nvSpPr>
          <p:cNvPr id="10" name="Text 8"/>
          <p:cNvSpPr/>
          <p:nvPr/>
        </p:nvSpPr>
        <p:spPr>
          <a:xfrm>
            <a:off x="8321040" y="1412748"/>
            <a:ext cx="1874520" cy="256032"/>
          </a:xfrm>
          <a:prstGeom prst="rect">
            <a:avLst/>
          </a:prstGeom>
          <a:noFill/>
          <a:ln/>
        </p:spPr>
        <p:txBody>
          <a:bodyPr wrap="square" lIns="0" tIns="0" rIns="0" bIns="0" rtlCol="0" anchor="ctr"/>
          <a:lstStyle/>
          <a:p>
            <a:pPr marL="0" indent="0" algn="ctr">
              <a:buNone/>
            </a:pPr>
            <a:r>
              <a:rPr lang="en-US" sz="750" b="1" kern="0" spc="50" dirty="0">
                <a:solidFill>
                  <a:srgbClr val="46C8F0"/>
                </a:solidFill>
                <a:latin typeface="Source Code Pro" pitchFamily="34" charset="0"/>
                <a:ea typeface="Source Code Pro" pitchFamily="34" charset="-122"/>
                <a:cs typeface="Source Code Pro" pitchFamily="34" charset="-120"/>
              </a:rPr>
              <a:t>DURING STUDY</a:t>
            </a:r>
            <a:endParaRPr lang="en-US" sz="750" dirty="0"/>
          </a:p>
        </p:txBody>
      </p:sp>
      <p:sp>
        <p:nvSpPr>
          <p:cNvPr id="11" name="Shape 9"/>
          <p:cNvSpPr/>
          <p:nvPr/>
        </p:nvSpPr>
        <p:spPr>
          <a:xfrm>
            <a:off x="10469880" y="1412748"/>
            <a:ext cx="1143000" cy="256032"/>
          </a:xfrm>
          <a:prstGeom prst="rect">
            <a:avLst/>
          </a:prstGeom>
          <a:solidFill>
            <a:srgbClr val="F4F4F4"/>
          </a:solidFill>
          <a:ln w="6350">
            <a:solidFill>
              <a:srgbClr val="DDDDE7"/>
            </a:solidFill>
            <a:prstDash val="solid"/>
          </a:ln>
        </p:spPr>
        <p:txBody>
          <a:bodyPr/>
          <a:lstStyle/>
          <a:p>
            <a:endParaRPr lang="en-AU"/>
          </a:p>
        </p:txBody>
      </p:sp>
      <p:sp>
        <p:nvSpPr>
          <p:cNvPr id="12" name="Text 10"/>
          <p:cNvSpPr/>
          <p:nvPr/>
        </p:nvSpPr>
        <p:spPr>
          <a:xfrm>
            <a:off x="10469880" y="1412748"/>
            <a:ext cx="1143000" cy="256032"/>
          </a:xfrm>
          <a:prstGeom prst="rect">
            <a:avLst/>
          </a:prstGeom>
          <a:noFill/>
          <a:ln/>
        </p:spPr>
        <p:txBody>
          <a:bodyPr wrap="square" lIns="0" tIns="0" rIns="0" bIns="0" rtlCol="0" anchor="ctr"/>
          <a:lstStyle/>
          <a:p>
            <a:pPr marL="0" indent="0" algn="ctr">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AFTER</a:t>
            </a:r>
            <a:endParaRPr lang="en-US" sz="700" dirty="0"/>
          </a:p>
          <a:p>
            <a:pPr marL="0" indent="0" algn="ctr">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GRADUATION</a:t>
            </a:r>
            <a:endParaRPr lang="en-US" sz="700" dirty="0"/>
          </a:p>
        </p:txBody>
      </p:sp>
      <p:sp>
        <p:nvSpPr>
          <p:cNvPr id="13" name="Shape 11"/>
          <p:cNvSpPr/>
          <p:nvPr/>
        </p:nvSpPr>
        <p:spPr>
          <a:xfrm>
            <a:off x="6720840" y="1705356"/>
            <a:ext cx="1280160" cy="1143000"/>
          </a:xfrm>
          <a:prstGeom prst="rect">
            <a:avLst/>
          </a:prstGeom>
          <a:solidFill>
            <a:srgbClr val="EAF6FB"/>
          </a:solidFill>
          <a:ln w="19050">
            <a:solidFill>
              <a:srgbClr val="2F95B7"/>
            </a:solidFill>
            <a:prstDash val="solid"/>
          </a:ln>
        </p:spPr>
        <p:txBody>
          <a:bodyPr/>
          <a:lstStyle/>
          <a:p>
            <a:endParaRPr lang="en-AU"/>
          </a:p>
        </p:txBody>
      </p:sp>
      <p:sp>
        <p:nvSpPr>
          <p:cNvPr id="14" name="Text 12"/>
          <p:cNvSpPr/>
          <p:nvPr/>
        </p:nvSpPr>
        <p:spPr>
          <a:xfrm>
            <a:off x="6720840" y="1796796"/>
            <a:ext cx="1280160" cy="658368"/>
          </a:xfrm>
          <a:prstGeom prst="rect">
            <a:avLst/>
          </a:prstGeom>
          <a:noFill/>
          <a:ln/>
        </p:spPr>
        <p:txBody>
          <a:bodyPr wrap="square" lIns="0" tIns="0" rIns="0" bIns="0" rtlCol="0" anchor="ctr"/>
          <a:lstStyle/>
          <a:p>
            <a:pPr marL="0" indent="0" algn="ctr">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study.unimelb</a:t>
            </a:r>
            <a:endParaRPr lang="en-US" sz="1050" dirty="0"/>
          </a:p>
          <a:p>
            <a:pPr marL="0" indent="0" algn="ctr">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.edu.au</a:t>
            </a:r>
            <a:endParaRPr lang="en-US" sz="1050" dirty="0"/>
          </a:p>
        </p:txBody>
      </p:sp>
      <p:sp>
        <p:nvSpPr>
          <p:cNvPr id="15" name="Text 13"/>
          <p:cNvSpPr/>
          <p:nvPr/>
        </p:nvSpPr>
        <p:spPr>
          <a:xfrm>
            <a:off x="6720840" y="2482596"/>
            <a:ext cx="1280160" cy="310896"/>
          </a:xfrm>
          <a:prstGeom prst="rect">
            <a:avLst/>
          </a:prstGeom>
          <a:noFill/>
          <a:ln/>
        </p:spPr>
        <p:txBody>
          <a:bodyPr wrap="square" lIns="0" tIns="0" rIns="0" bIns="0" rtlCol="0" anchor="ctr"/>
          <a:lstStyle/>
          <a:p>
            <a:pPr marL="0" indent="0" algn="ctr">
              <a:buNone/>
            </a:pPr>
            <a:r>
              <a:rPr lang="en-US" sz="900" dirty="0">
                <a:solidFill>
                  <a:srgbClr val="5B5B6B"/>
                </a:solidFill>
                <a:latin typeface="Source Code Pro" pitchFamily="34" charset="0"/>
                <a:ea typeface="Source Code Pro" pitchFamily="34" charset="-122"/>
                <a:cs typeface="Source Code Pro" pitchFamily="34" charset="-120"/>
              </a:rPr>
              <a:t>300 pages</a:t>
            </a:r>
            <a:endParaRPr lang="en-US" sz="900" dirty="0"/>
          </a:p>
        </p:txBody>
      </p:sp>
      <p:sp>
        <p:nvSpPr>
          <p:cNvPr id="16" name="Shape 14"/>
          <p:cNvSpPr/>
          <p:nvPr/>
        </p:nvSpPr>
        <p:spPr>
          <a:xfrm>
            <a:off x="8321040" y="1705356"/>
            <a:ext cx="1874520" cy="1143000"/>
          </a:xfrm>
          <a:prstGeom prst="rect">
            <a:avLst/>
          </a:prstGeom>
          <a:solidFill>
            <a:srgbClr val="000F46"/>
          </a:solidFill>
          <a:ln w="19050">
            <a:solidFill>
              <a:srgbClr val="000F46"/>
            </a:solidFill>
            <a:prstDash val="solid"/>
          </a:ln>
        </p:spPr>
        <p:txBody>
          <a:bodyPr/>
          <a:lstStyle/>
          <a:p>
            <a:endParaRPr lang="en-AU"/>
          </a:p>
        </p:txBody>
      </p:sp>
      <p:sp>
        <p:nvSpPr>
          <p:cNvPr id="17" name="Text 15"/>
          <p:cNvSpPr/>
          <p:nvPr/>
        </p:nvSpPr>
        <p:spPr>
          <a:xfrm>
            <a:off x="8321040" y="1842516"/>
            <a:ext cx="1874520" cy="502920"/>
          </a:xfrm>
          <a:prstGeom prst="rect">
            <a:avLst/>
          </a:prstGeom>
          <a:noFill/>
          <a:ln/>
        </p:spPr>
        <p:txBody>
          <a:bodyPr wrap="square" lIns="0" tIns="0" rIns="0" bIns="0" rtlCol="0" anchor="ctr"/>
          <a:lstStyle/>
          <a:p>
            <a:pPr marL="0" indent="0" algn="ctr">
              <a:buNone/>
            </a:pPr>
            <a:r>
              <a:rPr lang="en-US" sz="1050" b="1" dirty="0">
                <a:solidFill>
                  <a:srgbClr val="FFFFFF"/>
                </a:solidFill>
                <a:latin typeface="Source Sans 3" pitchFamily="34" charset="0"/>
                <a:ea typeface="Source Sans 3" pitchFamily="34" charset="-122"/>
                <a:cs typeface="Source Sans 3" pitchFamily="34" charset="-120"/>
              </a:rPr>
              <a:t>students.unimelb.edu.au</a:t>
            </a:r>
            <a:endParaRPr lang="en-US" sz="1050" dirty="0"/>
          </a:p>
        </p:txBody>
      </p:sp>
      <p:sp>
        <p:nvSpPr>
          <p:cNvPr id="18" name="Text 16"/>
          <p:cNvSpPr/>
          <p:nvPr/>
        </p:nvSpPr>
        <p:spPr>
          <a:xfrm>
            <a:off x="8321040" y="2372868"/>
            <a:ext cx="1874520" cy="347472"/>
          </a:xfrm>
          <a:prstGeom prst="rect">
            <a:avLst/>
          </a:prstGeom>
          <a:noFill/>
          <a:ln/>
        </p:spPr>
        <p:txBody>
          <a:bodyPr wrap="square" lIns="0" tIns="0" rIns="0" bIns="0" rtlCol="0" anchor="ctr"/>
          <a:lstStyle/>
          <a:p>
            <a:pPr marL="0" indent="0" algn="ctr">
              <a:buNone/>
            </a:pPr>
            <a:r>
              <a:rPr lang="en-US" sz="850" dirty="0">
                <a:solidFill>
                  <a:srgbClr val="C9CDE6"/>
                </a:solidFill>
                <a:latin typeface="Source Code Pro" pitchFamily="34" charset="0"/>
                <a:ea typeface="Source Code Pro" pitchFamily="34" charset="-122"/>
                <a:cs typeface="Source Code Pro" pitchFamily="34" charset="-120"/>
              </a:rPr>
              <a:t>student services</a:t>
            </a:r>
            <a:endParaRPr lang="en-US" sz="850" dirty="0"/>
          </a:p>
        </p:txBody>
      </p:sp>
      <p:sp>
        <p:nvSpPr>
          <p:cNvPr id="19" name="Text 17"/>
          <p:cNvSpPr/>
          <p:nvPr/>
        </p:nvSpPr>
        <p:spPr>
          <a:xfrm>
            <a:off x="8321040" y="2628900"/>
            <a:ext cx="1874520" cy="201168"/>
          </a:xfrm>
          <a:prstGeom prst="rect">
            <a:avLst/>
          </a:prstGeom>
          <a:noFill/>
          <a:ln/>
        </p:spPr>
        <p:txBody>
          <a:bodyPr wrap="square" lIns="0" tIns="0" rIns="0" bIns="0" rtlCol="0" anchor="ctr"/>
          <a:lstStyle/>
          <a:p>
            <a:pPr marL="0" indent="0" algn="ctr">
              <a:buNone/>
            </a:pPr>
            <a:r>
              <a:rPr lang="en-US" sz="900" dirty="0">
                <a:solidFill>
                  <a:srgbClr val="AAB0D4"/>
                </a:solidFill>
                <a:latin typeface="Source Code Pro" pitchFamily="34" charset="0"/>
                <a:ea typeface="Source Code Pro" pitchFamily="34" charset="-122"/>
                <a:cs typeface="Source Code Pro" pitchFamily="34" charset="-120"/>
              </a:rPr>
              <a:t>74 pages</a:t>
            </a:r>
            <a:endParaRPr lang="en-US" sz="900" dirty="0"/>
          </a:p>
        </p:txBody>
      </p:sp>
      <p:sp>
        <p:nvSpPr>
          <p:cNvPr id="20" name="Shape 18"/>
          <p:cNvSpPr/>
          <p:nvPr/>
        </p:nvSpPr>
        <p:spPr>
          <a:xfrm>
            <a:off x="10469880" y="1705356"/>
            <a:ext cx="1143000" cy="1143000"/>
          </a:xfrm>
          <a:prstGeom prst="rect">
            <a:avLst/>
          </a:prstGeom>
          <a:solidFill>
            <a:srgbClr val="F4F4F4"/>
          </a:solidFill>
          <a:ln w="19050">
            <a:solidFill>
              <a:srgbClr val="DDDDE7"/>
            </a:solidFill>
            <a:prstDash val="solid"/>
          </a:ln>
        </p:spPr>
        <p:txBody>
          <a:bodyPr/>
          <a:lstStyle/>
          <a:p>
            <a:endParaRPr lang="en-AU"/>
          </a:p>
        </p:txBody>
      </p:sp>
      <p:sp>
        <p:nvSpPr>
          <p:cNvPr id="21" name="Text 19"/>
          <p:cNvSpPr/>
          <p:nvPr/>
        </p:nvSpPr>
        <p:spPr>
          <a:xfrm>
            <a:off x="10469880" y="1796796"/>
            <a:ext cx="1143000" cy="658368"/>
          </a:xfrm>
          <a:prstGeom prst="rect">
            <a:avLst/>
          </a:prstGeom>
          <a:noFill/>
          <a:ln/>
        </p:spPr>
        <p:txBody>
          <a:bodyPr wrap="square" lIns="0" tIns="0" rIns="0" bIns="0" rtlCol="0" anchor="ctr"/>
          <a:lstStyle/>
          <a:p>
            <a:pPr marL="0" indent="0" algn="ctr">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alumni</a:t>
            </a:r>
            <a:endParaRPr lang="en-US" sz="1050" dirty="0"/>
          </a:p>
          <a:p>
            <a:pPr marL="0" indent="0" algn="ctr">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.unimelb.edu.au</a:t>
            </a:r>
            <a:endParaRPr lang="en-US" sz="1050" dirty="0"/>
          </a:p>
        </p:txBody>
      </p:sp>
      <p:sp>
        <p:nvSpPr>
          <p:cNvPr id="22" name="Text 20"/>
          <p:cNvSpPr/>
          <p:nvPr/>
        </p:nvSpPr>
        <p:spPr>
          <a:xfrm>
            <a:off x="10469880" y="2482596"/>
            <a:ext cx="1143000" cy="310896"/>
          </a:xfrm>
          <a:prstGeom prst="rect">
            <a:avLst/>
          </a:prstGeom>
          <a:noFill/>
          <a:ln/>
        </p:spPr>
        <p:txBody>
          <a:bodyPr wrap="square" lIns="0" tIns="0" rIns="0" bIns="0" rtlCol="0" anchor="ctr"/>
          <a:lstStyle/>
          <a:p>
            <a:pPr marL="0" indent="0" algn="ctr">
              <a:buNone/>
            </a:pPr>
            <a:r>
              <a:rPr lang="en-US" sz="900" dirty="0">
                <a:solidFill>
                  <a:srgbClr val="5B5B6B"/>
                </a:solidFill>
                <a:latin typeface="Source Code Pro" pitchFamily="34" charset="0"/>
                <a:ea typeface="Source Code Pro" pitchFamily="34" charset="-122"/>
                <a:cs typeface="Source Code Pro" pitchFamily="34" charset="-120"/>
              </a:rPr>
              <a:t>116 pages</a:t>
            </a:r>
            <a:endParaRPr lang="en-US" sz="900" dirty="0"/>
          </a:p>
        </p:txBody>
      </p:sp>
      <p:sp>
        <p:nvSpPr>
          <p:cNvPr id="23" name="Text 21"/>
          <p:cNvSpPr/>
          <p:nvPr/>
        </p:nvSpPr>
        <p:spPr>
          <a:xfrm>
            <a:off x="8028432" y="2098548"/>
            <a:ext cx="274320" cy="384048"/>
          </a:xfrm>
          <a:prstGeom prst="rect">
            <a:avLst/>
          </a:prstGeom>
          <a:noFill/>
          <a:ln/>
        </p:spPr>
        <p:txBody>
          <a:bodyPr wrap="square" lIns="0" tIns="0" rIns="0" bIns="0" rtlCol="0" anchor="ctr"/>
          <a:lstStyle/>
          <a:p>
            <a:pPr marL="0" indent="0" algn="ctr">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→273</a:t>
            </a:r>
            <a:endParaRPr lang="en-US" sz="700" dirty="0"/>
          </a:p>
          <a:p>
            <a:pPr marL="0" indent="0" algn="ctr">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links</a:t>
            </a:r>
            <a:endParaRPr lang="en-US" sz="700" dirty="0"/>
          </a:p>
        </p:txBody>
      </p:sp>
      <p:sp>
        <p:nvSpPr>
          <p:cNvPr id="24" name="Text 22"/>
          <p:cNvSpPr/>
          <p:nvPr/>
        </p:nvSpPr>
        <p:spPr>
          <a:xfrm>
            <a:off x="10222992" y="2098548"/>
            <a:ext cx="228600" cy="384048"/>
          </a:xfrm>
          <a:prstGeom prst="rect">
            <a:avLst/>
          </a:prstGeom>
          <a:noFill/>
          <a:ln/>
        </p:spPr>
        <p:txBody>
          <a:bodyPr wrap="square" lIns="0" tIns="0" rIns="0" bIns="0" rtlCol="0" anchor="ctr"/>
          <a:lstStyle/>
          <a:p>
            <a:pPr marL="0" indent="0" algn="ctr">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 0</a:t>
            </a:r>
            <a:endParaRPr lang="en-US" sz="700" dirty="0"/>
          </a:p>
          <a:p>
            <a:pPr marL="0" indent="0" algn="ctr">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links</a:t>
            </a:r>
            <a:endParaRPr lang="en-US" sz="700" dirty="0"/>
          </a:p>
        </p:txBody>
      </p:sp>
      <p:sp>
        <p:nvSpPr>
          <p:cNvPr id="25" name="Shape 23"/>
          <p:cNvSpPr/>
          <p:nvPr/>
        </p:nvSpPr>
        <p:spPr>
          <a:xfrm>
            <a:off x="6720840" y="2939796"/>
            <a:ext cx="4892040" cy="237744"/>
          </a:xfrm>
          <a:prstGeom prst="rect">
            <a:avLst/>
          </a:prstGeom>
          <a:solidFill>
            <a:srgbClr val="000B34"/>
          </a:solidFill>
          <a:ln/>
        </p:spPr>
        <p:txBody>
          <a:bodyPr/>
          <a:lstStyle/>
          <a:p>
            <a:endParaRPr lang="en-AU"/>
          </a:p>
        </p:txBody>
      </p:sp>
      <p:sp>
        <p:nvSpPr>
          <p:cNvPr id="26" name="Text 24"/>
          <p:cNvSpPr/>
          <p:nvPr/>
        </p:nvSpPr>
        <p:spPr>
          <a:xfrm>
            <a:off x="6720840" y="2939796"/>
            <a:ext cx="4892040" cy="237744"/>
          </a:xfrm>
          <a:prstGeom prst="rect">
            <a:avLst/>
          </a:prstGeom>
          <a:noFill/>
          <a:ln/>
        </p:spPr>
        <p:txBody>
          <a:bodyPr wrap="square" lIns="0" tIns="0" rIns="0" bIns="0" rtlCol="0" anchor="ctr"/>
          <a:lstStyle/>
          <a:p>
            <a:pPr marL="0" indent="0" algn="ctr">
              <a:buNone/>
            </a:pPr>
            <a:r>
              <a:rPr lang="en-US" sz="800" b="1" kern="0" spc="30" dirty="0">
                <a:solidFill>
                  <a:srgbClr val="C9CDE6"/>
                </a:solidFill>
                <a:latin typeface="Source Code Pro" pitchFamily="34" charset="0"/>
                <a:ea typeface="Source Code Pro" pitchFamily="34" charset="-122"/>
                <a:cs typeface="Source Code Pro" pitchFamily="34" charset="-120"/>
              </a:rPr>
              <a:t>FACULTY &amp; SCHOOL SITES (12) — spans all three phases</a:t>
            </a:r>
            <a:endParaRPr lang="en-US" sz="800" dirty="0"/>
          </a:p>
        </p:txBody>
      </p:sp>
      <p:sp>
        <p:nvSpPr>
          <p:cNvPr id="27" name="Shape 25"/>
          <p:cNvSpPr/>
          <p:nvPr/>
        </p:nvSpPr>
        <p:spPr>
          <a:xfrm>
            <a:off x="6720840" y="3177540"/>
            <a:ext cx="4892040" cy="914400"/>
          </a:xfrm>
          <a:prstGeom prst="rect">
            <a:avLst/>
          </a:prstGeom>
          <a:solidFill>
            <a:srgbClr val="8F96C2">
              <a:alpha val="25000"/>
            </a:srgbClr>
          </a:solidFill>
          <a:ln w="9525">
            <a:solidFill>
              <a:srgbClr val="000B34"/>
            </a:solidFill>
            <a:prstDash val="solid"/>
          </a:ln>
        </p:spPr>
        <p:txBody>
          <a:bodyPr/>
          <a:lstStyle/>
          <a:p>
            <a:endParaRPr lang="en-AU"/>
          </a:p>
        </p:txBody>
      </p:sp>
      <p:sp>
        <p:nvSpPr>
          <p:cNvPr id="28" name="Text 26"/>
          <p:cNvSpPr/>
          <p:nvPr/>
        </p:nvSpPr>
        <p:spPr>
          <a:xfrm>
            <a:off x="6720840" y="3177540"/>
            <a:ext cx="1280160" cy="914400"/>
          </a:xfrm>
          <a:prstGeom prst="rect">
            <a:avLst/>
          </a:prstGeom>
          <a:noFill/>
          <a:ln/>
        </p:spPr>
        <p:txBody>
          <a:bodyPr wrap="square" lIns="0" tIns="0" rIns="0" bIns="0" rtlCol="0" anchor="ctr"/>
          <a:lstStyle/>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 529 links</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sent back to</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study.unimelb</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(course plans</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&amp; entry info)</a:t>
            </a:r>
            <a:endParaRPr lang="en-US" sz="900" dirty="0"/>
          </a:p>
        </p:txBody>
      </p:sp>
      <p:sp>
        <p:nvSpPr>
          <p:cNvPr id="29" name="Text 27"/>
          <p:cNvSpPr/>
          <p:nvPr/>
        </p:nvSpPr>
        <p:spPr>
          <a:xfrm>
            <a:off x="8321040" y="3177540"/>
            <a:ext cx="1874520" cy="914400"/>
          </a:xfrm>
          <a:prstGeom prst="rect">
            <a:avLst/>
          </a:prstGeom>
          <a:noFill/>
          <a:ln/>
        </p:spPr>
        <p:txBody>
          <a:bodyPr wrap="square" lIns="0" tIns="0" rIns="0" bIns="0" rtlCol="0" anchor="ctr"/>
          <a:lstStyle/>
          <a:p>
            <a:pPr marL="0" indent="0" algn="ctr">
              <a:lnSpc>
                <a:spcPct val="110000"/>
              </a:lnSpc>
              <a:buNone/>
            </a:pPr>
            <a:r>
              <a:rPr lang="en-US" sz="1000" dirty="0">
                <a:solidFill>
                  <a:srgbClr val="000F46"/>
                </a:solidFill>
                <a:latin typeface="Source Sans 3" pitchFamily="34" charset="0"/>
                <a:ea typeface="Source Sans 3" pitchFamily="34" charset="-122"/>
                <a:cs typeface="Source Sans 3" pitchFamily="34" charset="-120"/>
              </a:rPr>
              <a:t>1,150 current-student pages</a:t>
            </a:r>
            <a:endParaRPr lang="en-US" sz="1000" dirty="0"/>
          </a:p>
          <a:p>
            <a:pPr marL="0" indent="0" algn="ctr">
              <a:lnSpc>
                <a:spcPct val="110000"/>
              </a:lnSpc>
              <a:buNone/>
            </a:pPr>
            <a:r>
              <a:rPr lang="en-US" sz="1000" dirty="0">
                <a:solidFill>
                  <a:srgbClr val="000F46"/>
                </a:solidFill>
                <a:latin typeface="Source Sans 3" pitchFamily="34" charset="0"/>
                <a:ea typeface="Source Sans 3" pitchFamily="34" charset="-122"/>
                <a:cs typeface="Source Sans 3" pitchFamily="34" charset="-120"/>
              </a:rPr>
              <a:t>(9 faculties + 3 schools)</a:t>
            </a:r>
            <a:endParaRPr lang="en-US" sz="1000" dirty="0"/>
          </a:p>
          <a:p>
            <a:pPr marL="0" indent="0" algn="ctr">
              <a:lnSpc>
                <a:spcPct val="110000"/>
              </a:lnSpc>
              <a:buNone/>
            </a:pPr>
            <a:r>
              <a:rPr lang="en-US" sz="1000" dirty="0">
                <a:solidFill>
                  <a:srgbClr val="000F46"/>
                </a:solidFill>
                <a:latin typeface="Source Sans 3" pitchFamily="34" charset="0"/>
                <a:ea typeface="Source Sans 3" pitchFamily="34" charset="-122"/>
                <a:cs typeface="Source Sans 3" pitchFamily="34" charset="-120"/>
              </a:rPr>
              <a:t>→ 4,629 links to students.unimelb</a:t>
            </a:r>
            <a:endParaRPr lang="en-US" sz="1000" dirty="0"/>
          </a:p>
        </p:txBody>
      </p:sp>
      <p:sp>
        <p:nvSpPr>
          <p:cNvPr id="30" name="Text 28"/>
          <p:cNvSpPr/>
          <p:nvPr/>
        </p:nvSpPr>
        <p:spPr>
          <a:xfrm>
            <a:off x="10469880" y="3177540"/>
            <a:ext cx="1143000" cy="914400"/>
          </a:xfrm>
          <a:prstGeom prst="rect">
            <a:avLst/>
          </a:prstGeom>
          <a:noFill/>
          <a:ln/>
        </p:spPr>
        <p:txBody>
          <a:bodyPr wrap="square" lIns="0" tIns="0" rIns="0" bIns="0" rtlCol="0" anchor="ctr"/>
          <a:lstStyle/>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13 faculty</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mentoring streams</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on alumni.unimelb</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 0 links</a:t>
            </a:r>
            <a:endParaRPr lang="en-US" sz="900" dirty="0"/>
          </a:p>
          <a:p>
            <a:pPr marL="0" indent="0" algn="ctr">
              <a:lnSpc>
                <a:spcPct val="105000"/>
              </a:lnSpc>
              <a:buNone/>
            </a:pPr>
            <a:r>
              <a:rPr lang="en-US" sz="900" dirty="0">
                <a:solidFill>
                  <a:srgbClr val="000F46"/>
                </a:solidFill>
                <a:latin typeface="Source Sans 3" pitchFamily="34" charset="0"/>
                <a:ea typeface="Source Sans 3" pitchFamily="34" charset="-122"/>
                <a:cs typeface="Source Sans 3" pitchFamily="34" charset="-120"/>
              </a:rPr>
              <a:t>from faculty CS</a:t>
            </a:r>
            <a:endParaRPr lang="en-US" sz="900" dirty="0"/>
          </a:p>
        </p:txBody>
      </p:sp>
      <p:sp>
        <p:nvSpPr>
          <p:cNvPr id="31" name="Shape 29"/>
          <p:cNvSpPr/>
          <p:nvPr/>
        </p:nvSpPr>
        <p:spPr>
          <a:xfrm>
            <a:off x="6720840" y="4183380"/>
            <a:ext cx="4892040" cy="201168"/>
          </a:xfrm>
          <a:prstGeom prst="rect">
            <a:avLst/>
          </a:prstGeom>
          <a:solidFill>
            <a:srgbClr val="46C8F0">
              <a:alpha val="50000"/>
            </a:srgbClr>
          </a:solidFill>
          <a:ln/>
        </p:spPr>
        <p:txBody>
          <a:bodyPr/>
          <a:lstStyle/>
          <a:p>
            <a:endParaRPr lang="en-AU"/>
          </a:p>
        </p:txBody>
      </p:sp>
      <p:sp>
        <p:nvSpPr>
          <p:cNvPr id="32" name="Text 30"/>
          <p:cNvSpPr/>
          <p:nvPr/>
        </p:nvSpPr>
        <p:spPr>
          <a:xfrm>
            <a:off x="6720840" y="4183380"/>
            <a:ext cx="4892040" cy="201168"/>
          </a:xfrm>
          <a:prstGeom prst="rect">
            <a:avLst/>
          </a:prstGeom>
          <a:noFill/>
          <a:ln/>
        </p:spPr>
        <p:txBody>
          <a:bodyPr wrap="square" lIns="0" tIns="0" rIns="0" bIns="0" rtlCol="0" anchor="ctr"/>
          <a:lstStyle/>
          <a:p>
            <a:pPr marL="0" indent="0" algn="ctr">
              <a:buNone/>
            </a:pPr>
            <a:r>
              <a:rPr lang="en-US" sz="750" b="1" kern="0" spc="50" dirty="0">
                <a:solidFill>
                  <a:srgbClr val="000F46"/>
                </a:solidFill>
                <a:latin typeface="Source Code Pro" pitchFamily="34" charset="0"/>
                <a:ea typeface="Source Code Pro" pitchFamily="34" charset="-122"/>
                <a:cs typeface="Source Code Pro" pitchFamily="34" charset="-120"/>
              </a:rPr>
              <a:t>LINK FLOWS BETWEEN ESTATES</a:t>
            </a:r>
            <a:endParaRPr lang="en-US" sz="750" dirty="0"/>
          </a:p>
        </p:txBody>
      </p:sp>
      <p:sp>
        <p:nvSpPr>
          <p:cNvPr id="33" name="Shape 31"/>
          <p:cNvSpPr/>
          <p:nvPr/>
        </p:nvSpPr>
        <p:spPr>
          <a:xfrm>
            <a:off x="6720840" y="4402836"/>
            <a:ext cx="4892040" cy="164592"/>
          </a:xfrm>
          <a:prstGeom prst="rect">
            <a:avLst/>
          </a:prstGeom>
          <a:solidFill>
            <a:srgbClr val="EAF6FB"/>
          </a:solidFill>
          <a:ln w="6350">
            <a:solidFill>
              <a:srgbClr val="DDDDE7"/>
            </a:solidFill>
            <a:prstDash val="solid"/>
          </a:ln>
        </p:spPr>
        <p:txBody>
          <a:bodyPr/>
          <a:lstStyle/>
          <a:p>
            <a:endParaRPr lang="en-AU"/>
          </a:p>
        </p:txBody>
      </p:sp>
      <p:sp>
        <p:nvSpPr>
          <p:cNvPr id="34" name="Text 32"/>
          <p:cNvSpPr/>
          <p:nvPr/>
        </p:nvSpPr>
        <p:spPr>
          <a:xfrm>
            <a:off x="6766560" y="4402836"/>
            <a:ext cx="2880360" cy="164592"/>
          </a:xfrm>
          <a:prstGeom prst="rect">
            <a:avLst/>
          </a:prstGeom>
          <a:noFill/>
          <a:ln/>
        </p:spPr>
        <p:txBody>
          <a:bodyPr wrap="square" lIns="0" tIns="0" rIns="0" bIns="0" rtlCol="0" anchor="ctr"/>
          <a:lstStyle/>
          <a:p>
            <a:pPr marL="0" indent="0">
              <a:buNone/>
            </a:pPr>
            <a:r>
              <a:rPr lang="en-US" sz="800" b="1" dirty="0">
                <a:solidFill>
                  <a:srgbClr val="2F95B7"/>
                </a:solidFill>
                <a:latin typeface="Source Code Pro" pitchFamily="34" charset="0"/>
                <a:ea typeface="Source Code Pro" pitchFamily="34" charset="-122"/>
                <a:cs typeface="Source Code Pro" pitchFamily="34" charset="-120"/>
              </a:rPr>
              <a:t>→ Faculty CS → students.unimelb</a:t>
            </a:r>
            <a:endParaRPr lang="en-US" sz="800" dirty="0"/>
          </a:p>
        </p:txBody>
      </p:sp>
      <p:sp>
        <p:nvSpPr>
          <p:cNvPr id="35" name="Text 33"/>
          <p:cNvSpPr/>
          <p:nvPr/>
        </p:nvSpPr>
        <p:spPr>
          <a:xfrm>
            <a:off x="9665208" y="4402836"/>
            <a:ext cx="1901952" cy="164592"/>
          </a:xfrm>
          <a:prstGeom prst="rect">
            <a:avLst/>
          </a:prstGeom>
          <a:noFill/>
          <a:ln/>
        </p:spPr>
        <p:txBody>
          <a:bodyPr wrap="square" lIns="0" tIns="0" rIns="0" bIns="0" rtlCol="0" anchor="ctr"/>
          <a:lstStyle/>
          <a:p>
            <a:pPr marL="0" indent="0">
              <a:buNone/>
            </a:pPr>
            <a:r>
              <a:rPr lang="en-US" sz="750" dirty="0">
                <a:solidFill>
                  <a:srgbClr val="5B5B6B"/>
                </a:solidFill>
                <a:latin typeface="Source Code Pro" pitchFamily="34" charset="0"/>
                <a:ea typeface="Source Code Pro" pitchFamily="34" charset="-122"/>
                <a:cs typeface="Source Code Pro" pitchFamily="34" charset="-120"/>
              </a:rPr>
              <a:t>4,629 links · all topics</a:t>
            </a:r>
            <a:endParaRPr lang="en-US" sz="750" dirty="0"/>
          </a:p>
        </p:txBody>
      </p:sp>
      <p:sp>
        <p:nvSpPr>
          <p:cNvPr id="36" name="Shape 34"/>
          <p:cNvSpPr/>
          <p:nvPr/>
        </p:nvSpPr>
        <p:spPr>
          <a:xfrm>
            <a:off x="6720840" y="4576572"/>
            <a:ext cx="4892040" cy="164592"/>
          </a:xfrm>
          <a:prstGeom prst="rect">
            <a:avLst/>
          </a:prstGeom>
          <a:solidFill>
            <a:srgbClr val="EAF6FB"/>
          </a:solidFill>
          <a:ln w="6350">
            <a:solidFill>
              <a:srgbClr val="DDDDE7"/>
            </a:solidFill>
            <a:prstDash val="solid"/>
          </a:ln>
        </p:spPr>
        <p:txBody>
          <a:bodyPr/>
          <a:lstStyle/>
          <a:p>
            <a:endParaRPr lang="en-AU"/>
          </a:p>
        </p:txBody>
      </p:sp>
      <p:sp>
        <p:nvSpPr>
          <p:cNvPr id="37" name="Text 35"/>
          <p:cNvSpPr/>
          <p:nvPr/>
        </p:nvSpPr>
        <p:spPr>
          <a:xfrm>
            <a:off x="6766560" y="4576572"/>
            <a:ext cx="2880360" cy="164592"/>
          </a:xfrm>
          <a:prstGeom prst="rect">
            <a:avLst/>
          </a:prstGeom>
          <a:noFill/>
          <a:ln/>
        </p:spPr>
        <p:txBody>
          <a:bodyPr wrap="square" lIns="0" tIns="0" rIns="0" bIns="0" rtlCol="0" anchor="ctr"/>
          <a:lstStyle/>
          <a:p>
            <a:pPr marL="0" indent="0">
              <a:buNone/>
            </a:pPr>
            <a:r>
              <a:rPr lang="en-US" sz="800" b="1" dirty="0">
                <a:solidFill>
                  <a:srgbClr val="2F95B7"/>
                </a:solidFill>
                <a:latin typeface="Source Code Pro" pitchFamily="34" charset="0"/>
                <a:ea typeface="Source Code Pro" pitchFamily="34" charset="-122"/>
                <a:cs typeface="Source Code Pro" pitchFamily="34" charset="-120"/>
              </a:rPr>
              <a:t>→ Faculty CS → study.unimelb</a:t>
            </a:r>
            <a:endParaRPr lang="en-US" sz="800" dirty="0"/>
          </a:p>
        </p:txBody>
      </p:sp>
      <p:sp>
        <p:nvSpPr>
          <p:cNvPr id="38" name="Text 36"/>
          <p:cNvSpPr/>
          <p:nvPr/>
        </p:nvSpPr>
        <p:spPr>
          <a:xfrm>
            <a:off x="9665208" y="4576572"/>
            <a:ext cx="1901952" cy="164592"/>
          </a:xfrm>
          <a:prstGeom prst="rect">
            <a:avLst/>
          </a:prstGeom>
          <a:noFill/>
          <a:ln/>
        </p:spPr>
        <p:txBody>
          <a:bodyPr wrap="square" lIns="0" tIns="0" rIns="0" bIns="0" rtlCol="0" anchor="ctr"/>
          <a:lstStyle/>
          <a:p>
            <a:pPr marL="0" indent="0">
              <a:buNone/>
            </a:pPr>
            <a:r>
              <a:rPr lang="en-US" sz="750" dirty="0">
                <a:solidFill>
                  <a:srgbClr val="5B5B6B"/>
                </a:solidFill>
                <a:latin typeface="Source Code Pro" pitchFamily="34" charset="0"/>
                <a:ea typeface="Source Code Pro" pitchFamily="34" charset="-122"/>
                <a:cs typeface="Source Code Pro" pitchFamily="34" charset="-120"/>
              </a:rPr>
              <a:t>529 links · course planning</a:t>
            </a:r>
            <a:endParaRPr lang="en-US" sz="750" dirty="0"/>
          </a:p>
        </p:txBody>
      </p:sp>
      <p:sp>
        <p:nvSpPr>
          <p:cNvPr id="39" name="Shape 37"/>
          <p:cNvSpPr/>
          <p:nvPr/>
        </p:nvSpPr>
        <p:spPr>
          <a:xfrm>
            <a:off x="6720840" y="4750308"/>
            <a:ext cx="4892040" cy="164592"/>
          </a:xfrm>
          <a:prstGeom prst="rect">
            <a:avLst/>
          </a:prstGeom>
          <a:solidFill>
            <a:srgbClr val="EAF6FB"/>
          </a:solidFill>
          <a:ln w="6350">
            <a:solidFill>
              <a:srgbClr val="DDDDE7"/>
            </a:solidFill>
            <a:prstDash val="solid"/>
          </a:ln>
        </p:spPr>
        <p:txBody>
          <a:bodyPr/>
          <a:lstStyle/>
          <a:p>
            <a:endParaRPr lang="en-AU"/>
          </a:p>
        </p:txBody>
      </p:sp>
      <p:sp>
        <p:nvSpPr>
          <p:cNvPr id="40" name="Text 38"/>
          <p:cNvSpPr/>
          <p:nvPr/>
        </p:nvSpPr>
        <p:spPr>
          <a:xfrm>
            <a:off x="6766560" y="4750308"/>
            <a:ext cx="2880360" cy="164592"/>
          </a:xfrm>
          <a:prstGeom prst="rect">
            <a:avLst/>
          </a:prstGeom>
          <a:noFill/>
          <a:ln/>
        </p:spPr>
        <p:txBody>
          <a:bodyPr wrap="square" lIns="0" tIns="0" rIns="0" bIns="0" rtlCol="0" anchor="ctr"/>
          <a:lstStyle/>
          <a:p>
            <a:pPr marL="0" indent="0">
              <a:buNone/>
            </a:pPr>
            <a:r>
              <a:rPr lang="en-US" sz="800" b="1" dirty="0">
                <a:solidFill>
                  <a:srgbClr val="2F95B7"/>
                </a:solidFill>
                <a:latin typeface="Source Code Pro" pitchFamily="34" charset="0"/>
                <a:ea typeface="Source Code Pro" pitchFamily="34" charset="-122"/>
                <a:cs typeface="Source Code Pro" pitchFamily="34" charset="-120"/>
              </a:rPr>
              <a:t>→ study.unimelb → students.unimelb</a:t>
            </a:r>
            <a:endParaRPr lang="en-US" sz="800" dirty="0"/>
          </a:p>
        </p:txBody>
      </p:sp>
      <p:sp>
        <p:nvSpPr>
          <p:cNvPr id="41" name="Text 39"/>
          <p:cNvSpPr/>
          <p:nvPr/>
        </p:nvSpPr>
        <p:spPr>
          <a:xfrm>
            <a:off x="9665208" y="4750308"/>
            <a:ext cx="1901952" cy="164592"/>
          </a:xfrm>
          <a:prstGeom prst="rect">
            <a:avLst/>
          </a:prstGeom>
          <a:noFill/>
          <a:ln/>
        </p:spPr>
        <p:txBody>
          <a:bodyPr wrap="square" lIns="0" tIns="0" rIns="0" bIns="0" rtlCol="0" anchor="ctr"/>
          <a:lstStyle/>
          <a:p>
            <a:pPr marL="0" indent="0">
              <a:buNone/>
            </a:pPr>
            <a:r>
              <a:rPr lang="en-US" sz="750" dirty="0">
                <a:solidFill>
                  <a:srgbClr val="5B5B6B"/>
                </a:solidFill>
                <a:latin typeface="Source Code Pro" pitchFamily="34" charset="0"/>
                <a:ea typeface="Source Code Pro" pitchFamily="34" charset="-122"/>
                <a:cs typeface="Source Code Pro" pitchFamily="34" charset="-120"/>
              </a:rPr>
              <a:t>273 links · course info</a:t>
            </a:r>
            <a:endParaRPr lang="en-US" sz="750" dirty="0"/>
          </a:p>
        </p:txBody>
      </p:sp>
      <p:sp>
        <p:nvSpPr>
          <p:cNvPr id="42" name="Shape 40"/>
          <p:cNvSpPr/>
          <p:nvPr/>
        </p:nvSpPr>
        <p:spPr>
          <a:xfrm>
            <a:off x="6720840" y="4924044"/>
            <a:ext cx="4892040" cy="164592"/>
          </a:xfrm>
          <a:prstGeom prst="rect">
            <a:avLst/>
          </a:prstGeom>
          <a:solidFill>
            <a:srgbClr val="F4F4F4"/>
          </a:solidFill>
          <a:ln w="6350">
            <a:solidFill>
              <a:srgbClr val="DDDDE7"/>
            </a:solidFill>
            <a:prstDash val="solid"/>
          </a:ln>
        </p:spPr>
        <p:txBody>
          <a:bodyPr/>
          <a:lstStyle/>
          <a:p>
            <a:endParaRPr lang="en-AU"/>
          </a:p>
        </p:txBody>
      </p:sp>
      <p:sp>
        <p:nvSpPr>
          <p:cNvPr id="43" name="Text 41"/>
          <p:cNvSpPr/>
          <p:nvPr/>
        </p:nvSpPr>
        <p:spPr>
          <a:xfrm>
            <a:off x="6766560" y="4924044"/>
            <a:ext cx="2880360" cy="164592"/>
          </a:xfrm>
          <a:prstGeom prst="rect">
            <a:avLst/>
          </a:prstGeom>
          <a:noFill/>
          <a:ln/>
        </p:spPr>
        <p:txBody>
          <a:bodyPr wrap="square" lIns="0" tIns="0" rIns="0" bIns="0" rtlCol="0" anchor="ctr"/>
          <a:lstStyle/>
          <a:p>
            <a:pPr marL="0" indent="0">
              <a:buNone/>
            </a:pPr>
            <a:r>
              <a:rPr lang="en-US" sz="800" b="1" dirty="0">
                <a:solidFill>
                  <a:srgbClr val="5B5B6B"/>
                </a:solidFill>
                <a:latin typeface="Source Code Pro" pitchFamily="34" charset="0"/>
                <a:ea typeface="Source Code Pro" pitchFamily="34" charset="-122"/>
                <a:cs typeface="Source Code Pro" pitchFamily="34" charset="-120"/>
              </a:rPr>
              <a:t>✗ students.unimelb → alumni.unimelb</a:t>
            </a:r>
            <a:endParaRPr lang="en-US" sz="800" dirty="0"/>
          </a:p>
        </p:txBody>
      </p:sp>
      <p:sp>
        <p:nvSpPr>
          <p:cNvPr id="44" name="Text 42"/>
          <p:cNvSpPr/>
          <p:nvPr/>
        </p:nvSpPr>
        <p:spPr>
          <a:xfrm>
            <a:off x="9665208" y="4924044"/>
            <a:ext cx="1901952" cy="164592"/>
          </a:xfrm>
          <a:prstGeom prst="rect">
            <a:avLst/>
          </a:prstGeom>
          <a:noFill/>
          <a:ln/>
        </p:spPr>
        <p:txBody>
          <a:bodyPr wrap="square" lIns="0" tIns="0" rIns="0" bIns="0" rtlCol="0" anchor="ctr"/>
          <a:lstStyle/>
          <a:p>
            <a:pPr marL="0" indent="0">
              <a:buNone/>
            </a:pPr>
            <a:r>
              <a:rPr lang="en-US" sz="750" dirty="0">
                <a:solidFill>
                  <a:srgbClr val="5B5B6B"/>
                </a:solidFill>
                <a:latin typeface="Source Code Pro" pitchFamily="34" charset="0"/>
                <a:ea typeface="Source Code Pro" pitchFamily="34" charset="-122"/>
                <a:cs typeface="Source Code Pro" pitchFamily="34" charset="-120"/>
              </a:rPr>
              <a:t>0 links</a:t>
            </a:r>
            <a:endParaRPr lang="en-US" sz="750" dirty="0"/>
          </a:p>
        </p:txBody>
      </p:sp>
      <p:sp>
        <p:nvSpPr>
          <p:cNvPr id="45" name="Shape 43"/>
          <p:cNvSpPr/>
          <p:nvPr/>
        </p:nvSpPr>
        <p:spPr>
          <a:xfrm>
            <a:off x="6720840" y="5097780"/>
            <a:ext cx="4892040" cy="274320"/>
          </a:xfrm>
          <a:prstGeom prst="rect">
            <a:avLst/>
          </a:prstGeom>
          <a:solidFill>
            <a:srgbClr val="F4F4F4"/>
          </a:solidFill>
          <a:ln w="6350">
            <a:solidFill>
              <a:srgbClr val="DDDDE7"/>
            </a:solidFill>
            <a:prstDash val="solid"/>
          </a:ln>
        </p:spPr>
        <p:txBody>
          <a:bodyPr/>
          <a:lstStyle/>
          <a:p>
            <a:endParaRPr lang="en-AU"/>
          </a:p>
        </p:txBody>
      </p:sp>
      <p:sp>
        <p:nvSpPr>
          <p:cNvPr id="46" name="Text 44"/>
          <p:cNvSpPr/>
          <p:nvPr/>
        </p:nvSpPr>
        <p:spPr>
          <a:xfrm>
            <a:off x="6766560" y="5097780"/>
            <a:ext cx="2880360" cy="164592"/>
          </a:xfrm>
          <a:prstGeom prst="rect">
            <a:avLst/>
          </a:prstGeom>
          <a:noFill/>
          <a:ln/>
        </p:spPr>
        <p:txBody>
          <a:bodyPr wrap="square" lIns="0" tIns="0" rIns="0" bIns="0" rtlCol="0" anchor="ctr"/>
          <a:lstStyle/>
          <a:p>
            <a:pPr marL="0" indent="0">
              <a:buNone/>
            </a:pPr>
            <a:r>
              <a:rPr lang="en-US" sz="800" b="1" dirty="0">
                <a:solidFill>
                  <a:srgbClr val="5B5B6B"/>
                </a:solidFill>
                <a:latin typeface="Source Code Pro" pitchFamily="34" charset="0"/>
                <a:ea typeface="Source Code Pro" pitchFamily="34" charset="-122"/>
                <a:cs typeface="Source Code Pro" pitchFamily="34" charset="-120"/>
              </a:rPr>
              <a:t>✗ Faculty CS → alumni.unimelb</a:t>
            </a:r>
            <a:endParaRPr lang="en-US" sz="800" dirty="0"/>
          </a:p>
        </p:txBody>
      </p:sp>
      <p:sp>
        <p:nvSpPr>
          <p:cNvPr id="47" name="Text 45"/>
          <p:cNvSpPr/>
          <p:nvPr/>
        </p:nvSpPr>
        <p:spPr>
          <a:xfrm>
            <a:off x="9665208" y="5152644"/>
            <a:ext cx="1901952" cy="164592"/>
          </a:xfrm>
          <a:prstGeom prst="rect">
            <a:avLst/>
          </a:prstGeom>
          <a:noFill/>
          <a:ln/>
        </p:spPr>
        <p:txBody>
          <a:bodyPr wrap="square" lIns="0" tIns="0" rIns="0" bIns="0" rtlCol="0" anchor="ctr"/>
          <a:lstStyle/>
          <a:p>
            <a:pPr marL="0" indent="0">
              <a:buNone/>
            </a:pPr>
            <a:r>
              <a:rPr lang="en-US" sz="750" dirty="0">
                <a:solidFill>
                  <a:srgbClr val="5B5B6B"/>
                </a:solidFill>
                <a:latin typeface="Source Code Pro" pitchFamily="34" charset="0"/>
                <a:ea typeface="Source Code Pro" pitchFamily="34" charset="-122"/>
                <a:cs typeface="Source Code Pro" pitchFamily="34" charset="-120"/>
              </a:rPr>
              <a:t>0 links — 13 mentoring streams not connected</a:t>
            </a:r>
            <a:endParaRPr lang="en-US" sz="750" dirty="0"/>
          </a:p>
        </p:txBody>
      </p:sp>
      <p:sp>
        <p:nvSpPr>
          <p:cNvPr id="48" name="Shape 46"/>
          <p:cNvSpPr/>
          <p:nvPr/>
        </p:nvSpPr>
        <p:spPr>
          <a:xfrm>
            <a:off x="566928" y="5559552"/>
            <a:ext cx="10881360" cy="621792"/>
          </a:xfrm>
          <a:prstGeom prst="rect">
            <a:avLst/>
          </a:prstGeom>
          <a:solidFill>
            <a:srgbClr val="EAF6FB"/>
          </a:solidFill>
          <a:ln/>
        </p:spPr>
        <p:txBody>
          <a:bodyPr/>
          <a:lstStyle/>
          <a:p>
            <a:endParaRPr lang="en-AU"/>
          </a:p>
        </p:txBody>
      </p:sp>
      <p:sp>
        <p:nvSpPr>
          <p:cNvPr id="49" name="Shape 47"/>
          <p:cNvSpPr/>
          <p:nvPr/>
        </p:nvSpPr>
        <p:spPr>
          <a:xfrm>
            <a:off x="566928" y="5559552"/>
            <a:ext cx="91440" cy="621792"/>
          </a:xfrm>
          <a:prstGeom prst="rect">
            <a:avLst/>
          </a:prstGeom>
          <a:solidFill>
            <a:srgbClr val="46C8F0"/>
          </a:solidFill>
          <a:ln/>
        </p:spPr>
        <p:txBody>
          <a:bodyPr/>
          <a:lstStyle/>
          <a:p>
            <a:endParaRPr lang="en-AU"/>
          </a:p>
        </p:txBody>
      </p:sp>
      <p:sp>
        <p:nvSpPr>
          <p:cNvPr id="50" name="Text 48"/>
          <p:cNvSpPr/>
          <p:nvPr/>
        </p:nvSpPr>
        <p:spPr>
          <a:xfrm>
            <a:off x="868680" y="5559552"/>
            <a:ext cx="10332720" cy="621792"/>
          </a:xfrm>
          <a:prstGeom prst="rect">
            <a:avLst/>
          </a:prstGeom>
          <a:noFill/>
          <a:ln/>
        </p:spPr>
        <p:txBody>
          <a:bodyPr wrap="square" lIns="0" tIns="0" rIns="0" bIns="0" rtlCol="0" anchor="ctr"/>
          <a:lstStyle/>
          <a:p>
            <a:pPr marL="0" indent="0">
              <a:buNone/>
            </a:pPr>
            <a:r>
              <a:rPr lang="en-US" sz="1300" b="1" dirty="0">
                <a:solidFill>
                  <a:srgbClr val="000F46"/>
                </a:solidFill>
                <a:latin typeface="Source Sans 3" pitchFamily="34" charset="0"/>
                <a:ea typeface="Source Sans 3" pitchFamily="34" charset="-122"/>
                <a:cs typeface="Source Sans 3" pitchFamily="34" charset="-120"/>
              </a:rPr>
              <a:t>To discuss:  </a:t>
            </a:r>
            <a:r>
              <a:rPr lang="en-US" sz="1300" dirty="0">
                <a:solidFill>
                  <a:srgbClr val="000B34"/>
                </a:solidFill>
                <a:latin typeface="Source Sans 3" pitchFamily="34" charset="0"/>
                <a:ea typeface="Source Sans 3" pitchFamily="34" charset="-122"/>
                <a:cs typeface="Source Sans 3" pitchFamily="34" charset="-120"/>
              </a:rPr>
              <a:t>Is this the right picture of where the estate sits? Where does the faculty presence in all three phases create useful duplication — and where is it a broken thread?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marL="0" indent="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marL="0" indent="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marL="0" indent="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marL="0" indent="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marL="0" indent="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txBody>
          <a:bodyPr/>
          <a:lstStyle/>
          <a:p>
            <a:endParaRPr lang="en-AU"/>
          </a:p>
        </p:txBody>
      </p:sp>
      <p:sp>
        <p:nvSpPr>
          <p:cNvPr id="8" name="Shape 6"/>
          <p:cNvSpPr/>
          <p:nvPr/>
        </p:nvSpPr>
        <p:spPr>
          <a:xfrm>
            <a:off x="6720840" y="1280160"/>
            <a:ext cx="91440" cy="4846320"/>
          </a:xfrm>
          <a:prstGeom prst="rect">
            <a:avLst/>
          </a:prstGeom>
          <a:solidFill>
            <a:srgbClr val="46C8F0"/>
          </a:solidFill>
          <a:ln/>
        </p:spPr>
        <p:txBody>
          <a:bodyPr/>
          <a:lstStyle/>
          <a:p>
            <a:endParaRPr lang="en-AU"/>
          </a:p>
        </p:txBody>
      </p:sp>
      <p:sp>
        <p:nvSpPr>
          <p:cNvPr id="9" name="Text 7"/>
          <p:cNvSpPr/>
          <p:nvPr/>
        </p:nvSpPr>
        <p:spPr>
          <a:xfrm>
            <a:off x="7022592" y="1481328"/>
            <a:ext cx="4480560" cy="274320"/>
          </a:xfrm>
          <a:prstGeom prst="rect">
            <a:avLst/>
          </a:prstGeom>
          <a:noFill/>
          <a:ln/>
        </p:spPr>
        <p:txBody>
          <a:bodyPr wrap="square" lIns="0" tIns="0" rIns="0" bIns="0" rtlCol="0" anchor="ctr"/>
          <a:lstStyle/>
          <a:p>
            <a:pPr marL="0" indent="0">
              <a:buNone/>
            </a:pPr>
            <a:r>
              <a:rPr lang="en-US" sz="1100" b="1" kern="0" spc="20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txBody>
          <a:bodyPr/>
          <a:lstStyle/>
          <a:p>
            <a:endParaRPr lang="en-AU"/>
          </a:p>
        </p:txBody>
      </p:sp>
      <p:sp>
        <p:nvSpPr>
          <p:cNvPr id="11" name="Text 9"/>
          <p:cNvSpPr/>
          <p:nvPr/>
        </p:nvSpPr>
        <p:spPr>
          <a:xfrm>
            <a:off x="7150608" y="1920240"/>
            <a:ext cx="4206240"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txBody>
          <a:bodyPr/>
          <a:lstStyle/>
          <a:p>
            <a:endParaRPr lang="en-AU"/>
          </a:p>
        </p:txBody>
      </p:sp>
      <p:sp>
        <p:nvSpPr>
          <p:cNvPr id="13" name="Text 11"/>
          <p:cNvSpPr/>
          <p:nvPr/>
        </p:nvSpPr>
        <p:spPr>
          <a:xfrm>
            <a:off x="7150608" y="2743200"/>
            <a:ext cx="4206240"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Careers: 4 parallel presences — Current Students Website, 8 faculties, study.unimelb, alumni. No cross-links in any direction.</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txBody>
          <a:bodyPr/>
          <a:lstStyle/>
          <a:p>
            <a:endParaRPr lang="en-AU"/>
          </a:p>
        </p:txBody>
      </p:sp>
      <p:sp>
        <p:nvSpPr>
          <p:cNvPr id="15" name="Text 13"/>
          <p:cNvSpPr/>
          <p:nvPr/>
        </p:nvSpPr>
        <p:spPr>
          <a:xfrm>
            <a:off x="7150608" y="3566160"/>
            <a:ext cx="4206240"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txBody>
          <a:bodyPr/>
          <a:lstStyle/>
          <a:p>
            <a:endParaRPr lang="en-AU"/>
          </a:p>
        </p:txBody>
      </p:sp>
      <p:sp>
        <p:nvSpPr>
          <p:cNvPr id="17" name="Text 15"/>
          <p:cNvSpPr/>
          <p:nvPr/>
        </p:nvSpPr>
        <p:spPr>
          <a:xfrm>
            <a:off x="7150608" y="4389120"/>
            <a:ext cx="4206240"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study.unimelb: 529 links from faculty pages back to the prospective site — deliberate when study.unimelb was set up. Is the enrolled-student experience on these journeys working as intended?</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txBody>
          <a:bodyPr/>
          <a:lstStyle/>
          <a:p>
            <a:endParaRPr lang="en-AU"/>
          </a:p>
        </p:txBody>
      </p:sp>
      <p:sp>
        <p:nvSpPr>
          <p:cNvPr id="19" name="Text 17"/>
          <p:cNvSpPr/>
          <p:nvPr/>
        </p:nvSpPr>
        <p:spPr>
          <a:xfrm>
            <a:off x="7150608" y="5212080"/>
            <a:ext cx="4206240"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3 separate presences — 100 faculty pages, 75 on study.unimelb, 1 on alumni. scholarships.unimelb.edu.au is the dedicated entry point; none of the three link to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Current student topics — where the content sits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9</a:t>
            </a:r>
            <a:endParaRPr lang="en-US" sz="900" dirty="0"/>
          </a:p>
        </p:txBody>
      </p:sp>
      <p:sp>
        <p:nvSpPr>
          <p:cNvPr id="6" name="Text 4"/>
          <p:cNvSpPr/>
          <p:nvPr/>
        </p:nvSpPr>
        <p:spPr>
          <a:xfrm>
            <a:off x="566928" y="1325880"/>
            <a:ext cx="4398477" cy="4389120"/>
          </a:xfrm>
          <a:prstGeom prst="rect">
            <a:avLst/>
          </a:prstGeom>
          <a:noFill/>
          <a:ln/>
        </p:spPr>
        <p:txBody>
          <a:bodyPr wrap="square" lIns="0" tIns="0" rIns="0" bIns="0" rtlCol="0" anchor="t"/>
          <a:lstStyle/>
          <a:p>
            <a:pPr marL="0" indent="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topic area — the same three questions:</a:t>
            </a:r>
            <a:endParaRPr lang="en-US" sz="1550" dirty="0"/>
          </a:p>
          <a:p>
            <a:pPr marL="0" indent="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marL="0" indent="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student?</a:t>
            </a:r>
            <a:endParaRPr lang="en-US" sz="1550" dirty="0"/>
          </a:p>
          <a:p>
            <a:pPr marL="0" indent="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marL="0" indent="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5534458" y="1275588"/>
            <a:ext cx="6124141" cy="4846320"/>
          </a:xfrm>
          <a:prstGeom prst="rect">
            <a:avLst/>
          </a:prstGeom>
          <a:solidFill>
            <a:srgbClr val="EAF6FB"/>
          </a:solidFill>
          <a:ln/>
        </p:spPr>
        <p:txBody>
          <a:bodyPr/>
          <a:lstStyle/>
          <a:p>
            <a:endParaRPr lang="en-AU"/>
          </a:p>
        </p:txBody>
      </p:sp>
      <p:sp>
        <p:nvSpPr>
          <p:cNvPr id="8" name="Shape 6"/>
          <p:cNvSpPr/>
          <p:nvPr/>
        </p:nvSpPr>
        <p:spPr>
          <a:xfrm>
            <a:off x="5534459" y="1275588"/>
            <a:ext cx="91440" cy="4846320"/>
          </a:xfrm>
          <a:prstGeom prst="rect">
            <a:avLst/>
          </a:prstGeom>
          <a:solidFill>
            <a:srgbClr val="46C8F0"/>
          </a:solidFill>
          <a:ln/>
        </p:spPr>
        <p:txBody>
          <a:bodyPr/>
          <a:lstStyle/>
          <a:p>
            <a:endParaRPr lang="en-AU"/>
          </a:p>
        </p:txBody>
      </p:sp>
      <p:sp>
        <p:nvSpPr>
          <p:cNvPr id="9" name="Text 7"/>
          <p:cNvSpPr/>
          <p:nvPr/>
        </p:nvSpPr>
        <p:spPr>
          <a:xfrm>
            <a:off x="5836211" y="1476756"/>
            <a:ext cx="4480560" cy="274320"/>
          </a:xfrm>
          <a:prstGeom prst="rect">
            <a:avLst/>
          </a:prstGeom>
          <a:noFill/>
          <a:ln/>
        </p:spPr>
        <p:txBody>
          <a:bodyPr wrap="square" lIns="0" tIns="0" rIns="0" bIns="0" rtlCol="0" anchor="ctr"/>
          <a:lstStyle/>
          <a:p>
            <a:pPr marL="0" indent="0">
              <a:buNone/>
            </a:pPr>
            <a:r>
              <a:rPr lang="en-US" sz="1100" b="1" kern="0" spc="20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5836210" y="1915668"/>
            <a:ext cx="5561891" cy="731520"/>
          </a:xfrm>
          <a:prstGeom prst="rect">
            <a:avLst/>
          </a:prstGeom>
          <a:solidFill>
            <a:srgbClr val="FFFFFF"/>
          </a:solidFill>
          <a:ln w="12700">
            <a:solidFill>
              <a:srgbClr val="DDDDE7"/>
            </a:solidFill>
            <a:prstDash val="solid"/>
          </a:ln>
        </p:spPr>
        <p:txBody>
          <a:bodyPr/>
          <a:lstStyle/>
          <a:p>
            <a:endParaRPr lang="en-AU"/>
          </a:p>
        </p:txBody>
      </p:sp>
      <p:sp>
        <p:nvSpPr>
          <p:cNvPr id="11" name="Text 9"/>
          <p:cNvSpPr/>
          <p:nvPr/>
        </p:nvSpPr>
        <p:spPr>
          <a:xfrm>
            <a:off x="5964227" y="1915668"/>
            <a:ext cx="5330146"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Course planning: students.unimelb has My Course Planner; FEIT re-hosts it verbatim on its own site. Every faculty also runs its own degree plans across the 1,150 CS pages. Same tool, same content, no connecting link between any of them.</a:t>
            </a:r>
            <a:endParaRPr lang="en-US" sz="1050" dirty="0"/>
          </a:p>
        </p:txBody>
      </p:sp>
      <p:sp>
        <p:nvSpPr>
          <p:cNvPr id="12" name="Shape 10"/>
          <p:cNvSpPr/>
          <p:nvPr/>
        </p:nvSpPr>
        <p:spPr>
          <a:xfrm>
            <a:off x="5836210" y="2738628"/>
            <a:ext cx="5561891" cy="731520"/>
          </a:xfrm>
          <a:prstGeom prst="rect">
            <a:avLst/>
          </a:prstGeom>
          <a:solidFill>
            <a:srgbClr val="FFFFFF"/>
          </a:solidFill>
          <a:ln w="12700">
            <a:solidFill>
              <a:srgbClr val="DDDDE7"/>
            </a:solidFill>
            <a:prstDash val="solid"/>
          </a:ln>
        </p:spPr>
        <p:txBody>
          <a:bodyPr/>
          <a:lstStyle/>
          <a:p>
            <a:endParaRPr lang="en-AU"/>
          </a:p>
        </p:txBody>
      </p:sp>
      <p:sp>
        <p:nvSpPr>
          <p:cNvPr id="13" name="Text 11"/>
          <p:cNvSpPr/>
          <p:nvPr/>
        </p:nvSpPr>
        <p:spPr>
          <a:xfrm>
            <a:off x="5964227" y="2738628"/>
            <a:ext cx="5330146"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Placements &amp; WIL: 186 pages across all faculties (MDHS alone holds 94, nearly all clinical compliance); students.unimelb has none. No central WIL gateway — students cannot discover faculty placement offerings from the centre.</a:t>
            </a:r>
            <a:endParaRPr lang="en-US" sz="1050" dirty="0"/>
          </a:p>
        </p:txBody>
      </p:sp>
      <p:sp>
        <p:nvSpPr>
          <p:cNvPr id="14" name="Shape 12"/>
          <p:cNvSpPr/>
          <p:nvPr/>
        </p:nvSpPr>
        <p:spPr>
          <a:xfrm>
            <a:off x="5836210" y="3561588"/>
            <a:ext cx="5561891" cy="731520"/>
          </a:xfrm>
          <a:prstGeom prst="rect">
            <a:avLst/>
          </a:prstGeom>
          <a:solidFill>
            <a:srgbClr val="FFFFFF"/>
          </a:solidFill>
          <a:ln w="12700">
            <a:solidFill>
              <a:srgbClr val="DDDDE7"/>
            </a:solidFill>
            <a:prstDash val="solid"/>
          </a:ln>
        </p:spPr>
        <p:txBody>
          <a:bodyPr/>
          <a:lstStyle/>
          <a:p>
            <a:endParaRPr lang="en-AU"/>
          </a:p>
        </p:txBody>
      </p:sp>
      <p:sp>
        <p:nvSpPr>
          <p:cNvPr id="15" name="Text 13"/>
          <p:cNvSpPr/>
          <p:nvPr/>
        </p:nvSpPr>
        <p:spPr>
          <a:xfrm>
            <a:off x="5964227" y="3561588"/>
            <a:ext cx="5330146"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Employability: 7 faculties each run a near-identical 'Employability in X' page restating the same central careers service. Faculty-owned core — regulated pathways, internship subjects, teacher registration — is sound; the template duplication is the problem.</a:t>
            </a:r>
            <a:endParaRPr lang="en-US" sz="1050" dirty="0"/>
          </a:p>
        </p:txBody>
      </p:sp>
      <p:sp>
        <p:nvSpPr>
          <p:cNvPr id="16" name="Shape 14"/>
          <p:cNvSpPr/>
          <p:nvPr/>
        </p:nvSpPr>
        <p:spPr>
          <a:xfrm>
            <a:off x="5836210" y="4384548"/>
            <a:ext cx="5561891" cy="731520"/>
          </a:xfrm>
          <a:prstGeom prst="rect">
            <a:avLst/>
          </a:prstGeom>
          <a:solidFill>
            <a:srgbClr val="FFFFFF"/>
          </a:solidFill>
          <a:ln w="12700">
            <a:solidFill>
              <a:srgbClr val="DDDDE7"/>
            </a:solidFill>
            <a:prstDash val="solid"/>
          </a:ln>
        </p:spPr>
        <p:txBody>
          <a:bodyPr/>
          <a:lstStyle/>
          <a:p>
            <a:endParaRPr lang="en-AU"/>
          </a:p>
        </p:txBody>
      </p:sp>
      <p:sp>
        <p:nvSpPr>
          <p:cNvPr id="17" name="Text 15"/>
          <p:cNvSpPr/>
          <p:nvPr/>
        </p:nvSpPr>
        <p:spPr>
          <a:xfrm>
            <a:off x="5964227" y="4384548"/>
            <a:ext cx="5330146"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Student life: students.unimelb covers UMSU/GSA (20 pages); faculties run their own enrichment programs; alumni.unimelb has 21 community pages. Three framings of campus experience with no connecting web path.</a:t>
            </a:r>
            <a:endParaRPr lang="en-US" sz="1050" dirty="0"/>
          </a:p>
        </p:txBody>
      </p:sp>
      <p:sp>
        <p:nvSpPr>
          <p:cNvPr id="18" name="Shape 16"/>
          <p:cNvSpPr/>
          <p:nvPr/>
        </p:nvSpPr>
        <p:spPr>
          <a:xfrm>
            <a:off x="5836210" y="5207508"/>
            <a:ext cx="5561891" cy="731520"/>
          </a:xfrm>
          <a:prstGeom prst="rect">
            <a:avLst/>
          </a:prstGeom>
          <a:solidFill>
            <a:srgbClr val="FFFFFF"/>
          </a:solidFill>
          <a:ln w="12700">
            <a:solidFill>
              <a:srgbClr val="DDDDE7"/>
            </a:solidFill>
            <a:prstDash val="solid"/>
          </a:ln>
        </p:spPr>
        <p:txBody>
          <a:bodyPr/>
          <a:lstStyle/>
          <a:p>
            <a:endParaRPr lang="en-AU"/>
          </a:p>
        </p:txBody>
      </p:sp>
      <p:sp>
        <p:nvSpPr>
          <p:cNvPr id="19" name="Text 17"/>
          <p:cNvSpPr/>
          <p:nvPr/>
        </p:nvSpPr>
        <p:spPr>
          <a:xfrm>
            <a:off x="5964227" y="5207508"/>
            <a:ext cx="5330146" cy="731520"/>
          </a:xfrm>
          <a:prstGeom prst="rect">
            <a:avLst/>
          </a:prstGeom>
          <a:noFill/>
          <a:ln/>
        </p:spPr>
        <p:txBody>
          <a:bodyPr wrap="square" lIns="0" tIns="0" rIns="0" bIns="0" rtlCol="0" anchor="ctr"/>
          <a:lstStyle/>
          <a:p>
            <a:pPr marL="0" indent="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100 faculty pages + students.unimelb's generic 'Find a scholarship' link. scholarships.unimelb.edu.au is the dedicated entry point; none of the faculty CS pages link to it.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10</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marL="0" indent="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3968496"/>
        </p:xfrm>
        <a:graphic>
          <a:graphicData uri="http://schemas.openxmlformats.org/drawingml/2006/table">
            <a:tbl>
              <a:tblPr/>
              <a:tblGrid>
                <a:gridCol w="62179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566928">
                <a:tc>
                  <a:txBody>
                    <a:bodyPr/>
                    <a:lstStyle/>
                    <a:p>
                      <a:pPr marL="0" indent="0" algn="l">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l">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l">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extLst>
                  <a:ext uri="{0D108BD9-81ED-4DB2-BD59-A6C34878D82A}">
                    <a16:rowId xmlns:a16="http://schemas.microsoft.com/office/drawing/2014/main" val="10000"/>
                  </a:ext>
                </a:extLst>
              </a:tr>
              <a:tr h="566928">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marL="0" indent="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11</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marL="0" indent="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txBody>
          <a:bodyPr/>
          <a:lstStyle/>
          <a:p>
            <a:endParaRPr lang="en-AU"/>
          </a:p>
        </p:txBody>
      </p:sp>
      <p:sp>
        <p:nvSpPr>
          <p:cNvPr id="8" name="Text 6"/>
          <p:cNvSpPr/>
          <p:nvPr/>
        </p:nvSpPr>
        <p:spPr>
          <a:xfrm>
            <a:off x="676656" y="1920240"/>
            <a:ext cx="241401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txBody>
          <a:bodyPr/>
          <a:lstStyle/>
          <a:p>
            <a:endParaRPr lang="en-AU"/>
          </a:p>
        </p:txBody>
      </p:sp>
      <p:sp>
        <p:nvSpPr>
          <p:cNvPr id="10" name="Shape 8"/>
          <p:cNvSpPr/>
          <p:nvPr/>
        </p:nvSpPr>
        <p:spPr>
          <a:xfrm>
            <a:off x="3337560" y="1920240"/>
            <a:ext cx="2633472" cy="548640"/>
          </a:xfrm>
          <a:prstGeom prst="rect">
            <a:avLst/>
          </a:prstGeom>
          <a:solidFill>
            <a:srgbClr val="000F46"/>
          </a:solidFill>
          <a:ln/>
        </p:spPr>
        <p:txBody>
          <a:bodyPr/>
          <a:lstStyle/>
          <a:p>
            <a:endParaRPr lang="en-AU"/>
          </a:p>
        </p:txBody>
      </p:sp>
      <p:sp>
        <p:nvSpPr>
          <p:cNvPr id="11" name="Text 9"/>
          <p:cNvSpPr/>
          <p:nvPr/>
        </p:nvSpPr>
        <p:spPr>
          <a:xfrm>
            <a:off x="3447288" y="1920240"/>
            <a:ext cx="241401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txBody>
          <a:bodyPr/>
          <a:lstStyle/>
          <a:p>
            <a:endParaRPr lang="en-AU"/>
          </a:p>
        </p:txBody>
      </p:sp>
      <p:sp>
        <p:nvSpPr>
          <p:cNvPr id="13" name="Shape 11"/>
          <p:cNvSpPr/>
          <p:nvPr/>
        </p:nvSpPr>
        <p:spPr>
          <a:xfrm>
            <a:off x="6108192" y="1920240"/>
            <a:ext cx="2633472" cy="548640"/>
          </a:xfrm>
          <a:prstGeom prst="rect">
            <a:avLst/>
          </a:prstGeom>
          <a:solidFill>
            <a:srgbClr val="000F46"/>
          </a:solidFill>
          <a:ln/>
        </p:spPr>
        <p:txBody>
          <a:bodyPr/>
          <a:lstStyle/>
          <a:p>
            <a:endParaRPr lang="en-AU"/>
          </a:p>
        </p:txBody>
      </p:sp>
      <p:sp>
        <p:nvSpPr>
          <p:cNvPr id="14" name="Text 12"/>
          <p:cNvSpPr/>
          <p:nvPr/>
        </p:nvSpPr>
        <p:spPr>
          <a:xfrm>
            <a:off x="6217920" y="1920240"/>
            <a:ext cx="241401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txBody>
          <a:bodyPr/>
          <a:lstStyle/>
          <a:p>
            <a:endParaRPr lang="en-AU"/>
          </a:p>
        </p:txBody>
      </p:sp>
      <p:sp>
        <p:nvSpPr>
          <p:cNvPr id="16" name="Shape 14"/>
          <p:cNvSpPr/>
          <p:nvPr/>
        </p:nvSpPr>
        <p:spPr>
          <a:xfrm>
            <a:off x="8878824" y="1920240"/>
            <a:ext cx="2633472" cy="548640"/>
          </a:xfrm>
          <a:prstGeom prst="rect">
            <a:avLst/>
          </a:prstGeom>
          <a:solidFill>
            <a:srgbClr val="000F46"/>
          </a:solidFill>
          <a:ln/>
        </p:spPr>
        <p:txBody>
          <a:bodyPr/>
          <a:lstStyle/>
          <a:p>
            <a:endParaRPr lang="en-AU"/>
          </a:p>
        </p:txBody>
      </p:sp>
      <p:sp>
        <p:nvSpPr>
          <p:cNvPr id="17" name="Text 15"/>
          <p:cNvSpPr/>
          <p:nvPr/>
        </p:nvSpPr>
        <p:spPr>
          <a:xfrm>
            <a:off x="8988552" y="1920240"/>
            <a:ext cx="241401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txBody>
          <a:bodyPr/>
          <a:lstStyle/>
          <a:p>
            <a:endParaRPr lang="en-AU"/>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F46"/>
        </a:solidFill>
        <a:effectLst/>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txBody>
          <a:bodyPr/>
          <a:lstStyle/>
          <a:p>
            <a:endParaRPr lang="en-AU"/>
          </a:p>
        </p:txBody>
      </p:sp>
      <p:sp>
        <p:nvSpPr>
          <p:cNvPr id="3" name="Text 1"/>
          <p:cNvSpPr/>
          <p:nvPr/>
        </p:nvSpPr>
        <p:spPr>
          <a:xfrm>
            <a:off x="969264" y="548640"/>
            <a:ext cx="10058400" cy="640080"/>
          </a:xfrm>
          <a:prstGeom prst="rect">
            <a:avLst/>
          </a:prstGeom>
          <a:noFill/>
          <a:ln/>
        </p:spPr>
        <p:txBody>
          <a:bodyPr wrap="square" lIns="0" tIns="0" rIns="0" bIns="0" rtlCol="0" anchor="ctr"/>
          <a:lstStyle/>
          <a:p>
            <a:pPr marL="0" indent="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marL="0" indent="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200" y="6053328"/>
            <a:ext cx="2011680" cy="632143"/>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marL="0" indent="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B34"/>
        </a:solidFill>
        <a:effectLst/>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txBody>
          <a:bodyPr/>
          <a:lstStyle/>
          <a:p>
            <a:endParaRPr lang="en-AU"/>
          </a:p>
        </p:txBody>
      </p:sp>
      <p:sp>
        <p:nvSpPr>
          <p:cNvPr id="3" name="Text 1"/>
          <p:cNvSpPr/>
          <p:nvPr/>
        </p:nvSpPr>
        <p:spPr>
          <a:xfrm>
            <a:off x="987552" y="2788920"/>
            <a:ext cx="9144000" cy="640080"/>
          </a:xfrm>
          <a:prstGeom prst="rect">
            <a:avLst/>
          </a:prstGeom>
          <a:noFill/>
          <a:ln/>
        </p:spPr>
        <p:txBody>
          <a:bodyPr wrap="square" lIns="0" tIns="0" rIns="0" bIns="0" rtlCol="0" anchor="ctr"/>
          <a:lstStyle/>
          <a:p>
            <a:pPr marL="0" indent="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marL="0" indent="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14</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4775200"/>
        </p:xfrm>
        <a:graphic>
          <a:graphicData uri="http://schemas.openxmlformats.org/drawingml/2006/table">
            <a:tbl>
              <a:tblPr/>
              <a:tblGrid>
                <a:gridCol w="3108960">
                  <a:extLst>
                    <a:ext uri="{9D8B030D-6E8A-4147-A177-3AD203B41FA5}">
                      <a16:colId xmlns:a16="http://schemas.microsoft.com/office/drawing/2014/main" val="20000"/>
                    </a:ext>
                  </a:extLst>
                </a:gridCol>
                <a:gridCol w="1591056">
                  <a:extLst>
                    <a:ext uri="{9D8B030D-6E8A-4147-A177-3AD203B41FA5}">
                      <a16:colId xmlns:a16="http://schemas.microsoft.com/office/drawing/2014/main" val="20001"/>
                    </a:ext>
                  </a:extLst>
                </a:gridCol>
                <a:gridCol w="1591056">
                  <a:extLst>
                    <a:ext uri="{9D8B030D-6E8A-4147-A177-3AD203B41FA5}">
                      <a16:colId xmlns:a16="http://schemas.microsoft.com/office/drawing/2014/main" val="20002"/>
                    </a:ext>
                  </a:extLst>
                </a:gridCol>
                <a:gridCol w="1591056">
                  <a:extLst>
                    <a:ext uri="{9D8B030D-6E8A-4147-A177-3AD203B41FA5}">
                      <a16:colId xmlns:a16="http://schemas.microsoft.com/office/drawing/2014/main" val="20003"/>
                    </a:ext>
                  </a:extLst>
                </a:gridCol>
                <a:gridCol w="1591056">
                  <a:extLst>
                    <a:ext uri="{9D8B030D-6E8A-4147-A177-3AD203B41FA5}">
                      <a16:colId xmlns:a16="http://schemas.microsoft.com/office/drawing/2014/main" val="20004"/>
                    </a:ext>
                  </a:extLst>
                </a:gridCol>
                <a:gridCol w="1591056">
                  <a:extLst>
                    <a:ext uri="{9D8B030D-6E8A-4147-A177-3AD203B41FA5}">
                      <a16:colId xmlns:a16="http://schemas.microsoft.com/office/drawing/2014/main" val="20005"/>
                    </a:ext>
                  </a:extLst>
                </a:gridCol>
              </a:tblGrid>
              <a:tr h="365760">
                <a:tc>
                  <a:txBody>
                    <a:bodyPr/>
                    <a:lstStyle/>
                    <a:p>
                      <a:pPr marL="0" indent="0" algn="l">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r">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marL="0" indent="0" algn="r">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r">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r">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marL="0" indent="0" algn="r">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r">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marL="0" indent="0" algn="r">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r">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marL="0" indent="0" algn="r">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extLst>
                  <a:ext uri="{0D108BD9-81ED-4DB2-BD59-A6C34878D82A}">
                    <a16:rowId xmlns:a16="http://schemas.microsoft.com/office/drawing/2014/main" val="10000"/>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94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57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65760">
                <a:tc>
                  <a:txBody>
                    <a:bodyPr/>
                    <a:lstStyle/>
                    <a:p>
                      <a:pPr marL="0" indent="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marL="0" indent="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Cleaned content counts (profiles/archives/over-broad tags removed), June 2026.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txBody>
          <a:bodyPr/>
          <a:lstStyle/>
          <a:p>
            <a:endParaRPr lang="en-AU"/>
          </a:p>
        </p:txBody>
      </p:sp>
      <p:sp>
        <p:nvSpPr>
          <p:cNvPr id="3" name="Text 1"/>
          <p:cNvSpPr/>
          <p:nvPr/>
        </p:nvSpPr>
        <p:spPr>
          <a:xfrm>
            <a:off x="914400" y="457200"/>
            <a:ext cx="10698480" cy="502920"/>
          </a:xfrm>
          <a:prstGeom prst="rect">
            <a:avLst/>
          </a:prstGeom>
          <a:noFill/>
          <a:ln/>
        </p:spPr>
        <p:txBody>
          <a:bodyPr wrap="square" lIns="0" tIns="0" rIns="0" bIns="0" rtlCol="0" anchor="ctr"/>
          <a:lstStyle/>
          <a:p>
            <a:pPr marL="0" indent="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marL="0" indent="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marL="0" indent="0" algn="r">
              <a:buNone/>
            </a:pPr>
            <a:r>
              <a:rPr lang="en-US" sz="900" dirty="0">
                <a:solidFill>
                  <a:srgbClr val="5B5B6B"/>
                </a:solidFill>
                <a:latin typeface="Source Sans 3" pitchFamily="34" charset="0"/>
                <a:ea typeface="Source Sans 3" pitchFamily="34" charset="-122"/>
                <a:cs typeface="Source Sans 3" pitchFamily="34" charset="-120"/>
              </a:rPr>
              <a:t>15</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marL="0" indent="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3438144"/>
        </p:xfrm>
        <a:graphic>
          <a:graphicData uri="http://schemas.openxmlformats.org/drawingml/2006/table">
            <a:tbl>
              <a:tblPr/>
              <a:tblGrid>
                <a:gridCol w="31089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429768">
                <a:tc>
                  <a:txBody>
                    <a:bodyPr/>
                    <a:lstStyle/>
                    <a:p>
                      <a:pPr marL="0" indent="0" algn="l">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marL="0" indent="0" algn="ctr">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extLst>
                  <a:ext uri="{0D108BD9-81ED-4DB2-BD59-A6C34878D82A}">
                    <a16:rowId xmlns:a16="http://schemas.microsoft.com/office/drawing/2014/main" val="10000"/>
                  </a:ext>
                </a:extLst>
              </a:tr>
              <a:tr h="429768">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Careers service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8 of 9 (63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marL="0" indent="0">
                        <a:buNone/>
                      </a:pPr>
                      <a:r>
                        <a:rPr lang="en-US" sz="1100" dirty="0">
                          <a:solidFill>
                            <a:srgbClr val="1C1C28"/>
                          </a:solidFill>
                          <a:latin typeface="Source Sans 3" pitchFamily="34" charset="0"/>
                          <a:ea typeface="Source Sans 3" pitchFamily="34" charset="-122"/>
                          <a:cs typeface="Source Sans 3" pitchFamily="34" charset="-120"/>
                        </a:rPr>
                        <a:t>(186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Some (100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marL="0" indent="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marL="0" indent="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66928"/>
            <a:ext cx="256032" cy="256032"/>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457200"/>
            <a:ext cx="10698480" cy="502920"/>
          </a:xfrm>
          <a:prstGeom prst="rect">
            <a:avLst/>
          </a:prstGeom>
          <a:noFill/>
        </p:spPr>
        <p:txBody>
          <a:bodyPr wrap="square" anchor="ctr" lIns="0" rIns="0" tIns="0" bIns="0">
            <a:spAutoFit/>
          </a:bodyPr>
          <a:lstStyle/>
          <a:p>
            <a:pPr algn="l"/>
            <a:r>
              <a:rPr sz="2900" b="1" i="0">
                <a:solidFill>
                  <a:srgbClr val="000F46"/>
                </a:solidFill>
                <a:latin typeface="Fraunces"/>
              </a:rPr>
              <a:t>The lifecycle: four websites, two broken seams</a:t>
            </a:r>
          </a:p>
        </p:txBody>
      </p:sp>
      <p:sp>
        <p:nvSpPr>
          <p:cNvPr id="4" name="TextBox 3"/>
          <p:cNvSpPr txBox="1"/>
          <p:nvPr/>
        </p:nvSpPr>
        <p:spPr>
          <a:xfrm>
            <a:off x="548640" y="6437376"/>
            <a:ext cx="9601200" cy="274320"/>
          </a:xfrm>
          <a:prstGeom prst="rect">
            <a:avLst/>
          </a:prstGeom>
          <a:noFill/>
        </p:spPr>
        <p:txBody>
          <a:bodyPr wrap="square" anchor="t" lIns="0" rIns="0" tIns="0" bIns="0">
            <a:spAutoFit/>
          </a:bodyPr>
          <a:lstStyle/>
          <a:p>
            <a:pPr algn="l"/>
            <a:r>
              <a:rPr sz="900" b="0" i="0">
                <a:solidFill>
                  <a:srgbClr val="5B5B6B"/>
                </a:solidFill>
                <a:latin typeface="Source Sans 3"/>
              </a:rPr>
              <a:t>University of Melbourne — web estate alignment discussion · for discussion</a:t>
            </a:r>
          </a:p>
        </p:txBody>
      </p:sp>
      <p:sp>
        <p:nvSpPr>
          <p:cNvPr id="5" name="TextBox 4"/>
          <p:cNvSpPr txBox="1"/>
          <p:nvPr/>
        </p:nvSpPr>
        <p:spPr>
          <a:xfrm>
            <a:off x="11247120" y="6437376"/>
            <a:ext cx="411480" cy="274320"/>
          </a:xfrm>
          <a:prstGeom prst="rect">
            <a:avLst/>
          </a:prstGeom>
          <a:noFill/>
        </p:spPr>
        <p:txBody>
          <a:bodyPr wrap="square" anchor="t" lIns="0" rIns="0" tIns="0" bIns="0">
            <a:spAutoFit/>
          </a:bodyPr>
          <a:lstStyle/>
          <a:p>
            <a:pPr algn="r"/>
            <a:r>
              <a:rPr sz="900" b="0" i="0">
                <a:solidFill>
                  <a:srgbClr val="5B5B6B"/>
                </a:solidFill>
                <a:latin typeface="Source Sans 3"/>
              </a:rPr>
              <a:t>6</a:t>
            </a:r>
          </a:p>
        </p:txBody>
      </p:sp>
      <p:sp>
        <p:nvSpPr>
          <p:cNvPr id="6" name="TextBox 5"/>
          <p:cNvSpPr txBox="1"/>
          <p:nvPr/>
        </p:nvSpPr>
        <p:spPr>
          <a:xfrm>
            <a:off x="566928" y="1170432"/>
            <a:ext cx="10881360" cy="731520"/>
          </a:xfrm>
          <a:prstGeom prst="rect">
            <a:avLst/>
          </a:prstGeom>
          <a:noFill/>
        </p:spPr>
        <p:txBody>
          <a:bodyPr wrap="square" anchor="t" lIns="0" rIns="0" tIns="0" bIns="0">
            <a:spAutoFit/>
          </a:bodyPr>
          <a:lstStyle/>
          <a:p>
            <a:pPr algn="l">
              <a:lnSpc>
                <a:spcPct val="112000"/>
              </a:lnSpc>
            </a:pPr>
            <a:r>
              <a:rPr sz="1500" b="0" i="0">
                <a:solidFill>
                  <a:srgbClr val="1C1C28"/>
                </a:solidFill>
                <a:latin typeface="Source Sans 3"/>
              </a:rPr>
              <a:t>Beyond the three phases: the journey actually crosses four separate websites — each with its own architecture and vocabulary. Two of the three handoffs have no web-level bridge at all.</a:t>
            </a:r>
          </a:p>
        </p:txBody>
      </p:sp>
      <p:sp>
        <p:nvSpPr>
          <p:cNvPr id="7" name="Rectangle 6"/>
          <p:cNvSpPr/>
          <p:nvPr/>
        </p:nvSpPr>
        <p:spPr>
          <a:xfrm>
            <a:off x="566928" y="2286000"/>
            <a:ext cx="2286000" cy="960120"/>
          </a:xfrm>
          <a:prstGeom prst="rect">
            <a:avLst/>
          </a:prstGeom>
          <a:solidFill>
            <a:srgbClr val="EAF6FB"/>
          </a:solidFill>
          <a:ln w="15875">
            <a:solidFill>
              <a:srgbClr val="2F95B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2487168"/>
            <a:ext cx="2286000" cy="365760"/>
          </a:xfrm>
          <a:prstGeom prst="rect">
            <a:avLst/>
          </a:prstGeom>
          <a:noFill/>
        </p:spPr>
        <p:txBody>
          <a:bodyPr wrap="square" anchor="ctr" lIns="0" rIns="0" tIns="0" bIns="0">
            <a:spAutoFit/>
          </a:bodyPr>
          <a:lstStyle/>
          <a:p>
            <a:pPr algn="ctr"/>
            <a:r>
              <a:rPr sz="1300" b="1" i="0">
                <a:solidFill>
                  <a:srgbClr val="000F46"/>
                </a:solidFill>
                <a:latin typeface="Source Sans 3"/>
              </a:rPr>
              <a:t>study.unimelb</a:t>
            </a:r>
          </a:p>
        </p:txBody>
      </p:sp>
      <p:sp>
        <p:nvSpPr>
          <p:cNvPr id="9" name="TextBox 8"/>
          <p:cNvSpPr txBox="1"/>
          <p:nvPr/>
        </p:nvSpPr>
        <p:spPr>
          <a:xfrm>
            <a:off x="566928" y="2852928"/>
            <a:ext cx="2286000" cy="274320"/>
          </a:xfrm>
          <a:prstGeom prst="rect">
            <a:avLst/>
          </a:prstGeom>
          <a:noFill/>
        </p:spPr>
        <p:txBody>
          <a:bodyPr wrap="square" anchor="ctr" lIns="0" rIns="0" tIns="0" bIns="0">
            <a:spAutoFit/>
          </a:bodyPr>
          <a:lstStyle/>
          <a:p>
            <a:pPr algn="ctr"/>
            <a:r>
              <a:rPr sz="900" b="0" i="0">
                <a:solidFill>
                  <a:srgbClr val="000F46"/>
                </a:solidFill>
                <a:latin typeface="Source Code Pro"/>
              </a:rPr>
              <a:t>prospective · 300pp</a:t>
            </a:r>
          </a:p>
        </p:txBody>
      </p:sp>
      <p:sp>
        <p:nvSpPr>
          <p:cNvPr id="10" name="Rectangle 9"/>
          <p:cNvSpPr/>
          <p:nvPr/>
        </p:nvSpPr>
        <p:spPr>
          <a:xfrm>
            <a:off x="3493008" y="2286000"/>
            <a:ext cx="2286000" cy="960120"/>
          </a:xfrm>
          <a:prstGeom prst="rect">
            <a:avLst/>
          </a:prstGeom>
          <a:solidFill>
            <a:srgbClr val="000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3008" y="2487168"/>
            <a:ext cx="2286000" cy="365760"/>
          </a:xfrm>
          <a:prstGeom prst="rect">
            <a:avLst/>
          </a:prstGeom>
          <a:noFill/>
        </p:spPr>
        <p:txBody>
          <a:bodyPr wrap="square" anchor="ctr" lIns="0" rIns="0" tIns="0" bIns="0">
            <a:spAutoFit/>
          </a:bodyPr>
          <a:lstStyle/>
          <a:p>
            <a:pPr algn="ctr"/>
            <a:r>
              <a:rPr sz="1300" b="1" i="0">
                <a:solidFill>
                  <a:srgbClr val="FFFFFF"/>
                </a:solidFill>
                <a:latin typeface="Source Sans 3"/>
              </a:rPr>
              <a:t>9 faculty sites</a:t>
            </a:r>
          </a:p>
        </p:txBody>
      </p:sp>
      <p:sp>
        <p:nvSpPr>
          <p:cNvPr id="12" name="TextBox 11"/>
          <p:cNvSpPr txBox="1"/>
          <p:nvPr/>
        </p:nvSpPr>
        <p:spPr>
          <a:xfrm>
            <a:off x="3493008" y="2852928"/>
            <a:ext cx="2286000" cy="274320"/>
          </a:xfrm>
          <a:prstGeom prst="rect">
            <a:avLst/>
          </a:prstGeom>
          <a:noFill/>
        </p:spPr>
        <p:txBody>
          <a:bodyPr wrap="square" anchor="ctr" lIns="0" rIns="0" tIns="0" bIns="0">
            <a:spAutoFit/>
          </a:bodyPr>
          <a:lstStyle/>
          <a:p>
            <a:pPr algn="ctr"/>
            <a:r>
              <a:rPr sz="900" b="0" i="0">
                <a:solidFill>
                  <a:srgbClr val="FFFFFF"/>
                </a:solidFill>
                <a:latin typeface="Source Code Pro"/>
              </a:rPr>
              <a:t>current · ~1,000pp</a:t>
            </a:r>
          </a:p>
        </p:txBody>
      </p:sp>
      <p:sp>
        <p:nvSpPr>
          <p:cNvPr id="13" name="Rectangle 12"/>
          <p:cNvSpPr/>
          <p:nvPr/>
        </p:nvSpPr>
        <p:spPr>
          <a:xfrm>
            <a:off x="6419088" y="2286000"/>
            <a:ext cx="2286000" cy="960120"/>
          </a:xfrm>
          <a:prstGeom prst="rect">
            <a:avLst/>
          </a:prstGeom>
          <a:solidFill>
            <a:srgbClr val="000F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19088" y="2487168"/>
            <a:ext cx="2286000" cy="365760"/>
          </a:xfrm>
          <a:prstGeom prst="rect">
            <a:avLst/>
          </a:prstGeom>
          <a:noFill/>
        </p:spPr>
        <p:txBody>
          <a:bodyPr wrap="square" anchor="ctr" lIns="0" rIns="0" tIns="0" bIns="0">
            <a:spAutoFit/>
          </a:bodyPr>
          <a:lstStyle/>
          <a:p>
            <a:pPr algn="ctr"/>
            <a:r>
              <a:rPr sz="1300" b="1" i="0">
                <a:solidFill>
                  <a:srgbClr val="FFFFFF"/>
                </a:solidFill>
                <a:latin typeface="Source Sans 3"/>
              </a:rPr>
              <a:t>students.unimelb</a:t>
            </a:r>
          </a:p>
        </p:txBody>
      </p:sp>
      <p:sp>
        <p:nvSpPr>
          <p:cNvPr id="15" name="TextBox 14"/>
          <p:cNvSpPr txBox="1"/>
          <p:nvPr/>
        </p:nvSpPr>
        <p:spPr>
          <a:xfrm>
            <a:off x="6419088" y="2852928"/>
            <a:ext cx="2286000" cy="274320"/>
          </a:xfrm>
          <a:prstGeom prst="rect">
            <a:avLst/>
          </a:prstGeom>
          <a:noFill/>
        </p:spPr>
        <p:txBody>
          <a:bodyPr wrap="square" anchor="ctr" lIns="0" rIns="0" tIns="0" bIns="0">
            <a:spAutoFit/>
          </a:bodyPr>
          <a:lstStyle/>
          <a:p>
            <a:pPr algn="ctr"/>
            <a:r>
              <a:rPr sz="900" b="0" i="0">
                <a:solidFill>
                  <a:srgbClr val="FFFFFF"/>
                </a:solidFill>
                <a:latin typeface="Source Code Pro"/>
              </a:rPr>
              <a:t>current · central</a:t>
            </a:r>
          </a:p>
        </p:txBody>
      </p:sp>
      <p:sp>
        <p:nvSpPr>
          <p:cNvPr id="16" name="Rectangle 15"/>
          <p:cNvSpPr/>
          <p:nvPr/>
        </p:nvSpPr>
        <p:spPr>
          <a:xfrm>
            <a:off x="9345168" y="2286000"/>
            <a:ext cx="2286000" cy="960120"/>
          </a:xfrm>
          <a:prstGeom prst="rect">
            <a:avLst/>
          </a:prstGeom>
          <a:solidFill>
            <a:srgbClr val="F4F4F4"/>
          </a:solidFill>
          <a:ln w="15875">
            <a:solidFill>
              <a:srgbClr val="DD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345168" y="2487168"/>
            <a:ext cx="2286000" cy="365760"/>
          </a:xfrm>
          <a:prstGeom prst="rect">
            <a:avLst/>
          </a:prstGeom>
          <a:noFill/>
        </p:spPr>
        <p:txBody>
          <a:bodyPr wrap="square" anchor="ctr" lIns="0" rIns="0" tIns="0" bIns="0">
            <a:spAutoFit/>
          </a:bodyPr>
          <a:lstStyle/>
          <a:p>
            <a:pPr algn="ctr"/>
            <a:r>
              <a:rPr sz="1300" b="1" i="0">
                <a:solidFill>
                  <a:srgbClr val="000F46"/>
                </a:solidFill>
                <a:latin typeface="Source Sans 3"/>
              </a:rPr>
              <a:t>alumni site</a:t>
            </a:r>
          </a:p>
        </p:txBody>
      </p:sp>
      <p:sp>
        <p:nvSpPr>
          <p:cNvPr id="18" name="TextBox 17"/>
          <p:cNvSpPr txBox="1"/>
          <p:nvPr/>
        </p:nvSpPr>
        <p:spPr>
          <a:xfrm>
            <a:off x="9345168" y="2852928"/>
            <a:ext cx="2286000" cy="274320"/>
          </a:xfrm>
          <a:prstGeom prst="rect">
            <a:avLst/>
          </a:prstGeom>
          <a:noFill/>
        </p:spPr>
        <p:txBody>
          <a:bodyPr wrap="square" anchor="ctr" lIns="0" rIns="0" tIns="0" bIns="0">
            <a:spAutoFit/>
          </a:bodyPr>
          <a:lstStyle/>
          <a:p>
            <a:pPr algn="ctr"/>
            <a:r>
              <a:rPr sz="900" b="0" i="0">
                <a:solidFill>
                  <a:srgbClr val="000F46"/>
                </a:solidFill>
                <a:latin typeface="Source Code Pro"/>
              </a:rPr>
              <a:t>alumni · 116pp</a:t>
            </a:r>
          </a:p>
        </p:txBody>
      </p:sp>
      <p:sp>
        <p:nvSpPr>
          <p:cNvPr id="19" name="TextBox 18"/>
          <p:cNvSpPr txBox="1"/>
          <p:nvPr/>
        </p:nvSpPr>
        <p:spPr>
          <a:xfrm>
            <a:off x="2852928" y="2601468"/>
            <a:ext cx="640080" cy="329184"/>
          </a:xfrm>
          <a:prstGeom prst="rect">
            <a:avLst/>
          </a:prstGeom>
          <a:noFill/>
        </p:spPr>
        <p:txBody>
          <a:bodyPr wrap="square" anchor="ctr" lIns="0" rIns="0" tIns="0" bIns="0">
            <a:spAutoFit/>
          </a:bodyPr>
          <a:lstStyle/>
          <a:p>
            <a:pPr algn="ctr"/>
            <a:r>
              <a:rPr sz="1800" b="1" i="0">
                <a:solidFill>
                  <a:srgbClr val="A32D2D"/>
                </a:solidFill>
                <a:latin typeface="Source Sans 3"/>
              </a:rPr>
              <a:t>✗</a:t>
            </a:r>
          </a:p>
        </p:txBody>
      </p:sp>
      <p:sp>
        <p:nvSpPr>
          <p:cNvPr id="20" name="TextBox 19"/>
          <p:cNvSpPr txBox="1"/>
          <p:nvPr/>
        </p:nvSpPr>
        <p:spPr>
          <a:xfrm>
            <a:off x="5779008" y="2601468"/>
            <a:ext cx="640080" cy="329184"/>
          </a:xfrm>
          <a:prstGeom prst="rect">
            <a:avLst/>
          </a:prstGeom>
          <a:noFill/>
        </p:spPr>
        <p:txBody>
          <a:bodyPr wrap="square" anchor="ctr" lIns="0" rIns="0" tIns="0" bIns="0">
            <a:spAutoFit/>
          </a:bodyPr>
          <a:lstStyle/>
          <a:p>
            <a:pPr algn="ctr"/>
            <a:r>
              <a:rPr sz="1800" b="1" i="0">
                <a:solidFill>
                  <a:srgbClr val="2F95B7"/>
                </a:solidFill>
                <a:latin typeface="Source Sans 3"/>
              </a:rPr>
              <a:t>↔</a:t>
            </a:r>
          </a:p>
        </p:txBody>
      </p:sp>
      <p:sp>
        <p:nvSpPr>
          <p:cNvPr id="21" name="TextBox 20"/>
          <p:cNvSpPr txBox="1"/>
          <p:nvPr/>
        </p:nvSpPr>
        <p:spPr>
          <a:xfrm>
            <a:off x="8705088" y="2601468"/>
            <a:ext cx="640080" cy="329184"/>
          </a:xfrm>
          <a:prstGeom prst="rect">
            <a:avLst/>
          </a:prstGeom>
          <a:noFill/>
        </p:spPr>
        <p:txBody>
          <a:bodyPr wrap="square" anchor="ctr" lIns="0" rIns="0" tIns="0" bIns="0">
            <a:spAutoFit/>
          </a:bodyPr>
          <a:lstStyle/>
          <a:p>
            <a:pPr algn="ctr"/>
            <a:r>
              <a:rPr sz="1800" b="1" i="0">
                <a:solidFill>
                  <a:srgbClr val="A32D2D"/>
                </a:solidFill>
                <a:latin typeface="Source Sans 3"/>
              </a:rPr>
              <a:t>✗</a:t>
            </a:r>
          </a:p>
        </p:txBody>
      </p:sp>
      <p:sp>
        <p:nvSpPr>
          <p:cNvPr id="22" name="TextBox 21"/>
          <p:cNvSpPr txBox="1"/>
          <p:nvPr/>
        </p:nvSpPr>
        <p:spPr>
          <a:xfrm>
            <a:off x="566928" y="3319272"/>
            <a:ext cx="10881360" cy="274320"/>
          </a:xfrm>
          <a:prstGeom prst="rect">
            <a:avLst/>
          </a:prstGeom>
          <a:noFill/>
        </p:spPr>
        <p:txBody>
          <a:bodyPr wrap="square" anchor="t" lIns="0" rIns="0" tIns="0" bIns="0">
            <a:spAutoFit/>
          </a:bodyPr>
          <a:lstStyle/>
          <a:p>
            <a:pPr algn="ctr"/>
            <a:r>
              <a:rPr sz="950" b="0" i="1">
                <a:solidFill>
                  <a:srgbClr val="5B5B6B"/>
                </a:solidFill>
                <a:latin typeface="Source Code Pro"/>
              </a:rPr>
              <a:t>✗  broken handoff — no shared vocabulary, no web-level bridge        ↔  linked (same stage)</a:t>
            </a:r>
          </a:p>
        </p:txBody>
      </p:sp>
      <p:sp>
        <p:nvSpPr>
          <p:cNvPr id="23" name="Rectangle 22"/>
          <p:cNvSpPr/>
          <p:nvPr/>
        </p:nvSpPr>
        <p:spPr>
          <a:xfrm>
            <a:off x="566928" y="3794760"/>
            <a:ext cx="3566160" cy="960120"/>
          </a:xfrm>
          <a:prstGeom prst="rect">
            <a:avLst/>
          </a:prstGeom>
          <a:solidFill>
            <a:srgbClr val="EA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66928" y="3794760"/>
            <a:ext cx="73152" cy="960120"/>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8096" y="3941064"/>
            <a:ext cx="3255264" cy="274320"/>
          </a:xfrm>
          <a:prstGeom prst="rect">
            <a:avLst/>
          </a:prstGeom>
          <a:noFill/>
        </p:spPr>
        <p:txBody>
          <a:bodyPr wrap="square" anchor="t" lIns="0" rIns="0" tIns="0" bIns="0">
            <a:spAutoFit/>
          </a:bodyPr>
          <a:lstStyle/>
          <a:p>
            <a:pPr algn="l"/>
            <a:r>
              <a:rPr sz="1000" b="1" i="0">
                <a:solidFill>
                  <a:srgbClr val="2F95B7"/>
                </a:solidFill>
                <a:latin typeface="Source Code Pro"/>
              </a:rPr>
              <a:t>RESEARCH PARADOX</a:t>
            </a:r>
          </a:p>
        </p:txBody>
      </p:sp>
      <p:sp>
        <p:nvSpPr>
          <p:cNvPr id="26" name="TextBox 25"/>
          <p:cNvSpPr txBox="1"/>
          <p:nvPr/>
        </p:nvSpPr>
        <p:spPr>
          <a:xfrm>
            <a:off x="768096" y="4251960"/>
            <a:ext cx="3255264" cy="457200"/>
          </a:xfrm>
          <a:prstGeom prst="rect">
            <a:avLst/>
          </a:prstGeom>
          <a:noFill/>
        </p:spPr>
        <p:txBody>
          <a:bodyPr wrap="square" anchor="t" lIns="0" rIns="0" tIns="0" bIns="0">
            <a:spAutoFit/>
          </a:bodyPr>
          <a:lstStyle/>
          <a:p>
            <a:pPr algn="l">
              <a:lnSpc>
                <a:spcPct val="108000"/>
              </a:lnSpc>
            </a:pPr>
            <a:r>
              <a:rPr sz="1150" b="0" i="0">
                <a:solidFill>
                  <a:srgbClr val="000B34"/>
                </a:solidFill>
                <a:latin typeface="Source Sans 3"/>
              </a:rPr>
              <a:t>MDHS: 63 research pages, 1 HDR-support page</a:t>
            </a:r>
          </a:p>
        </p:txBody>
      </p:sp>
      <p:sp>
        <p:nvSpPr>
          <p:cNvPr id="27" name="Rectangle 26"/>
          <p:cNvSpPr/>
          <p:nvPr/>
        </p:nvSpPr>
        <p:spPr>
          <a:xfrm>
            <a:off x="4315968" y="3794760"/>
            <a:ext cx="3566160" cy="960120"/>
          </a:xfrm>
          <a:prstGeom prst="rect">
            <a:avLst/>
          </a:prstGeom>
          <a:solidFill>
            <a:srgbClr val="EA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315968" y="3794760"/>
            <a:ext cx="73152" cy="960120"/>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17136" y="3941064"/>
            <a:ext cx="3255264" cy="274320"/>
          </a:xfrm>
          <a:prstGeom prst="rect">
            <a:avLst/>
          </a:prstGeom>
          <a:noFill/>
        </p:spPr>
        <p:txBody>
          <a:bodyPr wrap="square" anchor="t" lIns="0" rIns="0" tIns="0" bIns="0">
            <a:spAutoFit/>
          </a:bodyPr>
          <a:lstStyle/>
          <a:p>
            <a:pPr algn="l"/>
            <a:r>
              <a:rPr sz="1000" b="1" i="0">
                <a:solidFill>
                  <a:srgbClr val="2F95B7"/>
                </a:solidFill>
                <a:latin typeface="Source Code Pro"/>
              </a:rPr>
              <a:t>CAREERS ACROSS LIFE</a:t>
            </a:r>
          </a:p>
        </p:txBody>
      </p:sp>
      <p:sp>
        <p:nvSpPr>
          <p:cNvPr id="30" name="TextBox 29"/>
          <p:cNvSpPr txBox="1"/>
          <p:nvPr/>
        </p:nvSpPr>
        <p:spPr>
          <a:xfrm>
            <a:off x="4517136" y="4251960"/>
            <a:ext cx="3255264" cy="457200"/>
          </a:xfrm>
          <a:prstGeom prst="rect">
            <a:avLst/>
          </a:prstGeom>
          <a:noFill/>
        </p:spPr>
        <p:txBody>
          <a:bodyPr wrap="square" anchor="t" lIns="0" rIns="0" tIns="0" bIns="0">
            <a:spAutoFit/>
          </a:bodyPr>
          <a:lstStyle/>
          <a:p>
            <a:pPr algn="l">
              <a:lnSpc>
                <a:spcPct val="108000"/>
              </a:lnSpc>
            </a:pPr>
            <a:r>
              <a:rPr sz="1150" b="0" i="0">
                <a:solidFill>
                  <a:srgbClr val="000B34"/>
                </a:solidFill>
                <a:latin typeface="Source Sans 3"/>
              </a:rPr>
              <a:t>Authored in ~10 places across 4 domains, 0 cross-links</a:t>
            </a:r>
          </a:p>
        </p:txBody>
      </p:sp>
      <p:sp>
        <p:nvSpPr>
          <p:cNvPr id="31" name="Rectangle 30"/>
          <p:cNvSpPr/>
          <p:nvPr/>
        </p:nvSpPr>
        <p:spPr>
          <a:xfrm>
            <a:off x="8065007" y="3794760"/>
            <a:ext cx="3566160" cy="960120"/>
          </a:xfrm>
          <a:prstGeom prst="rect">
            <a:avLst/>
          </a:prstGeom>
          <a:solidFill>
            <a:srgbClr val="EA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8065007" y="3794760"/>
            <a:ext cx="73152" cy="960120"/>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66175" y="3941064"/>
            <a:ext cx="3255264" cy="274320"/>
          </a:xfrm>
          <a:prstGeom prst="rect">
            <a:avLst/>
          </a:prstGeom>
          <a:noFill/>
        </p:spPr>
        <p:txBody>
          <a:bodyPr wrap="square" anchor="t" lIns="0" rIns="0" tIns="0" bIns="0">
            <a:spAutoFit/>
          </a:bodyPr>
          <a:lstStyle/>
          <a:p>
            <a:pPr algn="l"/>
            <a:r>
              <a:rPr sz="1000" b="1" i="0">
                <a:solidFill>
                  <a:srgbClr val="2F95B7"/>
                </a:solidFill>
                <a:latin typeface="Source Code Pro"/>
              </a:rPr>
              <a:t>SMALLEST TENANT</a:t>
            </a:r>
          </a:p>
        </p:txBody>
      </p:sp>
      <p:sp>
        <p:nvSpPr>
          <p:cNvPr id="34" name="TextBox 33"/>
          <p:cNvSpPr txBox="1"/>
          <p:nvPr/>
        </p:nvSpPr>
        <p:spPr>
          <a:xfrm>
            <a:off x="8266175" y="4251960"/>
            <a:ext cx="3255264" cy="457200"/>
          </a:xfrm>
          <a:prstGeom prst="rect">
            <a:avLst/>
          </a:prstGeom>
          <a:noFill/>
        </p:spPr>
        <p:txBody>
          <a:bodyPr wrap="square" anchor="t" lIns="0" rIns="0" tIns="0" bIns="0">
            <a:spAutoFit/>
          </a:bodyPr>
          <a:lstStyle/>
          <a:p>
            <a:pPr algn="l">
              <a:lnSpc>
                <a:spcPct val="108000"/>
              </a:lnSpc>
            </a:pPr>
            <a:r>
              <a:rPr sz="1150" b="0" i="0">
                <a:solidFill>
                  <a:srgbClr val="000B34"/>
                </a:solidFill>
                <a:latin typeface="Source Sans 3"/>
              </a:rPr>
              <a:t>Current students = 4% of the faculty web estate</a:t>
            </a:r>
          </a:p>
        </p:txBody>
      </p:sp>
      <p:sp>
        <p:nvSpPr>
          <p:cNvPr id="35" name="Rectangle 34"/>
          <p:cNvSpPr/>
          <p:nvPr/>
        </p:nvSpPr>
        <p:spPr>
          <a:xfrm>
            <a:off x="566928" y="5074920"/>
            <a:ext cx="10881360" cy="621792"/>
          </a:xfrm>
          <a:prstGeom prst="rect">
            <a:avLst/>
          </a:prstGeom>
          <a:solidFill>
            <a:srgbClr val="EA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074920"/>
            <a:ext cx="91440" cy="621792"/>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68680" y="5074920"/>
            <a:ext cx="10332720" cy="621792"/>
          </a:xfrm>
          <a:prstGeom prst="rect">
            <a:avLst/>
          </a:prstGeom>
          <a:noFill/>
        </p:spPr>
        <p:txBody>
          <a:bodyPr wrap="square" anchor="ctr" lIns="0" rIns="0" tIns="0" bIns="0">
            <a:spAutoFit/>
          </a:bodyPr>
          <a:lstStyle/>
          <a:p>
            <a:pPr algn="l"/>
            <a:r>
              <a:rPr sz="1300" b="1" i="0">
                <a:solidFill>
                  <a:srgbClr val="000F46"/>
                </a:solidFill>
                <a:latin typeface="Source Sans 3"/>
              </a:rPr>
              <a:t>To discuss:  </a:t>
            </a:r>
            <a:r>
              <a:rPr sz="1300" b="0" i="0">
                <a:solidFill>
                  <a:srgbClr val="000B34"/>
                </a:solidFill>
                <a:latin typeface="Source Sans 3"/>
              </a:rPr>
              <a:t>Which handoff matters most to fix first — apply→enrol, or graduate→alumni? And where would a shared vocabulary help users cross between sites?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66928"/>
            <a:ext cx="256032" cy="256032"/>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457200"/>
            <a:ext cx="10698480" cy="502920"/>
          </a:xfrm>
          <a:prstGeom prst="rect">
            <a:avLst/>
          </a:prstGeom>
          <a:noFill/>
        </p:spPr>
        <p:txBody>
          <a:bodyPr wrap="square" anchor="ctr" lIns="0" rIns="0" tIns="0" bIns="0">
            <a:spAutoFit/>
          </a:bodyPr>
          <a:lstStyle/>
          <a:p>
            <a:pPr algn="l"/>
            <a:r>
              <a:rPr sz="2900" b="1" i="0">
                <a:solidFill>
                  <a:srgbClr val="000F46"/>
                </a:solidFill>
                <a:latin typeface="Fraunces"/>
              </a:rPr>
              <a:t>Inside the faculty estate — the 4% tenant</a:t>
            </a:r>
          </a:p>
        </p:txBody>
      </p:sp>
      <p:sp>
        <p:nvSpPr>
          <p:cNvPr id="4" name="TextBox 3"/>
          <p:cNvSpPr txBox="1"/>
          <p:nvPr/>
        </p:nvSpPr>
        <p:spPr>
          <a:xfrm>
            <a:off x="548640" y="6437376"/>
            <a:ext cx="9601200" cy="274320"/>
          </a:xfrm>
          <a:prstGeom prst="rect">
            <a:avLst/>
          </a:prstGeom>
          <a:noFill/>
        </p:spPr>
        <p:txBody>
          <a:bodyPr wrap="square" anchor="t" lIns="0" rIns="0" tIns="0" bIns="0">
            <a:spAutoFit/>
          </a:bodyPr>
          <a:lstStyle/>
          <a:p>
            <a:pPr algn="l"/>
            <a:r>
              <a:rPr sz="900" b="0" i="0">
                <a:solidFill>
                  <a:srgbClr val="5B5B6B"/>
                </a:solidFill>
                <a:latin typeface="Source Sans 3"/>
              </a:rPr>
              <a:t>University of Melbourne — web estate alignment discussion · for discussion</a:t>
            </a:r>
          </a:p>
        </p:txBody>
      </p:sp>
      <p:sp>
        <p:nvSpPr>
          <p:cNvPr id="5" name="TextBox 4"/>
          <p:cNvSpPr txBox="1"/>
          <p:nvPr/>
        </p:nvSpPr>
        <p:spPr>
          <a:xfrm>
            <a:off x="11247120" y="6437376"/>
            <a:ext cx="411480" cy="274320"/>
          </a:xfrm>
          <a:prstGeom prst="rect">
            <a:avLst/>
          </a:prstGeom>
          <a:noFill/>
        </p:spPr>
        <p:txBody>
          <a:bodyPr wrap="square" anchor="t" lIns="0" rIns="0" tIns="0" bIns="0">
            <a:spAutoFit/>
          </a:bodyPr>
          <a:lstStyle/>
          <a:p>
            <a:pPr algn="r"/>
            <a:r>
              <a:rPr sz="900" b="0" i="0">
                <a:solidFill>
                  <a:srgbClr val="5B5B6B"/>
                </a:solidFill>
                <a:latin typeface="Source Sans 3"/>
              </a:rPr>
              <a:t>7</a:t>
            </a:r>
          </a:p>
        </p:txBody>
      </p:sp>
      <p:sp>
        <p:nvSpPr>
          <p:cNvPr id="6" name="TextBox 5"/>
          <p:cNvSpPr txBox="1"/>
          <p:nvPr/>
        </p:nvSpPr>
        <p:spPr>
          <a:xfrm>
            <a:off x="566928" y="1170432"/>
            <a:ext cx="5852160" cy="4206240"/>
          </a:xfrm>
          <a:prstGeom prst="rect">
            <a:avLst/>
          </a:prstGeom>
          <a:noFill/>
        </p:spPr>
        <p:txBody>
          <a:bodyPr wrap="square" anchor="t" lIns="0" rIns="0" tIns="0" bIns="0">
            <a:spAutoFit/>
          </a:bodyPr>
          <a:lstStyle/>
          <a:p>
            <a:pPr algn="l">
              <a:lnSpc>
                <a:spcPct val="116000"/>
              </a:lnSpc>
            </a:pPr>
            <a:r>
              <a:rPr sz="1500" b="0" i="0">
                <a:solidFill>
                  <a:srgbClr val="1C1C28"/>
                </a:solidFill>
                <a:latin typeface="Source Sans 3"/>
              </a:rPr>
              <a:t>A crawl of the full faculty domains (2,363 pages across 9 sites) shows current students are the smallest named tenant:</a:t>
            </a:r>
          </a:p>
          <a:p>
            <a:pPr algn="l">
              <a:lnSpc>
                <a:spcPct val="116000"/>
              </a:lnSpc>
            </a:pPr>
            <a:r>
              <a:rPr sz="600" b="0" i="0">
                <a:solidFill>
                  <a:srgbClr val="1C1C28"/>
                </a:solidFill>
                <a:latin typeface="Source Sans 3"/>
              </a:rPr>
              <a:t/>
            </a:r>
          </a:p>
          <a:p>
            <a:pPr algn="l">
              <a:lnSpc>
                <a:spcPct val="116000"/>
              </a:lnSpc>
            </a:pPr>
            <a:r>
              <a:rPr sz="1300" b="1" i="0">
                <a:solidFill>
                  <a:srgbClr val="000B34"/>
                </a:solidFill>
                <a:latin typeface="Source Sans 3"/>
              </a:rPr>
              <a:t>about 19%  ·  news 11%  ·  research 9%  ·  prospective study 8%  ·  current students 4%</a:t>
            </a:r>
          </a:p>
          <a:p>
            <a:pPr algn="l">
              <a:lnSpc>
                <a:spcPct val="116000"/>
              </a:lnSpc>
            </a:pPr>
            <a:r>
              <a:rPr sz="600" b="0" i="0">
                <a:solidFill>
                  <a:srgbClr val="1C1C28"/>
                </a:solidFill>
                <a:latin typeface="Source Sans 3"/>
              </a:rPr>
              <a:t/>
            </a:r>
          </a:p>
          <a:p>
            <a:pPr algn="l">
              <a:lnSpc>
                <a:spcPct val="116000"/>
              </a:lnSpc>
            </a:pPr>
            <a:r>
              <a:rPr sz="1500" b="0" i="0">
                <a:solidFill>
                  <a:srgbClr val="1C1C28"/>
                </a:solidFill>
                <a:latin typeface="Source Sans 3"/>
              </a:rPr>
              <a:t>The faculty sites are built for reputation and recruitment — a current student is a minority audience on the very domains that host their faculty's content.</a:t>
            </a:r>
          </a:p>
          <a:p>
            <a:pPr algn="l">
              <a:lnSpc>
                <a:spcPct val="116000"/>
              </a:lnSpc>
            </a:pPr>
            <a:r>
              <a:rPr sz="600" b="0" i="0">
                <a:solidFill>
                  <a:srgbClr val="1C1C28"/>
                </a:solidFill>
                <a:latin typeface="Source Sans 3"/>
              </a:rPr>
              <a:t/>
            </a:r>
          </a:p>
          <a:p>
            <a:pPr algn="l">
              <a:lnSpc>
                <a:spcPct val="116000"/>
              </a:lnSpc>
            </a:pPr>
            <a:r>
              <a:rPr sz="1500" b="0" i="0">
                <a:solidFill>
                  <a:srgbClr val="1C1C28"/>
                </a:solidFill>
                <a:latin typeface="Source Sans 3"/>
              </a:rPr>
              <a:t>And research reputation is decoupled from research-student support: the faculties with the largest research estates carry the least HDR-candidature support  →</a:t>
            </a:r>
          </a:p>
        </p:txBody>
      </p:sp>
      <p:sp>
        <p:nvSpPr>
          <p:cNvPr id="7" name="Rectangle 6"/>
          <p:cNvSpPr/>
          <p:nvPr/>
        </p:nvSpPr>
        <p:spPr>
          <a:xfrm>
            <a:off x="6720840" y="1417320"/>
            <a:ext cx="4910328" cy="566928"/>
          </a:xfrm>
          <a:prstGeom prst="rect">
            <a:avLst/>
          </a:prstGeom>
          <a:solidFill>
            <a:srgbClr val="000F46"/>
          </a:solidFill>
          <a:ln w="12700">
            <a:solidFill>
              <a:srgbClr val="DD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0" y="1417320"/>
            <a:ext cx="2377440" cy="566928"/>
          </a:xfrm>
          <a:prstGeom prst="rect">
            <a:avLst/>
          </a:prstGeom>
          <a:noFill/>
        </p:spPr>
        <p:txBody>
          <a:bodyPr wrap="square" anchor="ctr" lIns="0" rIns="0" tIns="0" bIns="0">
            <a:spAutoFit/>
          </a:bodyPr>
          <a:lstStyle/>
          <a:p>
            <a:pPr algn="l"/>
            <a:r>
              <a:rPr sz="1150" b="1" i="0">
                <a:solidFill>
                  <a:srgbClr val="FFFFFF"/>
                </a:solidFill>
                <a:latin typeface="Source Sans 3"/>
              </a:rPr>
              <a:t>Faculty</a:t>
            </a:r>
          </a:p>
        </p:txBody>
      </p:sp>
      <p:sp>
        <p:nvSpPr>
          <p:cNvPr id="9" name="TextBox 8"/>
          <p:cNvSpPr txBox="1"/>
          <p:nvPr/>
        </p:nvSpPr>
        <p:spPr>
          <a:xfrm>
            <a:off x="9189720" y="1417320"/>
            <a:ext cx="1188720" cy="566928"/>
          </a:xfrm>
          <a:prstGeom prst="rect">
            <a:avLst/>
          </a:prstGeom>
          <a:noFill/>
        </p:spPr>
        <p:txBody>
          <a:bodyPr wrap="square" anchor="ctr" lIns="0" rIns="0" tIns="0" bIns="0">
            <a:spAutoFit/>
          </a:bodyPr>
          <a:lstStyle/>
          <a:p>
            <a:pPr algn="ctr"/>
            <a:r>
              <a:rPr sz="1200" b="1" i="0">
                <a:solidFill>
                  <a:srgbClr val="FFFFFF"/>
                </a:solidFill>
                <a:latin typeface="Source Code Pro"/>
              </a:rPr>
              <a:t>Research</a:t>
            </a:r>
          </a:p>
        </p:txBody>
      </p:sp>
      <p:sp>
        <p:nvSpPr>
          <p:cNvPr id="10" name="TextBox 9"/>
          <p:cNvSpPr txBox="1"/>
          <p:nvPr/>
        </p:nvSpPr>
        <p:spPr>
          <a:xfrm>
            <a:off x="10378440" y="1417320"/>
            <a:ext cx="1143000" cy="566928"/>
          </a:xfrm>
          <a:prstGeom prst="rect">
            <a:avLst/>
          </a:prstGeom>
          <a:noFill/>
        </p:spPr>
        <p:txBody>
          <a:bodyPr wrap="square" anchor="ctr" lIns="0" rIns="0" tIns="0" bIns="0">
            <a:spAutoFit/>
          </a:bodyPr>
          <a:lstStyle/>
          <a:p>
            <a:pPr algn="ctr"/>
            <a:r>
              <a:rPr sz="1200" b="1" i="0">
                <a:solidFill>
                  <a:srgbClr val="FFFFFF"/>
                </a:solidFill>
                <a:latin typeface="Source Code Pro"/>
              </a:rPr>
              <a:t>HDR support</a:t>
            </a:r>
          </a:p>
        </p:txBody>
      </p:sp>
      <p:sp>
        <p:nvSpPr>
          <p:cNvPr id="11" name="Rectangle 10"/>
          <p:cNvSpPr/>
          <p:nvPr/>
        </p:nvSpPr>
        <p:spPr>
          <a:xfrm>
            <a:off x="6720840" y="1984248"/>
            <a:ext cx="4910328" cy="566928"/>
          </a:xfrm>
          <a:prstGeom prst="rect">
            <a:avLst/>
          </a:prstGeom>
          <a:solidFill>
            <a:srgbClr val="FFFFFF"/>
          </a:solidFill>
          <a:ln w="12700">
            <a:solidFill>
              <a:srgbClr val="DD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0" y="1984248"/>
            <a:ext cx="2377440" cy="566928"/>
          </a:xfrm>
          <a:prstGeom prst="rect">
            <a:avLst/>
          </a:prstGeom>
          <a:noFill/>
        </p:spPr>
        <p:txBody>
          <a:bodyPr wrap="square" anchor="ctr" lIns="0" rIns="0" tIns="0" bIns="0">
            <a:spAutoFit/>
          </a:bodyPr>
          <a:lstStyle/>
          <a:p>
            <a:pPr algn="l"/>
            <a:r>
              <a:rPr sz="1150" b="1" i="0">
                <a:solidFill>
                  <a:srgbClr val="000B34"/>
                </a:solidFill>
                <a:latin typeface="Source Sans 3"/>
              </a:rPr>
              <a:t>MDHS</a:t>
            </a:r>
          </a:p>
        </p:txBody>
      </p:sp>
      <p:sp>
        <p:nvSpPr>
          <p:cNvPr id="13" name="TextBox 12"/>
          <p:cNvSpPr txBox="1"/>
          <p:nvPr/>
        </p:nvSpPr>
        <p:spPr>
          <a:xfrm>
            <a:off x="9189720" y="1984248"/>
            <a:ext cx="1188720" cy="566928"/>
          </a:xfrm>
          <a:prstGeom prst="rect">
            <a:avLst/>
          </a:prstGeom>
          <a:noFill/>
        </p:spPr>
        <p:txBody>
          <a:bodyPr wrap="square" anchor="ctr" lIns="0" rIns="0" tIns="0" bIns="0">
            <a:spAutoFit/>
          </a:bodyPr>
          <a:lstStyle/>
          <a:p>
            <a:pPr algn="ctr"/>
            <a:r>
              <a:rPr sz="1200" b="0" i="0">
                <a:solidFill>
                  <a:srgbClr val="000B34"/>
                </a:solidFill>
                <a:latin typeface="Source Code Pro"/>
              </a:rPr>
              <a:t>63</a:t>
            </a:r>
          </a:p>
        </p:txBody>
      </p:sp>
      <p:sp>
        <p:nvSpPr>
          <p:cNvPr id="14" name="TextBox 13"/>
          <p:cNvSpPr txBox="1"/>
          <p:nvPr/>
        </p:nvSpPr>
        <p:spPr>
          <a:xfrm>
            <a:off x="10378440" y="1984248"/>
            <a:ext cx="1143000" cy="566928"/>
          </a:xfrm>
          <a:prstGeom prst="rect">
            <a:avLst/>
          </a:prstGeom>
          <a:noFill/>
        </p:spPr>
        <p:txBody>
          <a:bodyPr wrap="square" anchor="ctr" lIns="0" rIns="0" tIns="0" bIns="0">
            <a:spAutoFit/>
          </a:bodyPr>
          <a:lstStyle/>
          <a:p>
            <a:pPr algn="ctr"/>
            <a:r>
              <a:rPr sz="1200" b="0" i="0">
                <a:solidFill>
                  <a:srgbClr val="000B34"/>
                </a:solidFill>
                <a:latin typeface="Source Code Pro"/>
              </a:rPr>
              <a:t>1</a:t>
            </a:r>
          </a:p>
        </p:txBody>
      </p:sp>
      <p:sp>
        <p:nvSpPr>
          <p:cNvPr id="15" name="Rectangle 14"/>
          <p:cNvSpPr/>
          <p:nvPr/>
        </p:nvSpPr>
        <p:spPr>
          <a:xfrm>
            <a:off x="6720840" y="2551176"/>
            <a:ext cx="4910328" cy="566928"/>
          </a:xfrm>
          <a:prstGeom prst="rect">
            <a:avLst/>
          </a:prstGeom>
          <a:solidFill>
            <a:srgbClr val="FFFFFF"/>
          </a:solidFill>
          <a:ln w="12700">
            <a:solidFill>
              <a:srgbClr val="DD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0" y="2551176"/>
            <a:ext cx="2377440" cy="566928"/>
          </a:xfrm>
          <a:prstGeom prst="rect">
            <a:avLst/>
          </a:prstGeom>
          <a:noFill/>
        </p:spPr>
        <p:txBody>
          <a:bodyPr wrap="square" anchor="ctr" lIns="0" rIns="0" tIns="0" bIns="0">
            <a:spAutoFit/>
          </a:bodyPr>
          <a:lstStyle/>
          <a:p>
            <a:pPr algn="l"/>
            <a:r>
              <a:rPr sz="1150" b="1" i="0">
                <a:solidFill>
                  <a:srgbClr val="000B34"/>
                </a:solidFill>
                <a:latin typeface="Source Sans 3"/>
              </a:rPr>
              <a:t>Science</a:t>
            </a:r>
          </a:p>
        </p:txBody>
      </p:sp>
      <p:sp>
        <p:nvSpPr>
          <p:cNvPr id="17" name="TextBox 16"/>
          <p:cNvSpPr txBox="1"/>
          <p:nvPr/>
        </p:nvSpPr>
        <p:spPr>
          <a:xfrm>
            <a:off x="9189720" y="2551176"/>
            <a:ext cx="1188720" cy="566928"/>
          </a:xfrm>
          <a:prstGeom prst="rect">
            <a:avLst/>
          </a:prstGeom>
          <a:noFill/>
        </p:spPr>
        <p:txBody>
          <a:bodyPr wrap="square" anchor="ctr" lIns="0" rIns="0" tIns="0" bIns="0">
            <a:spAutoFit/>
          </a:bodyPr>
          <a:lstStyle/>
          <a:p>
            <a:pPr algn="ctr"/>
            <a:r>
              <a:rPr sz="1200" b="0" i="0">
                <a:solidFill>
                  <a:srgbClr val="000B34"/>
                </a:solidFill>
                <a:latin typeface="Source Code Pro"/>
              </a:rPr>
              <a:t>60</a:t>
            </a:r>
          </a:p>
        </p:txBody>
      </p:sp>
      <p:sp>
        <p:nvSpPr>
          <p:cNvPr id="18" name="TextBox 17"/>
          <p:cNvSpPr txBox="1"/>
          <p:nvPr/>
        </p:nvSpPr>
        <p:spPr>
          <a:xfrm>
            <a:off x="10378440" y="2551176"/>
            <a:ext cx="1143000" cy="566928"/>
          </a:xfrm>
          <a:prstGeom prst="rect">
            <a:avLst/>
          </a:prstGeom>
          <a:noFill/>
        </p:spPr>
        <p:txBody>
          <a:bodyPr wrap="square" anchor="ctr" lIns="0" rIns="0" tIns="0" bIns="0">
            <a:spAutoFit/>
          </a:bodyPr>
          <a:lstStyle/>
          <a:p>
            <a:pPr algn="ctr"/>
            <a:r>
              <a:rPr sz="1200" b="0" i="0">
                <a:solidFill>
                  <a:srgbClr val="000B34"/>
                </a:solidFill>
                <a:latin typeface="Source Code Pro"/>
              </a:rPr>
              <a:t>6</a:t>
            </a:r>
          </a:p>
        </p:txBody>
      </p:sp>
      <p:sp>
        <p:nvSpPr>
          <p:cNvPr id="19" name="Rectangle 18"/>
          <p:cNvSpPr/>
          <p:nvPr/>
        </p:nvSpPr>
        <p:spPr>
          <a:xfrm>
            <a:off x="6720840" y="3118104"/>
            <a:ext cx="4910328" cy="566928"/>
          </a:xfrm>
          <a:prstGeom prst="rect">
            <a:avLst/>
          </a:prstGeom>
          <a:solidFill>
            <a:srgbClr val="FFFFFF"/>
          </a:solidFill>
          <a:ln w="12700">
            <a:solidFill>
              <a:srgbClr val="DD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58000" y="3118104"/>
            <a:ext cx="2377440" cy="566928"/>
          </a:xfrm>
          <a:prstGeom prst="rect">
            <a:avLst/>
          </a:prstGeom>
          <a:noFill/>
        </p:spPr>
        <p:txBody>
          <a:bodyPr wrap="square" anchor="ctr" lIns="0" rIns="0" tIns="0" bIns="0">
            <a:spAutoFit/>
          </a:bodyPr>
          <a:lstStyle/>
          <a:p>
            <a:pPr algn="l"/>
            <a:r>
              <a:rPr sz="1150" b="1" i="0">
                <a:solidFill>
                  <a:srgbClr val="000B34"/>
                </a:solidFill>
                <a:latin typeface="Source Sans 3"/>
              </a:rPr>
              <a:t>Education</a:t>
            </a:r>
          </a:p>
        </p:txBody>
      </p:sp>
      <p:sp>
        <p:nvSpPr>
          <p:cNvPr id="21" name="TextBox 20"/>
          <p:cNvSpPr txBox="1"/>
          <p:nvPr/>
        </p:nvSpPr>
        <p:spPr>
          <a:xfrm>
            <a:off x="9189720" y="3118104"/>
            <a:ext cx="1188720" cy="566928"/>
          </a:xfrm>
          <a:prstGeom prst="rect">
            <a:avLst/>
          </a:prstGeom>
          <a:noFill/>
        </p:spPr>
        <p:txBody>
          <a:bodyPr wrap="square" anchor="ctr" lIns="0" rIns="0" tIns="0" bIns="0">
            <a:spAutoFit/>
          </a:bodyPr>
          <a:lstStyle/>
          <a:p>
            <a:pPr algn="ctr"/>
            <a:r>
              <a:rPr sz="1200" b="0" i="0">
                <a:solidFill>
                  <a:srgbClr val="000B34"/>
                </a:solidFill>
                <a:latin typeface="Source Code Pro"/>
              </a:rPr>
              <a:t>44</a:t>
            </a:r>
          </a:p>
        </p:txBody>
      </p:sp>
      <p:sp>
        <p:nvSpPr>
          <p:cNvPr id="22" name="TextBox 21"/>
          <p:cNvSpPr txBox="1"/>
          <p:nvPr/>
        </p:nvSpPr>
        <p:spPr>
          <a:xfrm>
            <a:off x="10378440" y="3118104"/>
            <a:ext cx="1143000" cy="566928"/>
          </a:xfrm>
          <a:prstGeom prst="rect">
            <a:avLst/>
          </a:prstGeom>
          <a:noFill/>
        </p:spPr>
        <p:txBody>
          <a:bodyPr wrap="square" anchor="ctr" lIns="0" rIns="0" tIns="0" bIns="0">
            <a:spAutoFit/>
          </a:bodyPr>
          <a:lstStyle/>
          <a:p>
            <a:pPr algn="ctr"/>
            <a:r>
              <a:rPr sz="1200" b="0" i="0">
                <a:solidFill>
                  <a:srgbClr val="000B34"/>
                </a:solidFill>
                <a:latin typeface="Source Code Pro"/>
              </a:rPr>
              <a:t>0</a:t>
            </a:r>
          </a:p>
        </p:txBody>
      </p:sp>
      <p:sp>
        <p:nvSpPr>
          <p:cNvPr id="23" name="Rectangle 22"/>
          <p:cNvSpPr/>
          <p:nvPr/>
        </p:nvSpPr>
        <p:spPr>
          <a:xfrm>
            <a:off x="6720840" y="3685032"/>
            <a:ext cx="4910328" cy="566928"/>
          </a:xfrm>
          <a:prstGeom prst="rect">
            <a:avLst/>
          </a:prstGeom>
          <a:solidFill>
            <a:srgbClr val="FFFFFF"/>
          </a:solidFill>
          <a:ln w="12700">
            <a:solidFill>
              <a:srgbClr val="DD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58000" y="3685032"/>
            <a:ext cx="2377440" cy="566928"/>
          </a:xfrm>
          <a:prstGeom prst="rect">
            <a:avLst/>
          </a:prstGeom>
          <a:noFill/>
        </p:spPr>
        <p:txBody>
          <a:bodyPr wrap="square" anchor="ctr" lIns="0" rIns="0" tIns="0" bIns="0">
            <a:spAutoFit/>
          </a:bodyPr>
          <a:lstStyle/>
          <a:p>
            <a:pPr algn="l"/>
            <a:r>
              <a:rPr sz="1150" b="1" i="0">
                <a:solidFill>
                  <a:srgbClr val="000B34"/>
                </a:solidFill>
                <a:latin typeface="Source Sans 3"/>
              </a:rPr>
              <a:t>ABP / MSD</a:t>
            </a:r>
          </a:p>
        </p:txBody>
      </p:sp>
      <p:sp>
        <p:nvSpPr>
          <p:cNvPr id="25" name="TextBox 24"/>
          <p:cNvSpPr txBox="1"/>
          <p:nvPr/>
        </p:nvSpPr>
        <p:spPr>
          <a:xfrm>
            <a:off x="9189720" y="3685032"/>
            <a:ext cx="1188720" cy="566928"/>
          </a:xfrm>
          <a:prstGeom prst="rect">
            <a:avLst/>
          </a:prstGeom>
          <a:noFill/>
        </p:spPr>
        <p:txBody>
          <a:bodyPr wrap="square" anchor="ctr" lIns="0" rIns="0" tIns="0" bIns="0">
            <a:spAutoFit/>
          </a:bodyPr>
          <a:lstStyle/>
          <a:p>
            <a:pPr algn="ctr"/>
            <a:r>
              <a:rPr sz="1200" b="0" i="0">
                <a:solidFill>
                  <a:srgbClr val="000B34"/>
                </a:solidFill>
                <a:latin typeface="Source Code Pro"/>
              </a:rPr>
              <a:t>46</a:t>
            </a:r>
          </a:p>
        </p:txBody>
      </p:sp>
      <p:sp>
        <p:nvSpPr>
          <p:cNvPr id="26" name="TextBox 25"/>
          <p:cNvSpPr txBox="1"/>
          <p:nvPr/>
        </p:nvSpPr>
        <p:spPr>
          <a:xfrm>
            <a:off x="10378440" y="3685032"/>
            <a:ext cx="1143000" cy="566928"/>
          </a:xfrm>
          <a:prstGeom prst="rect">
            <a:avLst/>
          </a:prstGeom>
          <a:noFill/>
        </p:spPr>
        <p:txBody>
          <a:bodyPr wrap="square" anchor="ctr" lIns="0" rIns="0" tIns="0" bIns="0">
            <a:spAutoFit/>
          </a:bodyPr>
          <a:lstStyle/>
          <a:p>
            <a:pPr algn="ctr"/>
            <a:r>
              <a:rPr sz="1200" b="0" i="0">
                <a:solidFill>
                  <a:srgbClr val="000B34"/>
                </a:solidFill>
                <a:latin typeface="Source Code Pro"/>
              </a:rPr>
              <a:t>29</a:t>
            </a:r>
          </a:p>
        </p:txBody>
      </p:sp>
      <p:sp>
        <p:nvSpPr>
          <p:cNvPr id="27" name="Rectangle 26"/>
          <p:cNvSpPr/>
          <p:nvPr/>
        </p:nvSpPr>
        <p:spPr>
          <a:xfrm>
            <a:off x="6720840" y="4251960"/>
            <a:ext cx="4910328" cy="566928"/>
          </a:xfrm>
          <a:prstGeom prst="rect">
            <a:avLst/>
          </a:prstGeom>
          <a:solidFill>
            <a:srgbClr val="FFFFFF"/>
          </a:solidFill>
          <a:ln w="12700">
            <a:solidFill>
              <a:srgbClr val="DD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858000" y="4251960"/>
            <a:ext cx="2377440" cy="566928"/>
          </a:xfrm>
          <a:prstGeom prst="rect">
            <a:avLst/>
          </a:prstGeom>
          <a:noFill/>
        </p:spPr>
        <p:txBody>
          <a:bodyPr wrap="square" anchor="ctr" lIns="0" rIns="0" tIns="0" bIns="0">
            <a:spAutoFit/>
          </a:bodyPr>
          <a:lstStyle/>
          <a:p>
            <a:pPr algn="l"/>
            <a:r>
              <a:rPr sz="1150" b="1" i="0">
                <a:solidFill>
                  <a:srgbClr val="000B34"/>
                </a:solidFill>
                <a:latin typeface="Source Sans 3"/>
              </a:rPr>
              <a:t>Law</a:t>
            </a:r>
          </a:p>
        </p:txBody>
      </p:sp>
      <p:sp>
        <p:nvSpPr>
          <p:cNvPr id="29" name="TextBox 28"/>
          <p:cNvSpPr txBox="1"/>
          <p:nvPr/>
        </p:nvSpPr>
        <p:spPr>
          <a:xfrm>
            <a:off x="9189720" y="4251960"/>
            <a:ext cx="1188720" cy="566928"/>
          </a:xfrm>
          <a:prstGeom prst="rect">
            <a:avLst/>
          </a:prstGeom>
          <a:noFill/>
        </p:spPr>
        <p:txBody>
          <a:bodyPr wrap="square" anchor="ctr" lIns="0" rIns="0" tIns="0" bIns="0">
            <a:spAutoFit/>
          </a:bodyPr>
          <a:lstStyle/>
          <a:p>
            <a:pPr algn="ctr"/>
            <a:r>
              <a:rPr sz="1200" b="0" i="0">
                <a:solidFill>
                  <a:srgbClr val="000B34"/>
                </a:solidFill>
                <a:latin typeface="Source Code Pro"/>
              </a:rPr>
              <a:t>19</a:t>
            </a:r>
          </a:p>
        </p:txBody>
      </p:sp>
      <p:sp>
        <p:nvSpPr>
          <p:cNvPr id="30" name="TextBox 29"/>
          <p:cNvSpPr txBox="1"/>
          <p:nvPr/>
        </p:nvSpPr>
        <p:spPr>
          <a:xfrm>
            <a:off x="10378440" y="4251960"/>
            <a:ext cx="1143000" cy="566928"/>
          </a:xfrm>
          <a:prstGeom prst="rect">
            <a:avLst/>
          </a:prstGeom>
          <a:noFill/>
        </p:spPr>
        <p:txBody>
          <a:bodyPr wrap="square" anchor="ctr" lIns="0" rIns="0" tIns="0" bIns="0">
            <a:spAutoFit/>
          </a:bodyPr>
          <a:lstStyle/>
          <a:p>
            <a:pPr algn="ctr"/>
            <a:r>
              <a:rPr sz="1200" b="0" i="0">
                <a:solidFill>
                  <a:srgbClr val="000B34"/>
                </a:solidFill>
                <a:latin typeface="Source Code Pro"/>
              </a:rPr>
              <a:t>79 *</a:t>
            </a:r>
          </a:p>
        </p:txBody>
      </p:sp>
      <p:sp>
        <p:nvSpPr>
          <p:cNvPr id="31" name="TextBox 30"/>
          <p:cNvSpPr txBox="1"/>
          <p:nvPr/>
        </p:nvSpPr>
        <p:spPr>
          <a:xfrm>
            <a:off x="6720840" y="4873751"/>
            <a:ext cx="4910328" cy="457200"/>
          </a:xfrm>
          <a:prstGeom prst="rect">
            <a:avLst/>
          </a:prstGeom>
          <a:noFill/>
        </p:spPr>
        <p:txBody>
          <a:bodyPr wrap="square" anchor="t" lIns="0" rIns="0" tIns="0" bIns="0">
            <a:spAutoFit/>
          </a:bodyPr>
          <a:lstStyle/>
          <a:p>
            <a:pPr algn="l">
              <a:lnSpc>
                <a:spcPct val="105000"/>
              </a:lnSpc>
            </a:pPr>
            <a:r>
              <a:rPr sz="1000" b="0" i="1">
                <a:solidFill>
                  <a:srgbClr val="5B5B6B"/>
                </a:solidFill>
                <a:latin typeface="Source Sans 3"/>
              </a:rPr>
              <a:t>* Law's 79 is mostly researcher-profile pages (61 bios); only ~18 are genuine candidature support.</a:t>
            </a:r>
          </a:p>
        </p:txBody>
      </p:sp>
      <p:sp>
        <p:nvSpPr>
          <p:cNvPr id="32" name="Rectangle 31"/>
          <p:cNvSpPr/>
          <p:nvPr/>
        </p:nvSpPr>
        <p:spPr>
          <a:xfrm>
            <a:off x="566928" y="5440680"/>
            <a:ext cx="10881360" cy="621792"/>
          </a:xfrm>
          <a:prstGeom prst="rect">
            <a:avLst/>
          </a:prstGeom>
          <a:solidFill>
            <a:srgbClr val="EA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566928" y="5440680"/>
            <a:ext cx="91440" cy="621792"/>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68680" y="5440680"/>
            <a:ext cx="10332720" cy="621792"/>
          </a:xfrm>
          <a:prstGeom prst="rect">
            <a:avLst/>
          </a:prstGeom>
          <a:noFill/>
        </p:spPr>
        <p:txBody>
          <a:bodyPr wrap="square" anchor="ctr" lIns="0" rIns="0" tIns="0" bIns="0">
            <a:spAutoFit/>
          </a:bodyPr>
          <a:lstStyle/>
          <a:p>
            <a:pPr algn="l"/>
            <a:r>
              <a:rPr sz="1300" b="1" i="0">
                <a:solidFill>
                  <a:srgbClr val="000F46"/>
                </a:solidFill>
                <a:latin typeface="Source Sans 3"/>
              </a:rPr>
              <a:t>To discuss:  </a:t>
            </a:r>
            <a:r>
              <a:rPr sz="1300" b="0" i="0">
                <a:solidFill>
                  <a:srgbClr val="000B34"/>
                </a:solidFill>
                <a:latin typeface="Source Sans 3"/>
              </a:rPr>
              <a:t>Does the faculty web presence serve current students, or are they an afterthought on a reputation-and-recruitment site? Who owns the research-student experience?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66928"/>
            <a:ext cx="256032" cy="256032"/>
          </a:xfrm>
          <a:prstGeom prst="rect">
            <a:avLst/>
          </a:prstGeom>
          <a:solidFill>
            <a:srgbClr val="46C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457200"/>
            <a:ext cx="10698480" cy="502920"/>
          </a:xfrm>
          <a:prstGeom prst="rect">
            <a:avLst/>
          </a:prstGeom>
          <a:noFill/>
        </p:spPr>
        <p:txBody>
          <a:bodyPr wrap="square" anchor="ctr" lIns="0" rIns="0" tIns="0" bIns="0">
            <a:spAutoFit/>
          </a:bodyPr>
          <a:lstStyle/>
          <a:p>
            <a:pPr algn="l"/>
            <a:r>
              <a:rPr sz="2900" b="1" i="0">
                <a:solidFill>
                  <a:srgbClr val="000F46"/>
                </a:solidFill>
                <a:latin typeface="Fraunces"/>
              </a:rPr>
              <a:t>Cross-corpus evidence — services across the lifecycle</a:t>
            </a:r>
          </a:p>
        </p:txBody>
      </p:sp>
      <p:sp>
        <p:nvSpPr>
          <p:cNvPr id="4" name="TextBox 3"/>
          <p:cNvSpPr txBox="1"/>
          <p:nvPr/>
        </p:nvSpPr>
        <p:spPr>
          <a:xfrm>
            <a:off x="548640" y="6437376"/>
            <a:ext cx="9601200" cy="274320"/>
          </a:xfrm>
          <a:prstGeom prst="rect">
            <a:avLst/>
          </a:prstGeom>
          <a:noFill/>
        </p:spPr>
        <p:txBody>
          <a:bodyPr wrap="square" anchor="t" lIns="0" rIns="0" tIns="0" bIns="0">
            <a:spAutoFit/>
          </a:bodyPr>
          <a:lstStyle/>
          <a:p>
            <a:pPr algn="l"/>
            <a:r>
              <a:rPr sz="900" b="0" i="0">
                <a:solidFill>
                  <a:srgbClr val="5B5B6B"/>
                </a:solidFill>
                <a:latin typeface="Source Sans 3"/>
              </a:rPr>
              <a:t>University of Melbourne — web estate alignment discussion · for discussion</a:t>
            </a:r>
          </a:p>
        </p:txBody>
      </p:sp>
      <p:sp>
        <p:nvSpPr>
          <p:cNvPr id="5" name="TextBox 4"/>
          <p:cNvSpPr txBox="1"/>
          <p:nvPr/>
        </p:nvSpPr>
        <p:spPr>
          <a:xfrm>
            <a:off x="11247120" y="6437376"/>
            <a:ext cx="411480" cy="274320"/>
          </a:xfrm>
          <a:prstGeom prst="rect">
            <a:avLst/>
          </a:prstGeom>
          <a:noFill/>
        </p:spPr>
        <p:txBody>
          <a:bodyPr wrap="square" anchor="t" lIns="0" rIns="0" tIns="0" bIns="0">
            <a:spAutoFit/>
          </a:bodyPr>
          <a:lstStyle/>
          <a:p>
            <a:pPr algn="r"/>
            <a:r>
              <a:rPr sz="900" b="0" i="0">
                <a:solidFill>
                  <a:srgbClr val="5B5B6B"/>
                </a:solidFill>
                <a:latin typeface="Source Sans 3"/>
              </a:rPr>
              <a:t>16</a:t>
            </a:r>
          </a:p>
        </p:txBody>
      </p:sp>
      <p:sp>
        <p:nvSpPr>
          <p:cNvPr id="6" name="TextBox 5"/>
          <p:cNvSpPr txBox="1"/>
          <p:nvPr/>
        </p:nvSpPr>
        <p:spPr>
          <a:xfrm>
            <a:off x="566928" y="1170432"/>
            <a:ext cx="10881360" cy="548640"/>
          </a:xfrm>
          <a:prstGeom prst="rect">
            <a:avLst/>
          </a:prstGeom>
          <a:noFill/>
        </p:spPr>
        <p:txBody>
          <a:bodyPr wrap="square" anchor="t" lIns="0" rIns="0" tIns="0" bIns="0">
            <a:spAutoFit/>
          </a:bodyPr>
          <a:lstStyle/>
          <a:p>
            <a:pPr algn="l">
              <a:lnSpc>
                <a:spcPct val="112000"/>
              </a:lnSpc>
            </a:pPr>
            <a:r>
              <a:rPr sz="1350" b="0" i="0">
                <a:solidFill>
                  <a:srgbClr val="1C1C28"/>
                </a:solidFill>
                <a:latin typeface="Source Sans 3"/>
              </a:rPr>
              <a:t>Pages per topic at each lifecycle stage (June 2026 crawl). Cross-cutting services are authored at every stage; placements, course planning and candidature are genuinely stage-bound.</a:t>
            </a:r>
          </a:p>
        </p:txBody>
      </p:sp>
      <p:graphicFrame>
        <p:nvGraphicFramePr>
          <p:cNvPr id="7" name="Table 6"/>
          <p:cNvGraphicFramePr>
            <a:graphicFrameLocks noGrp="1"/>
          </p:cNvGraphicFramePr>
          <p:nvPr/>
        </p:nvGraphicFramePr>
        <p:xfrm>
          <a:off x="566928" y="1965960"/>
          <a:ext cx="11064240" cy="3657600"/>
        </p:xfrm>
        <a:graphic>
          <a:graphicData uri="http://schemas.openxmlformats.org/drawingml/2006/table">
            <a:tbl>
              <a:tblPr>
                <a:tableStyleId>{5C22544A-7EE6-4342-B048-85BDC9FD1C3A}</a:tableStyleId>
              </a:tblPr>
              <a:tblGrid>
                <a:gridCol w="3200400"/>
                <a:gridCol w="1737360"/>
                <a:gridCol w="1554480"/>
                <a:gridCol w="1371600"/>
                <a:gridCol w="3200400"/>
              </a:tblGrid>
              <a:tr h="457200">
                <a:tc>
                  <a:txBody>
                    <a:bodyPr/>
                    <a:lstStyle/>
                    <a:p>
                      <a:pPr algn="l"/>
                      <a:r>
                        <a:rPr sz="1100" b="1">
                          <a:solidFill>
                            <a:srgbClr val="FFFFFF"/>
                          </a:solidFill>
                          <a:latin typeface="Source Sans 3"/>
                        </a:rPr>
                        <a:t>Topic / service</a:t>
                      </a:r>
                    </a:p>
                  </a:txBody>
                  <a:tcPr marL="73152" marR="54864" marT="18288" marB="18288" anchor="ctr">
                    <a:solidFill>
                      <a:srgbClr val="000F46"/>
                    </a:solidFill>
                  </a:tcPr>
                </a:tc>
                <a:tc>
                  <a:txBody>
                    <a:bodyPr/>
                    <a:lstStyle/>
                    <a:p>
                      <a:pPr algn="ctr"/>
                      <a:r>
                        <a:rPr sz="1100" b="1">
                          <a:solidFill>
                            <a:srgbClr val="FFFFFF"/>
                          </a:solidFill>
                          <a:latin typeface="Source Code Pro"/>
                        </a:rPr>
                        <a:t>Prospective</a:t>
                      </a:r>
                    </a:p>
                  </a:txBody>
                  <a:tcPr marL="73152" marR="54864" marT="18288" marB="18288" anchor="ctr">
                    <a:solidFill>
                      <a:srgbClr val="000F46"/>
                    </a:solidFill>
                  </a:tcPr>
                </a:tc>
                <a:tc>
                  <a:txBody>
                    <a:bodyPr/>
                    <a:lstStyle/>
                    <a:p>
                      <a:pPr algn="ctr"/>
                      <a:r>
                        <a:rPr sz="1100" b="1">
                          <a:solidFill>
                            <a:srgbClr val="FFFFFF"/>
                          </a:solidFill>
                          <a:latin typeface="Source Code Pro"/>
                        </a:rPr>
                        <a:t>Current</a:t>
                      </a:r>
                    </a:p>
                  </a:txBody>
                  <a:tcPr marL="73152" marR="54864" marT="18288" marB="18288" anchor="ctr">
                    <a:solidFill>
                      <a:srgbClr val="000F46"/>
                    </a:solidFill>
                  </a:tcPr>
                </a:tc>
                <a:tc>
                  <a:txBody>
                    <a:bodyPr/>
                    <a:lstStyle/>
                    <a:p>
                      <a:pPr algn="ctr"/>
                      <a:r>
                        <a:rPr sz="1100" b="1">
                          <a:solidFill>
                            <a:srgbClr val="FFFFFF"/>
                          </a:solidFill>
                          <a:latin typeface="Source Code Pro"/>
                        </a:rPr>
                        <a:t>Alumni</a:t>
                      </a:r>
                    </a:p>
                  </a:txBody>
                  <a:tcPr marL="73152" marR="54864" marT="18288" marB="18288" anchor="ctr">
                    <a:solidFill>
                      <a:srgbClr val="000F46"/>
                    </a:solidFill>
                  </a:tcPr>
                </a:tc>
                <a:tc>
                  <a:txBody>
                    <a:bodyPr/>
                    <a:lstStyle/>
                    <a:p>
                      <a:pPr algn="l"/>
                      <a:r>
                        <a:rPr sz="1100" b="1">
                          <a:solidFill>
                            <a:srgbClr val="FFFFFF"/>
                          </a:solidFill>
                          <a:latin typeface="Source Sans 3"/>
                        </a:rPr>
                        <a:t>Pattern</a:t>
                      </a:r>
                    </a:p>
                  </a:txBody>
                  <a:tcPr marL="73152" marR="54864" marT="18288" marB="18288" anchor="ctr">
                    <a:solidFill>
                      <a:srgbClr val="000F46"/>
                    </a:solidFill>
                  </a:tcPr>
                </a:tc>
              </a:tr>
              <a:tr h="457200">
                <a:tc>
                  <a:txBody>
                    <a:bodyPr/>
                    <a:lstStyle/>
                    <a:p>
                      <a:pPr algn="l"/>
                      <a:r>
                        <a:rPr sz="1100" b="1">
                          <a:solidFill>
                            <a:srgbClr val="000B34"/>
                          </a:solidFill>
                          <a:latin typeface="Source Sans 3"/>
                        </a:rPr>
                        <a:t>Careers &amp; employability</a:t>
                      </a:r>
                    </a:p>
                  </a:txBody>
                  <a:tcPr marL="73152" marR="54864" marT="18288" marB="18288" anchor="ctr">
                    <a:solidFill>
                      <a:srgbClr val="FFFFFF"/>
                    </a:solidFill>
                  </a:tcPr>
                </a:tc>
                <a:tc>
                  <a:txBody>
                    <a:bodyPr/>
                    <a:lstStyle/>
                    <a:p>
                      <a:pPr algn="ctr"/>
                      <a:r>
                        <a:rPr sz="1100" b="0">
                          <a:solidFill>
                            <a:srgbClr val="1C1C28"/>
                          </a:solidFill>
                          <a:latin typeface="Source Code Pro"/>
                        </a:rPr>
                        <a:t>38</a:t>
                      </a:r>
                    </a:p>
                  </a:txBody>
                  <a:tcPr marL="73152" marR="54864" marT="18288" marB="18288" anchor="ctr">
                    <a:solidFill>
                      <a:srgbClr val="FFFFFF"/>
                    </a:solidFill>
                  </a:tcPr>
                </a:tc>
                <a:tc>
                  <a:txBody>
                    <a:bodyPr/>
                    <a:lstStyle/>
                    <a:p>
                      <a:pPr algn="ctr"/>
                      <a:r>
                        <a:rPr sz="1100" b="0">
                          <a:solidFill>
                            <a:srgbClr val="1C1C28"/>
                          </a:solidFill>
                          <a:latin typeface="Source Code Pro"/>
                        </a:rPr>
                        <a:t>124</a:t>
                      </a:r>
                    </a:p>
                  </a:txBody>
                  <a:tcPr marL="73152" marR="54864" marT="18288" marB="18288" anchor="ctr">
                    <a:solidFill>
                      <a:srgbClr val="FFFFFF"/>
                    </a:solidFill>
                  </a:tcPr>
                </a:tc>
                <a:tc>
                  <a:txBody>
                    <a:bodyPr/>
                    <a:lstStyle/>
                    <a:p>
                      <a:pPr algn="ctr"/>
                      <a:r>
                        <a:rPr sz="1100" b="0">
                          <a:solidFill>
                            <a:srgbClr val="1C1C28"/>
                          </a:solidFill>
                          <a:latin typeface="Source Code Pro"/>
                        </a:rPr>
                        <a:t>38</a:t>
                      </a:r>
                    </a:p>
                  </a:txBody>
                  <a:tcPr marL="73152" marR="54864" marT="18288" marB="18288" anchor="ctr">
                    <a:solidFill>
                      <a:srgbClr val="FFFFFF"/>
                    </a:solidFill>
                  </a:tcPr>
                </a:tc>
                <a:tc>
                  <a:txBody>
                    <a:bodyPr/>
                    <a:lstStyle/>
                    <a:p>
                      <a:pPr algn="l"/>
                      <a:r>
                        <a:rPr sz="1100" b="0">
                          <a:solidFill>
                            <a:srgbClr val="1C1C28"/>
                          </a:solidFill>
                          <a:latin typeface="Source Sans 3"/>
                        </a:rPr>
                        <a:t>all three stages</a:t>
                      </a:r>
                    </a:p>
                  </a:txBody>
                  <a:tcPr marL="73152" marR="54864" marT="18288" marB="18288" anchor="ctr">
                    <a:solidFill>
                      <a:srgbClr val="FFFFFF"/>
                    </a:solidFill>
                  </a:tcPr>
                </a:tc>
              </a:tr>
              <a:tr h="457200">
                <a:tc>
                  <a:txBody>
                    <a:bodyPr/>
                    <a:lstStyle/>
                    <a:p>
                      <a:pPr algn="l"/>
                      <a:r>
                        <a:rPr sz="1100" b="1">
                          <a:solidFill>
                            <a:srgbClr val="000B34"/>
                          </a:solidFill>
                          <a:latin typeface="Source Sans 3"/>
                        </a:rPr>
                        <a:t>Scholarships</a:t>
                      </a:r>
                    </a:p>
                  </a:txBody>
                  <a:tcPr marL="73152" marR="54864" marT="18288" marB="18288" anchor="ctr">
                    <a:solidFill>
                      <a:srgbClr val="FFFFFF"/>
                    </a:solidFill>
                  </a:tcPr>
                </a:tc>
                <a:tc>
                  <a:txBody>
                    <a:bodyPr/>
                    <a:lstStyle/>
                    <a:p>
                      <a:pPr algn="ctr"/>
                      <a:r>
                        <a:rPr sz="1100" b="0">
                          <a:solidFill>
                            <a:srgbClr val="1C1C28"/>
                          </a:solidFill>
                          <a:latin typeface="Source Code Pro"/>
                        </a:rPr>
                        <a:t>75</a:t>
                      </a:r>
                    </a:p>
                  </a:txBody>
                  <a:tcPr marL="73152" marR="54864" marT="18288" marB="18288" anchor="ctr">
                    <a:solidFill>
                      <a:srgbClr val="FFFFFF"/>
                    </a:solidFill>
                  </a:tcPr>
                </a:tc>
                <a:tc>
                  <a:txBody>
                    <a:bodyPr/>
                    <a:lstStyle/>
                    <a:p>
                      <a:pPr algn="ctr"/>
                      <a:r>
                        <a:rPr sz="1100" b="0">
                          <a:solidFill>
                            <a:srgbClr val="1C1C28"/>
                          </a:solidFill>
                          <a:latin typeface="Source Code Pro"/>
                        </a:rPr>
                        <a:t>116</a:t>
                      </a:r>
                    </a:p>
                  </a:txBody>
                  <a:tcPr marL="73152" marR="54864" marT="18288" marB="18288" anchor="ctr">
                    <a:solidFill>
                      <a:srgbClr val="FFFFFF"/>
                    </a:solidFill>
                  </a:tcPr>
                </a:tc>
                <a:tc>
                  <a:txBody>
                    <a:bodyPr/>
                    <a:lstStyle/>
                    <a:p>
                      <a:pPr algn="ctr"/>
                      <a:r>
                        <a:rPr sz="1100" b="0">
                          <a:solidFill>
                            <a:srgbClr val="1C1C28"/>
                          </a:solidFill>
                          <a:latin typeface="Source Code Pro"/>
                        </a:rPr>
                        <a:t>1</a:t>
                      </a:r>
                    </a:p>
                  </a:txBody>
                  <a:tcPr marL="73152" marR="54864" marT="18288" marB="18288" anchor="ctr">
                    <a:solidFill>
                      <a:srgbClr val="FFFFFF"/>
                    </a:solidFill>
                  </a:tcPr>
                </a:tc>
                <a:tc>
                  <a:txBody>
                    <a:bodyPr/>
                    <a:lstStyle/>
                    <a:p>
                      <a:pPr algn="l"/>
                      <a:r>
                        <a:rPr sz="1100" b="0">
                          <a:solidFill>
                            <a:srgbClr val="1C1C28"/>
                          </a:solidFill>
                          <a:latin typeface="Source Sans 3"/>
                        </a:rPr>
                        <a:t>prospective + current</a:t>
                      </a:r>
                    </a:p>
                  </a:txBody>
                  <a:tcPr marL="73152" marR="54864" marT="18288" marB="18288" anchor="ctr">
                    <a:solidFill>
                      <a:srgbClr val="FFFFFF"/>
                    </a:solidFill>
                  </a:tcPr>
                </a:tc>
              </a:tr>
              <a:tr h="457200">
                <a:tc>
                  <a:txBody>
                    <a:bodyPr/>
                    <a:lstStyle/>
                    <a:p>
                      <a:pPr algn="l"/>
                      <a:r>
                        <a:rPr sz="1100" b="1">
                          <a:solidFill>
                            <a:srgbClr val="000B34"/>
                          </a:solidFill>
                          <a:latin typeface="Source Sans 3"/>
                        </a:rPr>
                        <a:t>Student life</a:t>
                      </a:r>
                    </a:p>
                  </a:txBody>
                  <a:tcPr marL="73152" marR="54864" marT="18288" marB="18288" anchor="ctr">
                    <a:solidFill>
                      <a:srgbClr val="FFFFFF"/>
                    </a:solidFill>
                  </a:tcPr>
                </a:tc>
                <a:tc>
                  <a:txBody>
                    <a:bodyPr/>
                    <a:lstStyle/>
                    <a:p>
                      <a:pPr algn="ctr"/>
                      <a:r>
                        <a:rPr sz="1100" b="0">
                          <a:solidFill>
                            <a:srgbClr val="1C1C28"/>
                          </a:solidFill>
                          <a:latin typeface="Source Code Pro"/>
                        </a:rPr>
                        <a:t>156</a:t>
                      </a:r>
                    </a:p>
                  </a:txBody>
                  <a:tcPr marL="73152" marR="54864" marT="18288" marB="18288" anchor="ctr">
                    <a:solidFill>
                      <a:srgbClr val="FFFFFF"/>
                    </a:solidFill>
                  </a:tcPr>
                </a:tc>
                <a:tc>
                  <a:txBody>
                    <a:bodyPr/>
                    <a:lstStyle/>
                    <a:p>
                      <a:pPr algn="ctr"/>
                      <a:r>
                        <a:rPr sz="1100" b="0">
                          <a:solidFill>
                            <a:srgbClr val="1C1C28"/>
                          </a:solidFill>
                          <a:latin typeface="Source Code Pro"/>
                        </a:rPr>
                        <a:t>108</a:t>
                      </a:r>
                    </a:p>
                  </a:txBody>
                  <a:tcPr marL="73152" marR="54864" marT="18288" marB="18288" anchor="ctr">
                    <a:solidFill>
                      <a:srgbClr val="FFFFFF"/>
                    </a:solidFill>
                  </a:tcPr>
                </a:tc>
                <a:tc>
                  <a:txBody>
                    <a:bodyPr/>
                    <a:lstStyle/>
                    <a:p>
                      <a:pPr algn="ctr"/>
                      <a:r>
                        <a:rPr sz="1100" b="0">
                          <a:solidFill>
                            <a:srgbClr val="1C1C28"/>
                          </a:solidFill>
                          <a:latin typeface="Source Code Pro"/>
                        </a:rPr>
                        <a:t>21</a:t>
                      </a:r>
                    </a:p>
                  </a:txBody>
                  <a:tcPr marL="73152" marR="54864" marT="18288" marB="18288" anchor="ctr">
                    <a:solidFill>
                      <a:srgbClr val="FFFFFF"/>
                    </a:solidFill>
                  </a:tcPr>
                </a:tc>
                <a:tc>
                  <a:txBody>
                    <a:bodyPr/>
                    <a:lstStyle/>
                    <a:p>
                      <a:pPr algn="l"/>
                      <a:r>
                        <a:rPr sz="1100" b="0">
                          <a:solidFill>
                            <a:srgbClr val="1C1C28"/>
                          </a:solidFill>
                          <a:latin typeface="Source Sans 3"/>
                        </a:rPr>
                        <a:t>all three stages</a:t>
                      </a:r>
                    </a:p>
                  </a:txBody>
                  <a:tcPr marL="73152" marR="54864" marT="18288" marB="18288" anchor="ctr">
                    <a:solidFill>
                      <a:srgbClr val="FFFFFF"/>
                    </a:solidFill>
                  </a:tcPr>
                </a:tc>
              </a:tr>
              <a:tr h="457200">
                <a:tc>
                  <a:txBody>
                    <a:bodyPr/>
                    <a:lstStyle/>
                    <a:p>
                      <a:pPr algn="l"/>
                      <a:r>
                        <a:rPr sz="1100" b="1">
                          <a:solidFill>
                            <a:srgbClr val="000B34"/>
                          </a:solidFill>
                          <a:latin typeface="Source Sans 3"/>
                        </a:rPr>
                        <a:t>International</a:t>
                      </a:r>
                    </a:p>
                  </a:txBody>
                  <a:tcPr marL="73152" marR="54864" marT="18288" marB="18288" anchor="ctr">
                    <a:solidFill>
                      <a:srgbClr val="FFFFFF"/>
                    </a:solidFill>
                  </a:tcPr>
                </a:tc>
                <a:tc>
                  <a:txBody>
                    <a:bodyPr/>
                    <a:lstStyle/>
                    <a:p>
                      <a:pPr algn="ctr"/>
                      <a:r>
                        <a:rPr sz="1100" b="0">
                          <a:solidFill>
                            <a:srgbClr val="1C1C28"/>
                          </a:solidFill>
                          <a:latin typeface="Source Code Pro"/>
                        </a:rPr>
                        <a:t>121</a:t>
                      </a:r>
                    </a:p>
                  </a:txBody>
                  <a:tcPr marL="73152" marR="54864" marT="18288" marB="18288" anchor="ctr">
                    <a:solidFill>
                      <a:srgbClr val="FFFFFF"/>
                    </a:solidFill>
                  </a:tcPr>
                </a:tc>
                <a:tc>
                  <a:txBody>
                    <a:bodyPr/>
                    <a:lstStyle/>
                    <a:p>
                      <a:pPr algn="ctr"/>
                      <a:r>
                        <a:rPr sz="1100" b="0">
                          <a:solidFill>
                            <a:srgbClr val="1C1C28"/>
                          </a:solidFill>
                          <a:latin typeface="Source Code Pro"/>
                        </a:rPr>
                        <a:t>100</a:t>
                      </a:r>
                    </a:p>
                  </a:txBody>
                  <a:tcPr marL="73152" marR="54864" marT="18288" marB="18288" anchor="ctr">
                    <a:solidFill>
                      <a:srgbClr val="FFFFFF"/>
                    </a:solidFill>
                  </a:tcPr>
                </a:tc>
                <a:tc>
                  <a:txBody>
                    <a:bodyPr/>
                    <a:lstStyle/>
                    <a:p>
                      <a:pPr algn="ctr"/>
                      <a:r>
                        <a:rPr sz="1100" b="0">
                          <a:solidFill>
                            <a:srgbClr val="1C1C28"/>
                          </a:solidFill>
                          <a:latin typeface="Source Code Pro"/>
                        </a:rPr>
                        <a:t>20</a:t>
                      </a:r>
                    </a:p>
                  </a:txBody>
                  <a:tcPr marL="73152" marR="54864" marT="18288" marB="18288" anchor="ctr">
                    <a:solidFill>
                      <a:srgbClr val="FFFFFF"/>
                    </a:solidFill>
                  </a:tcPr>
                </a:tc>
                <a:tc>
                  <a:txBody>
                    <a:bodyPr/>
                    <a:lstStyle/>
                    <a:p>
                      <a:pPr algn="l"/>
                      <a:r>
                        <a:rPr sz="1100" b="0">
                          <a:solidFill>
                            <a:srgbClr val="1C1C28"/>
                          </a:solidFill>
                          <a:latin typeface="Source Sans 3"/>
                        </a:rPr>
                        <a:t>all three stages</a:t>
                      </a:r>
                    </a:p>
                  </a:txBody>
                  <a:tcPr marL="73152" marR="54864" marT="18288" marB="18288" anchor="ctr">
                    <a:solidFill>
                      <a:srgbClr val="FFFFFF"/>
                    </a:solidFill>
                  </a:tcPr>
                </a:tc>
              </a:tr>
              <a:tr h="457200">
                <a:tc>
                  <a:txBody>
                    <a:bodyPr/>
                    <a:lstStyle/>
                    <a:p>
                      <a:pPr algn="l"/>
                      <a:r>
                        <a:rPr sz="1100" b="1">
                          <a:solidFill>
                            <a:srgbClr val="000B34"/>
                          </a:solidFill>
                          <a:latin typeface="Source Sans 3"/>
                        </a:rPr>
                        <a:t>Wellbeing &amp; health</a:t>
                      </a:r>
                    </a:p>
                  </a:txBody>
                  <a:tcPr marL="73152" marR="54864" marT="18288" marB="18288" anchor="ctr">
                    <a:solidFill>
                      <a:srgbClr val="FFFFFF"/>
                    </a:solidFill>
                  </a:tcPr>
                </a:tc>
                <a:tc>
                  <a:txBody>
                    <a:bodyPr/>
                    <a:lstStyle/>
                    <a:p>
                      <a:pPr algn="ctr"/>
                      <a:r>
                        <a:rPr sz="1100" b="0">
                          <a:solidFill>
                            <a:srgbClr val="1C1C28"/>
                          </a:solidFill>
                          <a:latin typeface="Source Code Pro"/>
                        </a:rPr>
                        <a:t>17</a:t>
                      </a:r>
                    </a:p>
                  </a:txBody>
                  <a:tcPr marL="73152" marR="54864" marT="18288" marB="18288" anchor="ctr">
                    <a:solidFill>
                      <a:srgbClr val="FFFFFF"/>
                    </a:solidFill>
                  </a:tcPr>
                </a:tc>
                <a:tc>
                  <a:txBody>
                    <a:bodyPr/>
                    <a:lstStyle/>
                    <a:p>
                      <a:pPr algn="ctr"/>
                      <a:r>
                        <a:rPr sz="1100" b="0">
                          <a:solidFill>
                            <a:srgbClr val="1C1C28"/>
                          </a:solidFill>
                          <a:latin typeface="Source Code Pro"/>
                        </a:rPr>
                        <a:t>46</a:t>
                      </a:r>
                    </a:p>
                  </a:txBody>
                  <a:tcPr marL="73152" marR="54864" marT="18288" marB="18288" anchor="ctr">
                    <a:solidFill>
                      <a:srgbClr val="FFFFFF"/>
                    </a:solidFill>
                  </a:tcPr>
                </a:tc>
                <a:tc>
                  <a:txBody>
                    <a:bodyPr/>
                    <a:lstStyle/>
                    <a:p>
                      <a:pPr algn="ctr"/>
                      <a:r>
                        <a:rPr sz="1100" b="0">
                          <a:solidFill>
                            <a:srgbClr val="1C1C28"/>
                          </a:solidFill>
                          <a:latin typeface="Source Code Pro"/>
                        </a:rPr>
                        <a:t>17</a:t>
                      </a:r>
                    </a:p>
                  </a:txBody>
                  <a:tcPr marL="73152" marR="54864" marT="18288" marB="18288" anchor="ctr">
                    <a:solidFill>
                      <a:srgbClr val="FFFFFF"/>
                    </a:solidFill>
                  </a:tcPr>
                </a:tc>
                <a:tc>
                  <a:txBody>
                    <a:bodyPr/>
                    <a:lstStyle/>
                    <a:p>
                      <a:pPr algn="l"/>
                      <a:r>
                        <a:rPr sz="1100" b="0">
                          <a:solidFill>
                            <a:srgbClr val="1C1C28"/>
                          </a:solidFill>
                          <a:latin typeface="Source Sans 3"/>
                        </a:rPr>
                        <a:t>all three stages</a:t>
                      </a:r>
                    </a:p>
                  </a:txBody>
                  <a:tcPr marL="73152" marR="54864" marT="18288" marB="18288" anchor="ctr">
                    <a:solidFill>
                      <a:srgbClr val="FFFFFF"/>
                    </a:solidFill>
                  </a:tcPr>
                </a:tc>
              </a:tr>
              <a:tr h="457200">
                <a:tc>
                  <a:txBody>
                    <a:bodyPr/>
                    <a:lstStyle/>
                    <a:p>
                      <a:pPr algn="l"/>
                      <a:r>
                        <a:rPr sz="1100" b="1">
                          <a:solidFill>
                            <a:srgbClr val="000B34"/>
                          </a:solidFill>
                          <a:latin typeface="Source Sans 3"/>
                        </a:rPr>
                        <a:t>Research candidature</a:t>
                      </a:r>
                    </a:p>
                  </a:txBody>
                  <a:tcPr marL="73152" marR="54864" marT="18288" marB="18288" anchor="ctr">
                    <a:solidFill>
                      <a:srgbClr val="FFFFFF"/>
                    </a:solidFill>
                  </a:tcPr>
                </a:tc>
                <a:tc>
                  <a:txBody>
                    <a:bodyPr/>
                    <a:lstStyle/>
                    <a:p>
                      <a:pPr algn="ctr"/>
                      <a:r>
                        <a:rPr sz="1100" b="0">
                          <a:solidFill>
                            <a:srgbClr val="1C1C28"/>
                          </a:solidFill>
                          <a:latin typeface="Source Code Pro"/>
                        </a:rPr>
                        <a:t>1</a:t>
                      </a:r>
                    </a:p>
                  </a:txBody>
                  <a:tcPr marL="73152" marR="54864" marT="18288" marB="18288" anchor="ctr">
                    <a:solidFill>
                      <a:srgbClr val="FFFFFF"/>
                    </a:solidFill>
                  </a:tcPr>
                </a:tc>
                <a:tc>
                  <a:txBody>
                    <a:bodyPr/>
                    <a:lstStyle/>
                    <a:p>
                      <a:pPr algn="ctr"/>
                      <a:r>
                        <a:rPr sz="1100" b="0">
                          <a:solidFill>
                            <a:srgbClr val="1C1C28"/>
                          </a:solidFill>
                          <a:latin typeface="Source Code Pro"/>
                        </a:rPr>
                        <a:t>192</a:t>
                      </a:r>
                    </a:p>
                  </a:txBody>
                  <a:tcPr marL="73152" marR="54864" marT="18288" marB="18288" anchor="ctr">
                    <a:solidFill>
                      <a:srgbClr val="FFFFFF"/>
                    </a:solidFill>
                  </a:tcPr>
                </a:tc>
                <a:tc>
                  <a:txBody>
                    <a:bodyPr/>
                    <a:lstStyle/>
                    <a:p>
                      <a:pPr algn="ctr"/>
                      <a:r>
                        <a:rPr sz="1100" b="0">
                          <a:solidFill>
                            <a:srgbClr val="1C1C28"/>
                          </a:solidFill>
                          <a:latin typeface="Source Code Pro"/>
                        </a:rPr>
                        <a:t>1</a:t>
                      </a:r>
                    </a:p>
                  </a:txBody>
                  <a:tcPr marL="73152" marR="54864" marT="18288" marB="18288" anchor="ctr">
                    <a:solidFill>
                      <a:srgbClr val="FFFFFF"/>
                    </a:solidFill>
                  </a:tcPr>
                </a:tc>
                <a:tc>
                  <a:txBody>
                    <a:bodyPr/>
                    <a:lstStyle/>
                    <a:p>
                      <a:pPr algn="l"/>
                      <a:r>
                        <a:rPr sz="1100" b="0">
                          <a:solidFill>
                            <a:srgbClr val="1C1C28"/>
                          </a:solidFill>
                          <a:latin typeface="Source Sans 3"/>
                        </a:rPr>
                        <a:t>current only</a:t>
                      </a:r>
                    </a:p>
                  </a:txBody>
                  <a:tcPr marL="73152" marR="54864" marT="18288" marB="18288" anchor="ctr">
                    <a:solidFill>
                      <a:srgbClr val="FFFFFF"/>
                    </a:solidFill>
                  </a:tcPr>
                </a:tc>
              </a:tr>
              <a:tr h="457200">
                <a:tc>
                  <a:txBody>
                    <a:bodyPr/>
                    <a:lstStyle/>
                    <a:p>
                      <a:pPr algn="l"/>
                      <a:r>
                        <a:rPr sz="1100" b="1">
                          <a:solidFill>
                            <a:srgbClr val="000B34"/>
                          </a:solidFill>
                          <a:latin typeface="Source Sans 3"/>
                        </a:rPr>
                        <a:t>Placements &amp; WIL</a:t>
                      </a:r>
                    </a:p>
                  </a:txBody>
                  <a:tcPr marL="73152" marR="54864" marT="18288" marB="18288" anchor="ctr">
                    <a:solidFill>
                      <a:srgbClr val="FFFFFF"/>
                    </a:solidFill>
                  </a:tcPr>
                </a:tc>
                <a:tc>
                  <a:txBody>
                    <a:bodyPr/>
                    <a:lstStyle/>
                    <a:p>
                      <a:pPr algn="ctr"/>
                      <a:r>
                        <a:rPr sz="1100" b="0">
                          <a:solidFill>
                            <a:srgbClr val="1C1C28"/>
                          </a:solidFill>
                          <a:latin typeface="Source Code Pro"/>
                        </a:rPr>
                        <a:t>10</a:t>
                      </a:r>
                    </a:p>
                  </a:txBody>
                  <a:tcPr marL="73152" marR="54864" marT="18288" marB="18288" anchor="ctr">
                    <a:solidFill>
                      <a:srgbClr val="FFFFFF"/>
                    </a:solidFill>
                  </a:tcPr>
                </a:tc>
                <a:tc>
                  <a:txBody>
                    <a:bodyPr/>
                    <a:lstStyle/>
                    <a:p>
                      <a:pPr algn="ctr"/>
                      <a:r>
                        <a:rPr sz="1100" b="0">
                          <a:solidFill>
                            <a:srgbClr val="1C1C28"/>
                          </a:solidFill>
                          <a:latin typeface="Source Code Pro"/>
                        </a:rPr>
                        <a:t>230</a:t>
                      </a:r>
                    </a:p>
                  </a:txBody>
                  <a:tcPr marL="73152" marR="54864" marT="18288" marB="18288" anchor="ctr">
                    <a:solidFill>
                      <a:srgbClr val="FFFFFF"/>
                    </a:solidFill>
                  </a:tcPr>
                </a:tc>
                <a:tc>
                  <a:txBody>
                    <a:bodyPr/>
                    <a:lstStyle/>
                    <a:p>
                      <a:pPr algn="ctr"/>
                      <a:r>
                        <a:rPr sz="1100" b="0">
                          <a:solidFill>
                            <a:srgbClr val="1C1C28"/>
                          </a:solidFill>
                          <a:latin typeface="Source Code Pro"/>
                        </a:rPr>
                        <a:t>0</a:t>
                      </a:r>
                    </a:p>
                  </a:txBody>
                  <a:tcPr marL="73152" marR="54864" marT="18288" marB="18288" anchor="ctr">
                    <a:solidFill>
                      <a:srgbClr val="FFFFFF"/>
                    </a:solidFill>
                  </a:tcPr>
                </a:tc>
                <a:tc>
                  <a:txBody>
                    <a:bodyPr/>
                    <a:lstStyle/>
                    <a:p>
                      <a:pPr algn="l"/>
                      <a:r>
                        <a:rPr sz="1100" b="0">
                          <a:solidFill>
                            <a:srgbClr val="1C1C28"/>
                          </a:solidFill>
                          <a:latin typeface="Source Sans 3"/>
                        </a:rPr>
                        <a:t>current only (faculty-owned)</a:t>
                      </a:r>
                    </a:p>
                  </a:txBody>
                  <a:tcPr marL="73152" marR="54864" marT="18288" marB="18288" anchor="ctr">
                    <a:solidFill>
                      <a:srgbClr val="FFFFFF"/>
                    </a:solidFill>
                  </a:tcPr>
                </a:tc>
              </a:tr>
            </a:tbl>
          </a:graphicData>
        </a:graphic>
      </p:graphicFrame>
      <p:sp>
        <p:nvSpPr>
          <p:cNvPr id="8" name="TextBox 7"/>
          <p:cNvSpPr txBox="1"/>
          <p:nvPr/>
        </p:nvSpPr>
        <p:spPr>
          <a:xfrm>
            <a:off x="566928" y="5733288"/>
            <a:ext cx="10881360" cy="274320"/>
          </a:xfrm>
          <a:prstGeom prst="rect">
            <a:avLst/>
          </a:prstGeom>
          <a:noFill/>
        </p:spPr>
        <p:txBody>
          <a:bodyPr wrap="square" anchor="t" lIns="0" rIns="0" tIns="0" bIns="0">
            <a:spAutoFit/>
          </a:bodyPr>
          <a:lstStyle/>
          <a:p>
            <a:pPr algn="l"/>
            <a:r>
              <a:rPr sz="900" b="0" i="1">
                <a:solidFill>
                  <a:srgbClr val="5B5B6B"/>
                </a:solidFill>
                <a:latin typeface="Source Code Pro"/>
              </a:rPr>
              <a:t>Source: analysis/lifecycle-cross-corpus.md · data/clean/cross_corpus_lifecycle.py (reproducible). Careers is additionally authored at ~10 distinct locations across 4 domains.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TotalTime>
  <Words>2600</Words>
  <Application>Microsoft Macintosh PowerPoint</Application>
  <PresentationFormat>Widescreen</PresentationFormat>
  <Paragraphs>322</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Fraunces</vt:lpstr>
      <vt:lpstr>Source Code Pro</vt:lpstr>
      <vt:lpstr>Source Sans 3</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David Mulholland</cp:lastModifiedBy>
  <cp:revision>2</cp:revision>
  <dcterms:created xsi:type="dcterms:W3CDTF">2026-06-21T06:24:57Z</dcterms:created>
  <dcterms:modified xsi:type="dcterms:W3CDTF">2026-06-21T07:58:56Z</dcterms:modified>
</cp:coreProperties>
</file>