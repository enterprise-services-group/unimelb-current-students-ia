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9" r:id="rId20"/>
    <p:sldId id="270" r:id="rId21"/>
    <p:sldId id="261" r:id="rId7"/>
    <p:sldId id="262" r:id="rId8"/>
    <p:sldId id="263" r:id="rId9"/>
    <p:sldId id="264" r:id="rId10"/>
    <p:sldId id="265" r:id="rId11"/>
    <p:sldId id="266" r:id="rId12"/>
    <p:sldId id="267" r:id="rId13"/>
    <p:sldId id="268" r:id="rId14"/>
    <p:sldId id="271"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25"/>
    <p:restoredTop sz="94610"/>
  </p:normalViewPr>
  <p:slideViewPr>
    <p:cSldViewPr snapToGrid="0" snapToObjects="1">
      <p:cViewPr>
        <p:scale>
          <a:sx n="120" d="100"/>
          <a:sy n="120" d="100"/>
        </p:scale>
        <p:origin x="464"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183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discussion, not a decision meeting (~45 min). Frame: we're aligning on where the University's web experiences overlap across our sites, what's already underway, and what we might explore together. Make clear up front: no recommendations today — the data is a guide, the questions are the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room in the user's view (~4 min). The journey is illustrative — it shows the current-student view, but the same crossing-between-sites experience applies to anyone moving through University web content. Ask the opening question and capture early themes. We'll go deeper on specific areas shortly.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Scale-setting and method (~3 min). Explain the crawl in one sentence: an automated browser, every public page, tagged by topic. The four stat cards cover all four parts of the estate. The four themes below are the main overlaps the data surfaced. Don't dwell — the discussion slides go deeper. We're not grading anyone's site today.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overlap neutrally (~2 min): not inherently good or bad. Four circles because four parts of the estate share users and content — Current Students Website, faculty sites, further study (study.unimelb) and alumni. This is the lens for everything that follows — 'is the overlap intentional, and does it help or hinder the user?' Keep the room out of solution mode for now.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diagram (~5 min). The key insight is the faculty band spanning all three phases. Link flows (bottom section) show what the June 2026 crawl found: three active connections (faculty→students.unimelb 4,629 links; faculty→study 529 links; study→students.unimelb 273 links) and two completely broken connections (students.unimelb→alumni 0 links; faculty→alumni 0 links despite 12 mentoring streams existing on alumni.unimelb). The gap labels between core boxes show study→students.unimelb (273 links, active) and students→alumni (0 links, broken). Invite corrections to the picture — 'does this match what you see from your site's perspective?'  CAVEAT on the alumni '0 links': the crawl recorded outbound links at HOST level only (no paths), and alumni content lives on www.unimelb.edu.au/alumni — a host faculty pages do link to. So 'no direct links' means zero links to the alumni.unimelb.edu.au host; confirming faculty pages never link to /alumni needs a path-level re-crawl. Mentoring streams = 12 (verified).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Data-driven discussion (~15 min). Each finding on the right is from the June 2026 crawl — use them as conversation starters, not a rigid sequence. For each: is this the right picture? What explains it? Is someone already working on it? Capture themes on the next slide. Keep out of solution mode — we're mapping the territory, not resolving it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for current student journey topics. Five data-backed findings from the June 2026 crawl across the current-student estate. For each: is this the right picture? Is the split intentional? Does it serve or confuse students? Keep out of solution mode — map the territory first.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'what's already underway in your area that touches these overlaps?' Pre-populate any known initiatives before the session. Goal: we don't want to invent solutions to problems someone else is already solving — connect first.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capture mode. Fill the four columns from everything raised: overlaps people agreed on, work already in flight, things worth exploring, and a name against each. This is the artefact we take away.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Land next steps as questions, not conclusions. Confirm who picks up what from the capture board, and how we'll stay aligned (e.g. a follow-up). Thank the room.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Pull up the next slide only if the room wants faculty-level specifics.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Per-faculty page counts by topic, from the current-students crawl. Schools (*) run their own sites. Use to answer 'how much does faculty X have for topic Y?' Bigger numbers = more content there, not better or worse.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 broader view of the estate across all four circles from the overlap diagram. All page counts are from the June 2026 crawl. See analysis/cross-site-overlap.md for full breakdown and verdicts.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F46"/>
        </a:solidFill>
        <a:effectLst/>
      </p:bgPr>
    </p:bg>
    <p:spTree>
      <p:nvGrpSpPr>
        <p:cNvPr id="1" name=""/>
        <p:cNvGrpSpPr/>
        <p:nvPr/>
      </p:nvGrpSpPr>
      <p:grpSpPr>
        <a:xfrm>
          <a:off x="0" y="0"/>
          <a:ext cx="0" cy="0"/>
          <a:chOff x="0" y="0"/>
          <a:chExt cx="0" cy="0"/>
        </a:xfrm>
      </p:grpSpPr>
      <p:pic>
        <p:nvPicPr>
          <p:cNvPr id="2" name="Image 0" descr="/Users/djmulholland/Documents/Claude/projects/unimelb-current-students-ia/discussion-deck/assets/logo-white.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8640" y="502920"/>
            <a:ext cx="2011680" cy="632143"/>
          </a:xfrm>
          <a:prstGeom prst="rect">
            <a:avLst/>
          </a:prstGeom>
        </p:spPr>
      </p:pic>
      <p:sp>
        <p:nvSpPr>
          <p:cNvPr id="3" name="Shape 0"/>
          <p:cNvSpPr/>
          <p:nvPr/>
        </p:nvSpPr>
        <p:spPr>
          <a:xfrm>
            <a:off x="566928" y="2286000"/>
            <a:ext cx="292608" cy="292608"/>
          </a:xfrm>
          <a:prstGeom prst="rect">
            <a:avLst/>
          </a:prstGeom>
          <a:solidFill>
            <a:srgbClr val="46C8F0"/>
          </a:solidFill>
          <a:ln/>
        </p:spPr>
        <p:txBody>
          <a:bodyPr/>
          <a:lstStyle/>
          <a:p>
            <a:endParaRPr lang="en-AU"/>
          </a:p>
        </p:txBody>
      </p:sp>
      <p:sp>
        <p:nvSpPr>
          <p:cNvPr id="4" name="Text 1"/>
          <p:cNvSpPr/>
          <p:nvPr/>
        </p:nvSpPr>
        <p:spPr>
          <a:xfrm>
            <a:off x="987552" y="2267712"/>
            <a:ext cx="9144000" cy="347472"/>
          </a:xfrm>
          <a:prstGeom prst="rect">
            <a:avLst/>
          </a:prstGeom>
          <a:noFill/>
          <a:ln/>
        </p:spPr>
        <p:txBody>
          <a:bodyPr wrap="square" lIns="0" tIns="0" rIns="0" bIns="0" rtlCol="0" anchor="ctr"/>
          <a:lstStyle/>
          <a:p>
            <a:pPr marL="0" indent="0">
              <a:buNone/>
            </a:pPr>
            <a:r>
              <a:rPr lang="en-US" sz="1200" b="1" kern="0" spc="300" dirty="0">
                <a:solidFill>
                  <a:srgbClr val="46C8F0"/>
                </a:solidFill>
                <a:latin typeface="Source Code Pro" pitchFamily="34" charset="0"/>
                <a:ea typeface="Source Code Pro" pitchFamily="34" charset="-122"/>
                <a:cs typeface="Source Code Pro" pitchFamily="34" charset="-120"/>
              </a:rPr>
              <a:t>DIGITAL EXPERIENCE · ALIGNMENT DISCUSSION</a:t>
            </a:r>
            <a:endParaRPr lang="en-US" sz="1200" dirty="0"/>
          </a:p>
        </p:txBody>
      </p:sp>
      <p:sp>
        <p:nvSpPr>
          <p:cNvPr id="5" name="Text 2"/>
          <p:cNvSpPr/>
          <p:nvPr/>
        </p:nvSpPr>
        <p:spPr>
          <a:xfrm>
            <a:off x="548640" y="2743200"/>
            <a:ext cx="10972800" cy="1097280"/>
          </a:xfrm>
          <a:prstGeom prst="rect">
            <a:avLst/>
          </a:prstGeom>
          <a:noFill/>
          <a:ln/>
        </p:spPr>
        <p:txBody>
          <a:bodyPr wrap="square" lIns="0" tIns="0" rIns="0" bIns="0" rtlCol="0" anchor="ctr"/>
          <a:lstStyle/>
          <a:p>
            <a:pPr marL="0" indent="0">
              <a:buNone/>
            </a:pPr>
            <a:r>
              <a:rPr lang="en-US" sz="4400" b="1" dirty="0">
                <a:solidFill>
                  <a:srgbClr val="FFFFFF"/>
                </a:solidFill>
                <a:latin typeface="Fraunces" pitchFamily="34" charset="0"/>
                <a:ea typeface="Fraunces" pitchFamily="34" charset="-122"/>
                <a:cs typeface="Fraunces" pitchFamily="34" charset="-120"/>
              </a:rPr>
              <a:t>The end-to-end student experience</a:t>
            </a:r>
            <a:endParaRPr lang="en-US" sz="4400" dirty="0"/>
          </a:p>
        </p:txBody>
      </p:sp>
      <p:sp>
        <p:nvSpPr>
          <p:cNvPr id="6" name="Text 3"/>
          <p:cNvSpPr/>
          <p:nvPr/>
        </p:nvSpPr>
        <p:spPr>
          <a:xfrm>
            <a:off x="576072" y="3977640"/>
            <a:ext cx="9692640" cy="640080"/>
          </a:xfrm>
          <a:prstGeom prst="rect">
            <a:avLst/>
          </a:prstGeom>
          <a:noFill/>
          <a:ln/>
        </p:spPr>
        <p:txBody>
          <a:bodyPr wrap="square" lIns="0" tIns="0" rIns="0" bIns="0" rtlCol="0" anchor="ctr"/>
          <a:lstStyle/>
          <a:p>
            <a:pPr marL="0" indent="0">
              <a:buNone/>
            </a:pPr>
            <a:r>
              <a:rPr lang="en-US" sz="1800" dirty="0">
                <a:solidFill>
                  <a:srgbClr val="C9CDE6"/>
                </a:solidFill>
                <a:latin typeface="Source Sans 3" pitchFamily="34" charset="0"/>
                <a:ea typeface="Source Sans 3" pitchFamily="34" charset="-122"/>
                <a:cs typeface="Source Sans 3" pitchFamily="34" charset="-120"/>
              </a:rPr>
              <a:t>An alignment conversation about overlaps across the University's web estate</a:t>
            </a:r>
            <a:endParaRPr lang="en-US" sz="1800" dirty="0"/>
          </a:p>
        </p:txBody>
      </p:sp>
      <p:sp>
        <p:nvSpPr>
          <p:cNvPr id="7" name="Text 4"/>
          <p:cNvSpPr/>
          <p:nvPr/>
        </p:nvSpPr>
        <p:spPr>
          <a:xfrm>
            <a:off x="576072" y="4663440"/>
            <a:ext cx="7315200" cy="365760"/>
          </a:xfrm>
          <a:prstGeom prst="rect">
            <a:avLst/>
          </a:prstGeom>
          <a:noFill/>
          <a:ln/>
        </p:spPr>
        <p:txBody>
          <a:bodyPr wrap="square" lIns="0" tIns="0" rIns="0" bIns="0" rtlCol="0" anchor="ctr"/>
          <a:lstStyle/>
          <a:p>
            <a:pPr marL="0" indent="0">
              <a:buNone/>
            </a:pPr>
            <a:r>
              <a:rPr lang="en-US" sz="1200" dirty="0">
                <a:solidFill>
                  <a:srgbClr val="AAB0D4"/>
                </a:solidFill>
                <a:latin typeface="Source Code Pro" pitchFamily="34" charset="0"/>
                <a:ea typeface="Source Code Pro" pitchFamily="34" charset="-122"/>
                <a:cs typeface="Source Code Pro" pitchFamily="34" charset="-120"/>
              </a:rPr>
              <a:t>For discussion · June 2026</a:t>
            </a:r>
            <a:endParaRPr lang="en-US" sz="1200" dirty="0"/>
          </a:p>
        </p:txBody>
      </p:sp>
      <p:sp>
        <p:nvSpPr>
          <p:cNvPr id="8" name="Text 5"/>
          <p:cNvSpPr/>
          <p:nvPr/>
        </p:nvSpPr>
        <p:spPr>
          <a:xfrm>
            <a:off x="576072" y="6126480"/>
            <a:ext cx="10607040" cy="548640"/>
          </a:xfrm>
          <a:prstGeom prst="rect">
            <a:avLst/>
          </a:prstGeom>
          <a:noFill/>
          <a:ln/>
        </p:spPr>
        <p:txBody>
          <a:bodyPr wrap="square" lIns="0" tIns="0" rIns="0" bIns="0" rtlCol="0" anchor="ctr"/>
          <a:lstStyle/>
          <a:p>
            <a:pPr marL="0" indent="0">
              <a:buNone/>
            </a:pPr>
            <a:r>
              <a:rPr lang="en-US" sz="950" i="1" dirty="0">
                <a:solidFill>
                  <a:srgbClr val="C9CDE6"/>
                </a:solidFill>
                <a:latin typeface="Source Sans 3" pitchFamily="34" charset="0"/>
                <a:ea typeface="Source Sans 3" pitchFamily="34" charset="-122"/>
                <a:cs typeface="Source Sans 3" pitchFamily="34" charset="-120"/>
              </a:rPr>
              <a:t>The University of Melbourne acknowledges the Traditional Owners of the unceded land on which we work, learn and live, and pays respect to their Elders, past and present, and to Indigenous Australians today.</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How users move across our websites</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2</a:t>
            </a:r>
            <a:endParaRPr lang="en-US" sz="900" dirty="0"/>
          </a:p>
        </p:txBody>
      </p:sp>
      <p:sp>
        <p:nvSpPr>
          <p:cNvPr id="6" name="Text 4"/>
          <p:cNvSpPr/>
          <p:nvPr/>
        </p:nvSpPr>
        <p:spPr>
          <a:xfrm>
            <a:off x="566928" y="1325880"/>
            <a:ext cx="10881360" cy="731520"/>
          </a:xfrm>
          <a:prstGeom prst="rect">
            <a:avLst/>
          </a:prstGeom>
          <a:noFill/>
          <a:ln/>
        </p:spPr>
        <p:txBody>
          <a:bodyPr wrap="square" lIns="0" tIns="0" rIns="0" bIns="0" rtlCol="0" anchor="ctr"/>
          <a:lstStyle/>
          <a:p>
            <a:pPr marL="0" indent="0">
              <a:lnSpc>
                <a:spcPct val="112000"/>
              </a:lnSpc>
              <a:buNone/>
            </a:pPr>
            <a:r>
              <a:rPr lang="en-US" sz="1600" dirty="0">
                <a:solidFill>
                  <a:srgbClr val="1C1C28"/>
                </a:solidFill>
                <a:latin typeface="Source Sans 3" pitchFamily="34" charset="0"/>
                <a:ea typeface="Source Sans 3" pitchFamily="34" charset="-122"/>
                <a:cs typeface="Source Sans 3" pitchFamily="34" charset="-120"/>
              </a:rPr>
              <a:t>Our websites are experienced as one University — not as separate sites. Users cross between them as they try to do things, and the seams show.</a:t>
            </a:r>
            <a:endParaRPr lang="en-US" sz="1600" dirty="0"/>
          </a:p>
        </p:txBody>
      </p:sp>
      <p:sp>
        <p:nvSpPr>
          <p:cNvPr id="7" name="Shape 5"/>
          <p:cNvSpPr/>
          <p:nvPr/>
        </p:nvSpPr>
        <p:spPr>
          <a:xfrm>
            <a:off x="960120" y="3063240"/>
            <a:ext cx="10012680" cy="0"/>
          </a:xfrm>
          <a:prstGeom prst="line">
            <a:avLst/>
          </a:prstGeom>
          <a:noFill/>
          <a:ln w="25400">
            <a:solidFill>
              <a:srgbClr val="46C8F0"/>
            </a:solidFill>
            <a:prstDash val="solid"/>
          </a:ln>
        </p:spPr>
        <p:txBody>
          <a:bodyPr/>
          <a:lstStyle/>
          <a:p>
            <a:endParaRPr lang="en-AU"/>
          </a:p>
        </p:txBody>
      </p:sp>
      <p:sp>
        <p:nvSpPr>
          <p:cNvPr id="8" name="Shape 6"/>
          <p:cNvSpPr/>
          <p:nvPr/>
        </p:nvSpPr>
        <p:spPr>
          <a:xfrm>
            <a:off x="78638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9" name="Text 7"/>
          <p:cNvSpPr/>
          <p:nvPr/>
        </p:nvSpPr>
        <p:spPr>
          <a:xfrm>
            <a:off x="78638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1</a:t>
            </a:r>
            <a:endParaRPr lang="en-US" sz="1100" dirty="0"/>
          </a:p>
        </p:txBody>
      </p:sp>
      <p:sp>
        <p:nvSpPr>
          <p:cNvPr id="10" name="Text 8"/>
          <p:cNvSpPr/>
          <p:nvPr/>
        </p:nvSpPr>
        <p:spPr>
          <a:xfrm>
            <a:off x="9144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Orientate</a:t>
            </a:r>
            <a:endParaRPr lang="en-US" sz="1100" dirty="0"/>
          </a:p>
        </p:txBody>
      </p:sp>
      <p:sp>
        <p:nvSpPr>
          <p:cNvPr id="11" name="Shape 9"/>
          <p:cNvSpPr/>
          <p:nvPr/>
        </p:nvSpPr>
        <p:spPr>
          <a:xfrm>
            <a:off x="245516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12" name="Text 10"/>
          <p:cNvSpPr/>
          <p:nvPr/>
        </p:nvSpPr>
        <p:spPr>
          <a:xfrm>
            <a:off x="245516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2</a:t>
            </a:r>
            <a:endParaRPr lang="en-US" sz="1100" dirty="0"/>
          </a:p>
        </p:txBody>
      </p:sp>
      <p:sp>
        <p:nvSpPr>
          <p:cNvPr id="13" name="Text 11"/>
          <p:cNvSpPr/>
          <p:nvPr/>
        </p:nvSpPr>
        <p:spPr>
          <a:xfrm>
            <a:off x="176022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Plan my course</a:t>
            </a:r>
            <a:endParaRPr lang="en-US" sz="1100" dirty="0"/>
          </a:p>
        </p:txBody>
      </p:sp>
      <p:sp>
        <p:nvSpPr>
          <p:cNvPr id="14" name="Shape 12"/>
          <p:cNvSpPr/>
          <p:nvPr/>
        </p:nvSpPr>
        <p:spPr>
          <a:xfrm>
            <a:off x="412394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15" name="Text 13"/>
          <p:cNvSpPr/>
          <p:nvPr/>
        </p:nvSpPr>
        <p:spPr>
          <a:xfrm>
            <a:off x="412394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3</a:t>
            </a:r>
            <a:endParaRPr lang="en-US" sz="1100" dirty="0"/>
          </a:p>
        </p:txBody>
      </p:sp>
      <p:sp>
        <p:nvSpPr>
          <p:cNvPr id="16" name="Text 14"/>
          <p:cNvSpPr/>
          <p:nvPr/>
        </p:nvSpPr>
        <p:spPr>
          <a:xfrm>
            <a:off x="342900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Manage study</a:t>
            </a:r>
            <a:endParaRPr lang="en-US" sz="1100" dirty="0"/>
          </a:p>
        </p:txBody>
      </p:sp>
      <p:sp>
        <p:nvSpPr>
          <p:cNvPr id="17" name="Shape 15"/>
          <p:cNvSpPr/>
          <p:nvPr/>
        </p:nvSpPr>
        <p:spPr>
          <a:xfrm>
            <a:off x="579272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18" name="Text 16"/>
          <p:cNvSpPr/>
          <p:nvPr/>
        </p:nvSpPr>
        <p:spPr>
          <a:xfrm>
            <a:off x="579272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4</a:t>
            </a:r>
            <a:endParaRPr lang="en-US" sz="1100" dirty="0"/>
          </a:p>
        </p:txBody>
      </p:sp>
      <p:sp>
        <p:nvSpPr>
          <p:cNvPr id="19" name="Text 17"/>
          <p:cNvSpPr/>
          <p:nvPr/>
        </p:nvSpPr>
        <p:spPr>
          <a:xfrm>
            <a:off x="509778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Get experience</a:t>
            </a:r>
            <a:endParaRPr lang="en-US" sz="1100" dirty="0"/>
          </a:p>
        </p:txBody>
      </p:sp>
      <p:sp>
        <p:nvSpPr>
          <p:cNvPr id="20" name="Shape 18"/>
          <p:cNvSpPr/>
          <p:nvPr/>
        </p:nvSpPr>
        <p:spPr>
          <a:xfrm>
            <a:off x="746150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21" name="Text 19"/>
          <p:cNvSpPr/>
          <p:nvPr/>
        </p:nvSpPr>
        <p:spPr>
          <a:xfrm>
            <a:off x="746150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5</a:t>
            </a:r>
            <a:endParaRPr lang="en-US" sz="1100" dirty="0"/>
          </a:p>
        </p:txBody>
      </p:sp>
      <p:sp>
        <p:nvSpPr>
          <p:cNvPr id="22" name="Text 20"/>
          <p:cNvSpPr/>
          <p:nvPr/>
        </p:nvSpPr>
        <p:spPr>
          <a:xfrm>
            <a:off x="676656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Build my career</a:t>
            </a:r>
            <a:endParaRPr lang="en-US" sz="1100" dirty="0"/>
          </a:p>
        </p:txBody>
      </p:sp>
      <p:sp>
        <p:nvSpPr>
          <p:cNvPr id="23" name="Shape 21"/>
          <p:cNvSpPr/>
          <p:nvPr/>
        </p:nvSpPr>
        <p:spPr>
          <a:xfrm>
            <a:off x="913028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24" name="Text 22"/>
          <p:cNvSpPr/>
          <p:nvPr/>
        </p:nvSpPr>
        <p:spPr>
          <a:xfrm>
            <a:off x="913028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6</a:t>
            </a:r>
            <a:endParaRPr lang="en-US" sz="1100" dirty="0"/>
          </a:p>
        </p:txBody>
      </p:sp>
      <p:sp>
        <p:nvSpPr>
          <p:cNvPr id="25" name="Text 23"/>
          <p:cNvSpPr/>
          <p:nvPr/>
        </p:nvSpPr>
        <p:spPr>
          <a:xfrm>
            <a:off x="843534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Get support</a:t>
            </a:r>
            <a:endParaRPr lang="en-US" sz="1100" dirty="0"/>
          </a:p>
        </p:txBody>
      </p:sp>
      <p:sp>
        <p:nvSpPr>
          <p:cNvPr id="26" name="Shape 24"/>
          <p:cNvSpPr/>
          <p:nvPr/>
        </p:nvSpPr>
        <p:spPr>
          <a:xfrm>
            <a:off x="10799064" y="2889504"/>
            <a:ext cx="347472" cy="347472"/>
          </a:xfrm>
          <a:prstGeom prst="ellipse">
            <a:avLst/>
          </a:prstGeom>
          <a:solidFill>
            <a:srgbClr val="000F46"/>
          </a:solidFill>
          <a:ln w="19050">
            <a:solidFill>
              <a:srgbClr val="FFFFFF"/>
            </a:solidFill>
            <a:prstDash val="solid"/>
          </a:ln>
        </p:spPr>
        <p:txBody>
          <a:bodyPr/>
          <a:lstStyle/>
          <a:p>
            <a:endParaRPr lang="en-AU"/>
          </a:p>
        </p:txBody>
      </p:sp>
      <p:sp>
        <p:nvSpPr>
          <p:cNvPr id="27" name="Text 25"/>
          <p:cNvSpPr/>
          <p:nvPr/>
        </p:nvSpPr>
        <p:spPr>
          <a:xfrm>
            <a:off x="10799064" y="2889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7</a:t>
            </a:r>
            <a:endParaRPr lang="en-US" sz="1100" dirty="0"/>
          </a:p>
        </p:txBody>
      </p:sp>
      <p:sp>
        <p:nvSpPr>
          <p:cNvPr id="28" name="Text 26"/>
          <p:cNvSpPr/>
          <p:nvPr/>
        </p:nvSpPr>
        <p:spPr>
          <a:xfrm>
            <a:off x="10104120" y="3319272"/>
            <a:ext cx="1737360" cy="640080"/>
          </a:xfrm>
          <a:prstGeom prst="rect">
            <a:avLst/>
          </a:prstGeom>
          <a:noFill/>
          <a:ln/>
        </p:spPr>
        <p:txBody>
          <a:bodyPr wrap="square" lIns="0" tIns="0" rIns="0" bIns="0" rtlCol="0" anchor="t"/>
          <a:lstStyle/>
          <a:p>
            <a:pPr marL="0" indent="0" algn="ctr">
              <a:buNone/>
            </a:pPr>
            <a:r>
              <a:rPr lang="en-US" sz="1100" b="1" dirty="0">
                <a:solidFill>
                  <a:srgbClr val="000B34"/>
                </a:solidFill>
                <a:latin typeface="Source Sans 3" pitchFamily="34" charset="0"/>
                <a:ea typeface="Source Sans 3" pitchFamily="34" charset="-122"/>
                <a:cs typeface="Source Sans 3" pitchFamily="34" charset="-120"/>
              </a:rPr>
              <a:t>Finish &amp; graduate</a:t>
            </a:r>
            <a:endParaRPr lang="en-US" sz="1100" dirty="0"/>
          </a:p>
        </p:txBody>
      </p:sp>
      <p:sp>
        <p:nvSpPr>
          <p:cNvPr id="29" name="Text 27"/>
          <p:cNvSpPr/>
          <p:nvPr/>
        </p:nvSpPr>
        <p:spPr>
          <a:xfrm>
            <a:off x="566928" y="4096512"/>
            <a:ext cx="10881360" cy="384048"/>
          </a:xfrm>
          <a:prstGeom prst="rect">
            <a:avLst/>
          </a:prstGeom>
          <a:noFill/>
          <a:ln/>
        </p:spPr>
        <p:txBody>
          <a:bodyPr wrap="square" lIns="0" tIns="0" rIns="0" bIns="0" rtlCol="0" anchor="ctr"/>
          <a:lstStyle/>
          <a:p>
            <a:pPr marL="0" indent="0" algn="ctr">
              <a:buNone/>
            </a:pPr>
            <a:r>
              <a:rPr lang="en-US" sz="1000" i="1" dirty="0">
                <a:solidFill>
                  <a:srgbClr val="5B5B6B"/>
                </a:solidFill>
                <a:latin typeface="Source Code Pro" pitchFamily="34" charset="0"/>
                <a:ea typeface="Source Code Pro" pitchFamily="34" charset="-122"/>
                <a:cs typeface="Source Code Pro" pitchFamily="34" charset="-120"/>
              </a:rPr>
              <a:t>Shown for a current student — the same pattern of crossing between sites applies across further study, alumni and faculty experiences.</a:t>
            </a:r>
            <a:endParaRPr lang="en-US" sz="1000" dirty="0"/>
          </a:p>
        </p:txBody>
      </p:sp>
      <p:sp>
        <p:nvSpPr>
          <p:cNvPr id="30" name="Shape 28"/>
          <p:cNvSpPr/>
          <p:nvPr/>
        </p:nvSpPr>
        <p:spPr>
          <a:xfrm>
            <a:off x="566928" y="4617720"/>
            <a:ext cx="10881360" cy="960120"/>
          </a:xfrm>
          <a:prstGeom prst="rect">
            <a:avLst/>
          </a:prstGeom>
          <a:solidFill>
            <a:srgbClr val="EAF6FB"/>
          </a:solidFill>
          <a:ln/>
        </p:spPr>
        <p:txBody>
          <a:bodyPr/>
          <a:lstStyle/>
          <a:p>
            <a:endParaRPr lang="en-AU"/>
          </a:p>
        </p:txBody>
      </p:sp>
      <p:sp>
        <p:nvSpPr>
          <p:cNvPr id="31" name="Shape 29"/>
          <p:cNvSpPr/>
          <p:nvPr/>
        </p:nvSpPr>
        <p:spPr>
          <a:xfrm>
            <a:off x="566928" y="4617720"/>
            <a:ext cx="91440" cy="960120"/>
          </a:xfrm>
          <a:prstGeom prst="rect">
            <a:avLst/>
          </a:prstGeom>
          <a:solidFill>
            <a:srgbClr val="46C8F0"/>
          </a:solidFill>
          <a:ln/>
        </p:spPr>
        <p:txBody>
          <a:bodyPr/>
          <a:lstStyle/>
          <a:p>
            <a:endParaRPr lang="en-AU"/>
          </a:p>
        </p:txBody>
      </p:sp>
      <p:sp>
        <p:nvSpPr>
          <p:cNvPr id="32" name="Text 30"/>
          <p:cNvSpPr/>
          <p:nvPr/>
        </p:nvSpPr>
        <p:spPr>
          <a:xfrm>
            <a:off x="868680" y="4617720"/>
            <a:ext cx="10332720" cy="960120"/>
          </a:xfrm>
          <a:prstGeom prst="rect">
            <a:avLst/>
          </a:prstGeom>
          <a:noFill/>
          <a:ln/>
        </p:spPr>
        <p:txBody>
          <a:bodyPr wrap="square" lIns="0" tIns="0" rIns="0" bIns="0" rtlCol="0" anchor="ctr"/>
          <a:lstStyle/>
          <a:p>
            <a:pPr marL="0" indent="0">
              <a:buNone/>
            </a:pPr>
            <a:r>
              <a:rPr lang="en-US" sz="1500" b="1" dirty="0">
                <a:solidFill>
                  <a:srgbClr val="000F46"/>
                </a:solidFill>
                <a:latin typeface="Source Sans 3" pitchFamily="34" charset="0"/>
                <a:ea typeface="Source Sans 3" pitchFamily="34" charset="-122"/>
                <a:cs typeface="Source Sans 3" pitchFamily="34" charset="-120"/>
              </a:rPr>
              <a:t>To discuss:  </a:t>
            </a:r>
            <a:r>
              <a:rPr lang="en-US" sz="1500" dirty="0">
                <a:solidFill>
                  <a:srgbClr val="000B34"/>
                </a:solidFill>
                <a:latin typeface="Source Sans 3" pitchFamily="34" charset="0"/>
                <a:ea typeface="Source Sans 3" pitchFamily="34" charset="-122"/>
                <a:cs typeface="Source Sans 3" pitchFamily="34" charset="-120"/>
              </a:rPr>
              <a:t>Where do users cross between websites most — and where does that crossing help or hinder them?</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The shared landscape</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3</a:t>
            </a:r>
            <a:endParaRPr lang="en-US" sz="900" dirty="0"/>
          </a:p>
        </p:txBody>
      </p:sp>
      <p:sp>
        <p:nvSpPr>
          <p:cNvPr id="6" name="Text 4"/>
          <p:cNvSpPr/>
          <p:nvPr/>
        </p:nvSpPr>
        <p:spPr>
          <a:xfrm>
            <a:off x="566928" y="1170000"/>
            <a:ext cx="10881360" cy="749808"/>
          </a:xfrm>
          <a:prstGeom prst="rect">
            <a:avLst/>
          </a:prstGeom>
          <a:noFill/>
          <a:ln/>
        </p:spPr>
        <p:txBody>
          <a:bodyPr wrap="square" lIns="0" tIns="0" rIns="0" bIns="0" rtlCol="0" anchor="ctr"/>
          <a:lstStyle/>
          <a:p>
            <a:pPr marL="0" indent="0">
              <a:lnSpc>
                <a:spcPct val="112000"/>
              </a:lnSpc>
              <a:buNone/>
            </a:pPr>
            <a:r>
              <a:rPr lang="en-US" sz="1350" dirty="0">
                <a:solidFill>
                  <a:srgbClr val="1C1C28"/>
                </a:solidFill>
                <a:latin typeface="Source Sans 3" pitchFamily="34" charset="0"/>
                <a:ea typeface="Source Sans 3" pitchFamily="34" charset="-122"/>
                <a:cs typeface="Source Sans 3" pitchFamily="34" charset="-120"/>
              </a:rPr>
              <a:t>In June 2026, an automated browser visited every publicly reachable page — following links the same way a user would. Each page was read, classified and tagged by topic. The crawl covered the Current Students Website (students.unimelb.edu.au), 12 faculty &amp; school current-student sections, and both estate-adjacent sites.</a:t>
            </a:r>
            <a:endParaRPr lang="en-US" sz="1350" dirty="0"/>
          </a:p>
        </p:txBody>
      </p:sp>
      <p:sp>
        <p:nvSpPr>
          <p:cNvPr id="7" name="Shape 5"/>
          <p:cNvSpPr/>
          <p:nvPr/>
        </p:nvSpPr>
        <p:spPr>
          <a:xfrm>
            <a:off x="566928" y="2084832"/>
            <a:ext cx="2651760" cy="1572768"/>
          </a:xfrm>
          <a:prstGeom prst="rect">
            <a:avLst/>
          </a:prstGeom>
          <a:solidFill>
            <a:srgbClr val="F4F4F4"/>
          </a:solidFill>
          <a:ln/>
        </p:spPr>
        <p:txBody>
          <a:bodyPr/>
          <a:lstStyle/>
          <a:p>
            <a:endParaRPr lang="en-AU"/>
          </a:p>
        </p:txBody>
      </p:sp>
      <p:sp>
        <p:nvSpPr>
          <p:cNvPr id="8" name="Shape 6"/>
          <p:cNvSpPr/>
          <p:nvPr/>
        </p:nvSpPr>
        <p:spPr>
          <a:xfrm>
            <a:off x="566928" y="2084832"/>
            <a:ext cx="2651760" cy="91440"/>
          </a:xfrm>
          <a:prstGeom prst="rect">
            <a:avLst/>
          </a:prstGeom>
          <a:solidFill>
            <a:srgbClr val="46C8F0"/>
          </a:solidFill>
          <a:ln/>
        </p:spPr>
        <p:txBody>
          <a:bodyPr/>
          <a:lstStyle/>
          <a:p>
            <a:endParaRPr lang="en-AU"/>
          </a:p>
        </p:txBody>
      </p:sp>
      <p:sp>
        <p:nvSpPr>
          <p:cNvPr id="9" name="Text 7"/>
          <p:cNvSpPr/>
          <p:nvPr/>
        </p:nvSpPr>
        <p:spPr>
          <a:xfrm>
            <a:off x="566928" y="2212848"/>
            <a:ext cx="2651760" cy="804672"/>
          </a:xfrm>
          <a:prstGeom prst="rect">
            <a:avLst/>
          </a:prstGeom>
          <a:noFill/>
          <a:ln/>
        </p:spPr>
        <p:txBody>
          <a:bodyPr wrap="square" lIns="0" tIns="0" rIns="0" bIns="0" rtlCol="0" anchor="ctr"/>
          <a:lstStyle/>
          <a:p>
            <a:pPr marL="0" indent="0" algn="ctr">
              <a:buNone/>
            </a:pPr>
            <a:r>
              <a:rPr lang="en-US" sz="4400" b="1" dirty="0">
                <a:solidFill>
                  <a:srgbClr val="000F46"/>
                </a:solidFill>
                <a:latin typeface="Fraunces" pitchFamily="34" charset="0"/>
                <a:ea typeface="Fraunces" pitchFamily="34" charset="-122"/>
                <a:cs typeface="Fraunces" pitchFamily="34" charset="-120"/>
              </a:rPr>
              <a:t>~100</a:t>
            </a:r>
            <a:endParaRPr lang="en-US" sz="4400" dirty="0"/>
          </a:p>
        </p:txBody>
      </p:sp>
      <p:sp>
        <p:nvSpPr>
          <p:cNvPr id="10" name="Text 8"/>
          <p:cNvSpPr/>
          <p:nvPr/>
        </p:nvSpPr>
        <p:spPr>
          <a:xfrm>
            <a:off x="658368" y="3035808"/>
            <a:ext cx="2468880" cy="512064"/>
          </a:xfrm>
          <a:prstGeom prst="rect">
            <a:avLst/>
          </a:prstGeom>
          <a:noFill/>
          <a:ln/>
        </p:spPr>
        <p:txBody>
          <a:bodyPr wrap="square" lIns="0" tIns="0" rIns="0" bIns="0" rtlCol="0" anchor="ctr"/>
          <a:lstStyle/>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students.unimelb.edu.au</a:t>
            </a:r>
            <a:endParaRPr lang="en-US" sz="1150" dirty="0"/>
          </a:p>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Current Students Website</a:t>
            </a:r>
            <a:endParaRPr lang="en-US" sz="1150" dirty="0"/>
          </a:p>
        </p:txBody>
      </p:sp>
      <p:sp>
        <p:nvSpPr>
          <p:cNvPr id="11" name="Shape 9"/>
          <p:cNvSpPr/>
          <p:nvPr/>
        </p:nvSpPr>
        <p:spPr>
          <a:xfrm>
            <a:off x="3364992" y="2084832"/>
            <a:ext cx="2651760" cy="1572768"/>
          </a:xfrm>
          <a:prstGeom prst="rect">
            <a:avLst/>
          </a:prstGeom>
          <a:solidFill>
            <a:srgbClr val="F4F4F4"/>
          </a:solidFill>
          <a:ln/>
        </p:spPr>
        <p:txBody>
          <a:bodyPr/>
          <a:lstStyle/>
          <a:p>
            <a:endParaRPr lang="en-AU"/>
          </a:p>
        </p:txBody>
      </p:sp>
      <p:sp>
        <p:nvSpPr>
          <p:cNvPr id="12" name="Shape 10"/>
          <p:cNvSpPr/>
          <p:nvPr/>
        </p:nvSpPr>
        <p:spPr>
          <a:xfrm>
            <a:off x="3364992" y="2084832"/>
            <a:ext cx="2651760" cy="91440"/>
          </a:xfrm>
          <a:prstGeom prst="rect">
            <a:avLst/>
          </a:prstGeom>
          <a:solidFill>
            <a:srgbClr val="46C8F0"/>
          </a:solidFill>
          <a:ln/>
        </p:spPr>
        <p:txBody>
          <a:bodyPr/>
          <a:lstStyle/>
          <a:p>
            <a:endParaRPr lang="en-AU"/>
          </a:p>
        </p:txBody>
      </p:sp>
      <p:sp>
        <p:nvSpPr>
          <p:cNvPr id="13" name="Text 11"/>
          <p:cNvSpPr/>
          <p:nvPr/>
        </p:nvSpPr>
        <p:spPr>
          <a:xfrm>
            <a:off x="3364992" y="2212848"/>
            <a:ext cx="2651760" cy="804672"/>
          </a:xfrm>
          <a:prstGeom prst="rect">
            <a:avLst/>
          </a:prstGeom>
          <a:noFill/>
          <a:ln/>
        </p:spPr>
        <p:txBody>
          <a:bodyPr wrap="square" lIns="0" tIns="0" rIns="0" bIns="0" rtlCol="0" anchor="ctr"/>
          <a:lstStyle/>
          <a:p>
            <a:pPr marL="0" indent="0" algn="ctr">
              <a:buNone/>
            </a:pPr>
            <a:r>
              <a:rPr lang="en-US" sz="4400" b="1" dirty="0">
                <a:solidFill>
                  <a:srgbClr val="000F46"/>
                </a:solidFill>
                <a:latin typeface="Fraunces" pitchFamily="34" charset="0"/>
                <a:ea typeface="Fraunces" pitchFamily="34" charset="-122"/>
                <a:cs typeface="Fraunces" pitchFamily="34" charset="-120"/>
              </a:rPr>
              <a:t>~1000</a:t>
            </a:r>
            <a:endParaRPr lang="en-US" sz="4400" dirty="0"/>
          </a:p>
        </p:txBody>
      </p:sp>
      <p:sp>
        <p:nvSpPr>
          <p:cNvPr id="14" name="Text 12"/>
          <p:cNvSpPr/>
          <p:nvPr/>
        </p:nvSpPr>
        <p:spPr>
          <a:xfrm>
            <a:off x="3456432" y="3035808"/>
            <a:ext cx="2468880" cy="512064"/>
          </a:xfrm>
          <a:prstGeom prst="rect">
            <a:avLst/>
          </a:prstGeom>
          <a:noFill/>
          <a:ln/>
        </p:spPr>
        <p:txBody>
          <a:bodyPr wrap="square" lIns="0" tIns="0" rIns="0" bIns="0" rtlCol="0" anchor="ctr"/>
          <a:lstStyle/>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pages across 12 faculty</a:t>
            </a:r>
            <a:endParaRPr lang="en-US" sz="1150" dirty="0"/>
          </a:p>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&amp; school current-student sites</a:t>
            </a:r>
            <a:endParaRPr lang="en-US" sz="1150" dirty="0"/>
          </a:p>
        </p:txBody>
      </p:sp>
      <p:sp>
        <p:nvSpPr>
          <p:cNvPr id="15" name="Shape 13"/>
          <p:cNvSpPr/>
          <p:nvPr/>
        </p:nvSpPr>
        <p:spPr>
          <a:xfrm>
            <a:off x="6163056" y="2084832"/>
            <a:ext cx="2651760" cy="1572768"/>
          </a:xfrm>
          <a:prstGeom prst="rect">
            <a:avLst/>
          </a:prstGeom>
          <a:solidFill>
            <a:srgbClr val="F4F4F4"/>
          </a:solidFill>
          <a:ln/>
        </p:spPr>
        <p:txBody>
          <a:bodyPr/>
          <a:lstStyle/>
          <a:p>
            <a:endParaRPr lang="en-AU"/>
          </a:p>
        </p:txBody>
      </p:sp>
      <p:sp>
        <p:nvSpPr>
          <p:cNvPr id="16" name="Shape 14"/>
          <p:cNvSpPr/>
          <p:nvPr/>
        </p:nvSpPr>
        <p:spPr>
          <a:xfrm>
            <a:off x="6163056" y="2084832"/>
            <a:ext cx="2651760" cy="91440"/>
          </a:xfrm>
          <a:prstGeom prst="rect">
            <a:avLst/>
          </a:prstGeom>
          <a:solidFill>
            <a:srgbClr val="46C8F0"/>
          </a:solidFill>
          <a:ln/>
        </p:spPr>
        <p:txBody>
          <a:bodyPr/>
          <a:lstStyle/>
          <a:p>
            <a:endParaRPr lang="en-AU"/>
          </a:p>
        </p:txBody>
      </p:sp>
      <p:sp>
        <p:nvSpPr>
          <p:cNvPr id="17" name="Text 15"/>
          <p:cNvSpPr/>
          <p:nvPr/>
        </p:nvSpPr>
        <p:spPr>
          <a:xfrm>
            <a:off x="6163056" y="2212848"/>
            <a:ext cx="2651760" cy="804672"/>
          </a:xfrm>
          <a:prstGeom prst="rect">
            <a:avLst/>
          </a:prstGeom>
          <a:noFill/>
          <a:ln/>
        </p:spPr>
        <p:txBody>
          <a:bodyPr wrap="square" lIns="0" tIns="0" rIns="0" bIns="0" rtlCol="0" anchor="ctr"/>
          <a:lstStyle/>
          <a:p>
            <a:pPr marL="0" indent="0" algn="ctr">
              <a:buNone/>
            </a:pPr>
            <a:r>
              <a:rPr lang="en-US" sz="4400" b="1" dirty="0">
                <a:solidFill>
                  <a:srgbClr val="000F46"/>
                </a:solidFill>
                <a:latin typeface="Fraunces" pitchFamily="34" charset="0"/>
                <a:ea typeface="Fraunces" pitchFamily="34" charset="-122"/>
                <a:cs typeface="Fraunces" pitchFamily="34" charset="-120"/>
              </a:rPr>
              <a:t>~300</a:t>
            </a:r>
            <a:endParaRPr lang="en-US" sz="4400" dirty="0"/>
          </a:p>
        </p:txBody>
      </p:sp>
      <p:sp>
        <p:nvSpPr>
          <p:cNvPr id="18" name="Text 16"/>
          <p:cNvSpPr/>
          <p:nvPr/>
        </p:nvSpPr>
        <p:spPr>
          <a:xfrm>
            <a:off x="6254496" y="3035808"/>
            <a:ext cx="2468880" cy="512064"/>
          </a:xfrm>
          <a:prstGeom prst="rect">
            <a:avLst/>
          </a:prstGeom>
          <a:noFill/>
          <a:ln/>
        </p:spPr>
        <p:txBody>
          <a:bodyPr wrap="square" lIns="0" tIns="0" rIns="0" bIns="0" rtlCol="0" anchor="ctr"/>
          <a:lstStyle/>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study.unimelb</a:t>
            </a:r>
            <a:endParaRPr lang="en-US" sz="1150" dirty="0"/>
          </a:p>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prospective students</a:t>
            </a:r>
            <a:endParaRPr lang="en-US" sz="1150" dirty="0"/>
          </a:p>
        </p:txBody>
      </p:sp>
      <p:sp>
        <p:nvSpPr>
          <p:cNvPr id="19" name="Shape 17"/>
          <p:cNvSpPr/>
          <p:nvPr/>
        </p:nvSpPr>
        <p:spPr>
          <a:xfrm>
            <a:off x="8961120" y="2084832"/>
            <a:ext cx="2651760" cy="1572768"/>
          </a:xfrm>
          <a:prstGeom prst="rect">
            <a:avLst/>
          </a:prstGeom>
          <a:solidFill>
            <a:srgbClr val="F4F4F4"/>
          </a:solidFill>
          <a:ln/>
        </p:spPr>
        <p:txBody>
          <a:bodyPr/>
          <a:lstStyle/>
          <a:p>
            <a:endParaRPr lang="en-AU"/>
          </a:p>
        </p:txBody>
      </p:sp>
      <p:sp>
        <p:nvSpPr>
          <p:cNvPr id="20" name="Shape 18"/>
          <p:cNvSpPr/>
          <p:nvPr/>
        </p:nvSpPr>
        <p:spPr>
          <a:xfrm>
            <a:off x="8961120" y="2084832"/>
            <a:ext cx="2651760" cy="91440"/>
          </a:xfrm>
          <a:prstGeom prst="rect">
            <a:avLst/>
          </a:prstGeom>
          <a:solidFill>
            <a:srgbClr val="46C8F0"/>
          </a:solidFill>
          <a:ln/>
        </p:spPr>
        <p:txBody>
          <a:bodyPr/>
          <a:lstStyle/>
          <a:p>
            <a:endParaRPr lang="en-AU"/>
          </a:p>
        </p:txBody>
      </p:sp>
      <p:sp>
        <p:nvSpPr>
          <p:cNvPr id="21" name="Text 19"/>
          <p:cNvSpPr/>
          <p:nvPr/>
        </p:nvSpPr>
        <p:spPr>
          <a:xfrm>
            <a:off x="8961120" y="2212848"/>
            <a:ext cx="2651760" cy="804672"/>
          </a:xfrm>
          <a:prstGeom prst="rect">
            <a:avLst/>
          </a:prstGeom>
          <a:noFill/>
          <a:ln/>
        </p:spPr>
        <p:txBody>
          <a:bodyPr wrap="square" lIns="0" tIns="0" rIns="0" bIns="0" rtlCol="0" anchor="ctr"/>
          <a:lstStyle/>
          <a:p>
            <a:pPr marL="0" indent="0" algn="ctr">
              <a:buNone/>
            </a:pPr>
            <a:r>
              <a:rPr lang="en-US" sz="4400" b="1" dirty="0">
                <a:solidFill>
                  <a:srgbClr val="000F46"/>
                </a:solidFill>
                <a:latin typeface="Fraunces" pitchFamily="34" charset="0"/>
                <a:ea typeface="Fraunces" pitchFamily="34" charset="-122"/>
                <a:cs typeface="Fraunces" pitchFamily="34" charset="-120"/>
              </a:rPr>
              <a:t>~100</a:t>
            </a:r>
            <a:endParaRPr lang="en-US" sz="4400" dirty="0"/>
          </a:p>
        </p:txBody>
      </p:sp>
      <p:sp>
        <p:nvSpPr>
          <p:cNvPr id="22" name="Text 20"/>
          <p:cNvSpPr/>
          <p:nvPr/>
        </p:nvSpPr>
        <p:spPr>
          <a:xfrm>
            <a:off x="9052560" y="3035808"/>
            <a:ext cx="2468880" cy="512064"/>
          </a:xfrm>
          <a:prstGeom prst="rect">
            <a:avLst/>
          </a:prstGeom>
          <a:noFill/>
          <a:ln/>
        </p:spPr>
        <p:txBody>
          <a:bodyPr wrap="square" lIns="0" tIns="0" rIns="0" bIns="0" rtlCol="0" anchor="ctr"/>
          <a:lstStyle/>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alumni.unimelb</a:t>
            </a:r>
            <a:endParaRPr lang="en-US" sz="1150" dirty="0"/>
          </a:p>
          <a:p>
            <a:pPr marL="0" indent="0" algn="ctr">
              <a:lnSpc>
                <a:spcPct val="110000"/>
              </a:lnSpc>
              <a:buNone/>
            </a:pPr>
            <a:r>
              <a:rPr lang="en-US" sz="1150" dirty="0">
                <a:solidFill>
                  <a:srgbClr val="5B5B6B"/>
                </a:solidFill>
                <a:latin typeface="Source Sans 3" pitchFamily="34" charset="0"/>
                <a:ea typeface="Source Sans 3" pitchFamily="34" charset="-122"/>
                <a:cs typeface="Source Sans 3" pitchFamily="34" charset="-120"/>
              </a:rPr>
              <a:t>graduate community</a:t>
            </a:r>
            <a:endParaRPr lang="en-US" sz="1150" dirty="0"/>
          </a:p>
        </p:txBody>
      </p:sp>
      <p:sp>
        <p:nvSpPr>
          <p:cNvPr id="23" name="Shape 21"/>
          <p:cNvSpPr/>
          <p:nvPr/>
        </p:nvSpPr>
        <p:spPr>
          <a:xfrm>
            <a:off x="566928" y="3941496"/>
            <a:ext cx="2651760" cy="64008"/>
          </a:xfrm>
          <a:prstGeom prst="rect">
            <a:avLst/>
          </a:prstGeom>
          <a:solidFill>
            <a:srgbClr val="46C8F0"/>
          </a:solidFill>
          <a:ln/>
        </p:spPr>
        <p:txBody>
          <a:bodyPr/>
          <a:lstStyle/>
          <a:p>
            <a:endParaRPr lang="en-AU"/>
          </a:p>
        </p:txBody>
      </p:sp>
      <p:sp>
        <p:nvSpPr>
          <p:cNvPr id="24" name="Text 22"/>
          <p:cNvSpPr/>
          <p:nvPr/>
        </p:nvSpPr>
        <p:spPr>
          <a:xfrm>
            <a:off x="566928" y="4032936"/>
            <a:ext cx="2651760" cy="274320"/>
          </a:xfrm>
          <a:prstGeom prst="rect">
            <a:avLst/>
          </a:prstGeom>
          <a:noFill/>
          <a:ln/>
        </p:spPr>
        <p:txBody>
          <a:bodyPr wrap="square" lIns="0" tIns="0" rIns="0" bIns="0" rtlCol="0" anchor="ctr"/>
          <a:lstStyle/>
          <a:p>
            <a:pPr marL="0" indent="0">
              <a:buNone/>
            </a:pPr>
            <a:r>
              <a:rPr lang="en-US" sz="1200" b="1" dirty="0">
                <a:solidFill>
                  <a:srgbClr val="000F46"/>
                </a:solidFill>
                <a:latin typeface="Source Sans 3" pitchFamily="34" charset="0"/>
                <a:ea typeface="Source Sans 3" pitchFamily="34" charset="-122"/>
                <a:cs typeface="Source Sans 3" pitchFamily="34" charset="-120"/>
              </a:rPr>
              <a:t>Careers</a:t>
            </a:r>
            <a:endParaRPr lang="en-US" sz="1200" dirty="0"/>
          </a:p>
        </p:txBody>
      </p:sp>
      <p:sp>
        <p:nvSpPr>
          <p:cNvPr id="25" name="Text 23"/>
          <p:cNvSpPr/>
          <p:nvPr/>
        </p:nvSpPr>
        <p:spPr>
          <a:xfrm>
            <a:off x="566928" y="4169664"/>
            <a:ext cx="2651760" cy="932688"/>
          </a:xfrm>
          <a:prstGeom prst="rect">
            <a:avLst/>
          </a:prstGeom>
          <a:noFill/>
          <a:ln/>
        </p:spPr>
        <p:txBody>
          <a:bodyPr wrap="square" lIns="0" tIns="0" rIns="0" bIns="0" rtlCol="0" anchor="ctr"/>
          <a:lstStyle/>
          <a:p>
            <a:pPr marL="0" indent="0">
              <a:lnSpc>
                <a:spcPct val="114000"/>
              </a:lnSpc>
              <a:buNone/>
            </a:pPr>
            <a:r>
              <a:rPr lang="en-US" sz="1100" dirty="0">
                <a:solidFill>
                  <a:srgbClr val="5B5B6B"/>
                </a:solidFill>
                <a:latin typeface="Source Sans 3" pitchFamily="34" charset="0"/>
                <a:ea typeface="Source Sans 3" pitchFamily="34" charset="-122"/>
                <a:cs typeface="Source Sans 3" pitchFamily="34" charset="-120"/>
              </a:rPr>
              <a:t>4 parallel presences — Current Students Website, 8 faculties, study.unimelb, alumni. No cross-links in any direction.</a:t>
            </a:r>
            <a:endParaRPr lang="en-US" sz="1100" dirty="0"/>
          </a:p>
        </p:txBody>
      </p:sp>
      <p:sp>
        <p:nvSpPr>
          <p:cNvPr id="26" name="Shape 24"/>
          <p:cNvSpPr/>
          <p:nvPr/>
        </p:nvSpPr>
        <p:spPr>
          <a:xfrm>
            <a:off x="3364992" y="3941496"/>
            <a:ext cx="2651760" cy="64008"/>
          </a:xfrm>
          <a:prstGeom prst="rect">
            <a:avLst/>
          </a:prstGeom>
          <a:solidFill>
            <a:srgbClr val="46C8F0"/>
          </a:solidFill>
          <a:ln/>
        </p:spPr>
        <p:txBody>
          <a:bodyPr/>
          <a:lstStyle/>
          <a:p>
            <a:endParaRPr lang="en-AU"/>
          </a:p>
        </p:txBody>
      </p:sp>
      <p:sp>
        <p:nvSpPr>
          <p:cNvPr id="27" name="Text 25"/>
          <p:cNvSpPr/>
          <p:nvPr/>
        </p:nvSpPr>
        <p:spPr>
          <a:xfrm>
            <a:off x="3364992" y="4032936"/>
            <a:ext cx="2651760" cy="274320"/>
          </a:xfrm>
          <a:prstGeom prst="rect">
            <a:avLst/>
          </a:prstGeom>
          <a:noFill/>
          <a:ln/>
        </p:spPr>
        <p:txBody>
          <a:bodyPr wrap="square" lIns="0" tIns="0" rIns="0" bIns="0" rtlCol="0" anchor="ctr"/>
          <a:lstStyle/>
          <a:p>
            <a:pPr marL="0" indent="0">
              <a:buNone/>
            </a:pPr>
            <a:r>
              <a:rPr lang="en-US" sz="1200" b="1" dirty="0">
                <a:solidFill>
                  <a:srgbClr val="000F46"/>
                </a:solidFill>
                <a:latin typeface="Source Sans 3" pitchFamily="34" charset="0"/>
                <a:ea typeface="Source Sans 3" pitchFamily="34" charset="-122"/>
                <a:cs typeface="Source Sans 3" pitchFamily="34" charset="-120"/>
              </a:rPr>
              <a:t>Mentoring</a:t>
            </a:r>
            <a:endParaRPr lang="en-US" sz="1200" dirty="0"/>
          </a:p>
        </p:txBody>
      </p:sp>
      <p:sp>
        <p:nvSpPr>
          <p:cNvPr id="28" name="Text 26"/>
          <p:cNvSpPr/>
          <p:nvPr/>
        </p:nvSpPr>
        <p:spPr>
          <a:xfrm>
            <a:off x="3364992" y="4169664"/>
            <a:ext cx="2651760" cy="932688"/>
          </a:xfrm>
          <a:prstGeom prst="rect">
            <a:avLst/>
          </a:prstGeom>
          <a:noFill/>
          <a:ln/>
        </p:spPr>
        <p:txBody>
          <a:bodyPr wrap="square" lIns="0" tIns="0" rIns="0" bIns="0" rtlCol="0" anchor="ctr"/>
          <a:lstStyle/>
          <a:p>
            <a:pPr marL="0" indent="0">
              <a:lnSpc>
                <a:spcPct val="114000"/>
              </a:lnSpc>
              <a:buNone/>
            </a:pPr>
            <a:r>
              <a:rPr lang="en-US" sz="1100" dirty="0">
                <a:solidFill>
                  <a:srgbClr val="5B5B6B"/>
                </a:solidFill>
                <a:latin typeface="Source Sans 3" pitchFamily="34" charset="0"/>
                <a:ea typeface="Source Sans 3" pitchFamily="34" charset="-122"/>
                <a:cs typeface="Source Sans 3" pitchFamily="34" charset="-120"/>
              </a:rPr>
              <a:t>12 faculty alumni programs matching student programs on all faculties. Neither side links to the other.</a:t>
            </a:r>
            <a:endParaRPr lang="en-US" sz="1100" dirty="0"/>
          </a:p>
        </p:txBody>
      </p:sp>
      <p:sp>
        <p:nvSpPr>
          <p:cNvPr id="29" name="Shape 27"/>
          <p:cNvSpPr/>
          <p:nvPr/>
        </p:nvSpPr>
        <p:spPr>
          <a:xfrm>
            <a:off x="6163056" y="3941496"/>
            <a:ext cx="2651760" cy="64008"/>
          </a:xfrm>
          <a:prstGeom prst="rect">
            <a:avLst/>
          </a:prstGeom>
          <a:solidFill>
            <a:srgbClr val="46C8F0"/>
          </a:solidFill>
          <a:ln/>
        </p:spPr>
        <p:txBody>
          <a:bodyPr/>
          <a:lstStyle/>
          <a:p>
            <a:endParaRPr lang="en-AU"/>
          </a:p>
        </p:txBody>
      </p:sp>
      <p:sp>
        <p:nvSpPr>
          <p:cNvPr id="30" name="Text 28"/>
          <p:cNvSpPr/>
          <p:nvPr/>
        </p:nvSpPr>
        <p:spPr>
          <a:xfrm>
            <a:off x="6163056" y="4032936"/>
            <a:ext cx="2651760" cy="274320"/>
          </a:xfrm>
          <a:prstGeom prst="rect">
            <a:avLst/>
          </a:prstGeom>
          <a:noFill/>
          <a:ln/>
        </p:spPr>
        <p:txBody>
          <a:bodyPr wrap="square" lIns="0" tIns="0" rIns="0" bIns="0" rtlCol="0" anchor="ctr"/>
          <a:lstStyle/>
          <a:p>
            <a:pPr marL="0" indent="0">
              <a:buNone/>
            </a:pPr>
            <a:r>
              <a:rPr lang="en-US" sz="1200" b="1" dirty="0">
                <a:solidFill>
                  <a:srgbClr val="000F46"/>
                </a:solidFill>
                <a:latin typeface="Source Sans 3" pitchFamily="34" charset="0"/>
                <a:ea typeface="Source Sans 3" pitchFamily="34" charset="-122"/>
                <a:cs typeface="Source Sans 3" pitchFamily="34" charset="-120"/>
              </a:rPr>
              <a:t>Course info</a:t>
            </a:r>
            <a:endParaRPr lang="en-US" sz="1200" dirty="0"/>
          </a:p>
        </p:txBody>
      </p:sp>
      <p:sp>
        <p:nvSpPr>
          <p:cNvPr id="31" name="Text 29"/>
          <p:cNvSpPr/>
          <p:nvPr/>
        </p:nvSpPr>
        <p:spPr>
          <a:xfrm>
            <a:off x="6163056" y="4169664"/>
            <a:ext cx="2651760" cy="932688"/>
          </a:xfrm>
          <a:prstGeom prst="rect">
            <a:avLst/>
          </a:prstGeom>
          <a:noFill/>
          <a:ln/>
        </p:spPr>
        <p:txBody>
          <a:bodyPr wrap="square" lIns="0" tIns="0" rIns="0" bIns="0" rtlCol="0" anchor="ctr"/>
          <a:lstStyle/>
          <a:p>
            <a:pPr marL="0" indent="0">
              <a:lnSpc>
                <a:spcPct val="114000"/>
              </a:lnSpc>
              <a:buNone/>
            </a:pPr>
            <a:r>
              <a:rPr lang="en-US" sz="1100" dirty="0">
                <a:solidFill>
                  <a:srgbClr val="5B5B6B"/>
                </a:solidFill>
                <a:latin typeface="Source Sans 3" pitchFamily="34" charset="0"/>
                <a:ea typeface="Source Sans 3" pitchFamily="34" charset="-122"/>
                <a:cs typeface="Source Sans 3" pitchFamily="34" charset="-120"/>
              </a:rPr>
              <a:t>Enrolled students follow 529 links back to the prospective site — for content missing from their own.</a:t>
            </a:r>
            <a:endParaRPr lang="en-US" sz="1100" dirty="0"/>
          </a:p>
        </p:txBody>
      </p:sp>
      <p:sp>
        <p:nvSpPr>
          <p:cNvPr id="32" name="Shape 30"/>
          <p:cNvSpPr/>
          <p:nvPr/>
        </p:nvSpPr>
        <p:spPr>
          <a:xfrm>
            <a:off x="8961120" y="3941496"/>
            <a:ext cx="2651760" cy="64008"/>
          </a:xfrm>
          <a:prstGeom prst="rect">
            <a:avLst/>
          </a:prstGeom>
          <a:solidFill>
            <a:srgbClr val="46C8F0"/>
          </a:solidFill>
          <a:ln/>
        </p:spPr>
        <p:txBody>
          <a:bodyPr/>
          <a:lstStyle/>
          <a:p>
            <a:endParaRPr lang="en-AU"/>
          </a:p>
        </p:txBody>
      </p:sp>
      <p:sp>
        <p:nvSpPr>
          <p:cNvPr id="33" name="Text 31"/>
          <p:cNvSpPr/>
          <p:nvPr/>
        </p:nvSpPr>
        <p:spPr>
          <a:xfrm>
            <a:off x="8961120" y="4032936"/>
            <a:ext cx="2651760" cy="274320"/>
          </a:xfrm>
          <a:prstGeom prst="rect">
            <a:avLst/>
          </a:prstGeom>
          <a:noFill/>
          <a:ln/>
        </p:spPr>
        <p:txBody>
          <a:bodyPr wrap="square" lIns="0" tIns="0" rIns="0" bIns="0" rtlCol="0" anchor="ctr"/>
          <a:lstStyle/>
          <a:p>
            <a:pPr marL="0" indent="0">
              <a:buNone/>
            </a:pPr>
            <a:r>
              <a:rPr lang="en-US" sz="1200" b="1" dirty="0">
                <a:solidFill>
                  <a:srgbClr val="000F46"/>
                </a:solidFill>
                <a:latin typeface="Source Sans 3" pitchFamily="34" charset="0"/>
                <a:ea typeface="Source Sans 3" pitchFamily="34" charset="-122"/>
                <a:cs typeface="Source Sans 3" pitchFamily="34" charset="-120"/>
              </a:rPr>
              <a:t>Alumni handoff</a:t>
            </a:r>
            <a:endParaRPr lang="en-US" sz="1200" dirty="0"/>
          </a:p>
        </p:txBody>
      </p:sp>
      <p:sp>
        <p:nvSpPr>
          <p:cNvPr id="34" name="Text 32"/>
          <p:cNvSpPr/>
          <p:nvPr/>
        </p:nvSpPr>
        <p:spPr>
          <a:xfrm>
            <a:off x="8961120" y="4169664"/>
            <a:ext cx="2651760" cy="932688"/>
          </a:xfrm>
          <a:prstGeom prst="rect">
            <a:avLst/>
          </a:prstGeom>
          <a:noFill/>
          <a:ln/>
        </p:spPr>
        <p:txBody>
          <a:bodyPr wrap="square" lIns="0" tIns="0" rIns="0" bIns="0" rtlCol="0" anchor="ctr"/>
          <a:lstStyle/>
          <a:p>
            <a:pPr marL="0" indent="0">
              <a:lnSpc>
                <a:spcPct val="114000"/>
              </a:lnSpc>
              <a:buNone/>
            </a:pPr>
            <a:r>
              <a:rPr lang="en-US" sz="1100" dirty="0">
                <a:solidFill>
                  <a:srgbClr val="5B5B6B"/>
                </a:solidFill>
                <a:latin typeface="Source Sans 3" pitchFamily="34" charset="0"/>
                <a:ea typeface="Source Sans 3" pitchFamily="34" charset="-122"/>
                <a:cs typeface="Source Sans 3" pitchFamily="34" charset="-120"/>
              </a:rPr>
              <a:t>0 current-student pages link forward to alumni, including graduation pages. No web path at exit.</a:t>
            </a:r>
            <a:endParaRPr lang="en-US" sz="1100" dirty="0"/>
          </a:p>
        </p:txBody>
      </p:sp>
      <p:sp>
        <p:nvSpPr>
          <p:cNvPr id="35" name="Text 33"/>
          <p:cNvSpPr/>
          <p:nvPr/>
        </p:nvSpPr>
        <p:spPr>
          <a:xfrm>
            <a:off x="566928" y="5266944"/>
            <a:ext cx="10881360" cy="566928"/>
          </a:xfrm>
          <a:prstGeom prst="rect">
            <a:avLst/>
          </a:prstGeom>
          <a:noFill/>
          <a:ln/>
        </p:spPr>
        <p:txBody>
          <a:bodyPr wrap="square" lIns="0" tIns="0" rIns="0" bIns="0" rtlCol="0" anchor="ctr"/>
          <a:lstStyle/>
          <a:p>
            <a:pPr marL="0" indent="0">
              <a:lnSpc>
                <a:spcPct val="112000"/>
              </a:lnSpc>
              <a:buNone/>
            </a:pPr>
            <a:r>
              <a:rPr lang="en-US" sz="1100" i="1" dirty="0">
                <a:solidFill>
                  <a:srgbClr val="000B34"/>
                </a:solidFill>
                <a:latin typeface="Source Sans 3" pitchFamily="34" charset="0"/>
                <a:ea typeface="Source Sans 3" pitchFamily="34" charset="-122"/>
                <a:cs typeface="Source Sans 3" pitchFamily="34" charset="-120"/>
              </a:rPr>
              <a:t>Current Students Website · Architecture, Building &amp; Planning · Arts · Business &amp; Economics · Education · Engineering &amp; IT · Fine Arts &amp; Music · Law · Medicine, Dentistry &amp; Health Sciences · Science · Melbourne Business School · Biomedical Sciences · Dental School · study.unimelb.edu.au · alumni.unimelb.edu.au</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A lens for today: overlap</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4</a:t>
            </a:r>
            <a:endParaRPr lang="en-US" sz="900" dirty="0"/>
          </a:p>
        </p:txBody>
      </p:sp>
      <p:sp>
        <p:nvSpPr>
          <p:cNvPr id="6" name="Text 4"/>
          <p:cNvSpPr/>
          <p:nvPr/>
        </p:nvSpPr>
        <p:spPr>
          <a:xfrm>
            <a:off x="566928" y="1417320"/>
            <a:ext cx="5760720" cy="3657600"/>
          </a:xfrm>
          <a:prstGeom prst="rect">
            <a:avLst/>
          </a:prstGeom>
          <a:noFill/>
          <a:ln/>
        </p:spPr>
        <p:txBody>
          <a:bodyPr wrap="square" lIns="0" tIns="0" rIns="0" bIns="0" rtlCol="0" anchor="t"/>
          <a:lstStyle/>
          <a:p>
            <a:pPr marL="0" indent="0">
              <a:lnSpc>
                <a:spcPct val="122000"/>
              </a:lnSpc>
              <a:buNone/>
            </a:pPr>
            <a:r>
              <a:rPr lang="en-US" sz="1700" dirty="0">
                <a:solidFill>
                  <a:srgbClr val="1C1C28"/>
                </a:solidFill>
                <a:latin typeface="Source Sans 3" pitchFamily="34" charset="0"/>
                <a:ea typeface="Source Sans 3" pitchFamily="34" charset="-122"/>
                <a:cs typeface="Source Sans 3" pitchFamily="34" charset="-120"/>
              </a:rPr>
              <a:t>Overlap isn't automatically a problem. Sometimes it is helpful local context; sometimes it is duplicated effort or mixed messages. For each area today, we will look at where the content sits — then ask whether the overlap is intentional, and whether it helps or hinders the user.</a:t>
            </a:r>
            <a:endParaRPr lang="en-US" sz="1700" dirty="0"/>
          </a:p>
        </p:txBody>
      </p:sp>
      <p:sp>
        <p:nvSpPr>
          <p:cNvPr id="7" name="Shape 5"/>
          <p:cNvSpPr/>
          <p:nvPr/>
        </p:nvSpPr>
        <p:spPr>
          <a:xfrm>
            <a:off x="6949440" y="1645920"/>
            <a:ext cx="2606040" cy="2606040"/>
          </a:xfrm>
          <a:prstGeom prst="ellipse">
            <a:avLst/>
          </a:prstGeom>
          <a:solidFill>
            <a:srgbClr val="000F46">
              <a:alpha val="18000"/>
            </a:srgbClr>
          </a:solidFill>
          <a:ln w="19050">
            <a:solidFill>
              <a:srgbClr val="000F46"/>
            </a:solidFill>
            <a:prstDash val="solid"/>
          </a:ln>
        </p:spPr>
        <p:txBody>
          <a:bodyPr/>
          <a:lstStyle/>
          <a:p>
            <a:endParaRPr lang="en-AU"/>
          </a:p>
        </p:txBody>
      </p:sp>
      <p:sp>
        <p:nvSpPr>
          <p:cNvPr id="8" name="Shape 6"/>
          <p:cNvSpPr/>
          <p:nvPr/>
        </p:nvSpPr>
        <p:spPr>
          <a:xfrm>
            <a:off x="8778240" y="1645920"/>
            <a:ext cx="2606040" cy="2606040"/>
          </a:xfrm>
          <a:prstGeom prst="ellipse">
            <a:avLst/>
          </a:prstGeom>
          <a:solidFill>
            <a:srgbClr val="46C8F0">
              <a:alpha val="28000"/>
            </a:srgbClr>
          </a:solidFill>
          <a:ln w="19050">
            <a:solidFill>
              <a:srgbClr val="2F95B7"/>
            </a:solidFill>
            <a:prstDash val="solid"/>
          </a:ln>
        </p:spPr>
        <p:txBody>
          <a:bodyPr/>
          <a:lstStyle/>
          <a:p>
            <a:endParaRPr lang="en-AU"/>
          </a:p>
        </p:txBody>
      </p:sp>
      <p:sp>
        <p:nvSpPr>
          <p:cNvPr id="9" name="Shape 7"/>
          <p:cNvSpPr/>
          <p:nvPr/>
        </p:nvSpPr>
        <p:spPr>
          <a:xfrm>
            <a:off x="6949440" y="3291840"/>
            <a:ext cx="2606040" cy="2606040"/>
          </a:xfrm>
          <a:prstGeom prst="ellipse">
            <a:avLst/>
          </a:prstGeom>
          <a:solidFill>
            <a:srgbClr val="000F46">
              <a:alpha val="18000"/>
            </a:srgbClr>
          </a:solidFill>
          <a:ln w="19050">
            <a:solidFill>
              <a:srgbClr val="000F46"/>
            </a:solidFill>
            <a:prstDash val="solid"/>
          </a:ln>
        </p:spPr>
        <p:txBody>
          <a:bodyPr/>
          <a:lstStyle/>
          <a:p>
            <a:endParaRPr lang="en-AU"/>
          </a:p>
        </p:txBody>
      </p:sp>
      <p:sp>
        <p:nvSpPr>
          <p:cNvPr id="10" name="Shape 8"/>
          <p:cNvSpPr/>
          <p:nvPr/>
        </p:nvSpPr>
        <p:spPr>
          <a:xfrm>
            <a:off x="8778240" y="3291840"/>
            <a:ext cx="2606040" cy="2606040"/>
          </a:xfrm>
          <a:prstGeom prst="ellipse">
            <a:avLst/>
          </a:prstGeom>
          <a:solidFill>
            <a:srgbClr val="46C8F0">
              <a:alpha val="28000"/>
            </a:srgbClr>
          </a:solidFill>
          <a:ln w="19050">
            <a:solidFill>
              <a:srgbClr val="2F95B7"/>
            </a:solidFill>
            <a:prstDash val="solid"/>
          </a:ln>
        </p:spPr>
        <p:txBody>
          <a:bodyPr/>
          <a:lstStyle/>
          <a:p>
            <a:endParaRPr lang="en-AU"/>
          </a:p>
        </p:txBody>
      </p:sp>
      <p:sp>
        <p:nvSpPr>
          <p:cNvPr id="11" name="Text 9"/>
          <p:cNvSpPr/>
          <p:nvPr/>
        </p:nvSpPr>
        <p:spPr>
          <a:xfrm>
            <a:off x="6995160" y="2386584"/>
            <a:ext cx="1737360" cy="530352"/>
          </a:xfrm>
          <a:prstGeom prst="rect">
            <a:avLst/>
          </a:prstGeom>
          <a:noFill/>
          <a:ln/>
        </p:spPr>
        <p:txBody>
          <a:bodyPr wrap="square" lIns="0" tIns="0" rIns="0" bIns="0" rtlCol="0" anchor="ctr"/>
          <a:lstStyle/>
          <a:p>
            <a:pPr marL="0" indent="0" algn="ctr">
              <a:buNone/>
            </a:pPr>
            <a:r>
              <a:rPr lang="en-US" sz="1150" b="1" dirty="0">
                <a:solidFill>
                  <a:srgbClr val="000F46"/>
                </a:solidFill>
                <a:latin typeface="Source Sans 3" pitchFamily="34" charset="0"/>
                <a:ea typeface="Source Sans 3" pitchFamily="34" charset="-122"/>
                <a:cs typeface="Source Sans 3" pitchFamily="34" charset="-120"/>
              </a:rPr>
              <a:t>Current Students</a:t>
            </a:r>
            <a:endParaRPr lang="en-US" sz="1150" dirty="0"/>
          </a:p>
          <a:p>
            <a:pPr marL="0" indent="0" algn="ctr">
              <a:buNone/>
            </a:pPr>
            <a:r>
              <a:rPr lang="en-US" sz="1150" b="1" dirty="0">
                <a:solidFill>
                  <a:srgbClr val="000F46"/>
                </a:solidFill>
                <a:latin typeface="Source Sans 3" pitchFamily="34" charset="0"/>
                <a:ea typeface="Source Sans 3" pitchFamily="34" charset="-122"/>
                <a:cs typeface="Source Sans 3" pitchFamily="34" charset="-120"/>
              </a:rPr>
              <a:t>Website</a:t>
            </a:r>
            <a:endParaRPr lang="en-US" sz="1150" dirty="0"/>
          </a:p>
        </p:txBody>
      </p:sp>
      <p:sp>
        <p:nvSpPr>
          <p:cNvPr id="12" name="Text 10"/>
          <p:cNvSpPr/>
          <p:nvPr/>
        </p:nvSpPr>
        <p:spPr>
          <a:xfrm>
            <a:off x="9765792" y="2414016"/>
            <a:ext cx="1600200" cy="502920"/>
          </a:xfrm>
          <a:prstGeom prst="rect">
            <a:avLst/>
          </a:prstGeom>
          <a:noFill/>
          <a:ln/>
        </p:spPr>
        <p:txBody>
          <a:bodyPr wrap="square" lIns="0" tIns="0" rIns="0" bIns="0" rtlCol="0" anchor="ctr"/>
          <a:lstStyle/>
          <a:p>
            <a:pPr marL="0" indent="0" algn="ctr">
              <a:buNone/>
            </a:pPr>
            <a:r>
              <a:rPr lang="en-US" sz="1200" b="1" dirty="0">
                <a:solidFill>
                  <a:srgbClr val="000F46"/>
                </a:solidFill>
                <a:latin typeface="Source Sans 3" pitchFamily="34" charset="0"/>
                <a:ea typeface="Source Sans 3" pitchFamily="34" charset="-122"/>
                <a:cs typeface="Source Sans 3" pitchFamily="34" charset="-120"/>
              </a:rPr>
              <a:t>Faculty /</a:t>
            </a:r>
            <a:endParaRPr lang="en-US" sz="1200" dirty="0"/>
          </a:p>
          <a:p>
            <a:pPr marL="0" indent="0" algn="ctr">
              <a:buNone/>
            </a:pPr>
            <a:r>
              <a:rPr lang="en-US" sz="1200" b="1" dirty="0">
                <a:solidFill>
                  <a:srgbClr val="000F46"/>
                </a:solidFill>
                <a:latin typeface="Source Sans 3" pitchFamily="34" charset="0"/>
                <a:ea typeface="Source Sans 3" pitchFamily="34" charset="-122"/>
                <a:cs typeface="Source Sans 3" pitchFamily="34" charset="-120"/>
              </a:rPr>
              <a:t>school sites</a:t>
            </a:r>
            <a:endParaRPr lang="en-US" sz="1200" dirty="0"/>
          </a:p>
        </p:txBody>
      </p:sp>
      <p:sp>
        <p:nvSpPr>
          <p:cNvPr id="13" name="Text 11"/>
          <p:cNvSpPr/>
          <p:nvPr/>
        </p:nvSpPr>
        <p:spPr>
          <a:xfrm>
            <a:off x="6976872" y="4846320"/>
            <a:ext cx="1691640" cy="347472"/>
          </a:xfrm>
          <a:prstGeom prst="rect">
            <a:avLst/>
          </a:prstGeom>
          <a:noFill/>
          <a:ln/>
        </p:spPr>
        <p:txBody>
          <a:bodyPr wrap="square" lIns="0" tIns="0" rIns="0" bIns="0" rtlCol="0" anchor="ctr"/>
          <a:lstStyle/>
          <a:p>
            <a:pPr marL="0" indent="0" algn="ctr">
              <a:buNone/>
            </a:pPr>
            <a:r>
              <a:rPr lang="en-US" sz="1200" b="1" dirty="0">
                <a:solidFill>
                  <a:srgbClr val="000F46"/>
                </a:solidFill>
                <a:latin typeface="Source Sans 3" pitchFamily="34" charset="0"/>
                <a:ea typeface="Source Sans 3" pitchFamily="34" charset="-122"/>
                <a:cs typeface="Source Sans 3" pitchFamily="34" charset="-120"/>
              </a:rPr>
              <a:t>Further study</a:t>
            </a:r>
            <a:endParaRPr lang="en-US" sz="1200" dirty="0"/>
          </a:p>
        </p:txBody>
      </p:sp>
      <p:sp>
        <p:nvSpPr>
          <p:cNvPr id="14" name="Text 12"/>
          <p:cNvSpPr/>
          <p:nvPr/>
        </p:nvSpPr>
        <p:spPr>
          <a:xfrm>
            <a:off x="9765792" y="4846320"/>
            <a:ext cx="1554480" cy="347472"/>
          </a:xfrm>
          <a:prstGeom prst="rect">
            <a:avLst/>
          </a:prstGeom>
          <a:noFill/>
          <a:ln/>
        </p:spPr>
        <p:txBody>
          <a:bodyPr wrap="square" lIns="0" tIns="0" rIns="0" bIns="0" rtlCol="0" anchor="ctr"/>
          <a:lstStyle/>
          <a:p>
            <a:pPr marL="0" indent="0" algn="ctr">
              <a:buNone/>
            </a:pPr>
            <a:r>
              <a:rPr lang="en-US" sz="1200" b="1" dirty="0">
                <a:solidFill>
                  <a:srgbClr val="000F46"/>
                </a:solidFill>
                <a:latin typeface="Source Sans 3" pitchFamily="34" charset="0"/>
                <a:ea typeface="Source Sans 3" pitchFamily="34" charset="-122"/>
                <a:cs typeface="Source Sans 3" pitchFamily="34" charset="-120"/>
              </a:rPr>
              <a:t>Alumni</a:t>
            </a:r>
            <a:endParaRPr lang="en-US" sz="1200" dirty="0"/>
          </a:p>
        </p:txBody>
      </p:sp>
      <p:sp>
        <p:nvSpPr>
          <p:cNvPr id="15" name="Text 13"/>
          <p:cNvSpPr/>
          <p:nvPr/>
        </p:nvSpPr>
        <p:spPr>
          <a:xfrm>
            <a:off x="8778240" y="3611880"/>
            <a:ext cx="914400" cy="320040"/>
          </a:xfrm>
          <a:prstGeom prst="rect">
            <a:avLst/>
          </a:prstGeom>
          <a:noFill/>
          <a:ln/>
        </p:spPr>
        <p:txBody>
          <a:bodyPr wrap="square" lIns="0" tIns="0" rIns="0" bIns="0" rtlCol="0" anchor="ctr"/>
          <a:lstStyle/>
          <a:p>
            <a:pPr marL="0" indent="0" algn="ctr">
              <a:buNone/>
            </a:pPr>
            <a:r>
              <a:rPr lang="en-US" sz="1100" b="1" dirty="0">
                <a:solidFill>
                  <a:schemeClr val="bg1"/>
                </a:solidFill>
                <a:highlight>
                  <a:srgbClr val="808080"/>
                </a:highlight>
                <a:latin typeface="Source Code Pro" pitchFamily="34" charset="0"/>
                <a:ea typeface="Source Code Pro" pitchFamily="34" charset="-122"/>
                <a:cs typeface="Source Code Pro" pitchFamily="34" charset="-120"/>
              </a:rPr>
              <a:t>overlap</a:t>
            </a:r>
            <a:endParaRPr lang="en-US" sz="1100" dirty="0">
              <a:solidFill>
                <a:schemeClr val="bg1"/>
              </a:solidFill>
              <a:highlight>
                <a:srgbClr val="80808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Three phases — one student journey</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5</a:t>
            </a:r>
            <a:endParaRPr lang="en-US" sz="900" dirty="0"/>
          </a:p>
        </p:txBody>
      </p:sp>
      <p:sp>
        <p:nvSpPr>
          <p:cNvPr id="6" name="Text 4"/>
          <p:cNvSpPr/>
          <p:nvPr/>
        </p:nvSpPr>
        <p:spPr>
          <a:xfrm>
            <a:off x="566928" y="1417320"/>
            <a:ext cx="5760720" cy="2560320"/>
          </a:xfrm>
          <a:prstGeom prst="rect">
            <a:avLst/>
          </a:prstGeom>
          <a:noFill/>
          <a:ln/>
        </p:spPr>
        <p:txBody>
          <a:bodyPr wrap="square" lIns="0" tIns="0" rIns="0" bIns="0" rtlCol="0" anchor="t"/>
          <a:lstStyle/>
          <a:p>
            <a:pPr marL="0" indent="0">
              <a:lnSpc>
                <a:spcPct val="122000"/>
              </a:lnSpc>
              <a:buNone/>
            </a:pPr>
            <a:r>
              <a:rPr lang="en-US" sz="1550" dirty="0">
                <a:solidFill>
                  <a:srgbClr val="1C1C28"/>
                </a:solidFill>
                <a:latin typeface="Source Sans 3" pitchFamily="34" charset="0"/>
                <a:ea typeface="Source Sans 3" pitchFamily="34" charset="-122"/>
                <a:cs typeface="Source Sans 3" pitchFamily="34" charset="-120"/>
              </a:rPr>
              <a:t>Faculty sites span all three phases — prospectus content for applicants, 1,150 current-student (CS) pages, and alumni networks. The link flows below show how estates connect and where the connections are broken. Arrows show direction and volume of links found in the June 2026 crawl.</a:t>
            </a:r>
            <a:endParaRPr lang="en-US" sz="1550" dirty="0"/>
          </a:p>
        </p:txBody>
      </p:sp>
      <p:sp>
        <p:nvSpPr>
          <p:cNvPr id="7" name="Shape 5"/>
          <p:cNvSpPr/>
          <p:nvPr/>
        </p:nvSpPr>
        <p:spPr>
          <a:xfrm>
            <a:off x="6720840" y="1412748"/>
            <a:ext cx="1280160" cy="256032"/>
          </a:xfrm>
          <a:prstGeom prst="rect">
            <a:avLst/>
          </a:prstGeom>
          <a:solidFill>
            <a:srgbClr val="EAF6FB"/>
          </a:solidFill>
          <a:ln w="6350">
            <a:solidFill>
              <a:srgbClr val="2F95B7"/>
            </a:solidFill>
            <a:prstDash val="solid"/>
          </a:ln>
        </p:spPr>
        <p:txBody>
          <a:bodyPr/>
          <a:lstStyle/>
          <a:p>
            <a:endParaRPr lang="en-AU"/>
          </a:p>
        </p:txBody>
      </p:sp>
      <p:sp>
        <p:nvSpPr>
          <p:cNvPr id="8" name="Text 6"/>
          <p:cNvSpPr/>
          <p:nvPr/>
        </p:nvSpPr>
        <p:spPr>
          <a:xfrm>
            <a:off x="6720840" y="1412748"/>
            <a:ext cx="1280160" cy="256032"/>
          </a:xfrm>
          <a:prstGeom prst="rect">
            <a:avLst/>
          </a:prstGeom>
          <a:noFill/>
          <a:ln/>
        </p:spPr>
        <p:txBody>
          <a:bodyPr wrap="square" lIns="0" tIns="0" rIns="0" bIns="0" rtlCol="0" anchor="ctr"/>
          <a:lstStyle/>
          <a:p>
            <a:pPr marL="0" indent="0" algn="ctr">
              <a:lnSpc>
                <a:spcPct val="100000"/>
              </a:lnSpc>
              <a:buNone/>
            </a:pPr>
            <a:r>
              <a:rPr lang="en-US" sz="700" b="1" dirty="0">
                <a:solidFill>
                  <a:srgbClr val="2F95B7"/>
                </a:solidFill>
                <a:latin typeface="Source Code Pro" pitchFamily="34" charset="0"/>
                <a:ea typeface="Source Code Pro" pitchFamily="34" charset="-122"/>
                <a:cs typeface="Source Code Pro" pitchFamily="34" charset="-120"/>
              </a:rPr>
              <a:t>BEFORE</a:t>
            </a:r>
            <a:endParaRPr lang="en-US" sz="700" dirty="0"/>
          </a:p>
          <a:p>
            <a:pPr marL="0" indent="0" algn="ctr">
              <a:lnSpc>
                <a:spcPct val="100000"/>
              </a:lnSpc>
              <a:buNone/>
            </a:pPr>
            <a:r>
              <a:rPr lang="en-US" sz="700" b="1" dirty="0">
                <a:solidFill>
                  <a:srgbClr val="2F95B7"/>
                </a:solidFill>
                <a:latin typeface="Source Code Pro" pitchFamily="34" charset="0"/>
                <a:ea typeface="Source Code Pro" pitchFamily="34" charset="-122"/>
                <a:cs typeface="Source Code Pro" pitchFamily="34" charset="-120"/>
              </a:rPr>
              <a:t>ENROLMENT</a:t>
            </a:r>
            <a:endParaRPr lang="en-US" sz="700" dirty="0"/>
          </a:p>
        </p:txBody>
      </p:sp>
      <p:sp>
        <p:nvSpPr>
          <p:cNvPr id="9" name="Shape 7"/>
          <p:cNvSpPr/>
          <p:nvPr/>
        </p:nvSpPr>
        <p:spPr>
          <a:xfrm>
            <a:off x="8321040" y="1412748"/>
            <a:ext cx="1874520" cy="256032"/>
          </a:xfrm>
          <a:prstGeom prst="rect">
            <a:avLst/>
          </a:prstGeom>
          <a:solidFill>
            <a:srgbClr val="000F46"/>
          </a:solidFill>
          <a:ln w="6350">
            <a:solidFill>
              <a:srgbClr val="000F46"/>
            </a:solidFill>
            <a:prstDash val="solid"/>
          </a:ln>
        </p:spPr>
        <p:txBody>
          <a:bodyPr/>
          <a:lstStyle/>
          <a:p>
            <a:endParaRPr lang="en-AU"/>
          </a:p>
        </p:txBody>
      </p:sp>
      <p:sp>
        <p:nvSpPr>
          <p:cNvPr id="10" name="Text 8"/>
          <p:cNvSpPr/>
          <p:nvPr/>
        </p:nvSpPr>
        <p:spPr>
          <a:xfrm>
            <a:off x="8321040" y="1412748"/>
            <a:ext cx="1874520" cy="256032"/>
          </a:xfrm>
          <a:prstGeom prst="rect">
            <a:avLst/>
          </a:prstGeom>
          <a:noFill/>
          <a:ln/>
        </p:spPr>
        <p:txBody>
          <a:bodyPr wrap="square" lIns="0" tIns="0" rIns="0" bIns="0" rtlCol="0" anchor="ctr"/>
          <a:lstStyle/>
          <a:p>
            <a:pPr marL="0" indent="0" algn="ctr">
              <a:buNone/>
            </a:pPr>
            <a:r>
              <a:rPr lang="en-US" sz="750" b="1" kern="0" spc="50" dirty="0">
                <a:solidFill>
                  <a:srgbClr val="46C8F0"/>
                </a:solidFill>
                <a:latin typeface="Source Code Pro" pitchFamily="34" charset="0"/>
                <a:ea typeface="Source Code Pro" pitchFamily="34" charset="-122"/>
                <a:cs typeface="Source Code Pro" pitchFamily="34" charset="-120"/>
              </a:rPr>
              <a:t>DURING STUDY</a:t>
            </a:r>
            <a:endParaRPr lang="en-US" sz="750" dirty="0"/>
          </a:p>
        </p:txBody>
      </p:sp>
      <p:sp>
        <p:nvSpPr>
          <p:cNvPr id="11" name="Shape 9"/>
          <p:cNvSpPr/>
          <p:nvPr/>
        </p:nvSpPr>
        <p:spPr>
          <a:xfrm>
            <a:off x="10469880" y="1412748"/>
            <a:ext cx="1143000" cy="256032"/>
          </a:xfrm>
          <a:prstGeom prst="rect">
            <a:avLst/>
          </a:prstGeom>
          <a:solidFill>
            <a:srgbClr val="F4F4F4"/>
          </a:solidFill>
          <a:ln w="6350">
            <a:solidFill>
              <a:srgbClr val="DDDDE7"/>
            </a:solidFill>
            <a:prstDash val="solid"/>
          </a:ln>
        </p:spPr>
        <p:txBody>
          <a:bodyPr/>
          <a:lstStyle/>
          <a:p>
            <a:endParaRPr lang="en-AU"/>
          </a:p>
        </p:txBody>
      </p:sp>
      <p:sp>
        <p:nvSpPr>
          <p:cNvPr id="12" name="Text 10"/>
          <p:cNvSpPr/>
          <p:nvPr/>
        </p:nvSpPr>
        <p:spPr>
          <a:xfrm>
            <a:off x="10469880" y="1412748"/>
            <a:ext cx="1143000" cy="256032"/>
          </a:xfrm>
          <a:prstGeom prst="rect">
            <a:avLst/>
          </a:prstGeom>
          <a:noFill/>
          <a:ln/>
        </p:spPr>
        <p:txBody>
          <a:bodyPr wrap="square" lIns="0" tIns="0" rIns="0" bIns="0" rtlCol="0" anchor="ctr"/>
          <a:lstStyle/>
          <a:p>
            <a:pPr marL="0" indent="0" algn="ctr">
              <a:lnSpc>
                <a:spcPct val="100000"/>
              </a:lnSpc>
              <a:buNone/>
            </a:pPr>
            <a:r>
              <a:rPr lang="en-US" sz="700" b="1" dirty="0">
                <a:solidFill>
                  <a:srgbClr val="000B34"/>
                </a:solidFill>
                <a:latin typeface="Source Code Pro" pitchFamily="34" charset="0"/>
                <a:ea typeface="Source Code Pro" pitchFamily="34" charset="-122"/>
                <a:cs typeface="Source Code Pro" pitchFamily="34" charset="-120"/>
              </a:rPr>
              <a:t>AFTER</a:t>
            </a:r>
            <a:endParaRPr lang="en-US" sz="700" dirty="0"/>
          </a:p>
          <a:p>
            <a:pPr marL="0" indent="0" algn="ctr">
              <a:lnSpc>
                <a:spcPct val="100000"/>
              </a:lnSpc>
              <a:buNone/>
            </a:pPr>
            <a:r>
              <a:rPr lang="en-US" sz="700" b="1" dirty="0">
                <a:solidFill>
                  <a:srgbClr val="000B34"/>
                </a:solidFill>
                <a:latin typeface="Source Code Pro" pitchFamily="34" charset="0"/>
                <a:ea typeface="Source Code Pro" pitchFamily="34" charset="-122"/>
                <a:cs typeface="Source Code Pro" pitchFamily="34" charset="-120"/>
              </a:rPr>
              <a:t>GRADUATION</a:t>
            </a:r>
            <a:endParaRPr lang="en-US" sz="700" dirty="0"/>
          </a:p>
        </p:txBody>
      </p:sp>
      <p:sp>
        <p:nvSpPr>
          <p:cNvPr id="13" name="Shape 11"/>
          <p:cNvSpPr/>
          <p:nvPr/>
        </p:nvSpPr>
        <p:spPr>
          <a:xfrm>
            <a:off x="6720840" y="1705356"/>
            <a:ext cx="1280160" cy="1143000"/>
          </a:xfrm>
          <a:prstGeom prst="rect">
            <a:avLst/>
          </a:prstGeom>
          <a:solidFill>
            <a:srgbClr val="EAF6FB"/>
          </a:solidFill>
          <a:ln w="19050">
            <a:solidFill>
              <a:srgbClr val="2F95B7"/>
            </a:solidFill>
            <a:prstDash val="solid"/>
          </a:ln>
        </p:spPr>
        <p:txBody>
          <a:bodyPr/>
          <a:lstStyle/>
          <a:p>
            <a:endParaRPr lang="en-AU"/>
          </a:p>
        </p:txBody>
      </p:sp>
      <p:sp>
        <p:nvSpPr>
          <p:cNvPr id="14" name="Text 12"/>
          <p:cNvSpPr/>
          <p:nvPr/>
        </p:nvSpPr>
        <p:spPr>
          <a:xfrm>
            <a:off x="6720840" y="1796796"/>
            <a:ext cx="1280160" cy="658368"/>
          </a:xfrm>
          <a:prstGeom prst="rect">
            <a:avLst/>
          </a:prstGeom>
          <a:noFill/>
          <a:ln/>
        </p:spPr>
        <p:txBody>
          <a:bodyPr wrap="square" lIns="0" tIns="0" rIns="0" bIns="0" rtlCol="0" anchor="ctr"/>
          <a:lstStyle/>
          <a:p>
            <a:pPr marL="0" indent="0" algn="ctr">
              <a:lnSpc>
                <a:spcPct val="110000"/>
              </a:lnSpc>
              <a:buNone/>
            </a:pPr>
            <a:r>
              <a:rPr lang="en-US" sz="1050" b="1" dirty="0">
                <a:solidFill>
                  <a:srgbClr val="000F46"/>
                </a:solidFill>
                <a:latin typeface="Source Sans 3" pitchFamily="34" charset="0"/>
                <a:ea typeface="Source Sans 3" pitchFamily="34" charset="-122"/>
                <a:cs typeface="Source Sans 3" pitchFamily="34" charset="-120"/>
              </a:rPr>
              <a:t>study.unimelb</a:t>
            </a:r>
            <a:endParaRPr lang="en-US" sz="1050" dirty="0"/>
          </a:p>
          <a:p>
            <a:pPr marL="0" indent="0" algn="ctr">
              <a:lnSpc>
                <a:spcPct val="110000"/>
              </a:lnSpc>
              <a:buNone/>
            </a:pPr>
            <a:r>
              <a:rPr lang="en-US" sz="1050" b="1" dirty="0">
                <a:solidFill>
                  <a:srgbClr val="000F46"/>
                </a:solidFill>
                <a:latin typeface="Source Sans 3" pitchFamily="34" charset="0"/>
                <a:ea typeface="Source Sans 3" pitchFamily="34" charset="-122"/>
                <a:cs typeface="Source Sans 3" pitchFamily="34" charset="-120"/>
              </a:rPr>
              <a:t>.edu.au</a:t>
            </a:r>
            <a:endParaRPr lang="en-US" sz="1050" dirty="0"/>
          </a:p>
        </p:txBody>
      </p:sp>
      <p:sp>
        <p:nvSpPr>
          <p:cNvPr id="15" name="Text 13"/>
          <p:cNvSpPr/>
          <p:nvPr/>
        </p:nvSpPr>
        <p:spPr>
          <a:xfrm>
            <a:off x="6720840" y="2482596"/>
            <a:ext cx="1280160" cy="310896"/>
          </a:xfrm>
          <a:prstGeom prst="rect">
            <a:avLst/>
          </a:prstGeom>
          <a:noFill/>
          <a:ln/>
        </p:spPr>
        <p:txBody>
          <a:bodyPr wrap="square" lIns="0" tIns="0" rIns="0" bIns="0" rtlCol="0" anchor="ctr"/>
          <a:lstStyle/>
          <a:p>
            <a:pPr marL="0" indent="0" algn="ctr">
              <a:buNone/>
            </a:pPr>
            <a:r>
              <a:rPr lang="en-US" sz="900" dirty="0">
                <a:solidFill>
                  <a:srgbClr val="5B5B6B"/>
                </a:solidFill>
                <a:latin typeface="Source Code Pro" pitchFamily="34" charset="0"/>
                <a:ea typeface="Source Code Pro" pitchFamily="34" charset="-122"/>
                <a:cs typeface="Source Code Pro" pitchFamily="34" charset="-120"/>
              </a:rPr>
              <a:t>300 pages</a:t>
            </a:r>
            <a:endParaRPr lang="en-US" sz="900" dirty="0"/>
          </a:p>
        </p:txBody>
      </p:sp>
      <p:sp>
        <p:nvSpPr>
          <p:cNvPr id="16" name="Shape 14"/>
          <p:cNvSpPr/>
          <p:nvPr/>
        </p:nvSpPr>
        <p:spPr>
          <a:xfrm>
            <a:off x="8321040" y="1705356"/>
            <a:ext cx="1874520" cy="1143000"/>
          </a:xfrm>
          <a:prstGeom prst="rect">
            <a:avLst/>
          </a:prstGeom>
          <a:solidFill>
            <a:srgbClr val="000F46"/>
          </a:solidFill>
          <a:ln w="19050">
            <a:solidFill>
              <a:srgbClr val="000F46"/>
            </a:solidFill>
            <a:prstDash val="solid"/>
          </a:ln>
        </p:spPr>
        <p:txBody>
          <a:bodyPr/>
          <a:lstStyle/>
          <a:p>
            <a:endParaRPr lang="en-AU"/>
          </a:p>
        </p:txBody>
      </p:sp>
      <p:sp>
        <p:nvSpPr>
          <p:cNvPr id="17" name="Text 15"/>
          <p:cNvSpPr/>
          <p:nvPr/>
        </p:nvSpPr>
        <p:spPr>
          <a:xfrm>
            <a:off x="8321040" y="1842516"/>
            <a:ext cx="187452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Source Sans 3" pitchFamily="34" charset="0"/>
                <a:ea typeface="Source Sans 3" pitchFamily="34" charset="-122"/>
                <a:cs typeface="Source Sans 3" pitchFamily="34" charset="-120"/>
              </a:rPr>
              <a:t>students.unimelb.edu.au</a:t>
            </a:r>
            <a:endParaRPr lang="en-US" sz="1050" dirty="0"/>
          </a:p>
        </p:txBody>
      </p:sp>
      <p:sp>
        <p:nvSpPr>
          <p:cNvPr id="18" name="Text 16"/>
          <p:cNvSpPr/>
          <p:nvPr/>
        </p:nvSpPr>
        <p:spPr>
          <a:xfrm>
            <a:off x="8321040" y="2372868"/>
            <a:ext cx="1874520" cy="347472"/>
          </a:xfrm>
          <a:prstGeom prst="rect">
            <a:avLst/>
          </a:prstGeom>
          <a:noFill/>
          <a:ln/>
        </p:spPr>
        <p:txBody>
          <a:bodyPr wrap="square" lIns="0" tIns="0" rIns="0" bIns="0" rtlCol="0" anchor="ctr"/>
          <a:lstStyle/>
          <a:p>
            <a:pPr marL="0" indent="0" algn="ctr">
              <a:buNone/>
            </a:pPr>
            <a:r>
              <a:rPr lang="en-US" sz="850" dirty="0">
                <a:solidFill>
                  <a:srgbClr val="C9CDE6"/>
                </a:solidFill>
                <a:latin typeface="Source Code Pro" pitchFamily="34" charset="0"/>
                <a:ea typeface="Source Code Pro" pitchFamily="34" charset="-122"/>
                <a:cs typeface="Source Code Pro" pitchFamily="34" charset="-120"/>
              </a:rPr>
              <a:t>student services</a:t>
            </a:r>
            <a:endParaRPr lang="en-US" sz="850" dirty="0"/>
          </a:p>
        </p:txBody>
      </p:sp>
      <p:sp>
        <p:nvSpPr>
          <p:cNvPr id="19" name="Text 17"/>
          <p:cNvSpPr/>
          <p:nvPr/>
        </p:nvSpPr>
        <p:spPr>
          <a:xfrm>
            <a:off x="8321040" y="2628900"/>
            <a:ext cx="1874520" cy="201168"/>
          </a:xfrm>
          <a:prstGeom prst="rect">
            <a:avLst/>
          </a:prstGeom>
          <a:noFill/>
          <a:ln/>
        </p:spPr>
        <p:txBody>
          <a:bodyPr wrap="square" lIns="0" tIns="0" rIns="0" bIns="0" rtlCol="0" anchor="ctr"/>
          <a:lstStyle/>
          <a:p>
            <a:pPr marL="0" indent="0" algn="ctr">
              <a:buNone/>
            </a:pPr>
            <a:r>
              <a:rPr lang="en-US" sz="900" dirty="0">
                <a:solidFill>
                  <a:srgbClr val="AAB0D4"/>
                </a:solidFill>
                <a:latin typeface="Source Code Pro" pitchFamily="34" charset="0"/>
                <a:ea typeface="Source Code Pro" pitchFamily="34" charset="-122"/>
                <a:cs typeface="Source Code Pro" pitchFamily="34" charset="-120"/>
              </a:rPr>
              <a:t>74 pages</a:t>
            </a:r>
            <a:endParaRPr lang="en-US" sz="900" dirty="0"/>
          </a:p>
        </p:txBody>
      </p:sp>
      <p:sp>
        <p:nvSpPr>
          <p:cNvPr id="20" name="Shape 18"/>
          <p:cNvSpPr/>
          <p:nvPr/>
        </p:nvSpPr>
        <p:spPr>
          <a:xfrm>
            <a:off x="10469880" y="1705356"/>
            <a:ext cx="1143000" cy="1143000"/>
          </a:xfrm>
          <a:prstGeom prst="rect">
            <a:avLst/>
          </a:prstGeom>
          <a:solidFill>
            <a:srgbClr val="F4F4F4"/>
          </a:solidFill>
          <a:ln w="19050">
            <a:solidFill>
              <a:srgbClr val="DDDDE7"/>
            </a:solidFill>
            <a:prstDash val="solid"/>
          </a:ln>
        </p:spPr>
        <p:txBody>
          <a:bodyPr/>
          <a:lstStyle/>
          <a:p>
            <a:endParaRPr lang="en-AU"/>
          </a:p>
        </p:txBody>
      </p:sp>
      <p:sp>
        <p:nvSpPr>
          <p:cNvPr id="21" name="Text 19"/>
          <p:cNvSpPr/>
          <p:nvPr/>
        </p:nvSpPr>
        <p:spPr>
          <a:xfrm>
            <a:off x="10469880" y="1796796"/>
            <a:ext cx="1143000" cy="658368"/>
          </a:xfrm>
          <a:prstGeom prst="rect">
            <a:avLst/>
          </a:prstGeom>
          <a:noFill/>
          <a:ln/>
        </p:spPr>
        <p:txBody>
          <a:bodyPr wrap="square" lIns="0" tIns="0" rIns="0" bIns="0" rtlCol="0" anchor="ctr"/>
          <a:lstStyle/>
          <a:p>
            <a:pPr marL="0" indent="0" algn="ctr">
              <a:lnSpc>
                <a:spcPct val="110000"/>
              </a:lnSpc>
              <a:buNone/>
            </a:pPr>
            <a:r>
              <a:rPr lang="en-US" sz="1050" b="1" dirty="0">
                <a:solidFill>
                  <a:srgbClr val="000F46"/>
                </a:solidFill>
                <a:latin typeface="Source Sans 3" pitchFamily="34" charset="0"/>
                <a:ea typeface="Source Sans 3" pitchFamily="34" charset="-122"/>
                <a:cs typeface="Source Sans 3" pitchFamily="34" charset="-120"/>
              </a:rPr>
              <a:t>alumni</a:t>
            </a:r>
            <a:endParaRPr lang="en-US" sz="1050" dirty="0"/>
          </a:p>
          <a:p>
            <a:pPr marL="0" indent="0" algn="ctr">
              <a:lnSpc>
                <a:spcPct val="110000"/>
              </a:lnSpc>
              <a:buNone/>
            </a:pPr>
            <a:r>
              <a:rPr lang="en-US" sz="1050" b="1" dirty="0">
                <a:solidFill>
                  <a:srgbClr val="000F46"/>
                </a:solidFill>
                <a:latin typeface="Source Sans 3" pitchFamily="34" charset="0"/>
                <a:ea typeface="Source Sans 3" pitchFamily="34" charset="-122"/>
                <a:cs typeface="Source Sans 3" pitchFamily="34" charset="-120"/>
              </a:rPr>
              <a:t>.unimelb.edu.au</a:t>
            </a:r>
            <a:endParaRPr lang="en-US" sz="1050" dirty="0"/>
          </a:p>
        </p:txBody>
      </p:sp>
      <p:sp>
        <p:nvSpPr>
          <p:cNvPr id="22" name="Text 20"/>
          <p:cNvSpPr/>
          <p:nvPr/>
        </p:nvSpPr>
        <p:spPr>
          <a:xfrm>
            <a:off x="10469880" y="2482596"/>
            <a:ext cx="1143000" cy="310896"/>
          </a:xfrm>
          <a:prstGeom prst="rect">
            <a:avLst/>
          </a:prstGeom>
          <a:noFill/>
          <a:ln/>
        </p:spPr>
        <p:txBody>
          <a:bodyPr wrap="square" lIns="0" tIns="0" rIns="0" bIns="0" rtlCol="0" anchor="ctr"/>
          <a:lstStyle/>
          <a:p>
            <a:pPr marL="0" indent="0" algn="ctr">
              <a:buNone/>
            </a:pPr>
            <a:r>
              <a:rPr lang="en-US" sz="900" dirty="0">
                <a:solidFill>
                  <a:srgbClr val="5B5B6B"/>
                </a:solidFill>
                <a:latin typeface="Source Code Pro" pitchFamily="34" charset="0"/>
                <a:ea typeface="Source Code Pro" pitchFamily="34" charset="-122"/>
                <a:cs typeface="Source Code Pro" pitchFamily="34" charset="-120"/>
              </a:rPr>
              <a:t>116 pages</a:t>
            </a:r>
            <a:endParaRPr lang="en-US" sz="900" dirty="0"/>
          </a:p>
        </p:txBody>
      </p:sp>
      <p:sp>
        <p:nvSpPr>
          <p:cNvPr id="23" name="Text 21"/>
          <p:cNvSpPr/>
          <p:nvPr/>
        </p:nvSpPr>
        <p:spPr>
          <a:xfrm>
            <a:off x="8028432" y="2098548"/>
            <a:ext cx="274320" cy="384048"/>
          </a:xfrm>
          <a:prstGeom prst="rect">
            <a:avLst/>
          </a:prstGeom>
          <a:noFill/>
          <a:ln/>
        </p:spPr>
        <p:txBody>
          <a:bodyPr wrap="square" lIns="0" tIns="0" rIns="0" bIns="0" rtlCol="0" anchor="ctr"/>
          <a:lstStyle/>
          <a:p>
            <a:pPr marL="0" indent="0" algn="ctr">
              <a:lnSpc>
                <a:spcPct val="105000"/>
              </a:lnSpc>
              <a:buNone/>
            </a:pPr>
            <a:r>
              <a:rPr lang="en-US" sz="700" dirty="0">
                <a:solidFill>
                  <a:srgbClr val="2F95B7"/>
                </a:solidFill>
                <a:latin typeface="Source Code Pro" pitchFamily="34" charset="0"/>
                <a:ea typeface="Source Code Pro" pitchFamily="34" charset="-122"/>
                <a:cs typeface="Source Code Pro" pitchFamily="34" charset="-120"/>
              </a:rPr>
              <a:t>→273</a:t>
            </a:r>
            <a:endParaRPr lang="en-US" sz="700" dirty="0"/>
          </a:p>
          <a:p>
            <a:pPr marL="0" indent="0" algn="ctr">
              <a:lnSpc>
                <a:spcPct val="105000"/>
              </a:lnSpc>
              <a:buNone/>
            </a:pPr>
            <a:r>
              <a:rPr lang="en-US" sz="700" dirty="0">
                <a:solidFill>
                  <a:srgbClr val="2F95B7"/>
                </a:solidFill>
                <a:latin typeface="Source Code Pro" pitchFamily="34" charset="0"/>
                <a:ea typeface="Source Code Pro" pitchFamily="34" charset="-122"/>
                <a:cs typeface="Source Code Pro" pitchFamily="34" charset="-120"/>
              </a:rPr>
              <a:t>links</a:t>
            </a:r>
            <a:endParaRPr lang="en-US" sz="700" dirty="0"/>
          </a:p>
        </p:txBody>
      </p:sp>
      <p:sp>
        <p:nvSpPr>
          <p:cNvPr id="24" name="Text 22"/>
          <p:cNvSpPr/>
          <p:nvPr/>
        </p:nvSpPr>
        <p:spPr>
          <a:xfrm>
            <a:off x="10222992" y="2098548"/>
            <a:ext cx="228600" cy="384048"/>
          </a:xfrm>
          <a:prstGeom prst="rect">
            <a:avLst/>
          </a:prstGeom>
          <a:noFill/>
          <a:ln/>
        </p:spPr>
        <p:txBody>
          <a:bodyPr wrap="square" lIns="0" tIns="0" rIns="0" bIns="0" rtlCol="0" anchor="ctr"/>
          <a:lstStyle/>
          <a:p>
            <a:pPr marL="0" indent="0" algn="ctr">
              <a:lnSpc>
                <a:spcPct val="105000"/>
              </a:lnSpc>
              <a:buNone/>
            </a:pPr>
            <a:r>
              <a:rPr lang="en-US" sz="700" dirty="0">
                <a:solidFill>
                  <a:srgbClr val="5B5B6B"/>
                </a:solidFill>
                <a:latin typeface="Source Code Pro" pitchFamily="34" charset="0"/>
                <a:ea typeface="Source Code Pro" pitchFamily="34" charset="-122"/>
                <a:cs typeface="Source Code Pro" pitchFamily="34" charset="-120"/>
              </a:rPr>
              <a:t>✗</a:t>
            </a:r>
            <a:endParaRPr lang="en-US" sz="700" dirty="0"/>
          </a:p>
          <a:p>
            <a:pPr marL="0" indent="0" algn="ctr">
              <a:lnSpc>
                <a:spcPct val="105000"/>
              </a:lnSpc>
              <a:buNone/>
            </a:pPr>
            <a:r>
              <a:rPr lang="en-US" sz="700" dirty="0">
                <a:solidFill>
                  <a:srgbClr val="5B5B6B"/>
                </a:solidFill>
                <a:latin typeface="Source Code Pro" pitchFamily="34" charset="0"/>
                <a:ea typeface="Source Code Pro" pitchFamily="34" charset="-122"/>
                <a:cs typeface="Source Code Pro" pitchFamily="34" charset="-120"/>
              </a:rPr>
              <a:t>none</a:t>
            </a:r>
            <a:endParaRPr lang="en-US" sz="700" dirty="0"/>
          </a:p>
        </p:txBody>
      </p:sp>
      <p:sp>
        <p:nvSpPr>
          <p:cNvPr id="25" name="Shape 23"/>
          <p:cNvSpPr/>
          <p:nvPr/>
        </p:nvSpPr>
        <p:spPr>
          <a:xfrm>
            <a:off x="6720840" y="2939796"/>
            <a:ext cx="4892040" cy="237744"/>
          </a:xfrm>
          <a:prstGeom prst="rect">
            <a:avLst/>
          </a:prstGeom>
          <a:solidFill>
            <a:srgbClr val="000B34"/>
          </a:solidFill>
          <a:ln/>
        </p:spPr>
        <p:txBody>
          <a:bodyPr/>
          <a:lstStyle/>
          <a:p>
            <a:endParaRPr lang="en-AU"/>
          </a:p>
        </p:txBody>
      </p:sp>
      <p:sp>
        <p:nvSpPr>
          <p:cNvPr id="26" name="Text 24"/>
          <p:cNvSpPr/>
          <p:nvPr/>
        </p:nvSpPr>
        <p:spPr>
          <a:xfrm>
            <a:off x="6720840" y="2939796"/>
            <a:ext cx="4892040" cy="237744"/>
          </a:xfrm>
          <a:prstGeom prst="rect">
            <a:avLst/>
          </a:prstGeom>
          <a:noFill/>
          <a:ln/>
        </p:spPr>
        <p:txBody>
          <a:bodyPr wrap="square" lIns="0" tIns="0" rIns="0" bIns="0" rtlCol="0" anchor="ctr"/>
          <a:lstStyle/>
          <a:p>
            <a:pPr marL="0" indent="0" algn="ctr">
              <a:buNone/>
            </a:pPr>
            <a:r>
              <a:rPr lang="en-US" sz="800" b="1" kern="0" spc="30" dirty="0">
                <a:solidFill>
                  <a:srgbClr val="C9CDE6"/>
                </a:solidFill>
                <a:latin typeface="Source Code Pro" pitchFamily="34" charset="0"/>
                <a:ea typeface="Source Code Pro" pitchFamily="34" charset="-122"/>
                <a:cs typeface="Source Code Pro" pitchFamily="34" charset="-120"/>
              </a:rPr>
              <a:t>FACULTY &amp; SCHOOL SITES (12) — spans all three phases</a:t>
            </a:r>
            <a:endParaRPr lang="en-US" sz="800" dirty="0"/>
          </a:p>
        </p:txBody>
      </p:sp>
      <p:sp>
        <p:nvSpPr>
          <p:cNvPr id="27" name="Shape 25"/>
          <p:cNvSpPr/>
          <p:nvPr/>
        </p:nvSpPr>
        <p:spPr>
          <a:xfrm>
            <a:off x="6720840" y="3177540"/>
            <a:ext cx="4892040" cy="914400"/>
          </a:xfrm>
          <a:prstGeom prst="rect">
            <a:avLst/>
          </a:prstGeom>
          <a:solidFill>
            <a:srgbClr val="8F96C2">
              <a:alpha val="25000"/>
            </a:srgbClr>
          </a:solidFill>
          <a:ln w="9525">
            <a:solidFill>
              <a:srgbClr val="000B34"/>
            </a:solidFill>
            <a:prstDash val="solid"/>
          </a:ln>
        </p:spPr>
        <p:txBody>
          <a:bodyPr/>
          <a:lstStyle/>
          <a:p>
            <a:endParaRPr lang="en-AU"/>
          </a:p>
        </p:txBody>
      </p:sp>
      <p:sp>
        <p:nvSpPr>
          <p:cNvPr id="28" name="Text 26"/>
          <p:cNvSpPr/>
          <p:nvPr/>
        </p:nvSpPr>
        <p:spPr>
          <a:xfrm>
            <a:off x="6720840" y="3177540"/>
            <a:ext cx="1280160" cy="914400"/>
          </a:xfrm>
          <a:prstGeom prst="rect">
            <a:avLst/>
          </a:prstGeom>
          <a:noFill/>
          <a:ln/>
        </p:spPr>
        <p:txBody>
          <a:bodyPr wrap="square" lIns="0" tIns="0" rIns="0" bIns="0" rtlCol="0" anchor="ctr"/>
          <a:lstStyle/>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 529 links</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sent back to</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study.unimelb</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(course plans</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&amp; entry info)</a:t>
            </a:r>
            <a:endParaRPr lang="en-US" sz="900" dirty="0"/>
          </a:p>
        </p:txBody>
      </p:sp>
      <p:sp>
        <p:nvSpPr>
          <p:cNvPr id="29" name="Text 27"/>
          <p:cNvSpPr/>
          <p:nvPr/>
        </p:nvSpPr>
        <p:spPr>
          <a:xfrm>
            <a:off x="8321040" y="3177540"/>
            <a:ext cx="1874520" cy="914400"/>
          </a:xfrm>
          <a:prstGeom prst="rect">
            <a:avLst/>
          </a:prstGeom>
          <a:noFill/>
          <a:ln/>
        </p:spPr>
        <p:txBody>
          <a:bodyPr wrap="square" lIns="0" tIns="0" rIns="0" bIns="0" rtlCol="0" anchor="ctr"/>
          <a:lstStyle/>
          <a:p>
            <a:pPr marL="0" indent="0" algn="ctr">
              <a:lnSpc>
                <a:spcPct val="110000"/>
              </a:lnSpc>
              <a:buNone/>
            </a:pPr>
            <a:r>
              <a:rPr lang="en-US" sz="1000" dirty="0">
                <a:solidFill>
                  <a:srgbClr val="000F46"/>
                </a:solidFill>
                <a:latin typeface="Source Sans 3" pitchFamily="34" charset="0"/>
                <a:ea typeface="Source Sans 3" pitchFamily="34" charset="-122"/>
                <a:cs typeface="Source Sans 3" pitchFamily="34" charset="-120"/>
              </a:rPr>
              <a:t>1,150 current-student pages</a:t>
            </a:r>
            <a:endParaRPr lang="en-US" sz="1000" dirty="0"/>
          </a:p>
          <a:p>
            <a:pPr marL="0" indent="0" algn="ctr">
              <a:lnSpc>
                <a:spcPct val="110000"/>
              </a:lnSpc>
              <a:buNone/>
            </a:pPr>
            <a:r>
              <a:rPr lang="en-US" sz="1000" dirty="0">
                <a:solidFill>
                  <a:srgbClr val="000F46"/>
                </a:solidFill>
                <a:latin typeface="Source Sans 3" pitchFamily="34" charset="0"/>
                <a:ea typeface="Source Sans 3" pitchFamily="34" charset="-122"/>
                <a:cs typeface="Source Sans 3" pitchFamily="34" charset="-120"/>
              </a:rPr>
              <a:t>(9 faculties + 3 schools)</a:t>
            </a:r>
            <a:endParaRPr lang="en-US" sz="1000" dirty="0"/>
          </a:p>
          <a:p>
            <a:pPr marL="0" indent="0" algn="ctr">
              <a:lnSpc>
                <a:spcPct val="110000"/>
              </a:lnSpc>
              <a:buNone/>
            </a:pPr>
            <a:r>
              <a:rPr lang="en-US" sz="1000" dirty="0">
                <a:solidFill>
                  <a:srgbClr val="000F46"/>
                </a:solidFill>
                <a:latin typeface="Source Sans 3" pitchFamily="34" charset="0"/>
                <a:ea typeface="Source Sans 3" pitchFamily="34" charset="-122"/>
                <a:cs typeface="Source Sans 3" pitchFamily="34" charset="-120"/>
              </a:rPr>
              <a:t>→ 4,629 links to students.unimelb</a:t>
            </a:r>
            <a:endParaRPr lang="en-US" sz="1000" dirty="0"/>
          </a:p>
        </p:txBody>
      </p:sp>
      <p:sp>
        <p:nvSpPr>
          <p:cNvPr id="30" name="Text 28"/>
          <p:cNvSpPr/>
          <p:nvPr/>
        </p:nvSpPr>
        <p:spPr>
          <a:xfrm>
            <a:off x="10469880" y="3177540"/>
            <a:ext cx="1143000" cy="914400"/>
          </a:xfrm>
          <a:prstGeom prst="rect">
            <a:avLst/>
          </a:prstGeom>
          <a:noFill/>
          <a:ln/>
        </p:spPr>
        <p:txBody>
          <a:bodyPr wrap="square" lIns="0" tIns="0" rIns="0" bIns="0" rtlCol="0" anchor="ctr"/>
          <a:lstStyle/>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12 faculty</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mentoring streams</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on alumni.unimelb</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 none found</a:t>
            </a:r>
            <a:endParaRPr lang="en-US" sz="900" dirty="0"/>
          </a:p>
          <a:p>
            <a:pPr marL="0" indent="0" algn="ctr">
              <a:lnSpc>
                <a:spcPct val="105000"/>
              </a:lnSpc>
              <a:buNone/>
            </a:pPr>
            <a:r>
              <a:rPr lang="en-US" sz="900" dirty="0">
                <a:solidFill>
                  <a:srgbClr val="000F46"/>
                </a:solidFill>
                <a:latin typeface="Source Sans 3" pitchFamily="34" charset="0"/>
                <a:ea typeface="Source Sans 3" pitchFamily="34" charset="-122"/>
                <a:cs typeface="Source Sans 3" pitchFamily="34" charset="-120"/>
              </a:rPr>
              <a:t>from faculty CS</a:t>
            </a:r>
            <a:endParaRPr lang="en-US" sz="900" dirty="0"/>
          </a:p>
        </p:txBody>
      </p:sp>
      <p:sp>
        <p:nvSpPr>
          <p:cNvPr id="31" name="Shape 29"/>
          <p:cNvSpPr/>
          <p:nvPr/>
        </p:nvSpPr>
        <p:spPr>
          <a:xfrm>
            <a:off x="6720840" y="4183380"/>
            <a:ext cx="4892040" cy="201168"/>
          </a:xfrm>
          <a:prstGeom prst="rect">
            <a:avLst/>
          </a:prstGeom>
          <a:solidFill>
            <a:srgbClr val="46C8F0">
              <a:alpha val="50000"/>
            </a:srgbClr>
          </a:solidFill>
          <a:ln/>
        </p:spPr>
        <p:txBody>
          <a:bodyPr/>
          <a:lstStyle/>
          <a:p>
            <a:endParaRPr lang="en-AU"/>
          </a:p>
        </p:txBody>
      </p:sp>
      <p:sp>
        <p:nvSpPr>
          <p:cNvPr id="32" name="Text 30"/>
          <p:cNvSpPr/>
          <p:nvPr/>
        </p:nvSpPr>
        <p:spPr>
          <a:xfrm>
            <a:off x="6720840" y="4183380"/>
            <a:ext cx="4892040" cy="201168"/>
          </a:xfrm>
          <a:prstGeom prst="rect">
            <a:avLst/>
          </a:prstGeom>
          <a:noFill/>
          <a:ln/>
        </p:spPr>
        <p:txBody>
          <a:bodyPr wrap="square" lIns="0" tIns="0" rIns="0" bIns="0" rtlCol="0" anchor="ctr"/>
          <a:lstStyle/>
          <a:p>
            <a:pPr marL="0" indent="0" algn="ctr">
              <a:buNone/>
            </a:pPr>
            <a:r>
              <a:rPr lang="en-US" sz="750" b="1" kern="0" spc="50" dirty="0">
                <a:solidFill>
                  <a:srgbClr val="000F46"/>
                </a:solidFill>
                <a:latin typeface="Source Code Pro" pitchFamily="34" charset="0"/>
                <a:ea typeface="Source Code Pro" pitchFamily="34" charset="-122"/>
                <a:cs typeface="Source Code Pro" pitchFamily="34" charset="-120"/>
              </a:rPr>
              <a:t>LINK FLOWS BETWEEN ESTATES</a:t>
            </a:r>
            <a:endParaRPr lang="en-US" sz="750" dirty="0"/>
          </a:p>
        </p:txBody>
      </p:sp>
      <p:sp>
        <p:nvSpPr>
          <p:cNvPr id="33" name="Shape 31"/>
          <p:cNvSpPr/>
          <p:nvPr/>
        </p:nvSpPr>
        <p:spPr>
          <a:xfrm>
            <a:off x="6720840" y="4402836"/>
            <a:ext cx="4892040" cy="164592"/>
          </a:xfrm>
          <a:prstGeom prst="rect">
            <a:avLst/>
          </a:prstGeom>
          <a:solidFill>
            <a:srgbClr val="EAF6FB"/>
          </a:solidFill>
          <a:ln w="6350">
            <a:solidFill>
              <a:srgbClr val="DDDDE7"/>
            </a:solidFill>
            <a:prstDash val="solid"/>
          </a:ln>
        </p:spPr>
        <p:txBody>
          <a:bodyPr/>
          <a:lstStyle/>
          <a:p>
            <a:endParaRPr lang="en-AU"/>
          </a:p>
        </p:txBody>
      </p:sp>
      <p:sp>
        <p:nvSpPr>
          <p:cNvPr id="34" name="Text 32"/>
          <p:cNvSpPr/>
          <p:nvPr/>
        </p:nvSpPr>
        <p:spPr>
          <a:xfrm>
            <a:off x="6766560" y="4402836"/>
            <a:ext cx="2880360" cy="164592"/>
          </a:xfrm>
          <a:prstGeom prst="rect">
            <a:avLst/>
          </a:prstGeom>
          <a:noFill/>
          <a:ln/>
        </p:spPr>
        <p:txBody>
          <a:bodyPr wrap="square" lIns="0" tIns="0" rIns="0" bIns="0" rtlCol="0" anchor="ctr"/>
          <a:lstStyle/>
          <a:p>
            <a:pPr marL="0" indent="0">
              <a:buNone/>
            </a:pPr>
            <a:r>
              <a:rPr lang="en-US" sz="800" b="1" dirty="0">
                <a:solidFill>
                  <a:srgbClr val="2F95B7"/>
                </a:solidFill>
                <a:latin typeface="Source Code Pro" pitchFamily="34" charset="0"/>
                <a:ea typeface="Source Code Pro" pitchFamily="34" charset="-122"/>
                <a:cs typeface="Source Code Pro" pitchFamily="34" charset="-120"/>
              </a:rPr>
              <a:t>→ Faculty CS → students.unimelb</a:t>
            </a:r>
            <a:endParaRPr lang="en-US" sz="800" dirty="0"/>
          </a:p>
        </p:txBody>
      </p:sp>
      <p:sp>
        <p:nvSpPr>
          <p:cNvPr id="35" name="Text 33"/>
          <p:cNvSpPr/>
          <p:nvPr/>
        </p:nvSpPr>
        <p:spPr>
          <a:xfrm>
            <a:off x="9665208" y="4402836"/>
            <a:ext cx="1901952" cy="164592"/>
          </a:xfrm>
          <a:prstGeom prst="rect">
            <a:avLst/>
          </a:prstGeom>
          <a:noFill/>
          <a:ln/>
        </p:spPr>
        <p:txBody>
          <a:bodyPr wrap="square" lIns="0" tIns="0" rIns="0" bIns="0" rtlCol="0" anchor="ctr"/>
          <a:lstStyle/>
          <a:p>
            <a:pPr marL="0" indent="0">
              <a:buNone/>
            </a:pPr>
            <a:r>
              <a:rPr lang="en-US" sz="750" dirty="0">
                <a:solidFill>
                  <a:srgbClr val="5B5B6B"/>
                </a:solidFill>
                <a:latin typeface="Source Code Pro" pitchFamily="34" charset="0"/>
                <a:ea typeface="Source Code Pro" pitchFamily="34" charset="-122"/>
                <a:cs typeface="Source Code Pro" pitchFamily="34" charset="-120"/>
              </a:rPr>
              <a:t>4,629 links · all topics</a:t>
            </a:r>
            <a:endParaRPr lang="en-US" sz="750" dirty="0"/>
          </a:p>
        </p:txBody>
      </p:sp>
      <p:sp>
        <p:nvSpPr>
          <p:cNvPr id="36" name="Shape 34"/>
          <p:cNvSpPr/>
          <p:nvPr/>
        </p:nvSpPr>
        <p:spPr>
          <a:xfrm>
            <a:off x="6720840" y="4576572"/>
            <a:ext cx="4892040" cy="164592"/>
          </a:xfrm>
          <a:prstGeom prst="rect">
            <a:avLst/>
          </a:prstGeom>
          <a:solidFill>
            <a:srgbClr val="EAF6FB"/>
          </a:solidFill>
          <a:ln w="6350">
            <a:solidFill>
              <a:srgbClr val="DDDDE7"/>
            </a:solidFill>
            <a:prstDash val="solid"/>
          </a:ln>
        </p:spPr>
        <p:txBody>
          <a:bodyPr/>
          <a:lstStyle/>
          <a:p>
            <a:endParaRPr lang="en-AU"/>
          </a:p>
        </p:txBody>
      </p:sp>
      <p:sp>
        <p:nvSpPr>
          <p:cNvPr id="37" name="Text 35"/>
          <p:cNvSpPr/>
          <p:nvPr/>
        </p:nvSpPr>
        <p:spPr>
          <a:xfrm>
            <a:off x="6766560" y="4576572"/>
            <a:ext cx="2880360" cy="164592"/>
          </a:xfrm>
          <a:prstGeom prst="rect">
            <a:avLst/>
          </a:prstGeom>
          <a:noFill/>
          <a:ln/>
        </p:spPr>
        <p:txBody>
          <a:bodyPr wrap="square" lIns="0" tIns="0" rIns="0" bIns="0" rtlCol="0" anchor="ctr"/>
          <a:lstStyle/>
          <a:p>
            <a:pPr marL="0" indent="0">
              <a:buNone/>
            </a:pPr>
            <a:r>
              <a:rPr lang="en-US" sz="800" b="1" dirty="0">
                <a:solidFill>
                  <a:srgbClr val="2F95B7"/>
                </a:solidFill>
                <a:latin typeface="Source Code Pro" pitchFamily="34" charset="0"/>
                <a:ea typeface="Source Code Pro" pitchFamily="34" charset="-122"/>
                <a:cs typeface="Source Code Pro" pitchFamily="34" charset="-120"/>
              </a:rPr>
              <a:t>→ Faculty CS → study.unimelb</a:t>
            </a:r>
            <a:endParaRPr lang="en-US" sz="800" dirty="0"/>
          </a:p>
        </p:txBody>
      </p:sp>
      <p:sp>
        <p:nvSpPr>
          <p:cNvPr id="38" name="Text 36"/>
          <p:cNvSpPr/>
          <p:nvPr/>
        </p:nvSpPr>
        <p:spPr>
          <a:xfrm>
            <a:off x="9665208" y="4576572"/>
            <a:ext cx="1901952" cy="164592"/>
          </a:xfrm>
          <a:prstGeom prst="rect">
            <a:avLst/>
          </a:prstGeom>
          <a:noFill/>
          <a:ln/>
        </p:spPr>
        <p:txBody>
          <a:bodyPr wrap="square" lIns="0" tIns="0" rIns="0" bIns="0" rtlCol="0" anchor="ctr"/>
          <a:lstStyle/>
          <a:p>
            <a:pPr marL="0" indent="0">
              <a:buNone/>
            </a:pPr>
            <a:r>
              <a:rPr lang="en-US" sz="750" dirty="0">
                <a:solidFill>
                  <a:srgbClr val="5B5B6B"/>
                </a:solidFill>
                <a:latin typeface="Source Code Pro" pitchFamily="34" charset="0"/>
                <a:ea typeface="Source Code Pro" pitchFamily="34" charset="-122"/>
                <a:cs typeface="Source Code Pro" pitchFamily="34" charset="-120"/>
              </a:rPr>
              <a:t>529 links · course planning</a:t>
            </a:r>
            <a:endParaRPr lang="en-US" sz="750" dirty="0"/>
          </a:p>
        </p:txBody>
      </p:sp>
      <p:sp>
        <p:nvSpPr>
          <p:cNvPr id="39" name="Shape 37"/>
          <p:cNvSpPr/>
          <p:nvPr/>
        </p:nvSpPr>
        <p:spPr>
          <a:xfrm>
            <a:off x="6720840" y="4750308"/>
            <a:ext cx="4892040" cy="164592"/>
          </a:xfrm>
          <a:prstGeom prst="rect">
            <a:avLst/>
          </a:prstGeom>
          <a:solidFill>
            <a:srgbClr val="EAF6FB"/>
          </a:solidFill>
          <a:ln w="6350">
            <a:solidFill>
              <a:srgbClr val="DDDDE7"/>
            </a:solidFill>
            <a:prstDash val="solid"/>
          </a:ln>
        </p:spPr>
        <p:txBody>
          <a:bodyPr/>
          <a:lstStyle/>
          <a:p>
            <a:endParaRPr lang="en-AU"/>
          </a:p>
        </p:txBody>
      </p:sp>
      <p:sp>
        <p:nvSpPr>
          <p:cNvPr id="40" name="Text 38"/>
          <p:cNvSpPr/>
          <p:nvPr/>
        </p:nvSpPr>
        <p:spPr>
          <a:xfrm>
            <a:off x="6766560" y="4750308"/>
            <a:ext cx="2880360" cy="164592"/>
          </a:xfrm>
          <a:prstGeom prst="rect">
            <a:avLst/>
          </a:prstGeom>
          <a:noFill/>
          <a:ln/>
        </p:spPr>
        <p:txBody>
          <a:bodyPr wrap="square" lIns="0" tIns="0" rIns="0" bIns="0" rtlCol="0" anchor="ctr"/>
          <a:lstStyle/>
          <a:p>
            <a:pPr marL="0" indent="0">
              <a:buNone/>
            </a:pPr>
            <a:r>
              <a:rPr lang="en-US" sz="800" b="1" dirty="0">
                <a:solidFill>
                  <a:srgbClr val="2F95B7"/>
                </a:solidFill>
                <a:latin typeface="Source Code Pro" pitchFamily="34" charset="0"/>
                <a:ea typeface="Source Code Pro" pitchFamily="34" charset="-122"/>
                <a:cs typeface="Source Code Pro" pitchFamily="34" charset="-120"/>
              </a:rPr>
              <a:t>→ study.unimelb → students.unimelb</a:t>
            </a:r>
            <a:endParaRPr lang="en-US" sz="800" dirty="0"/>
          </a:p>
        </p:txBody>
      </p:sp>
      <p:sp>
        <p:nvSpPr>
          <p:cNvPr id="41" name="Text 39"/>
          <p:cNvSpPr/>
          <p:nvPr/>
        </p:nvSpPr>
        <p:spPr>
          <a:xfrm>
            <a:off x="9665208" y="4750308"/>
            <a:ext cx="1901952" cy="164592"/>
          </a:xfrm>
          <a:prstGeom prst="rect">
            <a:avLst/>
          </a:prstGeom>
          <a:noFill/>
          <a:ln/>
        </p:spPr>
        <p:txBody>
          <a:bodyPr wrap="square" lIns="0" tIns="0" rIns="0" bIns="0" rtlCol="0" anchor="ctr"/>
          <a:lstStyle/>
          <a:p>
            <a:pPr marL="0" indent="0">
              <a:buNone/>
            </a:pPr>
            <a:r>
              <a:rPr lang="en-US" sz="750" dirty="0">
                <a:solidFill>
                  <a:srgbClr val="5B5B6B"/>
                </a:solidFill>
                <a:latin typeface="Source Code Pro" pitchFamily="34" charset="0"/>
                <a:ea typeface="Source Code Pro" pitchFamily="34" charset="-122"/>
                <a:cs typeface="Source Code Pro" pitchFamily="34" charset="-120"/>
              </a:rPr>
              <a:t>273 links · course info</a:t>
            </a:r>
            <a:endParaRPr lang="en-US" sz="750" dirty="0"/>
          </a:p>
        </p:txBody>
      </p:sp>
      <p:sp>
        <p:nvSpPr>
          <p:cNvPr id="42" name="Shape 40"/>
          <p:cNvSpPr/>
          <p:nvPr/>
        </p:nvSpPr>
        <p:spPr>
          <a:xfrm>
            <a:off x="6720840" y="4924044"/>
            <a:ext cx="4892040" cy="164592"/>
          </a:xfrm>
          <a:prstGeom prst="rect">
            <a:avLst/>
          </a:prstGeom>
          <a:solidFill>
            <a:srgbClr val="F4F4F4"/>
          </a:solidFill>
          <a:ln w="6350">
            <a:solidFill>
              <a:srgbClr val="DDDDE7"/>
            </a:solidFill>
            <a:prstDash val="solid"/>
          </a:ln>
        </p:spPr>
        <p:txBody>
          <a:bodyPr/>
          <a:lstStyle/>
          <a:p>
            <a:endParaRPr lang="en-AU"/>
          </a:p>
        </p:txBody>
      </p:sp>
      <p:sp>
        <p:nvSpPr>
          <p:cNvPr id="43" name="Text 41"/>
          <p:cNvSpPr/>
          <p:nvPr/>
        </p:nvSpPr>
        <p:spPr>
          <a:xfrm>
            <a:off x="6766560" y="4924044"/>
            <a:ext cx="2880360" cy="164592"/>
          </a:xfrm>
          <a:prstGeom prst="rect">
            <a:avLst/>
          </a:prstGeom>
          <a:noFill/>
          <a:ln/>
        </p:spPr>
        <p:txBody>
          <a:bodyPr wrap="square" lIns="0" tIns="0" rIns="0" bIns="0" rtlCol="0" anchor="ctr"/>
          <a:lstStyle/>
          <a:p>
            <a:pPr marL="0" indent="0">
              <a:buNone/>
            </a:pPr>
            <a:r>
              <a:rPr lang="en-US" sz="800" b="1" dirty="0">
                <a:solidFill>
                  <a:srgbClr val="5B5B6B"/>
                </a:solidFill>
                <a:latin typeface="Source Code Pro" pitchFamily="34" charset="0"/>
                <a:ea typeface="Source Code Pro" pitchFamily="34" charset="-122"/>
                <a:cs typeface="Source Code Pro" pitchFamily="34" charset="-120"/>
              </a:rPr>
              <a:t>✗ students.unimelb → alumni.unimelb</a:t>
            </a:r>
            <a:endParaRPr lang="en-US" sz="800" dirty="0"/>
          </a:p>
        </p:txBody>
      </p:sp>
      <p:sp>
        <p:nvSpPr>
          <p:cNvPr id="44" name="Text 42"/>
          <p:cNvSpPr/>
          <p:nvPr/>
        </p:nvSpPr>
        <p:spPr>
          <a:xfrm>
            <a:off x="9665208" y="4924044"/>
            <a:ext cx="1901952" cy="164592"/>
          </a:xfrm>
          <a:prstGeom prst="rect">
            <a:avLst/>
          </a:prstGeom>
          <a:noFill/>
          <a:ln/>
        </p:spPr>
        <p:txBody>
          <a:bodyPr wrap="square" lIns="0" tIns="0" rIns="0" bIns="0" rtlCol="0" anchor="ctr"/>
          <a:lstStyle/>
          <a:p>
            <a:pPr marL="0" indent="0">
              <a:buNone/>
            </a:pPr>
            <a:r>
              <a:rPr lang="en-US" sz="750" dirty="0">
                <a:solidFill>
                  <a:srgbClr val="5B5B6B"/>
                </a:solidFill>
                <a:latin typeface="Source Code Pro" pitchFamily="34" charset="0"/>
                <a:ea typeface="Source Code Pro" pitchFamily="34" charset="-122"/>
                <a:cs typeface="Source Code Pro" pitchFamily="34" charset="-120"/>
              </a:rPr>
              <a:t>no direct links</a:t>
            </a:r>
            <a:endParaRPr lang="en-US" sz="750" dirty="0"/>
          </a:p>
        </p:txBody>
      </p:sp>
      <p:sp>
        <p:nvSpPr>
          <p:cNvPr id="45" name="Shape 43"/>
          <p:cNvSpPr/>
          <p:nvPr/>
        </p:nvSpPr>
        <p:spPr>
          <a:xfrm>
            <a:off x="6720840" y="5097780"/>
            <a:ext cx="4892040" cy="274320"/>
          </a:xfrm>
          <a:prstGeom prst="rect">
            <a:avLst/>
          </a:prstGeom>
          <a:solidFill>
            <a:srgbClr val="F4F4F4"/>
          </a:solidFill>
          <a:ln w="6350">
            <a:solidFill>
              <a:srgbClr val="DDDDE7"/>
            </a:solidFill>
            <a:prstDash val="solid"/>
          </a:ln>
        </p:spPr>
        <p:txBody>
          <a:bodyPr/>
          <a:lstStyle/>
          <a:p>
            <a:endParaRPr lang="en-AU"/>
          </a:p>
        </p:txBody>
      </p:sp>
      <p:sp>
        <p:nvSpPr>
          <p:cNvPr id="46" name="Text 44"/>
          <p:cNvSpPr/>
          <p:nvPr/>
        </p:nvSpPr>
        <p:spPr>
          <a:xfrm>
            <a:off x="6766560" y="5097780"/>
            <a:ext cx="2880360" cy="164592"/>
          </a:xfrm>
          <a:prstGeom prst="rect">
            <a:avLst/>
          </a:prstGeom>
          <a:noFill/>
          <a:ln/>
        </p:spPr>
        <p:txBody>
          <a:bodyPr wrap="square" lIns="0" tIns="0" rIns="0" bIns="0" rtlCol="0" anchor="ctr"/>
          <a:lstStyle/>
          <a:p>
            <a:pPr marL="0" indent="0">
              <a:buNone/>
            </a:pPr>
            <a:r>
              <a:rPr lang="en-US" sz="800" b="1" dirty="0">
                <a:solidFill>
                  <a:srgbClr val="5B5B6B"/>
                </a:solidFill>
                <a:latin typeface="Source Code Pro" pitchFamily="34" charset="0"/>
                <a:ea typeface="Source Code Pro" pitchFamily="34" charset="-122"/>
                <a:cs typeface="Source Code Pro" pitchFamily="34" charset="-120"/>
              </a:rPr>
              <a:t>✗ Faculty CS → alumni.unimelb</a:t>
            </a:r>
            <a:endParaRPr lang="en-US" sz="800" dirty="0"/>
          </a:p>
        </p:txBody>
      </p:sp>
      <p:sp>
        <p:nvSpPr>
          <p:cNvPr id="47" name="Text 45"/>
          <p:cNvSpPr/>
          <p:nvPr/>
        </p:nvSpPr>
        <p:spPr>
          <a:xfrm>
            <a:off x="9665208" y="5152644"/>
            <a:ext cx="1901952" cy="164592"/>
          </a:xfrm>
          <a:prstGeom prst="rect">
            <a:avLst/>
          </a:prstGeom>
          <a:noFill/>
          <a:ln/>
        </p:spPr>
        <p:txBody>
          <a:bodyPr wrap="square" lIns="0" tIns="0" rIns="0" bIns="0" rtlCol="0" anchor="ctr"/>
          <a:lstStyle/>
          <a:p>
            <a:pPr marL="0" indent="0">
              <a:buNone/>
            </a:pPr>
            <a:r>
              <a:rPr lang="en-US" sz="750" dirty="0">
                <a:solidFill>
                  <a:srgbClr val="5B5B6B"/>
                </a:solidFill>
                <a:latin typeface="Source Code Pro" pitchFamily="34" charset="0"/>
                <a:ea typeface="Source Code Pro" pitchFamily="34" charset="-122"/>
                <a:cs typeface="Source Code Pro" pitchFamily="34" charset="-120"/>
              </a:rPr>
              <a:t>no direct links · 12 mentoring streams</a:t>
            </a:r>
            <a:endParaRPr lang="en-US" sz="750" dirty="0"/>
          </a:p>
        </p:txBody>
      </p:sp>
      <p:sp>
        <p:nvSpPr>
          <p:cNvPr id="48" name="Shape 46"/>
          <p:cNvSpPr/>
          <p:nvPr/>
        </p:nvSpPr>
        <p:spPr>
          <a:xfrm>
            <a:off x="566928" y="5559552"/>
            <a:ext cx="10881360" cy="621792"/>
          </a:xfrm>
          <a:prstGeom prst="rect">
            <a:avLst/>
          </a:prstGeom>
          <a:solidFill>
            <a:srgbClr val="EAF6FB"/>
          </a:solidFill>
          <a:ln/>
        </p:spPr>
        <p:txBody>
          <a:bodyPr/>
          <a:lstStyle/>
          <a:p>
            <a:endParaRPr lang="en-AU"/>
          </a:p>
        </p:txBody>
      </p:sp>
      <p:sp>
        <p:nvSpPr>
          <p:cNvPr id="49" name="Shape 47"/>
          <p:cNvSpPr/>
          <p:nvPr/>
        </p:nvSpPr>
        <p:spPr>
          <a:xfrm>
            <a:off x="566928" y="5559552"/>
            <a:ext cx="91440" cy="621792"/>
          </a:xfrm>
          <a:prstGeom prst="rect">
            <a:avLst/>
          </a:prstGeom>
          <a:solidFill>
            <a:srgbClr val="46C8F0"/>
          </a:solidFill>
          <a:ln/>
        </p:spPr>
        <p:txBody>
          <a:bodyPr/>
          <a:lstStyle/>
          <a:p>
            <a:endParaRPr lang="en-AU"/>
          </a:p>
        </p:txBody>
      </p:sp>
      <p:sp>
        <p:nvSpPr>
          <p:cNvPr id="50" name="Text 48"/>
          <p:cNvSpPr/>
          <p:nvPr/>
        </p:nvSpPr>
        <p:spPr>
          <a:xfrm>
            <a:off x="868680" y="5559552"/>
            <a:ext cx="10332720" cy="621792"/>
          </a:xfrm>
          <a:prstGeom prst="rect">
            <a:avLst/>
          </a:prstGeom>
          <a:noFill/>
          <a:ln/>
        </p:spPr>
        <p:txBody>
          <a:bodyPr wrap="square" lIns="0" tIns="0" rIns="0" bIns="0" rtlCol="0" anchor="ctr"/>
          <a:lstStyle/>
          <a:p>
            <a:pPr marL="0" indent="0">
              <a:buNone/>
            </a:pPr>
            <a:r>
              <a:rPr lang="en-US" sz="1300" b="1" dirty="0">
                <a:solidFill>
                  <a:srgbClr val="000F46"/>
                </a:solidFill>
                <a:latin typeface="Source Sans 3" pitchFamily="34" charset="0"/>
                <a:ea typeface="Source Sans 3" pitchFamily="34" charset="-122"/>
                <a:cs typeface="Source Sans 3" pitchFamily="34" charset="-120"/>
              </a:rPr>
              <a:t>To discuss:  </a:t>
            </a:r>
            <a:r>
              <a:rPr lang="en-US" sz="1300" dirty="0">
                <a:solidFill>
                  <a:srgbClr val="000B34"/>
                </a:solidFill>
                <a:latin typeface="Source Sans 3" pitchFamily="34" charset="0"/>
                <a:ea typeface="Source Sans 3" pitchFamily="34" charset="-122"/>
                <a:cs typeface="Source Sans 3" pitchFamily="34" charset="-120"/>
              </a:rPr>
              <a:t>Is this the right picture of where the estate sits? Where does the faculty presence in all three phases create useful duplication — and where is it a broken thread?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Where overlap shows up — and where it matters</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8</a:t>
            </a:r>
            <a:endParaRPr lang="en-US" sz="900" dirty="0"/>
          </a:p>
        </p:txBody>
      </p:sp>
      <p:sp>
        <p:nvSpPr>
          <p:cNvPr id="6" name="Text 4"/>
          <p:cNvSpPr/>
          <p:nvPr/>
        </p:nvSpPr>
        <p:spPr>
          <a:xfrm>
            <a:off x="566928" y="1325880"/>
            <a:ext cx="5760720" cy="4389120"/>
          </a:xfrm>
          <a:prstGeom prst="rect">
            <a:avLst/>
          </a:prstGeom>
          <a:noFill/>
          <a:ln/>
        </p:spPr>
        <p:txBody>
          <a:bodyPr wrap="square" lIns="0" tIns="0" rIns="0" bIns="0" rtlCol="0" anchor="t"/>
          <a:lstStyle/>
          <a:p>
            <a:pPr marL="0" indent="0">
              <a:lnSpc>
                <a:spcPct val="122000"/>
              </a:lnSpc>
              <a:spcAft>
                <a:spcPts val="1600"/>
              </a:spcAft>
              <a:buNone/>
            </a:pPr>
            <a:r>
              <a:rPr lang="en-US" sz="1550" b="1" dirty="0">
                <a:solidFill>
                  <a:srgbClr val="1C1C28"/>
                </a:solidFill>
                <a:latin typeface="Source Sans 3" pitchFamily="34" charset="0"/>
                <a:ea typeface="Source Sans 3" pitchFamily="34" charset="-122"/>
                <a:cs typeface="Source Sans 3" pitchFamily="34" charset="-120"/>
              </a:rPr>
              <a:t>For each finding — the same three questions:</a:t>
            </a:r>
            <a:endParaRPr lang="en-US" sz="1550" dirty="0"/>
          </a:p>
          <a:p>
            <a:pPr marL="0" indent="0">
              <a:lnSpc>
                <a:spcPct val="122000"/>
              </a:lnSpc>
              <a:spcAft>
                <a:spcPts val="1000"/>
              </a:spcAft>
              <a:buNone/>
            </a:pPr>
            <a:r>
              <a:rPr lang="en-US" sz="1550" dirty="0">
                <a:solidFill>
                  <a:srgbClr val="1C1C28"/>
                </a:solidFill>
                <a:latin typeface="Source Sans 3" pitchFamily="34" charset="0"/>
                <a:ea typeface="Source Sans 3" pitchFamily="34" charset="-122"/>
                <a:cs typeface="Source Sans 3" pitchFamily="34" charset="-120"/>
              </a:rPr>
              <a:t>1.  Is the overlap intentional, or accidental?</a:t>
            </a:r>
            <a:endParaRPr lang="en-US" sz="1550" dirty="0"/>
          </a:p>
          <a:p>
            <a:pPr marL="0" indent="0">
              <a:lnSpc>
                <a:spcPct val="122000"/>
              </a:lnSpc>
              <a:spcAft>
                <a:spcPts val="1000"/>
              </a:spcAft>
              <a:buNone/>
            </a:pPr>
            <a:r>
              <a:rPr lang="en-US" sz="1550" dirty="0">
                <a:solidFill>
                  <a:srgbClr val="1C1C28"/>
                </a:solidFill>
                <a:latin typeface="Source Sans 3" pitchFamily="34" charset="0"/>
                <a:ea typeface="Source Sans 3" pitchFamily="34" charset="-122"/>
                <a:cs typeface="Source Sans 3" pitchFamily="34" charset="-120"/>
              </a:rPr>
              <a:t>2.  Does it help or hinder the user?</a:t>
            </a:r>
            <a:endParaRPr lang="en-US" sz="1550" dirty="0"/>
          </a:p>
          <a:p>
            <a:pPr marL="0" indent="0">
              <a:lnSpc>
                <a:spcPct val="122000"/>
              </a:lnSpc>
              <a:spcAft>
                <a:spcPts val="2800"/>
              </a:spcAft>
              <a:buNone/>
            </a:pPr>
            <a:r>
              <a:rPr lang="en-US" sz="1550" dirty="0">
                <a:solidFill>
                  <a:srgbClr val="1C1C28"/>
                </a:solidFill>
                <a:latin typeface="Source Sans 3" pitchFamily="34" charset="0"/>
                <a:ea typeface="Source Sans 3" pitchFamily="34" charset="-122"/>
                <a:cs typeface="Source Sans 3" pitchFamily="34" charset="-120"/>
              </a:rPr>
              <a:t>3.  Is someone already working on it?</a:t>
            </a:r>
            <a:endParaRPr lang="en-US" sz="1550" dirty="0"/>
          </a:p>
          <a:p>
            <a:pPr marL="0" indent="0">
              <a:lnSpc>
                <a:spcPct val="122000"/>
              </a:lnSpc>
              <a:buNone/>
            </a:pPr>
            <a:r>
              <a:rPr lang="en-US" sz="1550" dirty="0">
                <a:solidFill>
                  <a:srgbClr val="5B5B6B"/>
                </a:solidFill>
                <a:latin typeface="Source Sans 3" pitchFamily="34" charset="0"/>
                <a:ea typeface="Source Sans 3" pitchFamily="34" charset="-122"/>
                <a:cs typeface="Source Sans 3" pitchFamily="34" charset="-120"/>
              </a:rPr>
              <a:t>Use the capture board to note what we agree on, what's already in flight, what's worth exploring, and who's involved.</a:t>
            </a:r>
            <a:endParaRPr lang="en-US" sz="1550" dirty="0"/>
          </a:p>
        </p:txBody>
      </p:sp>
      <p:sp>
        <p:nvSpPr>
          <p:cNvPr id="7" name="Shape 5"/>
          <p:cNvSpPr/>
          <p:nvPr/>
        </p:nvSpPr>
        <p:spPr>
          <a:xfrm>
            <a:off x="6720840" y="1280160"/>
            <a:ext cx="4910328" cy="4846320"/>
          </a:xfrm>
          <a:prstGeom prst="rect">
            <a:avLst/>
          </a:prstGeom>
          <a:solidFill>
            <a:srgbClr val="EAF6FB"/>
          </a:solidFill>
          <a:ln/>
        </p:spPr>
        <p:txBody>
          <a:bodyPr/>
          <a:lstStyle/>
          <a:p>
            <a:endParaRPr lang="en-AU"/>
          </a:p>
        </p:txBody>
      </p:sp>
      <p:sp>
        <p:nvSpPr>
          <p:cNvPr id="8" name="Shape 6"/>
          <p:cNvSpPr/>
          <p:nvPr/>
        </p:nvSpPr>
        <p:spPr>
          <a:xfrm>
            <a:off x="6720840" y="1280160"/>
            <a:ext cx="91440" cy="4846320"/>
          </a:xfrm>
          <a:prstGeom prst="rect">
            <a:avLst/>
          </a:prstGeom>
          <a:solidFill>
            <a:srgbClr val="46C8F0"/>
          </a:solidFill>
          <a:ln/>
        </p:spPr>
        <p:txBody>
          <a:bodyPr/>
          <a:lstStyle/>
          <a:p>
            <a:endParaRPr lang="en-AU"/>
          </a:p>
        </p:txBody>
      </p:sp>
      <p:sp>
        <p:nvSpPr>
          <p:cNvPr id="9" name="Text 7"/>
          <p:cNvSpPr/>
          <p:nvPr/>
        </p:nvSpPr>
        <p:spPr>
          <a:xfrm>
            <a:off x="7022592" y="1481328"/>
            <a:ext cx="4480560" cy="274320"/>
          </a:xfrm>
          <a:prstGeom prst="rect">
            <a:avLst/>
          </a:prstGeom>
          <a:noFill/>
          <a:ln/>
        </p:spPr>
        <p:txBody>
          <a:bodyPr wrap="square" lIns="0" tIns="0" rIns="0" bIns="0" rtlCol="0" anchor="ctr"/>
          <a:lstStyle/>
          <a:p>
            <a:pPr marL="0" indent="0">
              <a:buNone/>
            </a:pPr>
            <a:r>
              <a:rPr lang="en-US" sz="1100" b="1" kern="0" spc="200" dirty="0">
                <a:solidFill>
                  <a:srgbClr val="2F95B7"/>
                </a:solidFill>
                <a:latin typeface="Source Code Pro" pitchFamily="34" charset="0"/>
                <a:ea typeface="Source Code Pro" pitchFamily="34" charset="-122"/>
                <a:cs typeface="Source Code Pro" pitchFamily="34" charset="-120"/>
              </a:rPr>
              <a:t>WHAT THE DATA SHOWS</a:t>
            </a:r>
            <a:endParaRPr lang="en-US" sz="1100" dirty="0"/>
          </a:p>
        </p:txBody>
      </p:sp>
      <p:sp>
        <p:nvSpPr>
          <p:cNvPr id="10" name="Shape 8"/>
          <p:cNvSpPr/>
          <p:nvPr/>
        </p:nvSpPr>
        <p:spPr>
          <a:xfrm>
            <a:off x="7022592" y="1920240"/>
            <a:ext cx="4389120" cy="731520"/>
          </a:xfrm>
          <a:prstGeom prst="rect">
            <a:avLst/>
          </a:prstGeom>
          <a:solidFill>
            <a:srgbClr val="FFFFFF"/>
          </a:solidFill>
          <a:ln w="12700">
            <a:solidFill>
              <a:srgbClr val="DDDDE7"/>
            </a:solidFill>
            <a:prstDash val="solid"/>
          </a:ln>
        </p:spPr>
        <p:txBody>
          <a:bodyPr/>
          <a:lstStyle/>
          <a:p>
            <a:endParaRPr lang="en-AU"/>
          </a:p>
        </p:txBody>
      </p:sp>
      <p:sp>
        <p:nvSpPr>
          <p:cNvPr id="11" name="Text 9"/>
          <p:cNvSpPr/>
          <p:nvPr/>
        </p:nvSpPr>
        <p:spPr>
          <a:xfrm>
            <a:off x="7150608" y="1920240"/>
            <a:ext cx="4206240"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Mentoring: 12 faculty alumni programs + matching student programs on all faculties. Neither side links to the other.</a:t>
            </a:r>
            <a:endParaRPr lang="en-US" sz="1050" dirty="0"/>
          </a:p>
        </p:txBody>
      </p:sp>
      <p:sp>
        <p:nvSpPr>
          <p:cNvPr id="12" name="Shape 10"/>
          <p:cNvSpPr/>
          <p:nvPr/>
        </p:nvSpPr>
        <p:spPr>
          <a:xfrm>
            <a:off x="7022592" y="2743200"/>
            <a:ext cx="4389120" cy="731520"/>
          </a:xfrm>
          <a:prstGeom prst="rect">
            <a:avLst/>
          </a:prstGeom>
          <a:solidFill>
            <a:srgbClr val="FFFFFF"/>
          </a:solidFill>
          <a:ln w="12700">
            <a:solidFill>
              <a:srgbClr val="DDDDE7"/>
            </a:solidFill>
            <a:prstDash val="solid"/>
          </a:ln>
        </p:spPr>
        <p:txBody>
          <a:bodyPr/>
          <a:lstStyle/>
          <a:p>
            <a:endParaRPr lang="en-AU"/>
          </a:p>
        </p:txBody>
      </p:sp>
      <p:sp>
        <p:nvSpPr>
          <p:cNvPr id="13" name="Text 11"/>
          <p:cNvSpPr/>
          <p:nvPr/>
        </p:nvSpPr>
        <p:spPr>
          <a:xfrm>
            <a:off x="7150608" y="2743200"/>
            <a:ext cx="4206240"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Careers: 4 parallel presences — Current Students Website, 8 faculties, study.unimelb, alumni. No cross-links in any direction.</a:t>
            </a:r>
            <a:endParaRPr lang="en-US" sz="1050" dirty="0"/>
          </a:p>
        </p:txBody>
      </p:sp>
      <p:sp>
        <p:nvSpPr>
          <p:cNvPr id="14" name="Shape 12"/>
          <p:cNvSpPr/>
          <p:nvPr/>
        </p:nvSpPr>
        <p:spPr>
          <a:xfrm>
            <a:off x="7022592" y="3566160"/>
            <a:ext cx="4389120" cy="731520"/>
          </a:xfrm>
          <a:prstGeom prst="rect">
            <a:avLst/>
          </a:prstGeom>
          <a:solidFill>
            <a:srgbClr val="FFFFFF"/>
          </a:solidFill>
          <a:ln w="12700">
            <a:solidFill>
              <a:srgbClr val="DDDDE7"/>
            </a:solidFill>
            <a:prstDash val="solid"/>
          </a:ln>
        </p:spPr>
        <p:txBody>
          <a:bodyPr/>
          <a:lstStyle/>
          <a:p>
            <a:endParaRPr lang="en-AU"/>
          </a:p>
        </p:txBody>
      </p:sp>
      <p:sp>
        <p:nvSpPr>
          <p:cNvPr id="15" name="Text 13"/>
          <p:cNvSpPr/>
          <p:nvPr/>
        </p:nvSpPr>
        <p:spPr>
          <a:xfrm>
            <a:off x="7150608" y="3566160"/>
            <a:ext cx="4206240"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Graduation exit: 0 current-student pages link to alumni, including graduation pages. No web path forward.</a:t>
            </a:r>
            <a:endParaRPr lang="en-US" sz="1050" dirty="0"/>
          </a:p>
        </p:txBody>
      </p:sp>
      <p:sp>
        <p:nvSpPr>
          <p:cNvPr id="16" name="Shape 14"/>
          <p:cNvSpPr/>
          <p:nvPr/>
        </p:nvSpPr>
        <p:spPr>
          <a:xfrm>
            <a:off x="7022592" y="4389120"/>
            <a:ext cx="4389120" cy="731520"/>
          </a:xfrm>
          <a:prstGeom prst="rect">
            <a:avLst/>
          </a:prstGeom>
          <a:solidFill>
            <a:srgbClr val="FFFFFF"/>
          </a:solidFill>
          <a:ln w="12700">
            <a:solidFill>
              <a:srgbClr val="DDDDE7"/>
            </a:solidFill>
            <a:prstDash val="solid"/>
          </a:ln>
        </p:spPr>
        <p:txBody>
          <a:bodyPr/>
          <a:lstStyle/>
          <a:p>
            <a:endParaRPr lang="en-AU"/>
          </a:p>
        </p:txBody>
      </p:sp>
      <p:sp>
        <p:nvSpPr>
          <p:cNvPr id="17" name="Text 15"/>
          <p:cNvSpPr/>
          <p:nvPr/>
        </p:nvSpPr>
        <p:spPr>
          <a:xfrm>
            <a:off x="7150608" y="4389120"/>
            <a:ext cx="4206240"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study.unimelb: 529 links from faculty pages back to the prospective site — deliberate when study.unimelb was set up. Is the enrolled-student experience on these journeys working as intended?</a:t>
            </a:r>
            <a:endParaRPr lang="en-US" sz="1050" dirty="0"/>
          </a:p>
        </p:txBody>
      </p:sp>
      <p:sp>
        <p:nvSpPr>
          <p:cNvPr id="18" name="Shape 16"/>
          <p:cNvSpPr/>
          <p:nvPr/>
        </p:nvSpPr>
        <p:spPr>
          <a:xfrm>
            <a:off x="7022592" y="5212080"/>
            <a:ext cx="4389120" cy="731520"/>
          </a:xfrm>
          <a:prstGeom prst="rect">
            <a:avLst/>
          </a:prstGeom>
          <a:solidFill>
            <a:srgbClr val="FFFFFF"/>
          </a:solidFill>
          <a:ln w="12700">
            <a:solidFill>
              <a:srgbClr val="DDDDE7"/>
            </a:solidFill>
            <a:prstDash val="solid"/>
          </a:ln>
        </p:spPr>
        <p:txBody>
          <a:bodyPr/>
          <a:lstStyle/>
          <a:p>
            <a:endParaRPr lang="en-AU"/>
          </a:p>
        </p:txBody>
      </p:sp>
      <p:sp>
        <p:nvSpPr>
          <p:cNvPr id="19" name="Text 17"/>
          <p:cNvSpPr/>
          <p:nvPr/>
        </p:nvSpPr>
        <p:spPr>
          <a:xfrm>
            <a:off x="7150608" y="5212080"/>
            <a:ext cx="4206240"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Scholarships: 3 separate presences — 100 faculty pages, 75 on study.unimelb, 1 on alumni. scholarships.unimelb.edu.au is the dedicated entry point; none of the three link to it.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Current student topics — where the content sits</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9</a:t>
            </a:r>
            <a:endParaRPr lang="en-US" sz="900" dirty="0"/>
          </a:p>
        </p:txBody>
      </p:sp>
      <p:sp>
        <p:nvSpPr>
          <p:cNvPr id="6" name="Text 4"/>
          <p:cNvSpPr/>
          <p:nvPr/>
        </p:nvSpPr>
        <p:spPr>
          <a:xfrm>
            <a:off x="566928" y="1325880"/>
            <a:ext cx="4398477" cy="4389120"/>
          </a:xfrm>
          <a:prstGeom prst="rect">
            <a:avLst/>
          </a:prstGeom>
          <a:noFill/>
          <a:ln/>
        </p:spPr>
        <p:txBody>
          <a:bodyPr wrap="square" lIns="0" tIns="0" rIns="0" bIns="0" rtlCol="0" anchor="t"/>
          <a:lstStyle/>
          <a:p>
            <a:pPr marL="0" indent="0">
              <a:lnSpc>
                <a:spcPct val="122000"/>
              </a:lnSpc>
              <a:spcAft>
                <a:spcPts val="1600"/>
              </a:spcAft>
              <a:buNone/>
            </a:pPr>
            <a:r>
              <a:rPr lang="en-US" sz="1550" b="1" dirty="0">
                <a:solidFill>
                  <a:srgbClr val="1C1C28"/>
                </a:solidFill>
                <a:latin typeface="Source Sans 3" pitchFamily="34" charset="0"/>
                <a:ea typeface="Source Sans 3" pitchFamily="34" charset="-122"/>
                <a:cs typeface="Source Sans 3" pitchFamily="34" charset="-120"/>
              </a:rPr>
              <a:t>For each topic area — the same three questions:</a:t>
            </a:r>
            <a:endParaRPr lang="en-US" sz="1550" dirty="0"/>
          </a:p>
          <a:p>
            <a:pPr marL="0" indent="0">
              <a:lnSpc>
                <a:spcPct val="122000"/>
              </a:lnSpc>
              <a:spcAft>
                <a:spcPts val="1000"/>
              </a:spcAft>
              <a:buNone/>
            </a:pPr>
            <a:r>
              <a:rPr lang="en-US" sz="1550" dirty="0">
                <a:solidFill>
                  <a:srgbClr val="1C1C28"/>
                </a:solidFill>
                <a:latin typeface="Source Sans 3" pitchFamily="34" charset="0"/>
                <a:ea typeface="Source Sans 3" pitchFamily="34" charset="-122"/>
                <a:cs typeface="Source Sans 3" pitchFamily="34" charset="-120"/>
              </a:rPr>
              <a:t>1.  Is the overlap intentional, or accidental?</a:t>
            </a:r>
            <a:endParaRPr lang="en-US" sz="1550" dirty="0"/>
          </a:p>
          <a:p>
            <a:pPr marL="0" indent="0">
              <a:lnSpc>
                <a:spcPct val="122000"/>
              </a:lnSpc>
              <a:spcAft>
                <a:spcPts val="1000"/>
              </a:spcAft>
              <a:buNone/>
            </a:pPr>
            <a:r>
              <a:rPr lang="en-US" sz="1550" dirty="0">
                <a:solidFill>
                  <a:srgbClr val="1C1C28"/>
                </a:solidFill>
                <a:latin typeface="Source Sans 3" pitchFamily="34" charset="0"/>
                <a:ea typeface="Source Sans 3" pitchFamily="34" charset="-122"/>
                <a:cs typeface="Source Sans 3" pitchFamily="34" charset="-120"/>
              </a:rPr>
              <a:t>2.  Does it help or hinder the student?</a:t>
            </a:r>
            <a:endParaRPr lang="en-US" sz="1550" dirty="0"/>
          </a:p>
          <a:p>
            <a:pPr marL="0" indent="0">
              <a:lnSpc>
                <a:spcPct val="122000"/>
              </a:lnSpc>
              <a:spcAft>
                <a:spcPts val="2800"/>
              </a:spcAft>
              <a:buNone/>
            </a:pPr>
            <a:r>
              <a:rPr lang="en-US" sz="1550" dirty="0">
                <a:solidFill>
                  <a:srgbClr val="1C1C28"/>
                </a:solidFill>
                <a:latin typeface="Source Sans 3" pitchFamily="34" charset="0"/>
                <a:ea typeface="Source Sans 3" pitchFamily="34" charset="-122"/>
                <a:cs typeface="Source Sans 3" pitchFamily="34" charset="-120"/>
              </a:rPr>
              <a:t>3.  Is someone already working on it?</a:t>
            </a:r>
            <a:endParaRPr lang="en-US" sz="1550" dirty="0"/>
          </a:p>
          <a:p>
            <a:pPr marL="0" indent="0">
              <a:lnSpc>
                <a:spcPct val="122000"/>
              </a:lnSpc>
              <a:buNone/>
            </a:pPr>
            <a:r>
              <a:rPr lang="en-US" sz="1550" dirty="0">
                <a:solidFill>
                  <a:srgbClr val="5B5B6B"/>
                </a:solidFill>
                <a:latin typeface="Source Sans 3" pitchFamily="34" charset="0"/>
                <a:ea typeface="Source Sans 3" pitchFamily="34" charset="-122"/>
                <a:cs typeface="Source Sans 3" pitchFamily="34" charset="-120"/>
              </a:rPr>
              <a:t>Use the capture board to note what we agree on, what's already in flight, what's worth exploring, and who's involved.</a:t>
            </a:r>
            <a:endParaRPr lang="en-US" sz="1550" dirty="0"/>
          </a:p>
        </p:txBody>
      </p:sp>
      <p:sp>
        <p:nvSpPr>
          <p:cNvPr id="7" name="Shape 5"/>
          <p:cNvSpPr/>
          <p:nvPr/>
        </p:nvSpPr>
        <p:spPr>
          <a:xfrm>
            <a:off x="5534458" y="1275588"/>
            <a:ext cx="6124141" cy="4846320"/>
          </a:xfrm>
          <a:prstGeom prst="rect">
            <a:avLst/>
          </a:prstGeom>
          <a:solidFill>
            <a:srgbClr val="EAF6FB"/>
          </a:solidFill>
          <a:ln/>
        </p:spPr>
        <p:txBody>
          <a:bodyPr/>
          <a:lstStyle/>
          <a:p>
            <a:endParaRPr lang="en-AU"/>
          </a:p>
        </p:txBody>
      </p:sp>
      <p:sp>
        <p:nvSpPr>
          <p:cNvPr id="8" name="Shape 6"/>
          <p:cNvSpPr/>
          <p:nvPr/>
        </p:nvSpPr>
        <p:spPr>
          <a:xfrm>
            <a:off x="5534459" y="1275588"/>
            <a:ext cx="91440" cy="4846320"/>
          </a:xfrm>
          <a:prstGeom prst="rect">
            <a:avLst/>
          </a:prstGeom>
          <a:solidFill>
            <a:srgbClr val="46C8F0"/>
          </a:solidFill>
          <a:ln/>
        </p:spPr>
        <p:txBody>
          <a:bodyPr/>
          <a:lstStyle/>
          <a:p>
            <a:endParaRPr lang="en-AU"/>
          </a:p>
        </p:txBody>
      </p:sp>
      <p:sp>
        <p:nvSpPr>
          <p:cNvPr id="9" name="Text 7"/>
          <p:cNvSpPr/>
          <p:nvPr/>
        </p:nvSpPr>
        <p:spPr>
          <a:xfrm>
            <a:off x="5836211" y="1476756"/>
            <a:ext cx="4480560" cy="274320"/>
          </a:xfrm>
          <a:prstGeom prst="rect">
            <a:avLst/>
          </a:prstGeom>
          <a:noFill/>
          <a:ln/>
        </p:spPr>
        <p:txBody>
          <a:bodyPr wrap="square" lIns="0" tIns="0" rIns="0" bIns="0" rtlCol="0" anchor="ctr"/>
          <a:lstStyle/>
          <a:p>
            <a:pPr marL="0" indent="0">
              <a:buNone/>
            </a:pPr>
            <a:r>
              <a:rPr lang="en-US" sz="1100" b="1" kern="0" spc="200" dirty="0">
                <a:solidFill>
                  <a:srgbClr val="2F95B7"/>
                </a:solidFill>
                <a:latin typeface="Source Code Pro" pitchFamily="34" charset="0"/>
                <a:ea typeface="Source Code Pro" pitchFamily="34" charset="-122"/>
                <a:cs typeface="Source Code Pro" pitchFamily="34" charset="-120"/>
              </a:rPr>
              <a:t>WHAT THE DATA SHOWS</a:t>
            </a:r>
            <a:endParaRPr lang="en-US" sz="1100" dirty="0"/>
          </a:p>
        </p:txBody>
      </p:sp>
      <p:sp>
        <p:nvSpPr>
          <p:cNvPr id="10" name="Shape 8"/>
          <p:cNvSpPr/>
          <p:nvPr/>
        </p:nvSpPr>
        <p:spPr>
          <a:xfrm>
            <a:off x="5836210" y="1915668"/>
            <a:ext cx="5561891" cy="731520"/>
          </a:xfrm>
          <a:prstGeom prst="rect">
            <a:avLst/>
          </a:prstGeom>
          <a:solidFill>
            <a:srgbClr val="FFFFFF"/>
          </a:solidFill>
          <a:ln w="12700">
            <a:solidFill>
              <a:srgbClr val="DDDDE7"/>
            </a:solidFill>
            <a:prstDash val="solid"/>
          </a:ln>
        </p:spPr>
        <p:txBody>
          <a:bodyPr/>
          <a:lstStyle/>
          <a:p>
            <a:endParaRPr lang="en-AU"/>
          </a:p>
        </p:txBody>
      </p:sp>
      <p:sp>
        <p:nvSpPr>
          <p:cNvPr id="11" name="Text 9"/>
          <p:cNvSpPr/>
          <p:nvPr/>
        </p:nvSpPr>
        <p:spPr>
          <a:xfrm>
            <a:off x="5964227" y="1915668"/>
            <a:ext cx="5330146"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Course planning: students.unimelb has My Course Planner; FEIT re-hosts it verbatim on its own site. Every faculty also runs its own degree plans across the 1,150 CS pages. Same tool, same content, no connecting link between any of them.</a:t>
            </a:r>
            <a:endParaRPr lang="en-US" sz="1050" dirty="0"/>
          </a:p>
        </p:txBody>
      </p:sp>
      <p:sp>
        <p:nvSpPr>
          <p:cNvPr id="12" name="Shape 10"/>
          <p:cNvSpPr/>
          <p:nvPr/>
        </p:nvSpPr>
        <p:spPr>
          <a:xfrm>
            <a:off x="5836210" y="2738628"/>
            <a:ext cx="5561891" cy="731520"/>
          </a:xfrm>
          <a:prstGeom prst="rect">
            <a:avLst/>
          </a:prstGeom>
          <a:solidFill>
            <a:srgbClr val="FFFFFF"/>
          </a:solidFill>
          <a:ln w="12700">
            <a:solidFill>
              <a:srgbClr val="DDDDE7"/>
            </a:solidFill>
            <a:prstDash val="solid"/>
          </a:ln>
        </p:spPr>
        <p:txBody>
          <a:bodyPr/>
          <a:lstStyle/>
          <a:p>
            <a:endParaRPr lang="en-AU"/>
          </a:p>
        </p:txBody>
      </p:sp>
      <p:sp>
        <p:nvSpPr>
          <p:cNvPr id="13" name="Text 11"/>
          <p:cNvSpPr/>
          <p:nvPr/>
        </p:nvSpPr>
        <p:spPr>
          <a:xfrm>
            <a:off x="5964227" y="2738628"/>
            <a:ext cx="5330146"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Placements &amp; WIL: 186 pages across all faculties (MDHS alone holds 94, nearly all clinical compliance); students.unimelb has none. No central WIL gateway — students cannot discover faculty placement offerings from the centre.</a:t>
            </a:r>
            <a:endParaRPr lang="en-US" sz="1050" dirty="0"/>
          </a:p>
        </p:txBody>
      </p:sp>
      <p:sp>
        <p:nvSpPr>
          <p:cNvPr id="14" name="Shape 12"/>
          <p:cNvSpPr/>
          <p:nvPr/>
        </p:nvSpPr>
        <p:spPr>
          <a:xfrm>
            <a:off x="5836210" y="3561588"/>
            <a:ext cx="5561891" cy="731520"/>
          </a:xfrm>
          <a:prstGeom prst="rect">
            <a:avLst/>
          </a:prstGeom>
          <a:solidFill>
            <a:srgbClr val="FFFFFF"/>
          </a:solidFill>
          <a:ln w="12700">
            <a:solidFill>
              <a:srgbClr val="DDDDE7"/>
            </a:solidFill>
            <a:prstDash val="solid"/>
          </a:ln>
        </p:spPr>
        <p:txBody>
          <a:bodyPr/>
          <a:lstStyle/>
          <a:p>
            <a:endParaRPr lang="en-AU"/>
          </a:p>
        </p:txBody>
      </p:sp>
      <p:sp>
        <p:nvSpPr>
          <p:cNvPr id="15" name="Text 13"/>
          <p:cNvSpPr/>
          <p:nvPr/>
        </p:nvSpPr>
        <p:spPr>
          <a:xfrm>
            <a:off x="5964227" y="3561588"/>
            <a:ext cx="5330146"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Employability: 7 faculties each run a near-identical 'Employability in X' page restating the same central careers service. Faculty-owned core — regulated pathways, internship subjects, teacher registration — is sound; the template duplication is the problem.</a:t>
            </a:r>
            <a:endParaRPr lang="en-US" sz="1050" dirty="0"/>
          </a:p>
        </p:txBody>
      </p:sp>
      <p:sp>
        <p:nvSpPr>
          <p:cNvPr id="16" name="Shape 14"/>
          <p:cNvSpPr/>
          <p:nvPr/>
        </p:nvSpPr>
        <p:spPr>
          <a:xfrm>
            <a:off x="5836210" y="4384548"/>
            <a:ext cx="5561891" cy="731520"/>
          </a:xfrm>
          <a:prstGeom prst="rect">
            <a:avLst/>
          </a:prstGeom>
          <a:solidFill>
            <a:srgbClr val="FFFFFF"/>
          </a:solidFill>
          <a:ln w="12700">
            <a:solidFill>
              <a:srgbClr val="DDDDE7"/>
            </a:solidFill>
            <a:prstDash val="solid"/>
          </a:ln>
        </p:spPr>
        <p:txBody>
          <a:bodyPr/>
          <a:lstStyle/>
          <a:p>
            <a:endParaRPr lang="en-AU"/>
          </a:p>
        </p:txBody>
      </p:sp>
      <p:sp>
        <p:nvSpPr>
          <p:cNvPr id="17" name="Text 15"/>
          <p:cNvSpPr/>
          <p:nvPr/>
        </p:nvSpPr>
        <p:spPr>
          <a:xfrm>
            <a:off x="5964227" y="4384548"/>
            <a:ext cx="5330146"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Student life: students.unimelb covers UMSU/GSA (20 pages); faculties run their own enrichment programs; alumni.unimelb has 21 community pages. Three framings of campus experience with no connecting web path.</a:t>
            </a:r>
            <a:endParaRPr lang="en-US" sz="1050" dirty="0"/>
          </a:p>
        </p:txBody>
      </p:sp>
      <p:sp>
        <p:nvSpPr>
          <p:cNvPr id="18" name="Shape 16"/>
          <p:cNvSpPr/>
          <p:nvPr/>
        </p:nvSpPr>
        <p:spPr>
          <a:xfrm>
            <a:off x="5836210" y="5207508"/>
            <a:ext cx="5561891" cy="731520"/>
          </a:xfrm>
          <a:prstGeom prst="rect">
            <a:avLst/>
          </a:prstGeom>
          <a:solidFill>
            <a:srgbClr val="FFFFFF"/>
          </a:solidFill>
          <a:ln w="12700">
            <a:solidFill>
              <a:srgbClr val="DDDDE7"/>
            </a:solidFill>
            <a:prstDash val="solid"/>
          </a:ln>
        </p:spPr>
        <p:txBody>
          <a:bodyPr/>
          <a:lstStyle/>
          <a:p>
            <a:endParaRPr lang="en-AU"/>
          </a:p>
        </p:txBody>
      </p:sp>
      <p:sp>
        <p:nvSpPr>
          <p:cNvPr id="19" name="Text 17"/>
          <p:cNvSpPr/>
          <p:nvPr/>
        </p:nvSpPr>
        <p:spPr>
          <a:xfrm>
            <a:off x="5964227" y="5207508"/>
            <a:ext cx="5330146" cy="731520"/>
          </a:xfrm>
          <a:prstGeom prst="rect">
            <a:avLst/>
          </a:prstGeom>
          <a:noFill/>
          <a:ln/>
        </p:spPr>
        <p:txBody>
          <a:bodyPr wrap="square" lIns="0" tIns="0" rIns="0" bIns="0" rtlCol="0" anchor="ctr"/>
          <a:lstStyle/>
          <a:p>
            <a:pPr marL="0" indent="0">
              <a:lnSpc>
                <a:spcPct val="110000"/>
              </a:lnSpc>
              <a:buNone/>
            </a:pPr>
            <a:r>
              <a:rPr lang="en-US" sz="1050" dirty="0">
                <a:solidFill>
                  <a:srgbClr val="000B34"/>
                </a:solidFill>
                <a:latin typeface="Source Sans 3" pitchFamily="34" charset="0"/>
                <a:ea typeface="Source Sans 3" pitchFamily="34" charset="-122"/>
                <a:cs typeface="Source Sans 3" pitchFamily="34" charset="-120"/>
              </a:rPr>
              <a:t>Scholarships: 100 faculty pages + students.unimelb's generic 'Find a scholarship' link. scholarships.unimelb.edu.au is the dedicated entry point; none of the faculty CS pages link to it.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What's already in flight</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10</a:t>
            </a:r>
            <a:endParaRPr lang="en-US" sz="900" dirty="0"/>
          </a:p>
        </p:txBody>
      </p:sp>
      <p:sp>
        <p:nvSpPr>
          <p:cNvPr id="6" name="Text 4"/>
          <p:cNvSpPr/>
          <p:nvPr/>
        </p:nvSpPr>
        <p:spPr>
          <a:xfrm>
            <a:off x="566928" y="1325880"/>
            <a:ext cx="10881360" cy="457200"/>
          </a:xfrm>
          <a:prstGeom prst="rect">
            <a:avLst/>
          </a:prstGeom>
          <a:noFill/>
          <a:ln/>
        </p:spPr>
        <p:txBody>
          <a:bodyPr wrap="square" lIns="0" tIns="0" rIns="0" bIns="0" rtlCol="0" anchor="ctr"/>
          <a:lstStyle/>
          <a:p>
            <a:pPr marL="0" indent="0">
              <a:buNone/>
            </a:pPr>
            <a:r>
              <a:rPr lang="en-US" sz="1500" dirty="0">
                <a:solidFill>
                  <a:srgbClr val="1C1C28"/>
                </a:solidFill>
                <a:latin typeface="Source Sans 3" pitchFamily="34" charset="0"/>
                <a:ea typeface="Source Sans 3" pitchFamily="34" charset="-122"/>
                <a:cs typeface="Source Sans 3" pitchFamily="34" charset="-120"/>
              </a:rPr>
              <a:t>Initiatives already underway — to build on rather than duplicate.</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64240" cy="3968496"/>
        </p:xfrm>
        <a:graphic>
          <a:graphicData uri="http://schemas.openxmlformats.org/drawingml/2006/table">
            <a:tbl>
              <a:tblPr/>
              <a:tblGrid>
                <a:gridCol w="62179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566928">
                <a:tc>
                  <a:txBody>
                    <a:bodyPr/>
                    <a:lstStyle/>
                    <a:p>
                      <a:pPr marL="0" indent="0" algn="l">
                        <a:buNone/>
                      </a:pPr>
                      <a:r>
                        <a:rPr lang="en-US" sz="1200" b="1" dirty="0">
                          <a:solidFill>
                            <a:srgbClr val="FFFFFF"/>
                          </a:solidFill>
                          <a:latin typeface="Source Sans 3" pitchFamily="34" charset="0"/>
                          <a:ea typeface="Source Sans 3" pitchFamily="34" charset="-122"/>
                          <a:cs typeface="Source Sans 3" pitchFamily="34" charset="-120"/>
                        </a:rPr>
                        <a:t>Initiative</a:t>
                      </a:r>
                      <a:endParaRPr lang="en-US" sz="120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l">
                        <a:buNone/>
                      </a:pPr>
                      <a:r>
                        <a:rPr lang="en-US" sz="1200" b="1" dirty="0">
                          <a:solidFill>
                            <a:srgbClr val="FFFFFF"/>
                          </a:solidFill>
                          <a:latin typeface="Source Sans 3" pitchFamily="34" charset="0"/>
                          <a:ea typeface="Source Sans 3" pitchFamily="34" charset="-122"/>
                          <a:cs typeface="Source Sans 3" pitchFamily="34" charset="-120"/>
                        </a:rPr>
                        <a:t>Owner area</a:t>
                      </a:r>
                      <a:endParaRPr lang="en-US" sz="120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l">
                        <a:buNone/>
                      </a:pPr>
                      <a:r>
                        <a:rPr lang="en-US" sz="1200" b="1" dirty="0">
                          <a:solidFill>
                            <a:srgbClr val="FFFFFF"/>
                          </a:solidFill>
                          <a:latin typeface="Source Sans 3" pitchFamily="34" charset="0"/>
                          <a:ea typeface="Source Sans 3" pitchFamily="34" charset="-122"/>
                          <a:cs typeface="Source Sans 3" pitchFamily="34" charset="-120"/>
                        </a:rPr>
                        <a:t>Status</a:t>
                      </a:r>
                      <a:endParaRPr lang="en-US" sz="120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extLst>
                  <a:ext uri="{0D108BD9-81ED-4DB2-BD59-A6C34878D82A}">
                    <a16:rowId xmlns:a16="http://schemas.microsoft.com/office/drawing/2014/main" val="10000"/>
                  </a:ext>
                </a:extLst>
              </a:tr>
              <a:tr h="566928">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endParaRPr lang="en-US" sz="1150" dirty="0">
                        <a:latin typeface="Source Sans 3" charset="0"/>
                        <a:ea typeface="Source Sans 3" charset="0"/>
                        <a:cs typeface="Source Sans 3" charset="0"/>
                      </a:endParaRPr>
                    </a:p>
                  </a:txBody>
                  <a:tcPr marL="101600" marR="76200" marT="38100" marB="381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Text 5"/>
          <p:cNvSpPr/>
          <p:nvPr/>
        </p:nvSpPr>
        <p:spPr>
          <a:xfrm>
            <a:off x="566928" y="5989320"/>
            <a:ext cx="10881360" cy="274320"/>
          </a:xfrm>
          <a:prstGeom prst="rect">
            <a:avLst/>
          </a:prstGeom>
          <a:noFill/>
          <a:ln/>
        </p:spPr>
        <p:txBody>
          <a:bodyPr wrap="square" lIns="0" tIns="0" rIns="0" bIns="0" rtlCol="0" anchor="ctr"/>
          <a:lstStyle/>
          <a:p>
            <a:pPr marL="0" indent="0">
              <a:buNone/>
            </a:pPr>
            <a:r>
              <a:rPr lang="en-US" sz="950" dirty="0">
                <a:solidFill>
                  <a:srgbClr val="5B5B6B"/>
                </a:solidFill>
                <a:latin typeface="Source Code Pro" pitchFamily="34" charset="0"/>
                <a:ea typeface="Source Code Pro" pitchFamily="34" charset="-122"/>
                <a:cs typeface="Source Code Pro" pitchFamily="34" charset="-120"/>
              </a:rPr>
              <a:t>Pre-populate any known initiatives before the session — or capture from the room.</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Capturing today's discussion</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11</a:t>
            </a:r>
            <a:endParaRPr lang="en-US" sz="900" dirty="0"/>
          </a:p>
        </p:txBody>
      </p:sp>
      <p:sp>
        <p:nvSpPr>
          <p:cNvPr id="6" name="Text 4"/>
          <p:cNvSpPr/>
          <p:nvPr/>
        </p:nvSpPr>
        <p:spPr>
          <a:xfrm>
            <a:off x="566928" y="1280160"/>
            <a:ext cx="10881360" cy="457200"/>
          </a:xfrm>
          <a:prstGeom prst="rect">
            <a:avLst/>
          </a:prstGeom>
          <a:noFill/>
          <a:ln/>
        </p:spPr>
        <p:txBody>
          <a:bodyPr wrap="square" lIns="0" tIns="0" rIns="0" bIns="0" rtlCol="0" anchor="ctr"/>
          <a:lstStyle/>
          <a:p>
            <a:pPr marL="0" indent="0">
              <a:buNone/>
            </a:pPr>
            <a:r>
              <a:rPr lang="en-US" sz="1500" i="1" dirty="0">
                <a:solidFill>
                  <a:srgbClr val="1C1C28"/>
                </a:solidFill>
                <a:latin typeface="Source Sans 3" pitchFamily="34" charset="0"/>
                <a:ea typeface="Source Sans 3" pitchFamily="34" charset="-122"/>
                <a:cs typeface="Source Sans 3" pitchFamily="34" charset="-120"/>
              </a:rPr>
              <a:t>We'll capture the conversation here — to revisit together, not to conclude today.</a:t>
            </a:r>
            <a:endParaRPr lang="en-US" sz="1500" dirty="0"/>
          </a:p>
        </p:txBody>
      </p:sp>
      <p:sp>
        <p:nvSpPr>
          <p:cNvPr id="7" name="Shape 5"/>
          <p:cNvSpPr/>
          <p:nvPr/>
        </p:nvSpPr>
        <p:spPr>
          <a:xfrm>
            <a:off x="566928" y="1920240"/>
            <a:ext cx="2633472" cy="548640"/>
          </a:xfrm>
          <a:prstGeom prst="rect">
            <a:avLst/>
          </a:prstGeom>
          <a:solidFill>
            <a:srgbClr val="000F46"/>
          </a:solidFill>
          <a:ln/>
        </p:spPr>
        <p:txBody>
          <a:bodyPr/>
          <a:lstStyle/>
          <a:p>
            <a:endParaRPr lang="en-AU"/>
          </a:p>
        </p:txBody>
      </p:sp>
      <p:sp>
        <p:nvSpPr>
          <p:cNvPr id="8" name="Text 6"/>
          <p:cNvSpPr/>
          <p:nvPr/>
        </p:nvSpPr>
        <p:spPr>
          <a:xfrm>
            <a:off x="676656" y="1920240"/>
            <a:ext cx="2414016" cy="548640"/>
          </a:xfrm>
          <a:prstGeom prst="rect">
            <a:avLst/>
          </a:prstGeom>
          <a:noFill/>
          <a:ln/>
        </p:spPr>
        <p:txBody>
          <a:bodyPr wrap="square" lIns="0" tIns="0" rIns="0" bIns="0" rtlCol="0" anchor="ctr"/>
          <a:lstStyle/>
          <a:p>
            <a:pPr marL="0" indent="0" algn="l">
              <a:buNone/>
            </a:pPr>
            <a:r>
              <a:rPr lang="en-US" sz="1250" b="1" dirty="0">
                <a:solidFill>
                  <a:srgbClr val="FFFFFF"/>
                </a:solidFill>
                <a:latin typeface="Source Sans 3" pitchFamily="34" charset="0"/>
                <a:ea typeface="Source Sans 3" pitchFamily="34" charset="-122"/>
                <a:cs typeface="Source Sans 3" pitchFamily="34" charset="-120"/>
              </a:rPr>
              <a:t>Overlaps to align</a:t>
            </a:r>
            <a:endParaRPr lang="en-US" sz="1250" dirty="0"/>
          </a:p>
        </p:txBody>
      </p:sp>
      <p:sp>
        <p:nvSpPr>
          <p:cNvPr id="9" name="Shape 7"/>
          <p:cNvSpPr/>
          <p:nvPr/>
        </p:nvSpPr>
        <p:spPr>
          <a:xfrm>
            <a:off x="566928" y="2468880"/>
            <a:ext cx="2633472" cy="3566160"/>
          </a:xfrm>
          <a:prstGeom prst="rect">
            <a:avLst/>
          </a:prstGeom>
          <a:solidFill>
            <a:srgbClr val="F4F4F4"/>
          </a:solidFill>
          <a:ln w="12700">
            <a:solidFill>
              <a:srgbClr val="DDDDE7"/>
            </a:solidFill>
            <a:prstDash val="solid"/>
          </a:ln>
        </p:spPr>
        <p:txBody>
          <a:bodyPr/>
          <a:lstStyle/>
          <a:p>
            <a:endParaRPr lang="en-AU"/>
          </a:p>
        </p:txBody>
      </p:sp>
      <p:sp>
        <p:nvSpPr>
          <p:cNvPr id="10" name="Shape 8"/>
          <p:cNvSpPr/>
          <p:nvPr/>
        </p:nvSpPr>
        <p:spPr>
          <a:xfrm>
            <a:off x="3337560" y="1920240"/>
            <a:ext cx="2633472" cy="548640"/>
          </a:xfrm>
          <a:prstGeom prst="rect">
            <a:avLst/>
          </a:prstGeom>
          <a:solidFill>
            <a:srgbClr val="000F46"/>
          </a:solidFill>
          <a:ln/>
        </p:spPr>
        <p:txBody>
          <a:bodyPr/>
          <a:lstStyle/>
          <a:p>
            <a:endParaRPr lang="en-AU"/>
          </a:p>
        </p:txBody>
      </p:sp>
      <p:sp>
        <p:nvSpPr>
          <p:cNvPr id="11" name="Text 9"/>
          <p:cNvSpPr/>
          <p:nvPr/>
        </p:nvSpPr>
        <p:spPr>
          <a:xfrm>
            <a:off x="3447288" y="1920240"/>
            <a:ext cx="2414016" cy="548640"/>
          </a:xfrm>
          <a:prstGeom prst="rect">
            <a:avLst/>
          </a:prstGeom>
          <a:noFill/>
          <a:ln/>
        </p:spPr>
        <p:txBody>
          <a:bodyPr wrap="square" lIns="0" tIns="0" rIns="0" bIns="0" rtlCol="0" anchor="ctr"/>
          <a:lstStyle/>
          <a:p>
            <a:pPr marL="0" indent="0" algn="l">
              <a:buNone/>
            </a:pPr>
            <a:r>
              <a:rPr lang="en-US" sz="1250" b="1" dirty="0">
                <a:solidFill>
                  <a:srgbClr val="FFFFFF"/>
                </a:solidFill>
                <a:latin typeface="Source Sans 3" pitchFamily="34" charset="0"/>
                <a:ea typeface="Source Sans 3" pitchFamily="34" charset="-122"/>
                <a:cs typeface="Source Sans 3" pitchFamily="34" charset="-120"/>
              </a:rPr>
              <a:t>Already in flight</a:t>
            </a:r>
            <a:endParaRPr lang="en-US" sz="1250" dirty="0"/>
          </a:p>
        </p:txBody>
      </p:sp>
      <p:sp>
        <p:nvSpPr>
          <p:cNvPr id="12" name="Shape 10"/>
          <p:cNvSpPr/>
          <p:nvPr/>
        </p:nvSpPr>
        <p:spPr>
          <a:xfrm>
            <a:off x="3337560" y="2468880"/>
            <a:ext cx="2633472" cy="3566160"/>
          </a:xfrm>
          <a:prstGeom prst="rect">
            <a:avLst/>
          </a:prstGeom>
          <a:solidFill>
            <a:srgbClr val="F4F4F4"/>
          </a:solidFill>
          <a:ln w="12700">
            <a:solidFill>
              <a:srgbClr val="DDDDE7"/>
            </a:solidFill>
            <a:prstDash val="solid"/>
          </a:ln>
        </p:spPr>
        <p:txBody>
          <a:bodyPr/>
          <a:lstStyle/>
          <a:p>
            <a:endParaRPr lang="en-AU"/>
          </a:p>
        </p:txBody>
      </p:sp>
      <p:sp>
        <p:nvSpPr>
          <p:cNvPr id="13" name="Shape 11"/>
          <p:cNvSpPr/>
          <p:nvPr/>
        </p:nvSpPr>
        <p:spPr>
          <a:xfrm>
            <a:off x="6108192" y="1920240"/>
            <a:ext cx="2633472" cy="548640"/>
          </a:xfrm>
          <a:prstGeom prst="rect">
            <a:avLst/>
          </a:prstGeom>
          <a:solidFill>
            <a:srgbClr val="000F46"/>
          </a:solidFill>
          <a:ln/>
        </p:spPr>
        <p:txBody>
          <a:bodyPr/>
          <a:lstStyle/>
          <a:p>
            <a:endParaRPr lang="en-AU"/>
          </a:p>
        </p:txBody>
      </p:sp>
      <p:sp>
        <p:nvSpPr>
          <p:cNvPr id="14" name="Text 12"/>
          <p:cNvSpPr/>
          <p:nvPr/>
        </p:nvSpPr>
        <p:spPr>
          <a:xfrm>
            <a:off x="6217920" y="1920240"/>
            <a:ext cx="2414016" cy="548640"/>
          </a:xfrm>
          <a:prstGeom prst="rect">
            <a:avLst/>
          </a:prstGeom>
          <a:noFill/>
          <a:ln/>
        </p:spPr>
        <p:txBody>
          <a:bodyPr wrap="square" lIns="0" tIns="0" rIns="0" bIns="0" rtlCol="0" anchor="ctr"/>
          <a:lstStyle/>
          <a:p>
            <a:pPr marL="0" indent="0" algn="l">
              <a:buNone/>
            </a:pPr>
            <a:r>
              <a:rPr lang="en-US" sz="1250" b="1" dirty="0">
                <a:solidFill>
                  <a:srgbClr val="FFFFFF"/>
                </a:solidFill>
                <a:latin typeface="Source Sans 3" pitchFamily="34" charset="0"/>
                <a:ea typeface="Source Sans 3" pitchFamily="34" charset="-122"/>
                <a:cs typeface="Source Sans 3" pitchFamily="34" charset="-120"/>
              </a:rPr>
              <a:t>Worth exploring</a:t>
            </a:r>
            <a:endParaRPr lang="en-US" sz="1250" dirty="0"/>
          </a:p>
        </p:txBody>
      </p:sp>
      <p:sp>
        <p:nvSpPr>
          <p:cNvPr id="15" name="Shape 13"/>
          <p:cNvSpPr/>
          <p:nvPr/>
        </p:nvSpPr>
        <p:spPr>
          <a:xfrm>
            <a:off x="6108192" y="2468880"/>
            <a:ext cx="2633472" cy="3566160"/>
          </a:xfrm>
          <a:prstGeom prst="rect">
            <a:avLst/>
          </a:prstGeom>
          <a:solidFill>
            <a:srgbClr val="F4F4F4"/>
          </a:solidFill>
          <a:ln w="12700">
            <a:solidFill>
              <a:srgbClr val="DDDDE7"/>
            </a:solidFill>
            <a:prstDash val="solid"/>
          </a:ln>
        </p:spPr>
        <p:txBody>
          <a:bodyPr/>
          <a:lstStyle/>
          <a:p>
            <a:endParaRPr lang="en-AU"/>
          </a:p>
        </p:txBody>
      </p:sp>
      <p:sp>
        <p:nvSpPr>
          <p:cNvPr id="16" name="Shape 14"/>
          <p:cNvSpPr/>
          <p:nvPr/>
        </p:nvSpPr>
        <p:spPr>
          <a:xfrm>
            <a:off x="8878824" y="1920240"/>
            <a:ext cx="2633472" cy="548640"/>
          </a:xfrm>
          <a:prstGeom prst="rect">
            <a:avLst/>
          </a:prstGeom>
          <a:solidFill>
            <a:srgbClr val="000F46"/>
          </a:solidFill>
          <a:ln/>
        </p:spPr>
        <p:txBody>
          <a:bodyPr/>
          <a:lstStyle/>
          <a:p>
            <a:endParaRPr lang="en-AU"/>
          </a:p>
        </p:txBody>
      </p:sp>
      <p:sp>
        <p:nvSpPr>
          <p:cNvPr id="17" name="Text 15"/>
          <p:cNvSpPr/>
          <p:nvPr/>
        </p:nvSpPr>
        <p:spPr>
          <a:xfrm>
            <a:off x="8988552" y="1920240"/>
            <a:ext cx="2414016" cy="548640"/>
          </a:xfrm>
          <a:prstGeom prst="rect">
            <a:avLst/>
          </a:prstGeom>
          <a:noFill/>
          <a:ln/>
        </p:spPr>
        <p:txBody>
          <a:bodyPr wrap="square" lIns="0" tIns="0" rIns="0" bIns="0" rtlCol="0" anchor="ctr"/>
          <a:lstStyle/>
          <a:p>
            <a:pPr marL="0" indent="0" algn="l">
              <a:buNone/>
            </a:pPr>
            <a:r>
              <a:rPr lang="en-US" sz="1250" b="1" dirty="0">
                <a:solidFill>
                  <a:srgbClr val="FFFFFF"/>
                </a:solidFill>
                <a:latin typeface="Source Sans 3" pitchFamily="34" charset="0"/>
                <a:ea typeface="Source Sans 3" pitchFamily="34" charset="-122"/>
                <a:cs typeface="Source Sans 3" pitchFamily="34" charset="-120"/>
              </a:rPr>
              <a:t>Owners / next step</a:t>
            </a:r>
            <a:endParaRPr lang="en-US" sz="1250" dirty="0"/>
          </a:p>
        </p:txBody>
      </p:sp>
      <p:sp>
        <p:nvSpPr>
          <p:cNvPr id="18" name="Shape 16"/>
          <p:cNvSpPr/>
          <p:nvPr/>
        </p:nvSpPr>
        <p:spPr>
          <a:xfrm>
            <a:off x="8878824" y="2468880"/>
            <a:ext cx="2633472" cy="3566160"/>
          </a:xfrm>
          <a:prstGeom prst="rect">
            <a:avLst/>
          </a:prstGeom>
          <a:solidFill>
            <a:srgbClr val="F4F4F4"/>
          </a:solidFill>
          <a:ln w="12700">
            <a:solidFill>
              <a:srgbClr val="DDDDE7"/>
            </a:solidFill>
            <a:prstDash val="solid"/>
          </a:ln>
        </p:spPr>
        <p:txBody>
          <a:bodyPr/>
          <a:lstStyle/>
          <a:p>
            <a:endParaRPr lang="en-AU"/>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F46"/>
        </a:solidFill>
        <a:effectLst/>
      </p:bgPr>
    </p:bg>
    <p:spTree>
      <p:nvGrpSpPr>
        <p:cNvPr id="1" name=""/>
        <p:cNvGrpSpPr/>
        <p:nvPr/>
      </p:nvGrpSpPr>
      <p:grpSpPr>
        <a:xfrm>
          <a:off x="0" y="0"/>
          <a:ext cx="0" cy="0"/>
          <a:chOff x="0" y="0"/>
          <a:chExt cx="0" cy="0"/>
        </a:xfrm>
      </p:grpSpPr>
      <p:sp>
        <p:nvSpPr>
          <p:cNvPr id="2" name="Shape 0"/>
          <p:cNvSpPr/>
          <p:nvPr/>
        </p:nvSpPr>
        <p:spPr>
          <a:xfrm>
            <a:off x="566928" y="658368"/>
            <a:ext cx="274320" cy="274320"/>
          </a:xfrm>
          <a:prstGeom prst="rect">
            <a:avLst/>
          </a:prstGeom>
          <a:solidFill>
            <a:srgbClr val="46C8F0"/>
          </a:solidFill>
          <a:ln/>
        </p:spPr>
        <p:txBody>
          <a:bodyPr/>
          <a:lstStyle/>
          <a:p>
            <a:endParaRPr lang="en-AU"/>
          </a:p>
        </p:txBody>
      </p:sp>
      <p:sp>
        <p:nvSpPr>
          <p:cNvPr id="3" name="Text 1"/>
          <p:cNvSpPr/>
          <p:nvPr/>
        </p:nvSpPr>
        <p:spPr>
          <a:xfrm>
            <a:off x="969264" y="54864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Fraunces" pitchFamily="34" charset="0"/>
                <a:ea typeface="Fraunces" pitchFamily="34" charset="-122"/>
                <a:cs typeface="Fraunces" pitchFamily="34" charset="-120"/>
              </a:rPr>
              <a:t>Where to from here — together</a:t>
            </a:r>
            <a:endParaRPr lang="en-US" sz="3200" dirty="0"/>
          </a:p>
        </p:txBody>
      </p:sp>
      <p:sp>
        <p:nvSpPr>
          <p:cNvPr id="4" name="Text 2"/>
          <p:cNvSpPr/>
          <p:nvPr/>
        </p:nvSpPr>
        <p:spPr>
          <a:xfrm>
            <a:off x="585216" y="1508760"/>
            <a:ext cx="10058400" cy="457200"/>
          </a:xfrm>
          <a:prstGeom prst="rect">
            <a:avLst/>
          </a:prstGeom>
          <a:noFill/>
          <a:ln/>
        </p:spPr>
        <p:txBody>
          <a:bodyPr wrap="square" lIns="0" tIns="0" rIns="0" bIns="0" rtlCol="0" anchor="ctr"/>
          <a:lstStyle/>
          <a:p>
            <a:pPr marL="0" indent="0">
              <a:buNone/>
            </a:pPr>
            <a:r>
              <a:rPr lang="en-US" sz="1700" i="1" dirty="0">
                <a:solidFill>
                  <a:srgbClr val="46C8F0"/>
                </a:solidFill>
                <a:latin typeface="Source Sans 3" pitchFamily="34" charset="0"/>
                <a:ea typeface="Source Sans 3" pitchFamily="34" charset="-122"/>
                <a:cs typeface="Source Sans 3" pitchFamily="34" charset="-120"/>
              </a:rPr>
              <a:t>Not conclusions — questions to take forward.</a:t>
            </a:r>
            <a:endParaRPr lang="en-US" sz="1700" dirty="0"/>
          </a:p>
        </p:txBody>
      </p:sp>
      <p:sp>
        <p:nvSpPr>
          <p:cNvPr id="5" name="Text 3"/>
          <p:cNvSpPr/>
          <p:nvPr/>
        </p:nvSpPr>
        <p:spPr>
          <a:xfrm>
            <a:off x="603504" y="2286000"/>
            <a:ext cx="10424160" cy="3291840"/>
          </a:xfrm>
          <a:prstGeom prst="rect">
            <a:avLst/>
          </a:prstGeom>
          <a:noFill/>
          <a:ln/>
        </p:spPr>
        <p:txBody>
          <a:bodyPr wrap="square" lIns="0" tIns="0" rIns="0" bIns="0" rtlCol="0" anchor="t"/>
          <a:lstStyle/>
          <a:p>
            <a:pPr marL="228600" indent="-228600">
              <a:spcAft>
                <a:spcPts val="1600"/>
              </a:spcAft>
              <a:buSzPct val="100000"/>
              <a:buChar char="•"/>
            </a:pPr>
            <a:r>
              <a:rPr lang="en-US" sz="1800" dirty="0">
                <a:solidFill>
                  <a:srgbClr val="FFFFFF"/>
                </a:solidFill>
                <a:latin typeface="Source Sans 3" pitchFamily="34" charset="0"/>
                <a:ea typeface="Source Sans 3" pitchFamily="34" charset="-122"/>
                <a:cs typeface="Source Sans 3" pitchFamily="34" charset="-120"/>
              </a:rPr>
              <a:t>Across all areas: what did we agree are the real overlaps?</a:t>
            </a:r>
            <a:endParaRPr lang="en-US" sz="1800" dirty="0"/>
          </a:p>
          <a:p>
            <a:pPr marL="228600" indent="-228600">
              <a:spcAft>
                <a:spcPts val="1600"/>
              </a:spcAft>
              <a:buSzPct val="100000"/>
              <a:buChar char="•"/>
            </a:pPr>
            <a:r>
              <a:rPr lang="en-US" sz="1800" dirty="0">
                <a:solidFill>
                  <a:srgbClr val="FFFFFF"/>
                </a:solidFill>
                <a:latin typeface="Source Sans 3" pitchFamily="34" charset="0"/>
                <a:ea typeface="Source Sans 3" pitchFamily="34" charset="-122"/>
                <a:cs typeface="Source Sans 3" pitchFamily="34" charset="-120"/>
              </a:rPr>
              <a:t>What is already in flight that we could connect or build on?</a:t>
            </a:r>
            <a:endParaRPr lang="en-US" sz="1800" dirty="0"/>
          </a:p>
          <a:p>
            <a:pPr marL="228600" indent="-228600">
              <a:spcAft>
                <a:spcPts val="1600"/>
              </a:spcAft>
              <a:buSzPct val="100000"/>
              <a:buChar char="•"/>
            </a:pPr>
            <a:r>
              <a:rPr lang="en-US" sz="1800" dirty="0">
                <a:solidFill>
                  <a:srgbClr val="FFFFFF"/>
                </a:solidFill>
                <a:latin typeface="Source Sans 3" pitchFamily="34" charset="0"/>
                <a:ea typeface="Source Sans 3" pitchFamily="34" charset="-122"/>
                <a:cs typeface="Source Sans 3" pitchFamily="34" charset="-120"/>
              </a:rPr>
              <a:t>For the biggest overlap — what is one next step, and who is involved?</a:t>
            </a:r>
            <a:endParaRPr lang="en-US" sz="1800" dirty="0"/>
          </a:p>
          <a:p>
            <a:pPr marL="228600" indent="-228600">
              <a:spcAft>
                <a:spcPts val="1600"/>
              </a:spcAft>
              <a:buSzPct val="100000"/>
              <a:buChar char="•"/>
            </a:pPr>
            <a:r>
              <a:rPr lang="en-US" sz="1800" dirty="0">
                <a:solidFill>
                  <a:srgbClr val="FFFFFF"/>
                </a:solidFill>
                <a:latin typeface="Source Sans 3" pitchFamily="34" charset="0"/>
                <a:ea typeface="Source Sans 3" pitchFamily="34" charset="-122"/>
                <a:cs typeface="Source Sans 3" pitchFamily="34" charset="-120"/>
              </a:rPr>
              <a:t>How will we keep aligned as this work continues?</a:t>
            </a:r>
            <a:endParaRPr lang="en-US" sz="1800" dirty="0"/>
          </a:p>
        </p:txBody>
      </p:sp>
      <p:pic>
        <p:nvPicPr>
          <p:cNvPr id="6" name="Image 0" descr="/Users/djmulholland/Documents/Claude/projects/unimelb-current-students-ia/discussion-deck/assets/logo-white.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01200" y="6053328"/>
            <a:ext cx="2011680" cy="632143"/>
          </a:xfrm>
          <a:prstGeom prst="rect">
            <a:avLst/>
          </a:prstGeom>
        </p:spPr>
      </p:pic>
      <p:sp>
        <p:nvSpPr>
          <p:cNvPr id="7" name="Text 4"/>
          <p:cNvSpPr/>
          <p:nvPr/>
        </p:nvSpPr>
        <p:spPr>
          <a:xfrm>
            <a:off x="603504" y="6217920"/>
            <a:ext cx="5486400" cy="365760"/>
          </a:xfrm>
          <a:prstGeom prst="rect">
            <a:avLst/>
          </a:prstGeom>
          <a:noFill/>
          <a:ln/>
        </p:spPr>
        <p:txBody>
          <a:bodyPr wrap="square" lIns="0" tIns="0" rIns="0" bIns="0" rtlCol="0" anchor="ctr"/>
          <a:lstStyle/>
          <a:p>
            <a:pPr marL="0" indent="0">
              <a:buNone/>
            </a:pPr>
            <a:r>
              <a:rPr lang="en-US" sz="1200" dirty="0">
                <a:solidFill>
                  <a:srgbClr val="C9CDE6"/>
                </a:solidFill>
                <a:latin typeface="Source Code Pro" pitchFamily="34" charset="0"/>
                <a:ea typeface="Source Code Pro" pitchFamily="34" charset="-122"/>
                <a:cs typeface="Source Code Pro" pitchFamily="34" charset="-120"/>
              </a:rPr>
              <a:t>Thank you · discussion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B34"/>
        </a:solidFill>
        <a:effectLst/>
      </p:bgPr>
    </p:bg>
    <p:spTree>
      <p:nvGrpSpPr>
        <p:cNvPr id="1" name=""/>
        <p:cNvGrpSpPr/>
        <p:nvPr/>
      </p:nvGrpSpPr>
      <p:grpSpPr>
        <a:xfrm>
          <a:off x="0" y="0"/>
          <a:ext cx="0" cy="0"/>
          <a:chOff x="0" y="0"/>
          <a:chExt cx="0" cy="0"/>
        </a:xfrm>
      </p:grpSpPr>
      <p:sp>
        <p:nvSpPr>
          <p:cNvPr id="2" name="Shape 0"/>
          <p:cNvSpPr/>
          <p:nvPr/>
        </p:nvSpPr>
        <p:spPr>
          <a:xfrm>
            <a:off x="566928" y="2926080"/>
            <a:ext cx="292608" cy="292608"/>
          </a:xfrm>
          <a:prstGeom prst="rect">
            <a:avLst/>
          </a:prstGeom>
          <a:solidFill>
            <a:srgbClr val="46C8F0"/>
          </a:solidFill>
          <a:ln/>
        </p:spPr>
        <p:txBody>
          <a:bodyPr/>
          <a:lstStyle/>
          <a:p>
            <a:endParaRPr lang="en-AU"/>
          </a:p>
        </p:txBody>
      </p:sp>
      <p:sp>
        <p:nvSpPr>
          <p:cNvPr id="3" name="Text 1"/>
          <p:cNvSpPr/>
          <p:nvPr/>
        </p:nvSpPr>
        <p:spPr>
          <a:xfrm>
            <a:off x="987552" y="2788920"/>
            <a:ext cx="9144000" cy="640080"/>
          </a:xfrm>
          <a:prstGeom prst="rect">
            <a:avLst/>
          </a:prstGeom>
          <a:noFill/>
          <a:ln/>
        </p:spPr>
        <p:txBody>
          <a:bodyPr wrap="square" lIns="0" tIns="0" rIns="0" bIns="0" rtlCol="0" anchor="ctr"/>
          <a:lstStyle/>
          <a:p>
            <a:pPr marL="0" indent="0">
              <a:buNone/>
            </a:pPr>
            <a:r>
              <a:rPr lang="en-US" sz="3400" b="1" dirty="0">
                <a:solidFill>
                  <a:srgbClr val="FFFFFF"/>
                </a:solidFill>
                <a:latin typeface="Fraunces" pitchFamily="34" charset="0"/>
                <a:ea typeface="Fraunces" pitchFamily="34" charset="-122"/>
                <a:cs typeface="Fraunces" pitchFamily="34" charset="-120"/>
              </a:rPr>
              <a:t>Appendix</a:t>
            </a:r>
            <a:endParaRPr lang="en-US" sz="3400" dirty="0"/>
          </a:p>
        </p:txBody>
      </p:sp>
      <p:sp>
        <p:nvSpPr>
          <p:cNvPr id="4" name="Text 2"/>
          <p:cNvSpPr/>
          <p:nvPr/>
        </p:nvSpPr>
        <p:spPr>
          <a:xfrm>
            <a:off x="585216" y="3611880"/>
            <a:ext cx="9601200" cy="457200"/>
          </a:xfrm>
          <a:prstGeom prst="rect">
            <a:avLst/>
          </a:prstGeom>
          <a:noFill/>
          <a:ln/>
        </p:spPr>
        <p:txBody>
          <a:bodyPr wrap="square" lIns="0" tIns="0" rIns="0" bIns="0" rtlCol="0" anchor="ctr"/>
          <a:lstStyle/>
          <a:p>
            <a:pPr marL="0" indent="0">
              <a:buNone/>
            </a:pPr>
            <a:r>
              <a:rPr lang="en-US" sz="1500" dirty="0">
                <a:solidFill>
                  <a:srgbClr val="C9CDE6"/>
                </a:solidFill>
                <a:latin typeface="Source Sans 3" pitchFamily="34" charset="0"/>
                <a:ea typeface="Source Sans 3" pitchFamily="34" charset="-122"/>
                <a:cs typeface="Source Sans 3" pitchFamily="34" charset="-120"/>
              </a:rPr>
              <a:t>Backup detail — per-faculty data, for reference if the discussion calls for specifics.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Who holds what — pages by faculty and topic</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14</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64240" cy="4775200"/>
        </p:xfrm>
        <a:graphic>
          <a:graphicData uri="http://schemas.openxmlformats.org/drawingml/2006/table">
            <a:tbl>
              <a:tblPr/>
              <a:tblGrid>
                <a:gridCol w="3108960">
                  <a:extLst>
                    <a:ext uri="{9D8B030D-6E8A-4147-A177-3AD203B41FA5}">
                      <a16:colId xmlns:a16="http://schemas.microsoft.com/office/drawing/2014/main" val="20000"/>
                    </a:ext>
                  </a:extLst>
                </a:gridCol>
                <a:gridCol w="1591056">
                  <a:extLst>
                    <a:ext uri="{9D8B030D-6E8A-4147-A177-3AD203B41FA5}">
                      <a16:colId xmlns:a16="http://schemas.microsoft.com/office/drawing/2014/main" val="20001"/>
                    </a:ext>
                  </a:extLst>
                </a:gridCol>
                <a:gridCol w="1591056">
                  <a:extLst>
                    <a:ext uri="{9D8B030D-6E8A-4147-A177-3AD203B41FA5}">
                      <a16:colId xmlns:a16="http://schemas.microsoft.com/office/drawing/2014/main" val="20002"/>
                    </a:ext>
                  </a:extLst>
                </a:gridCol>
                <a:gridCol w="1591056">
                  <a:extLst>
                    <a:ext uri="{9D8B030D-6E8A-4147-A177-3AD203B41FA5}">
                      <a16:colId xmlns:a16="http://schemas.microsoft.com/office/drawing/2014/main" val="20003"/>
                    </a:ext>
                  </a:extLst>
                </a:gridCol>
                <a:gridCol w="1591056">
                  <a:extLst>
                    <a:ext uri="{9D8B030D-6E8A-4147-A177-3AD203B41FA5}">
                      <a16:colId xmlns:a16="http://schemas.microsoft.com/office/drawing/2014/main" val="20004"/>
                    </a:ext>
                  </a:extLst>
                </a:gridCol>
                <a:gridCol w="1591056">
                  <a:extLst>
                    <a:ext uri="{9D8B030D-6E8A-4147-A177-3AD203B41FA5}">
                      <a16:colId xmlns:a16="http://schemas.microsoft.com/office/drawing/2014/main" val="20005"/>
                    </a:ext>
                  </a:extLst>
                </a:gridCol>
              </a:tblGrid>
              <a:tr h="365760">
                <a:tc>
                  <a:txBody>
                    <a:bodyPr/>
                    <a:lstStyle/>
                    <a:p>
                      <a:pPr marL="0" indent="0" algn="l">
                        <a:buNone/>
                      </a:pPr>
                      <a:r>
                        <a:rPr lang="en-US" sz="1100" b="1" dirty="0">
                          <a:solidFill>
                            <a:srgbClr val="FFFFFF"/>
                          </a:solidFill>
                          <a:latin typeface="Source Sans 3" pitchFamily="34" charset="0"/>
                          <a:ea typeface="Source Sans 3" pitchFamily="34" charset="-122"/>
                          <a:cs typeface="Source Sans 3" pitchFamily="34" charset="-120"/>
                        </a:rPr>
                        <a:t>Faculty / school</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r">
                        <a:buNone/>
                      </a:pPr>
                      <a:r>
                        <a:rPr lang="en-US" sz="1100" b="1" dirty="0">
                          <a:solidFill>
                            <a:srgbClr val="FFFFFF"/>
                          </a:solidFill>
                          <a:latin typeface="Source Sans 3" pitchFamily="34" charset="0"/>
                          <a:ea typeface="Source Sans 3" pitchFamily="34" charset="-122"/>
                          <a:cs typeface="Source Sans 3" pitchFamily="34" charset="-120"/>
                        </a:rPr>
                        <a:t>Course</a:t>
                      </a:r>
                      <a:endParaRPr lang="en-US" sz="1100" dirty="0">
                        <a:latin typeface="Source Sans 3" charset="0"/>
                        <a:ea typeface="Source Sans 3" charset="0"/>
                        <a:cs typeface="Source Sans 3" charset="0"/>
                      </a:endParaRPr>
                    </a:p>
                    <a:p>
                      <a:pPr marL="0" indent="0" algn="r">
                        <a:buNone/>
                      </a:pPr>
                      <a:r>
                        <a:rPr lang="en-US" sz="1100" b="1" dirty="0">
                          <a:solidFill>
                            <a:srgbClr val="FFFFFF"/>
                          </a:solidFill>
                          <a:latin typeface="Source Sans 3" pitchFamily="34" charset="0"/>
                          <a:ea typeface="Source Sans 3" pitchFamily="34" charset="-122"/>
                          <a:cs typeface="Source Sans 3" pitchFamily="34" charset="-120"/>
                        </a:rPr>
                        <a:t>planning</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r">
                        <a:buNone/>
                      </a:pPr>
                      <a:r>
                        <a:rPr lang="en-US" sz="1100" b="1" dirty="0">
                          <a:solidFill>
                            <a:srgbClr val="FFFFFF"/>
                          </a:solidFill>
                          <a:latin typeface="Source Sans 3" pitchFamily="34" charset="0"/>
                          <a:ea typeface="Source Sans 3" pitchFamily="34" charset="-122"/>
                          <a:cs typeface="Source Sans 3" pitchFamily="34" charset="-120"/>
                        </a:rPr>
                        <a:t>Careers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r">
                        <a:buNone/>
                      </a:pPr>
                      <a:r>
                        <a:rPr lang="en-US" sz="1100" b="1" dirty="0">
                          <a:solidFill>
                            <a:srgbClr val="FFFFFF"/>
                          </a:solidFill>
                          <a:latin typeface="Source Sans 3" pitchFamily="34" charset="0"/>
                          <a:ea typeface="Source Sans 3" pitchFamily="34" charset="-122"/>
                          <a:cs typeface="Source Sans 3" pitchFamily="34" charset="-120"/>
                        </a:rPr>
                        <a:t>Placements</a:t>
                      </a:r>
                      <a:endParaRPr lang="en-US" sz="1100" dirty="0">
                        <a:latin typeface="Source Sans 3" charset="0"/>
                        <a:ea typeface="Source Sans 3" charset="0"/>
                        <a:cs typeface="Source Sans 3" charset="0"/>
                      </a:endParaRPr>
                    </a:p>
                    <a:p>
                      <a:pPr marL="0" indent="0" algn="r">
                        <a:buNone/>
                      </a:pPr>
                      <a:r>
                        <a:rPr lang="en-US" sz="1100" b="1" dirty="0">
                          <a:solidFill>
                            <a:srgbClr val="FFFFFF"/>
                          </a:solidFill>
                          <a:latin typeface="Source Sans 3" pitchFamily="34" charset="0"/>
                          <a:ea typeface="Source Sans 3" pitchFamily="34" charset="-122"/>
                          <a:cs typeface="Source Sans 3" pitchFamily="34" charset="-120"/>
                        </a:rPr>
                        <a:t>/ WIL</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r">
                        <a:buNone/>
                      </a:pPr>
                      <a:r>
                        <a:rPr lang="en-US" sz="1100" b="1" dirty="0">
                          <a:solidFill>
                            <a:srgbClr val="FFFFFF"/>
                          </a:solidFill>
                          <a:latin typeface="Source Sans 3" pitchFamily="34" charset="0"/>
                          <a:ea typeface="Source Sans 3" pitchFamily="34" charset="-122"/>
                          <a:cs typeface="Source Sans 3" pitchFamily="34" charset="-120"/>
                        </a:rPr>
                        <a:t>Forms</a:t>
                      </a:r>
                      <a:endParaRPr lang="en-US" sz="1100" dirty="0">
                        <a:latin typeface="Source Sans 3" charset="0"/>
                        <a:ea typeface="Source Sans 3" charset="0"/>
                        <a:cs typeface="Source Sans 3" charset="0"/>
                      </a:endParaRPr>
                    </a:p>
                    <a:p>
                      <a:pPr marL="0" indent="0" algn="r">
                        <a:buNone/>
                      </a:pPr>
                      <a:r>
                        <a:rPr lang="en-US" sz="1100" b="1" dirty="0">
                          <a:solidFill>
                            <a:srgbClr val="FFFFFF"/>
                          </a:solidFill>
                          <a:latin typeface="Source Sans 3" pitchFamily="34" charset="0"/>
                          <a:ea typeface="Source Sans 3" pitchFamily="34" charset="-122"/>
                          <a:cs typeface="Source Sans 3" pitchFamily="34" charset="-120"/>
                        </a:rPr>
                        <a:t>/ admin</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r">
                        <a:buNone/>
                      </a:pPr>
                      <a:r>
                        <a:rPr lang="en-US" sz="1100" b="1" dirty="0">
                          <a:solidFill>
                            <a:srgbClr val="FFFFFF"/>
                          </a:solidFill>
                          <a:latin typeface="Source Sans 3" pitchFamily="34" charset="0"/>
                          <a:ea typeface="Source Sans 3" pitchFamily="34" charset="-122"/>
                          <a:cs typeface="Source Sans 3" pitchFamily="34" charset="-120"/>
                        </a:rPr>
                        <a:t>Research</a:t>
                      </a:r>
                      <a:endParaRPr lang="en-US" sz="1100" dirty="0">
                        <a:latin typeface="Source Sans 3" charset="0"/>
                        <a:ea typeface="Source Sans 3" charset="0"/>
                        <a:cs typeface="Source Sans 3" charset="0"/>
                      </a:endParaRPr>
                    </a:p>
                    <a:p>
                      <a:pPr marL="0" indent="0" algn="r">
                        <a:buNone/>
                      </a:pPr>
                      <a:r>
                        <a:rPr lang="en-US" sz="1100" b="1" dirty="0">
                          <a:solidFill>
                            <a:srgbClr val="FFFFFF"/>
                          </a:solidFill>
                          <a:latin typeface="Source Sans 3" pitchFamily="34" charset="0"/>
                          <a:ea typeface="Source Sans 3" pitchFamily="34" charset="-122"/>
                          <a:cs typeface="Source Sans 3" pitchFamily="34" charset="-120"/>
                        </a:rPr>
                        <a:t>candidature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extLst>
                  <a:ext uri="{0D108BD9-81ED-4DB2-BD59-A6C34878D82A}">
                    <a16:rowId xmlns:a16="http://schemas.microsoft.com/office/drawing/2014/main" val="10000"/>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Arts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19</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ABP / MSD</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5</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Business &amp; Economics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8</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Education</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18</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Engineering &amp; IT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Fine Arts &amp; Music</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Law</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9</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Medicine, Dentistry &amp; HS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94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Science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6</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Melbourne Business School *</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57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13</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Biomedical Sciences *</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4</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7</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65760">
                <a:tc>
                  <a:txBody>
                    <a:bodyPr/>
                    <a:lstStyle/>
                    <a:p>
                      <a:pPr marL="0" indent="0">
                        <a:buNone/>
                      </a:pPr>
                      <a:r>
                        <a:rPr lang="en-US" sz="1100" b="1" dirty="0">
                          <a:solidFill>
                            <a:srgbClr val="000B34"/>
                          </a:solidFill>
                          <a:latin typeface="Source Sans 3" pitchFamily="34" charset="0"/>
                          <a:ea typeface="Source Sans 3" pitchFamily="34" charset="-122"/>
                          <a:cs typeface="Source Sans 3" pitchFamily="34" charset="-120"/>
                        </a:rPr>
                        <a:t>Dental School *</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2</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C1C28"/>
                          </a:solidFill>
                          <a:latin typeface="Source Sans 3" pitchFamily="34" charset="0"/>
                          <a:ea typeface="Source Sans 3" pitchFamily="34" charset="-122"/>
                          <a:cs typeface="Source Sans 3" pitchFamily="34" charset="-120"/>
                        </a:rPr>
                        <a:t>0</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7" name="Text 4"/>
          <p:cNvSpPr/>
          <p:nvPr/>
        </p:nvSpPr>
        <p:spPr>
          <a:xfrm>
            <a:off x="566928" y="5989320"/>
            <a:ext cx="10881360" cy="365760"/>
          </a:xfrm>
          <a:prstGeom prst="rect">
            <a:avLst/>
          </a:prstGeom>
          <a:noFill/>
          <a:ln/>
        </p:spPr>
        <p:txBody>
          <a:bodyPr wrap="square" lIns="0" tIns="0" rIns="0" bIns="0" rtlCol="0" anchor="ctr"/>
          <a:lstStyle/>
          <a:p>
            <a:pPr marL="0" indent="0">
              <a:buNone/>
            </a:pPr>
            <a:r>
              <a:rPr lang="en-US" sz="1000" i="1" dirty="0">
                <a:solidFill>
                  <a:srgbClr val="5B5B6B"/>
                </a:solidFill>
                <a:latin typeface="Source Sans 3" pitchFamily="34" charset="0"/>
                <a:ea typeface="Source Sans 3" pitchFamily="34" charset="-122"/>
                <a:cs typeface="Source Sans 3" pitchFamily="34" charset="-120"/>
              </a:rPr>
              <a:t>* school-level site (runs its own current-students section below its faculty).  Page counts are descriptive — they show where content sits, not its quality. Cleaned content counts (profiles/archives/over-broad tags removed), June 2026.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46C8F0"/>
          </a:solidFill>
          <a:ln/>
        </p:spPr>
        <p:txBody>
          <a:bodyPr/>
          <a:lstStyle/>
          <a:p>
            <a:endParaRPr lang="en-AU"/>
          </a:p>
        </p:txBody>
      </p:sp>
      <p:sp>
        <p:nvSpPr>
          <p:cNvPr id="3" name="Text 1"/>
          <p:cNvSpPr/>
          <p:nvPr/>
        </p:nvSpPr>
        <p:spPr>
          <a:xfrm>
            <a:off x="914400" y="457200"/>
            <a:ext cx="10698480" cy="502920"/>
          </a:xfrm>
          <a:prstGeom prst="rect">
            <a:avLst/>
          </a:prstGeom>
          <a:noFill/>
          <a:ln/>
        </p:spPr>
        <p:txBody>
          <a:bodyPr wrap="square" lIns="0" tIns="0" rIns="0" bIns="0" rtlCol="0" anchor="ctr"/>
          <a:lstStyle/>
          <a:p>
            <a:pPr marL="0" indent="0">
              <a:buNone/>
            </a:pPr>
            <a:r>
              <a:rPr lang="en-US" sz="2900" b="1" dirty="0">
                <a:solidFill>
                  <a:srgbClr val="000F46"/>
                </a:solidFill>
                <a:latin typeface="Fraunces" pitchFamily="34" charset="0"/>
                <a:ea typeface="Fraunces" pitchFamily="34" charset="-122"/>
                <a:cs typeface="Fraunces" pitchFamily="34" charset="-120"/>
              </a:rPr>
              <a:t>The broader estate — where each topic lives</a:t>
            </a:r>
            <a:endParaRPr lang="en-US" sz="2900" dirty="0"/>
          </a:p>
        </p:txBody>
      </p:sp>
      <p:sp>
        <p:nvSpPr>
          <p:cNvPr id="4" name="Text 2"/>
          <p:cNvSpPr/>
          <p:nvPr/>
        </p:nvSpPr>
        <p:spPr>
          <a:xfrm>
            <a:off x="548640" y="6437376"/>
            <a:ext cx="9601200" cy="274320"/>
          </a:xfrm>
          <a:prstGeom prst="rect">
            <a:avLst/>
          </a:prstGeom>
          <a:noFill/>
          <a:ln/>
        </p:spPr>
        <p:txBody>
          <a:bodyPr wrap="square" lIns="0" tIns="0" rIns="0" bIns="0" rtlCol="0" anchor="ctr"/>
          <a:lstStyle/>
          <a:p>
            <a:pPr marL="0" indent="0">
              <a:buNone/>
            </a:pPr>
            <a:r>
              <a:rPr lang="en-US" sz="900" dirty="0">
                <a:solidFill>
                  <a:srgbClr val="5B5B6B"/>
                </a:solidFill>
                <a:latin typeface="Source Sans 3" pitchFamily="34" charset="0"/>
                <a:ea typeface="Source Sans 3" pitchFamily="34" charset="-122"/>
                <a:cs typeface="Source Sans 3" pitchFamily="34" charset="-120"/>
              </a:rPr>
              <a:t>University of Melbourne — web estate alignment discussion · for discussion</a:t>
            </a:r>
            <a:endParaRPr lang="en-US" sz="900" dirty="0"/>
          </a:p>
        </p:txBody>
      </p:sp>
      <p:sp>
        <p:nvSpPr>
          <p:cNvPr id="5" name="Text 3"/>
          <p:cNvSpPr/>
          <p:nvPr/>
        </p:nvSpPr>
        <p:spPr>
          <a:xfrm>
            <a:off x="11247120" y="6437376"/>
            <a:ext cx="411480" cy="274320"/>
          </a:xfrm>
          <a:prstGeom prst="rect">
            <a:avLst/>
          </a:prstGeom>
          <a:noFill/>
          <a:ln/>
        </p:spPr>
        <p:txBody>
          <a:bodyPr wrap="square" lIns="0" tIns="0" rIns="0" bIns="0" rtlCol="0" anchor="ctr"/>
          <a:lstStyle/>
          <a:p>
            <a:pPr marL="0" indent="0" algn="r">
              <a:buNone/>
            </a:pPr>
            <a:r>
              <a:rPr lang="en-US" sz="900" dirty="0">
                <a:solidFill>
                  <a:srgbClr val="5B5B6B"/>
                </a:solidFill>
                <a:latin typeface="Source Sans 3" pitchFamily="34" charset="0"/>
                <a:ea typeface="Source Sans 3" pitchFamily="34" charset="-122"/>
                <a:cs typeface="Source Sans 3" pitchFamily="34" charset="-120"/>
              </a:rPr>
              <a:t>15</a:t>
            </a:r>
            <a:endParaRPr lang="en-US" sz="900" dirty="0"/>
          </a:p>
        </p:txBody>
      </p:sp>
      <p:sp>
        <p:nvSpPr>
          <p:cNvPr id="6" name="Text 4"/>
          <p:cNvSpPr/>
          <p:nvPr/>
        </p:nvSpPr>
        <p:spPr>
          <a:xfrm>
            <a:off x="566928" y="1325880"/>
            <a:ext cx="10881360" cy="594360"/>
          </a:xfrm>
          <a:prstGeom prst="rect">
            <a:avLst/>
          </a:prstGeom>
          <a:noFill/>
          <a:ln/>
        </p:spPr>
        <p:txBody>
          <a:bodyPr wrap="square" lIns="0" tIns="0" rIns="0" bIns="0" rtlCol="0" anchor="ctr"/>
          <a:lstStyle/>
          <a:p>
            <a:pPr marL="0" indent="0">
              <a:lnSpc>
                <a:spcPct val="112000"/>
              </a:lnSpc>
              <a:buNone/>
            </a:pPr>
            <a:r>
              <a:rPr lang="en-US" sz="1400" dirty="0">
                <a:solidFill>
                  <a:srgbClr val="1C1C28"/>
                </a:solidFill>
                <a:latin typeface="Source Sans 3" pitchFamily="34" charset="0"/>
                <a:ea typeface="Source Sans 3" pitchFamily="34" charset="-122"/>
                <a:cs typeface="Source Sans 3" pitchFamily="34" charset="-120"/>
              </a:rPr>
              <a:t>Across all four parts of the University's web estate. Source: June 2026 crawl — 1,173 pages (current-students), 300 pages (study.unimelb), 116 pages (alumni.unimelb).</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64240" cy="3438144"/>
        </p:xfrm>
        <a:graphic>
          <a:graphicData uri="http://schemas.openxmlformats.org/drawingml/2006/table">
            <a:tbl>
              <a:tblPr/>
              <a:tblGrid>
                <a:gridCol w="31089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429768">
                <a:tc>
                  <a:txBody>
                    <a:bodyPr/>
                    <a:lstStyle/>
                    <a:p>
                      <a:pPr marL="0" indent="0" algn="l">
                        <a:buNone/>
                      </a:pPr>
                      <a:r>
                        <a:rPr lang="en-US" sz="1100" b="1" dirty="0">
                          <a:solidFill>
                            <a:srgbClr val="FFFFFF"/>
                          </a:solidFill>
                          <a:latin typeface="Source Sans 3" pitchFamily="34" charset="0"/>
                          <a:ea typeface="Source Sans 3" pitchFamily="34" charset="-122"/>
                          <a:cs typeface="Source Sans 3" pitchFamily="34" charset="-120"/>
                        </a:rPr>
                        <a:t>Topic area</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Current Students</a:t>
                      </a:r>
                      <a:endParaRPr lang="en-US" sz="1100" dirty="0">
                        <a:latin typeface="Source Sans 3" charset="0"/>
                        <a:ea typeface="Source Sans 3" charset="0"/>
                        <a:cs typeface="Source Sans 3" charset="0"/>
                      </a:endParaRPr>
                    </a:p>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Website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Faculty sites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Further study</a:t>
                      </a:r>
                      <a:endParaRPr lang="en-US" sz="1100" dirty="0">
                        <a:latin typeface="Source Sans 3" charset="0"/>
                        <a:ea typeface="Source Sans 3" charset="0"/>
                        <a:cs typeface="Source Sans 3" charset="0"/>
                      </a:endParaRPr>
                    </a:p>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(study.)</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tc>
                  <a:txBody>
                    <a:bodyPr/>
                    <a:lstStyle/>
                    <a:p>
                      <a:pPr marL="0" indent="0" algn="ctr">
                        <a:buNone/>
                      </a:pPr>
                      <a:r>
                        <a:rPr lang="en-US" sz="1100" b="1" dirty="0">
                          <a:solidFill>
                            <a:srgbClr val="FFFFFF"/>
                          </a:solidFill>
                          <a:latin typeface="Source Sans 3" pitchFamily="34" charset="0"/>
                          <a:ea typeface="Source Sans 3" pitchFamily="34" charset="-122"/>
                          <a:cs typeface="Source Sans 3" pitchFamily="34" charset="-120"/>
                        </a:rPr>
                        <a:t>Alumni</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000F46"/>
                    </a:solidFill>
                  </a:tcPr>
                </a:tc>
                <a:extLst>
                  <a:ext uri="{0D108BD9-81ED-4DB2-BD59-A6C34878D82A}">
                    <a16:rowId xmlns:a16="http://schemas.microsoft.com/office/drawing/2014/main" val="10000"/>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Course / degree info</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Planner + Handbook</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Every faculty</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224 pages — full coverage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Careers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Careers service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8 of 9 (63 pp)</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37 pages — entry only</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38 pp + mentoring</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Placements / WIL</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Every faculty</a:t>
                      </a:r>
                      <a:endParaRPr lang="en-US" sz="1100" dirty="0">
                        <a:latin typeface="Source Sans 3" charset="0"/>
                        <a:ea typeface="Source Sans 3" charset="0"/>
                        <a:cs typeface="Source Sans 3" charset="0"/>
                      </a:endParaRPr>
                    </a:p>
                    <a:p>
                      <a:pPr marL="0" indent="0">
                        <a:buNone/>
                      </a:pPr>
                      <a:r>
                        <a:rPr lang="en-US" sz="1100" dirty="0">
                          <a:solidFill>
                            <a:srgbClr val="1C1C28"/>
                          </a:solidFill>
                          <a:latin typeface="Source Sans 3" pitchFamily="34" charset="0"/>
                          <a:ea typeface="Source Sans 3" pitchFamily="34" charset="-122"/>
                          <a:cs typeface="Source Sans 3" pitchFamily="34" charset="-120"/>
                        </a:rPr>
                        <a:t>(186 pp)</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10 pages — overview</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Scholarships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Some (100 pp)</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75 pages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1 page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Research candidature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Thin</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Heavy</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1 page — entry only</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1 page</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Alumni engagement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Some (patchy)</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116 pages — full</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Service requests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Stop 1 + processes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Student centres</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tc>
                  <a:txBody>
                    <a:bodyPr/>
                    <a:lstStyle/>
                    <a:p>
                      <a:pPr marL="0" indent="0">
                        <a:buNone/>
                      </a:pPr>
                      <a:r>
                        <a:rPr lang="en-US" sz="1100" dirty="0">
                          <a:solidFill>
                            <a:srgbClr val="1C1C2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76200" marR="76200" marT="25400" marB="25400" anchor="ctr">
                    <a:lnL w="12700" cap="flat" cmpd="sng" algn="ctr">
                      <a:solidFill>
                        <a:srgbClr val="DDDDE7"/>
                      </a:solidFill>
                      <a:prstDash val="solid"/>
                      <a:round/>
                      <a:headEnd type="none" w="med" len="med"/>
                      <a:tailEnd type="none" w="med" len="med"/>
                    </a:lnL>
                    <a:lnR w="12700" cap="flat" cmpd="sng" algn="ctr">
                      <a:solidFill>
                        <a:srgbClr val="DDDDE7"/>
                      </a:solidFill>
                      <a:prstDash val="solid"/>
                      <a:round/>
                      <a:headEnd type="none" w="med" len="med"/>
                      <a:tailEnd type="none" w="med" len="med"/>
                    </a:lnR>
                    <a:lnT w="12700" cap="flat" cmpd="sng" algn="ctr">
                      <a:solidFill>
                        <a:srgbClr val="DDDDE7"/>
                      </a:solidFill>
                      <a:prstDash val="solid"/>
                      <a:round/>
                      <a:headEnd type="none" w="med" len="med"/>
                      <a:tailEnd type="none" w="med" len="med"/>
                    </a:lnT>
                    <a:lnB w="12700" cap="flat" cmpd="sng" algn="ctr">
                      <a:solidFill>
                        <a:srgbClr val="DDDDE7"/>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5"/>
          <p:cNvSpPr/>
          <p:nvPr/>
        </p:nvSpPr>
        <p:spPr>
          <a:xfrm>
            <a:off x="566928" y="5669280"/>
            <a:ext cx="10881360" cy="274320"/>
          </a:xfrm>
          <a:prstGeom prst="rect">
            <a:avLst/>
          </a:prstGeom>
          <a:noFill/>
          <a:ln/>
        </p:spPr>
        <p:txBody>
          <a:bodyPr wrap="square" lIns="0" tIns="0" rIns="0" bIns="0" rtlCol="0" anchor="ctr"/>
          <a:lstStyle/>
          <a:p>
            <a:pPr marL="0" indent="0">
              <a:buNone/>
            </a:pPr>
            <a:r>
              <a:rPr lang="en-US" sz="900" i="1" dirty="0">
                <a:solidFill>
                  <a:srgbClr val="5B5B6B"/>
                </a:solidFill>
                <a:latin typeface="Source Code Pro" pitchFamily="34" charset="0"/>
                <a:ea typeface="Source Code Pro" pitchFamily="34" charset="-122"/>
                <a:cs typeface="Source Code Pro" pitchFamily="34" charset="-120"/>
              </a:rPr>
              <a:t>Source: analysis/cross-site-overlap.md · crawl/pages/study-unimelb.json (300 pp) · crawl/pages/alumni-unimelb.json (116 pp)</a:t>
            </a:r>
            <a:endParaRPr lang="en-US" sz="9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256032" cy="256032"/>
          </a:xfrm>
          <a:prstGeom prst="rect">
            <a:avLst/>
          </a:prstGeom>
          <a:solidFill>
            <a:srgbClr val="46C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914400" y="457200"/>
            <a:ext cx="10698480" cy="502920"/>
          </a:xfrm>
          <a:prstGeom prst="rect">
            <a:avLst/>
          </a:prstGeom>
          <a:noFill/>
        </p:spPr>
        <p:txBody>
          <a:bodyPr wrap="square" anchor="ctr" lIns="0" rIns="0" tIns="0" bIns="0">
            <a:spAutoFit/>
          </a:bodyPr>
          <a:lstStyle/>
          <a:p>
            <a:pPr algn="l"/>
            <a:r>
              <a:rPr sz="2900" b="1" i="0">
                <a:solidFill>
                  <a:srgbClr val="000F46"/>
                </a:solidFill>
                <a:latin typeface="Fraunces"/>
              </a:rPr>
              <a:t>The lifecycle: four websites, two broken seams</a:t>
            </a:r>
          </a:p>
        </p:txBody>
      </p:sp>
      <p:sp>
        <p:nvSpPr>
          <p:cNvPr id="4" name="TextBox 3"/>
          <p:cNvSpPr txBox="1"/>
          <p:nvPr/>
        </p:nvSpPr>
        <p:spPr>
          <a:xfrm>
            <a:off x="548640" y="6437376"/>
            <a:ext cx="9601200" cy="274320"/>
          </a:xfrm>
          <a:prstGeom prst="rect">
            <a:avLst/>
          </a:prstGeom>
          <a:noFill/>
        </p:spPr>
        <p:txBody>
          <a:bodyPr wrap="square" anchor="t" lIns="0" rIns="0" tIns="0" bIns="0">
            <a:spAutoFit/>
          </a:bodyPr>
          <a:lstStyle/>
          <a:p>
            <a:pPr algn="l"/>
            <a:r>
              <a:rPr sz="900" b="0" i="0">
                <a:solidFill>
                  <a:srgbClr val="5B5B6B"/>
                </a:solidFill>
                <a:latin typeface="Source Sans 3"/>
              </a:rPr>
              <a:t>University of Melbourne — web estate alignment discussion · for discussion</a:t>
            </a:r>
          </a:p>
        </p:txBody>
      </p:sp>
      <p:sp>
        <p:nvSpPr>
          <p:cNvPr id="5" name="TextBox 4"/>
          <p:cNvSpPr txBox="1"/>
          <p:nvPr/>
        </p:nvSpPr>
        <p:spPr>
          <a:xfrm>
            <a:off x="11247120" y="6437376"/>
            <a:ext cx="411480" cy="274320"/>
          </a:xfrm>
          <a:prstGeom prst="rect">
            <a:avLst/>
          </a:prstGeom>
          <a:noFill/>
        </p:spPr>
        <p:txBody>
          <a:bodyPr wrap="square" anchor="t" lIns="0" rIns="0" tIns="0" bIns="0">
            <a:spAutoFit/>
          </a:bodyPr>
          <a:lstStyle/>
          <a:p>
            <a:pPr algn="r"/>
            <a:r>
              <a:rPr sz="900" b="0" i="0">
                <a:solidFill>
                  <a:srgbClr val="5B5B6B"/>
                </a:solidFill>
                <a:latin typeface="Source Sans 3"/>
              </a:rPr>
              <a:t>6</a:t>
            </a:r>
          </a:p>
        </p:txBody>
      </p:sp>
      <p:sp>
        <p:nvSpPr>
          <p:cNvPr id="6" name="TextBox 5"/>
          <p:cNvSpPr txBox="1"/>
          <p:nvPr/>
        </p:nvSpPr>
        <p:spPr>
          <a:xfrm>
            <a:off x="566928" y="1170432"/>
            <a:ext cx="10881360" cy="731520"/>
          </a:xfrm>
          <a:prstGeom prst="rect">
            <a:avLst/>
          </a:prstGeom>
          <a:noFill/>
        </p:spPr>
        <p:txBody>
          <a:bodyPr wrap="square" anchor="t" lIns="0" rIns="0" tIns="0" bIns="0">
            <a:spAutoFit/>
          </a:bodyPr>
          <a:lstStyle/>
          <a:p>
            <a:pPr algn="l">
              <a:lnSpc>
                <a:spcPct val="112000"/>
              </a:lnSpc>
            </a:pPr>
            <a:r>
              <a:rPr sz="1500" b="0" i="0">
                <a:solidFill>
                  <a:srgbClr val="1C1C28"/>
                </a:solidFill>
                <a:latin typeface="Source Sans 3"/>
              </a:rPr>
              <a:t>Beyond the three phases: the journey actually crosses four separate websites — each with its own architecture and vocabulary. Two of the three handoffs have no web-level bridge at all.</a:t>
            </a:r>
          </a:p>
        </p:txBody>
      </p:sp>
      <p:sp>
        <p:nvSpPr>
          <p:cNvPr id="7" name="Rectangle 6"/>
          <p:cNvSpPr/>
          <p:nvPr/>
        </p:nvSpPr>
        <p:spPr>
          <a:xfrm>
            <a:off x="566928" y="2286000"/>
            <a:ext cx="2286000" cy="960120"/>
          </a:xfrm>
          <a:prstGeom prst="rect">
            <a:avLst/>
          </a:prstGeom>
          <a:solidFill>
            <a:srgbClr val="EAF6FB"/>
          </a:solidFill>
          <a:ln w="15875">
            <a:solidFill>
              <a:srgbClr val="2F95B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2487168"/>
            <a:ext cx="2286000" cy="365760"/>
          </a:xfrm>
          <a:prstGeom prst="rect">
            <a:avLst/>
          </a:prstGeom>
          <a:noFill/>
        </p:spPr>
        <p:txBody>
          <a:bodyPr wrap="square" anchor="ctr" lIns="0" rIns="0" tIns="0" bIns="0">
            <a:spAutoFit/>
          </a:bodyPr>
          <a:lstStyle/>
          <a:p>
            <a:pPr algn="ctr"/>
            <a:r>
              <a:rPr sz="1300" b="1" i="0">
                <a:solidFill>
                  <a:srgbClr val="000F46"/>
                </a:solidFill>
                <a:latin typeface="Source Sans 3"/>
              </a:rPr>
              <a:t>study.unimelb</a:t>
            </a:r>
          </a:p>
        </p:txBody>
      </p:sp>
      <p:sp>
        <p:nvSpPr>
          <p:cNvPr id="9" name="TextBox 8"/>
          <p:cNvSpPr txBox="1"/>
          <p:nvPr/>
        </p:nvSpPr>
        <p:spPr>
          <a:xfrm>
            <a:off x="566928" y="2852928"/>
            <a:ext cx="2286000" cy="274320"/>
          </a:xfrm>
          <a:prstGeom prst="rect">
            <a:avLst/>
          </a:prstGeom>
          <a:noFill/>
        </p:spPr>
        <p:txBody>
          <a:bodyPr wrap="square" anchor="ctr" lIns="0" rIns="0" tIns="0" bIns="0">
            <a:spAutoFit/>
          </a:bodyPr>
          <a:lstStyle/>
          <a:p>
            <a:pPr algn="ctr"/>
            <a:r>
              <a:rPr sz="900" b="0" i="0">
                <a:solidFill>
                  <a:srgbClr val="000F46"/>
                </a:solidFill>
                <a:latin typeface="Source Code Pro"/>
              </a:rPr>
              <a:t>prospective · 300pp</a:t>
            </a:r>
          </a:p>
        </p:txBody>
      </p:sp>
      <p:sp>
        <p:nvSpPr>
          <p:cNvPr id="10" name="Rectangle 9"/>
          <p:cNvSpPr/>
          <p:nvPr/>
        </p:nvSpPr>
        <p:spPr>
          <a:xfrm>
            <a:off x="3493008" y="2286000"/>
            <a:ext cx="2286000" cy="960120"/>
          </a:xfrm>
          <a:prstGeom prst="rect">
            <a:avLst/>
          </a:prstGeom>
          <a:solidFill>
            <a:srgbClr val="000B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493008" y="2487168"/>
            <a:ext cx="2286000" cy="365760"/>
          </a:xfrm>
          <a:prstGeom prst="rect">
            <a:avLst/>
          </a:prstGeom>
          <a:noFill/>
        </p:spPr>
        <p:txBody>
          <a:bodyPr wrap="square" anchor="ctr" lIns="0" rIns="0" tIns="0" bIns="0">
            <a:spAutoFit/>
          </a:bodyPr>
          <a:lstStyle/>
          <a:p>
            <a:pPr algn="ctr"/>
            <a:r>
              <a:rPr sz="1300" b="1" i="0">
                <a:solidFill>
                  <a:srgbClr val="FFFFFF"/>
                </a:solidFill>
                <a:latin typeface="Source Sans 3"/>
              </a:rPr>
              <a:t>9 faculty sites</a:t>
            </a:r>
          </a:p>
        </p:txBody>
      </p:sp>
      <p:sp>
        <p:nvSpPr>
          <p:cNvPr id="12" name="TextBox 11"/>
          <p:cNvSpPr txBox="1"/>
          <p:nvPr/>
        </p:nvSpPr>
        <p:spPr>
          <a:xfrm>
            <a:off x="3493008" y="2852928"/>
            <a:ext cx="2286000" cy="274320"/>
          </a:xfrm>
          <a:prstGeom prst="rect">
            <a:avLst/>
          </a:prstGeom>
          <a:noFill/>
        </p:spPr>
        <p:txBody>
          <a:bodyPr wrap="square" anchor="ctr" lIns="0" rIns="0" tIns="0" bIns="0">
            <a:spAutoFit/>
          </a:bodyPr>
          <a:lstStyle/>
          <a:p>
            <a:pPr algn="ctr"/>
            <a:r>
              <a:rPr sz="900" b="0" i="0">
                <a:solidFill>
                  <a:srgbClr val="FFFFFF"/>
                </a:solidFill>
                <a:latin typeface="Source Code Pro"/>
              </a:rPr>
              <a:t>current · ~1,000pp</a:t>
            </a:r>
          </a:p>
        </p:txBody>
      </p:sp>
      <p:sp>
        <p:nvSpPr>
          <p:cNvPr id="13" name="Rectangle 12"/>
          <p:cNvSpPr/>
          <p:nvPr/>
        </p:nvSpPr>
        <p:spPr>
          <a:xfrm>
            <a:off x="6419088" y="2286000"/>
            <a:ext cx="2286000" cy="960120"/>
          </a:xfrm>
          <a:prstGeom prst="rect">
            <a:avLst/>
          </a:prstGeom>
          <a:solidFill>
            <a:srgbClr val="000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19088" y="2487168"/>
            <a:ext cx="2286000" cy="365760"/>
          </a:xfrm>
          <a:prstGeom prst="rect">
            <a:avLst/>
          </a:prstGeom>
          <a:noFill/>
        </p:spPr>
        <p:txBody>
          <a:bodyPr wrap="square" anchor="ctr" lIns="0" rIns="0" tIns="0" bIns="0">
            <a:spAutoFit/>
          </a:bodyPr>
          <a:lstStyle/>
          <a:p>
            <a:pPr algn="ctr"/>
            <a:r>
              <a:rPr sz="1300" b="1" i="0">
                <a:solidFill>
                  <a:srgbClr val="FFFFFF"/>
                </a:solidFill>
                <a:latin typeface="Source Sans 3"/>
              </a:rPr>
              <a:t>students.unimelb</a:t>
            </a:r>
          </a:p>
        </p:txBody>
      </p:sp>
      <p:sp>
        <p:nvSpPr>
          <p:cNvPr id="15" name="TextBox 14"/>
          <p:cNvSpPr txBox="1"/>
          <p:nvPr/>
        </p:nvSpPr>
        <p:spPr>
          <a:xfrm>
            <a:off x="6419088" y="2852928"/>
            <a:ext cx="2286000" cy="274320"/>
          </a:xfrm>
          <a:prstGeom prst="rect">
            <a:avLst/>
          </a:prstGeom>
          <a:noFill/>
        </p:spPr>
        <p:txBody>
          <a:bodyPr wrap="square" anchor="ctr" lIns="0" rIns="0" tIns="0" bIns="0">
            <a:spAutoFit/>
          </a:bodyPr>
          <a:lstStyle/>
          <a:p>
            <a:pPr algn="ctr"/>
            <a:r>
              <a:rPr sz="900" b="0" i="0">
                <a:solidFill>
                  <a:srgbClr val="FFFFFF"/>
                </a:solidFill>
                <a:latin typeface="Source Code Pro"/>
              </a:rPr>
              <a:t>current · central</a:t>
            </a:r>
          </a:p>
        </p:txBody>
      </p:sp>
      <p:sp>
        <p:nvSpPr>
          <p:cNvPr id="16" name="Rectangle 15"/>
          <p:cNvSpPr/>
          <p:nvPr/>
        </p:nvSpPr>
        <p:spPr>
          <a:xfrm>
            <a:off x="9345168" y="2286000"/>
            <a:ext cx="2286000" cy="960120"/>
          </a:xfrm>
          <a:prstGeom prst="rect">
            <a:avLst/>
          </a:prstGeom>
          <a:solidFill>
            <a:srgbClr val="F4F4F4"/>
          </a:solidFill>
          <a:ln w="15875">
            <a:solidFill>
              <a:srgbClr val="DD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345168" y="2487168"/>
            <a:ext cx="2286000" cy="365760"/>
          </a:xfrm>
          <a:prstGeom prst="rect">
            <a:avLst/>
          </a:prstGeom>
          <a:noFill/>
        </p:spPr>
        <p:txBody>
          <a:bodyPr wrap="square" anchor="ctr" lIns="0" rIns="0" tIns="0" bIns="0">
            <a:spAutoFit/>
          </a:bodyPr>
          <a:lstStyle/>
          <a:p>
            <a:pPr algn="ctr"/>
            <a:r>
              <a:rPr sz="1300" b="1" i="0">
                <a:solidFill>
                  <a:srgbClr val="000F46"/>
                </a:solidFill>
                <a:latin typeface="Source Sans 3"/>
              </a:rPr>
              <a:t>alumni site</a:t>
            </a:r>
          </a:p>
        </p:txBody>
      </p:sp>
      <p:sp>
        <p:nvSpPr>
          <p:cNvPr id="18" name="TextBox 17"/>
          <p:cNvSpPr txBox="1"/>
          <p:nvPr/>
        </p:nvSpPr>
        <p:spPr>
          <a:xfrm>
            <a:off x="9345168" y="2852928"/>
            <a:ext cx="2286000" cy="274320"/>
          </a:xfrm>
          <a:prstGeom prst="rect">
            <a:avLst/>
          </a:prstGeom>
          <a:noFill/>
        </p:spPr>
        <p:txBody>
          <a:bodyPr wrap="square" anchor="ctr" lIns="0" rIns="0" tIns="0" bIns="0">
            <a:spAutoFit/>
          </a:bodyPr>
          <a:lstStyle/>
          <a:p>
            <a:pPr algn="ctr"/>
            <a:r>
              <a:rPr sz="900" b="0" i="0">
                <a:solidFill>
                  <a:srgbClr val="000F46"/>
                </a:solidFill>
                <a:latin typeface="Source Code Pro"/>
              </a:rPr>
              <a:t>alumni · 116pp</a:t>
            </a:r>
          </a:p>
        </p:txBody>
      </p:sp>
      <p:sp>
        <p:nvSpPr>
          <p:cNvPr id="19" name="TextBox 18"/>
          <p:cNvSpPr txBox="1"/>
          <p:nvPr/>
        </p:nvSpPr>
        <p:spPr>
          <a:xfrm>
            <a:off x="2852928" y="2601468"/>
            <a:ext cx="640080" cy="329184"/>
          </a:xfrm>
          <a:prstGeom prst="rect">
            <a:avLst/>
          </a:prstGeom>
          <a:noFill/>
        </p:spPr>
        <p:txBody>
          <a:bodyPr wrap="square" anchor="ctr" lIns="0" rIns="0" tIns="0" bIns="0">
            <a:spAutoFit/>
          </a:bodyPr>
          <a:lstStyle/>
          <a:p>
            <a:pPr algn="ctr"/>
            <a:r>
              <a:rPr sz="1800" b="1" i="0">
                <a:solidFill>
                  <a:srgbClr val="A32D2D"/>
                </a:solidFill>
                <a:latin typeface="Source Sans 3"/>
              </a:rPr>
              <a:t>✗</a:t>
            </a:r>
          </a:p>
        </p:txBody>
      </p:sp>
      <p:sp>
        <p:nvSpPr>
          <p:cNvPr id="20" name="TextBox 19"/>
          <p:cNvSpPr txBox="1"/>
          <p:nvPr/>
        </p:nvSpPr>
        <p:spPr>
          <a:xfrm>
            <a:off x="5779008" y="2601468"/>
            <a:ext cx="640080" cy="329184"/>
          </a:xfrm>
          <a:prstGeom prst="rect">
            <a:avLst/>
          </a:prstGeom>
          <a:noFill/>
        </p:spPr>
        <p:txBody>
          <a:bodyPr wrap="square" anchor="ctr" lIns="0" rIns="0" tIns="0" bIns="0">
            <a:spAutoFit/>
          </a:bodyPr>
          <a:lstStyle/>
          <a:p>
            <a:pPr algn="ctr"/>
            <a:r>
              <a:rPr sz="1800" b="1" i="0">
                <a:solidFill>
                  <a:srgbClr val="2F95B7"/>
                </a:solidFill>
                <a:latin typeface="Source Sans 3"/>
              </a:rPr>
              <a:t>↔</a:t>
            </a:r>
          </a:p>
        </p:txBody>
      </p:sp>
      <p:sp>
        <p:nvSpPr>
          <p:cNvPr id="21" name="TextBox 20"/>
          <p:cNvSpPr txBox="1"/>
          <p:nvPr/>
        </p:nvSpPr>
        <p:spPr>
          <a:xfrm>
            <a:off x="8705088" y="2601468"/>
            <a:ext cx="640080" cy="329184"/>
          </a:xfrm>
          <a:prstGeom prst="rect">
            <a:avLst/>
          </a:prstGeom>
          <a:noFill/>
        </p:spPr>
        <p:txBody>
          <a:bodyPr wrap="square" anchor="ctr" lIns="0" rIns="0" tIns="0" bIns="0">
            <a:spAutoFit/>
          </a:bodyPr>
          <a:lstStyle/>
          <a:p>
            <a:pPr algn="ctr"/>
            <a:r>
              <a:rPr sz="1800" b="1" i="0">
                <a:solidFill>
                  <a:srgbClr val="A32D2D"/>
                </a:solidFill>
                <a:latin typeface="Source Sans 3"/>
              </a:rPr>
              <a:t>✗</a:t>
            </a:r>
          </a:p>
        </p:txBody>
      </p:sp>
      <p:sp>
        <p:nvSpPr>
          <p:cNvPr id="22" name="TextBox 21"/>
          <p:cNvSpPr txBox="1"/>
          <p:nvPr/>
        </p:nvSpPr>
        <p:spPr>
          <a:xfrm>
            <a:off x="566928" y="3319272"/>
            <a:ext cx="10881360" cy="274320"/>
          </a:xfrm>
          <a:prstGeom prst="rect">
            <a:avLst/>
          </a:prstGeom>
          <a:noFill/>
        </p:spPr>
        <p:txBody>
          <a:bodyPr wrap="square" anchor="t" lIns="0" rIns="0" tIns="0" bIns="0">
            <a:spAutoFit/>
          </a:bodyPr>
          <a:lstStyle/>
          <a:p>
            <a:pPr algn="ctr"/>
            <a:r>
              <a:rPr sz="950" b="0" i="1">
                <a:solidFill>
                  <a:srgbClr val="5B5B6B"/>
                </a:solidFill>
                <a:latin typeface="Source Code Pro"/>
              </a:rPr>
              <a:t>✗  broken handoff — no shared vocabulary, no web-level bridge        ↔  linked (same stage)</a:t>
            </a:r>
          </a:p>
        </p:txBody>
      </p:sp>
      <p:sp>
        <p:nvSpPr>
          <p:cNvPr id="23" name="Rectangle 22"/>
          <p:cNvSpPr/>
          <p:nvPr/>
        </p:nvSpPr>
        <p:spPr>
          <a:xfrm>
            <a:off x="566928" y="3794760"/>
            <a:ext cx="3566160" cy="960120"/>
          </a:xfrm>
          <a:prstGeom prst="rect">
            <a:avLst/>
          </a:prstGeom>
          <a:solidFill>
            <a:srgbClr val="EA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794760"/>
            <a:ext cx="73152" cy="960120"/>
          </a:xfrm>
          <a:prstGeom prst="rect">
            <a:avLst/>
          </a:prstGeom>
          <a:solidFill>
            <a:srgbClr val="46C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68096" y="3941064"/>
            <a:ext cx="3255264" cy="274320"/>
          </a:xfrm>
          <a:prstGeom prst="rect">
            <a:avLst/>
          </a:prstGeom>
          <a:noFill/>
        </p:spPr>
        <p:txBody>
          <a:bodyPr wrap="square" anchor="t" lIns="0" rIns="0" tIns="0" bIns="0">
            <a:spAutoFit/>
          </a:bodyPr>
          <a:lstStyle/>
          <a:p>
            <a:pPr algn="l"/>
            <a:r>
              <a:rPr sz="1000" b="1" i="0">
                <a:solidFill>
                  <a:srgbClr val="2F95B7"/>
                </a:solidFill>
                <a:latin typeface="Source Code Pro"/>
              </a:rPr>
              <a:t>RESEARCH PARADOX</a:t>
            </a:r>
          </a:p>
        </p:txBody>
      </p:sp>
      <p:sp>
        <p:nvSpPr>
          <p:cNvPr id="26" name="TextBox 25"/>
          <p:cNvSpPr txBox="1"/>
          <p:nvPr/>
        </p:nvSpPr>
        <p:spPr>
          <a:xfrm>
            <a:off x="768096" y="4251960"/>
            <a:ext cx="3255264" cy="457200"/>
          </a:xfrm>
          <a:prstGeom prst="rect">
            <a:avLst/>
          </a:prstGeom>
          <a:noFill/>
        </p:spPr>
        <p:txBody>
          <a:bodyPr wrap="square" anchor="t" lIns="0" rIns="0" tIns="0" bIns="0">
            <a:spAutoFit/>
          </a:bodyPr>
          <a:lstStyle/>
          <a:p>
            <a:pPr algn="l">
              <a:lnSpc>
                <a:spcPct val="108000"/>
              </a:lnSpc>
            </a:pPr>
            <a:r>
              <a:rPr sz="1150" b="0" i="0">
                <a:solidFill>
                  <a:srgbClr val="000B34"/>
                </a:solidFill>
                <a:latin typeface="Source Sans 3"/>
              </a:rPr>
              <a:t>MDHS: 63 research pages, 1 HDR-support page</a:t>
            </a:r>
          </a:p>
        </p:txBody>
      </p:sp>
      <p:sp>
        <p:nvSpPr>
          <p:cNvPr id="27" name="Rectangle 26"/>
          <p:cNvSpPr/>
          <p:nvPr/>
        </p:nvSpPr>
        <p:spPr>
          <a:xfrm>
            <a:off x="4315968" y="3794760"/>
            <a:ext cx="3566160" cy="960120"/>
          </a:xfrm>
          <a:prstGeom prst="rect">
            <a:avLst/>
          </a:prstGeom>
          <a:solidFill>
            <a:srgbClr val="EA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315968" y="3794760"/>
            <a:ext cx="73152" cy="960120"/>
          </a:xfrm>
          <a:prstGeom prst="rect">
            <a:avLst/>
          </a:prstGeom>
          <a:solidFill>
            <a:srgbClr val="46C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17136" y="3941064"/>
            <a:ext cx="3255264" cy="274320"/>
          </a:xfrm>
          <a:prstGeom prst="rect">
            <a:avLst/>
          </a:prstGeom>
          <a:noFill/>
        </p:spPr>
        <p:txBody>
          <a:bodyPr wrap="square" anchor="t" lIns="0" rIns="0" tIns="0" bIns="0">
            <a:spAutoFit/>
          </a:bodyPr>
          <a:lstStyle/>
          <a:p>
            <a:pPr algn="l"/>
            <a:r>
              <a:rPr sz="1000" b="1" i="0">
                <a:solidFill>
                  <a:srgbClr val="2F95B7"/>
                </a:solidFill>
                <a:latin typeface="Source Code Pro"/>
              </a:rPr>
              <a:t>CAREERS ACROSS LIFE</a:t>
            </a:r>
          </a:p>
        </p:txBody>
      </p:sp>
      <p:sp>
        <p:nvSpPr>
          <p:cNvPr id="30" name="TextBox 29"/>
          <p:cNvSpPr txBox="1"/>
          <p:nvPr/>
        </p:nvSpPr>
        <p:spPr>
          <a:xfrm>
            <a:off x="4517136" y="4251960"/>
            <a:ext cx="3255264" cy="457200"/>
          </a:xfrm>
          <a:prstGeom prst="rect">
            <a:avLst/>
          </a:prstGeom>
          <a:noFill/>
        </p:spPr>
        <p:txBody>
          <a:bodyPr wrap="square" anchor="t" lIns="0" rIns="0" tIns="0" bIns="0">
            <a:spAutoFit/>
          </a:bodyPr>
          <a:lstStyle/>
          <a:p>
            <a:pPr algn="l">
              <a:lnSpc>
                <a:spcPct val="108000"/>
              </a:lnSpc>
            </a:pPr>
            <a:r>
              <a:rPr sz="1150" b="0" i="0">
                <a:solidFill>
                  <a:srgbClr val="000B34"/>
                </a:solidFill>
                <a:latin typeface="Source Sans 3"/>
              </a:rPr>
              <a:t>Authored in ~10 places across 4 domains, 0 cross-links</a:t>
            </a:r>
          </a:p>
        </p:txBody>
      </p:sp>
      <p:sp>
        <p:nvSpPr>
          <p:cNvPr id="31" name="Rectangle 30"/>
          <p:cNvSpPr/>
          <p:nvPr/>
        </p:nvSpPr>
        <p:spPr>
          <a:xfrm>
            <a:off x="8065007" y="3794760"/>
            <a:ext cx="3566160" cy="960120"/>
          </a:xfrm>
          <a:prstGeom prst="rect">
            <a:avLst/>
          </a:prstGeom>
          <a:solidFill>
            <a:srgbClr val="EA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8065007" y="3794760"/>
            <a:ext cx="73152" cy="960120"/>
          </a:xfrm>
          <a:prstGeom prst="rect">
            <a:avLst/>
          </a:prstGeom>
          <a:solidFill>
            <a:srgbClr val="46C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266175" y="3941064"/>
            <a:ext cx="3255264" cy="274320"/>
          </a:xfrm>
          <a:prstGeom prst="rect">
            <a:avLst/>
          </a:prstGeom>
          <a:noFill/>
        </p:spPr>
        <p:txBody>
          <a:bodyPr wrap="square" anchor="t" lIns="0" rIns="0" tIns="0" bIns="0">
            <a:spAutoFit/>
          </a:bodyPr>
          <a:lstStyle/>
          <a:p>
            <a:pPr algn="l"/>
            <a:r>
              <a:rPr sz="1000" b="1" i="0">
                <a:solidFill>
                  <a:srgbClr val="2F95B7"/>
                </a:solidFill>
                <a:latin typeface="Source Code Pro"/>
              </a:rPr>
              <a:t>SMALLEST TENANT</a:t>
            </a:r>
          </a:p>
        </p:txBody>
      </p:sp>
      <p:sp>
        <p:nvSpPr>
          <p:cNvPr id="34" name="TextBox 33"/>
          <p:cNvSpPr txBox="1"/>
          <p:nvPr/>
        </p:nvSpPr>
        <p:spPr>
          <a:xfrm>
            <a:off x="8266175" y="4251960"/>
            <a:ext cx="3255264" cy="457200"/>
          </a:xfrm>
          <a:prstGeom prst="rect">
            <a:avLst/>
          </a:prstGeom>
          <a:noFill/>
        </p:spPr>
        <p:txBody>
          <a:bodyPr wrap="square" anchor="t" lIns="0" rIns="0" tIns="0" bIns="0">
            <a:spAutoFit/>
          </a:bodyPr>
          <a:lstStyle/>
          <a:p>
            <a:pPr algn="l">
              <a:lnSpc>
                <a:spcPct val="108000"/>
              </a:lnSpc>
            </a:pPr>
            <a:r>
              <a:rPr sz="1150" b="0" i="0">
                <a:solidFill>
                  <a:srgbClr val="000B34"/>
                </a:solidFill>
                <a:latin typeface="Source Sans 3"/>
              </a:rPr>
              <a:t>Current students = 4% of the faculty web estate</a:t>
            </a:r>
          </a:p>
        </p:txBody>
      </p:sp>
      <p:sp>
        <p:nvSpPr>
          <p:cNvPr id="35" name="Rectangle 34"/>
          <p:cNvSpPr/>
          <p:nvPr/>
        </p:nvSpPr>
        <p:spPr>
          <a:xfrm>
            <a:off x="566928" y="5074920"/>
            <a:ext cx="10881360" cy="621792"/>
          </a:xfrm>
          <a:prstGeom prst="rect">
            <a:avLst/>
          </a:prstGeom>
          <a:solidFill>
            <a:srgbClr val="EA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566928" y="5074920"/>
            <a:ext cx="91440" cy="621792"/>
          </a:xfrm>
          <a:prstGeom prst="rect">
            <a:avLst/>
          </a:prstGeom>
          <a:solidFill>
            <a:srgbClr val="46C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68680" y="5074920"/>
            <a:ext cx="10332720" cy="621792"/>
          </a:xfrm>
          <a:prstGeom prst="rect">
            <a:avLst/>
          </a:prstGeom>
          <a:noFill/>
        </p:spPr>
        <p:txBody>
          <a:bodyPr wrap="square" anchor="ctr" lIns="0" rIns="0" tIns="0" bIns="0">
            <a:spAutoFit/>
          </a:bodyPr>
          <a:lstStyle/>
          <a:p>
            <a:pPr algn="l"/>
            <a:r>
              <a:rPr sz="1300" b="1" i="0">
                <a:solidFill>
                  <a:srgbClr val="000F46"/>
                </a:solidFill>
                <a:latin typeface="Source Sans 3"/>
              </a:rPr>
              <a:t>To discuss:  </a:t>
            </a:r>
            <a:r>
              <a:rPr sz="1300" b="0" i="0">
                <a:solidFill>
                  <a:srgbClr val="000B34"/>
                </a:solidFill>
                <a:latin typeface="Source Sans 3"/>
              </a:rPr>
              <a:t>Which handoff matters most to fix first — apply→enrol, or graduate→alumni? And where would a shared vocabulary help users cross between sites?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256032" cy="256032"/>
          </a:xfrm>
          <a:prstGeom prst="rect">
            <a:avLst/>
          </a:prstGeom>
          <a:solidFill>
            <a:srgbClr val="46C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914400" y="457200"/>
            <a:ext cx="10698480" cy="502920"/>
          </a:xfrm>
          <a:prstGeom prst="rect">
            <a:avLst/>
          </a:prstGeom>
          <a:noFill/>
        </p:spPr>
        <p:txBody>
          <a:bodyPr wrap="square" anchor="ctr" lIns="0" rIns="0" tIns="0" bIns="0">
            <a:spAutoFit/>
          </a:bodyPr>
          <a:lstStyle/>
          <a:p>
            <a:pPr algn="l"/>
            <a:r>
              <a:rPr sz="2900" b="1" i="0">
                <a:solidFill>
                  <a:srgbClr val="000F46"/>
                </a:solidFill>
                <a:latin typeface="Fraunces"/>
              </a:rPr>
              <a:t>Inside the faculty estate — the 4% tenant</a:t>
            </a:r>
          </a:p>
        </p:txBody>
      </p:sp>
      <p:sp>
        <p:nvSpPr>
          <p:cNvPr id="4" name="TextBox 3"/>
          <p:cNvSpPr txBox="1"/>
          <p:nvPr/>
        </p:nvSpPr>
        <p:spPr>
          <a:xfrm>
            <a:off x="548640" y="6437376"/>
            <a:ext cx="9601200" cy="274320"/>
          </a:xfrm>
          <a:prstGeom prst="rect">
            <a:avLst/>
          </a:prstGeom>
          <a:noFill/>
        </p:spPr>
        <p:txBody>
          <a:bodyPr wrap="square" anchor="t" lIns="0" rIns="0" tIns="0" bIns="0">
            <a:spAutoFit/>
          </a:bodyPr>
          <a:lstStyle/>
          <a:p>
            <a:pPr algn="l"/>
            <a:r>
              <a:rPr sz="900" b="0" i="0">
                <a:solidFill>
                  <a:srgbClr val="5B5B6B"/>
                </a:solidFill>
                <a:latin typeface="Source Sans 3"/>
              </a:rPr>
              <a:t>University of Melbourne — web estate alignment discussion · for discussion</a:t>
            </a:r>
          </a:p>
        </p:txBody>
      </p:sp>
      <p:sp>
        <p:nvSpPr>
          <p:cNvPr id="5" name="TextBox 4"/>
          <p:cNvSpPr txBox="1"/>
          <p:nvPr/>
        </p:nvSpPr>
        <p:spPr>
          <a:xfrm>
            <a:off x="11247120" y="6437376"/>
            <a:ext cx="411480" cy="274320"/>
          </a:xfrm>
          <a:prstGeom prst="rect">
            <a:avLst/>
          </a:prstGeom>
          <a:noFill/>
        </p:spPr>
        <p:txBody>
          <a:bodyPr wrap="square" anchor="t" lIns="0" rIns="0" tIns="0" bIns="0">
            <a:spAutoFit/>
          </a:bodyPr>
          <a:lstStyle/>
          <a:p>
            <a:pPr algn="r"/>
            <a:r>
              <a:rPr sz="900" b="0" i="0">
                <a:solidFill>
                  <a:srgbClr val="5B5B6B"/>
                </a:solidFill>
                <a:latin typeface="Source Sans 3"/>
              </a:rPr>
              <a:t>7</a:t>
            </a:r>
          </a:p>
        </p:txBody>
      </p:sp>
      <p:sp>
        <p:nvSpPr>
          <p:cNvPr id="6" name="TextBox 5"/>
          <p:cNvSpPr txBox="1"/>
          <p:nvPr/>
        </p:nvSpPr>
        <p:spPr>
          <a:xfrm>
            <a:off x="566928" y="1170432"/>
            <a:ext cx="5852160" cy="4206240"/>
          </a:xfrm>
          <a:prstGeom prst="rect">
            <a:avLst/>
          </a:prstGeom>
          <a:noFill/>
        </p:spPr>
        <p:txBody>
          <a:bodyPr wrap="square" anchor="t" lIns="0" rIns="0" tIns="0" bIns="0">
            <a:spAutoFit/>
          </a:bodyPr>
          <a:lstStyle/>
          <a:p>
            <a:pPr algn="l">
              <a:lnSpc>
                <a:spcPct val="116000"/>
              </a:lnSpc>
            </a:pPr>
            <a:r>
              <a:rPr sz="1500" b="0" i="0">
                <a:solidFill>
                  <a:srgbClr val="1C1C28"/>
                </a:solidFill>
                <a:latin typeface="Source Sans 3"/>
              </a:rPr>
              <a:t>A crawl of the full faculty domains (2,363 pages across 9 sites) shows current students are the smallest named tenant:</a:t>
            </a:r>
          </a:p>
          <a:p>
            <a:pPr algn="l">
              <a:lnSpc>
                <a:spcPct val="116000"/>
              </a:lnSpc>
            </a:pPr>
            <a:r>
              <a:rPr sz="600" b="0" i="0">
                <a:solidFill>
                  <a:srgbClr val="1C1C28"/>
                </a:solidFill>
                <a:latin typeface="Source Sans 3"/>
              </a:rPr>
              <a:t/>
            </a:r>
          </a:p>
          <a:p>
            <a:pPr algn="l">
              <a:lnSpc>
                <a:spcPct val="116000"/>
              </a:lnSpc>
            </a:pPr>
            <a:r>
              <a:rPr sz="1300" b="1" i="0">
                <a:solidFill>
                  <a:srgbClr val="000B34"/>
                </a:solidFill>
                <a:latin typeface="Source Sans 3"/>
              </a:rPr>
              <a:t>about 19%  ·  news 11%  ·  research 9%  ·  prospective study 8%  ·  current students 4%</a:t>
            </a:r>
          </a:p>
          <a:p>
            <a:pPr algn="l">
              <a:lnSpc>
                <a:spcPct val="116000"/>
              </a:lnSpc>
            </a:pPr>
            <a:r>
              <a:rPr sz="600" b="0" i="0">
                <a:solidFill>
                  <a:srgbClr val="1C1C28"/>
                </a:solidFill>
                <a:latin typeface="Source Sans 3"/>
              </a:rPr>
              <a:t/>
            </a:r>
          </a:p>
          <a:p>
            <a:pPr algn="l">
              <a:lnSpc>
                <a:spcPct val="116000"/>
              </a:lnSpc>
            </a:pPr>
            <a:r>
              <a:rPr sz="1500" b="0" i="0">
                <a:solidFill>
                  <a:srgbClr val="1C1C28"/>
                </a:solidFill>
                <a:latin typeface="Source Sans 3"/>
              </a:rPr>
              <a:t>The faculty sites are built for reputation and recruitment — a current student is a minority audience on the very domains that host their faculty's content.</a:t>
            </a:r>
          </a:p>
          <a:p>
            <a:pPr algn="l">
              <a:lnSpc>
                <a:spcPct val="116000"/>
              </a:lnSpc>
            </a:pPr>
            <a:r>
              <a:rPr sz="600" b="0" i="0">
                <a:solidFill>
                  <a:srgbClr val="1C1C28"/>
                </a:solidFill>
                <a:latin typeface="Source Sans 3"/>
              </a:rPr>
              <a:t/>
            </a:r>
          </a:p>
          <a:p>
            <a:pPr algn="l">
              <a:lnSpc>
                <a:spcPct val="116000"/>
              </a:lnSpc>
            </a:pPr>
            <a:r>
              <a:rPr sz="1500" b="0" i="0">
                <a:solidFill>
                  <a:srgbClr val="1C1C28"/>
                </a:solidFill>
                <a:latin typeface="Source Sans 3"/>
              </a:rPr>
              <a:t>And research reputation is decoupled from research-student support: the faculties with the largest research estates carry the least HDR-candidature support  →</a:t>
            </a:r>
          </a:p>
        </p:txBody>
      </p:sp>
      <p:sp>
        <p:nvSpPr>
          <p:cNvPr id="7" name="Rectangle 6"/>
          <p:cNvSpPr/>
          <p:nvPr/>
        </p:nvSpPr>
        <p:spPr>
          <a:xfrm>
            <a:off x="6720840" y="1417320"/>
            <a:ext cx="4910328" cy="566928"/>
          </a:xfrm>
          <a:prstGeom prst="rect">
            <a:avLst/>
          </a:prstGeom>
          <a:solidFill>
            <a:srgbClr val="000F46"/>
          </a:solidFill>
          <a:ln w="12700">
            <a:solidFill>
              <a:srgbClr val="DD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0" y="1417320"/>
            <a:ext cx="2377440" cy="566928"/>
          </a:xfrm>
          <a:prstGeom prst="rect">
            <a:avLst/>
          </a:prstGeom>
          <a:noFill/>
        </p:spPr>
        <p:txBody>
          <a:bodyPr wrap="square" anchor="ctr" lIns="0" rIns="0" tIns="0" bIns="0">
            <a:spAutoFit/>
          </a:bodyPr>
          <a:lstStyle/>
          <a:p>
            <a:pPr algn="l"/>
            <a:r>
              <a:rPr sz="1150" b="1" i="0">
                <a:solidFill>
                  <a:srgbClr val="FFFFFF"/>
                </a:solidFill>
                <a:latin typeface="Source Sans 3"/>
              </a:rPr>
              <a:t>Faculty</a:t>
            </a:r>
          </a:p>
        </p:txBody>
      </p:sp>
      <p:sp>
        <p:nvSpPr>
          <p:cNvPr id="9" name="TextBox 8"/>
          <p:cNvSpPr txBox="1"/>
          <p:nvPr/>
        </p:nvSpPr>
        <p:spPr>
          <a:xfrm>
            <a:off x="9189720" y="1417320"/>
            <a:ext cx="1188720" cy="566928"/>
          </a:xfrm>
          <a:prstGeom prst="rect">
            <a:avLst/>
          </a:prstGeom>
          <a:noFill/>
        </p:spPr>
        <p:txBody>
          <a:bodyPr wrap="square" anchor="ctr" lIns="0" rIns="0" tIns="0" bIns="0">
            <a:spAutoFit/>
          </a:bodyPr>
          <a:lstStyle/>
          <a:p>
            <a:pPr algn="ctr"/>
            <a:r>
              <a:rPr sz="1200" b="1" i="0">
                <a:solidFill>
                  <a:srgbClr val="FFFFFF"/>
                </a:solidFill>
                <a:latin typeface="Source Code Pro"/>
              </a:rPr>
              <a:t>Research</a:t>
            </a:r>
          </a:p>
        </p:txBody>
      </p:sp>
      <p:sp>
        <p:nvSpPr>
          <p:cNvPr id="10" name="TextBox 9"/>
          <p:cNvSpPr txBox="1"/>
          <p:nvPr/>
        </p:nvSpPr>
        <p:spPr>
          <a:xfrm>
            <a:off x="10378440" y="1417320"/>
            <a:ext cx="1143000" cy="566928"/>
          </a:xfrm>
          <a:prstGeom prst="rect">
            <a:avLst/>
          </a:prstGeom>
          <a:noFill/>
        </p:spPr>
        <p:txBody>
          <a:bodyPr wrap="square" anchor="ctr" lIns="0" rIns="0" tIns="0" bIns="0">
            <a:spAutoFit/>
          </a:bodyPr>
          <a:lstStyle/>
          <a:p>
            <a:pPr algn="ctr"/>
            <a:r>
              <a:rPr sz="1200" b="1" i="0">
                <a:solidFill>
                  <a:srgbClr val="FFFFFF"/>
                </a:solidFill>
                <a:latin typeface="Source Code Pro"/>
              </a:rPr>
              <a:t>HDR support</a:t>
            </a:r>
          </a:p>
        </p:txBody>
      </p:sp>
      <p:sp>
        <p:nvSpPr>
          <p:cNvPr id="11" name="Rectangle 10"/>
          <p:cNvSpPr/>
          <p:nvPr/>
        </p:nvSpPr>
        <p:spPr>
          <a:xfrm>
            <a:off x="6720840" y="1984248"/>
            <a:ext cx="4910328" cy="566928"/>
          </a:xfrm>
          <a:prstGeom prst="rect">
            <a:avLst/>
          </a:prstGeom>
          <a:solidFill>
            <a:srgbClr val="FFFFFF"/>
          </a:solidFill>
          <a:ln w="12700">
            <a:solidFill>
              <a:srgbClr val="DD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0" y="1984248"/>
            <a:ext cx="2377440" cy="566928"/>
          </a:xfrm>
          <a:prstGeom prst="rect">
            <a:avLst/>
          </a:prstGeom>
          <a:noFill/>
        </p:spPr>
        <p:txBody>
          <a:bodyPr wrap="square" anchor="ctr" lIns="0" rIns="0" tIns="0" bIns="0">
            <a:spAutoFit/>
          </a:bodyPr>
          <a:lstStyle/>
          <a:p>
            <a:pPr algn="l"/>
            <a:r>
              <a:rPr sz="1150" b="1" i="0">
                <a:solidFill>
                  <a:srgbClr val="000B34"/>
                </a:solidFill>
                <a:latin typeface="Source Sans 3"/>
              </a:rPr>
              <a:t>MDHS</a:t>
            </a:r>
          </a:p>
        </p:txBody>
      </p:sp>
      <p:sp>
        <p:nvSpPr>
          <p:cNvPr id="13" name="TextBox 12"/>
          <p:cNvSpPr txBox="1"/>
          <p:nvPr/>
        </p:nvSpPr>
        <p:spPr>
          <a:xfrm>
            <a:off x="9189720" y="1984248"/>
            <a:ext cx="1188720" cy="566928"/>
          </a:xfrm>
          <a:prstGeom prst="rect">
            <a:avLst/>
          </a:prstGeom>
          <a:noFill/>
        </p:spPr>
        <p:txBody>
          <a:bodyPr wrap="square" anchor="ctr" lIns="0" rIns="0" tIns="0" bIns="0">
            <a:spAutoFit/>
          </a:bodyPr>
          <a:lstStyle/>
          <a:p>
            <a:pPr algn="ctr"/>
            <a:r>
              <a:rPr sz="1200" b="0" i="0">
                <a:solidFill>
                  <a:srgbClr val="000B34"/>
                </a:solidFill>
                <a:latin typeface="Source Code Pro"/>
              </a:rPr>
              <a:t>63</a:t>
            </a:r>
          </a:p>
        </p:txBody>
      </p:sp>
      <p:sp>
        <p:nvSpPr>
          <p:cNvPr id="14" name="TextBox 13"/>
          <p:cNvSpPr txBox="1"/>
          <p:nvPr/>
        </p:nvSpPr>
        <p:spPr>
          <a:xfrm>
            <a:off x="10378440" y="1984248"/>
            <a:ext cx="1143000" cy="566928"/>
          </a:xfrm>
          <a:prstGeom prst="rect">
            <a:avLst/>
          </a:prstGeom>
          <a:noFill/>
        </p:spPr>
        <p:txBody>
          <a:bodyPr wrap="square" anchor="ctr" lIns="0" rIns="0" tIns="0" bIns="0">
            <a:spAutoFit/>
          </a:bodyPr>
          <a:lstStyle/>
          <a:p>
            <a:pPr algn="ctr"/>
            <a:r>
              <a:rPr sz="1200" b="0" i="0">
                <a:solidFill>
                  <a:srgbClr val="000B34"/>
                </a:solidFill>
                <a:latin typeface="Source Code Pro"/>
              </a:rPr>
              <a:t>1</a:t>
            </a:r>
          </a:p>
        </p:txBody>
      </p:sp>
      <p:sp>
        <p:nvSpPr>
          <p:cNvPr id="15" name="Rectangle 14"/>
          <p:cNvSpPr/>
          <p:nvPr/>
        </p:nvSpPr>
        <p:spPr>
          <a:xfrm>
            <a:off x="6720840" y="2551176"/>
            <a:ext cx="4910328" cy="566928"/>
          </a:xfrm>
          <a:prstGeom prst="rect">
            <a:avLst/>
          </a:prstGeom>
          <a:solidFill>
            <a:srgbClr val="FFFFFF"/>
          </a:solidFill>
          <a:ln w="12700">
            <a:solidFill>
              <a:srgbClr val="DD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858000" y="2551176"/>
            <a:ext cx="2377440" cy="566928"/>
          </a:xfrm>
          <a:prstGeom prst="rect">
            <a:avLst/>
          </a:prstGeom>
          <a:noFill/>
        </p:spPr>
        <p:txBody>
          <a:bodyPr wrap="square" anchor="ctr" lIns="0" rIns="0" tIns="0" bIns="0">
            <a:spAutoFit/>
          </a:bodyPr>
          <a:lstStyle/>
          <a:p>
            <a:pPr algn="l"/>
            <a:r>
              <a:rPr sz="1150" b="1" i="0">
                <a:solidFill>
                  <a:srgbClr val="000B34"/>
                </a:solidFill>
                <a:latin typeface="Source Sans 3"/>
              </a:rPr>
              <a:t>Science</a:t>
            </a:r>
          </a:p>
        </p:txBody>
      </p:sp>
      <p:sp>
        <p:nvSpPr>
          <p:cNvPr id="17" name="TextBox 16"/>
          <p:cNvSpPr txBox="1"/>
          <p:nvPr/>
        </p:nvSpPr>
        <p:spPr>
          <a:xfrm>
            <a:off x="9189720" y="2551176"/>
            <a:ext cx="1188720" cy="566928"/>
          </a:xfrm>
          <a:prstGeom prst="rect">
            <a:avLst/>
          </a:prstGeom>
          <a:noFill/>
        </p:spPr>
        <p:txBody>
          <a:bodyPr wrap="square" anchor="ctr" lIns="0" rIns="0" tIns="0" bIns="0">
            <a:spAutoFit/>
          </a:bodyPr>
          <a:lstStyle/>
          <a:p>
            <a:pPr algn="ctr"/>
            <a:r>
              <a:rPr sz="1200" b="0" i="0">
                <a:solidFill>
                  <a:srgbClr val="000B34"/>
                </a:solidFill>
                <a:latin typeface="Source Code Pro"/>
              </a:rPr>
              <a:t>60</a:t>
            </a:r>
          </a:p>
        </p:txBody>
      </p:sp>
      <p:sp>
        <p:nvSpPr>
          <p:cNvPr id="18" name="TextBox 17"/>
          <p:cNvSpPr txBox="1"/>
          <p:nvPr/>
        </p:nvSpPr>
        <p:spPr>
          <a:xfrm>
            <a:off x="10378440" y="2551176"/>
            <a:ext cx="1143000" cy="566928"/>
          </a:xfrm>
          <a:prstGeom prst="rect">
            <a:avLst/>
          </a:prstGeom>
          <a:noFill/>
        </p:spPr>
        <p:txBody>
          <a:bodyPr wrap="square" anchor="ctr" lIns="0" rIns="0" tIns="0" bIns="0">
            <a:spAutoFit/>
          </a:bodyPr>
          <a:lstStyle/>
          <a:p>
            <a:pPr algn="ctr"/>
            <a:r>
              <a:rPr sz="1200" b="0" i="0">
                <a:solidFill>
                  <a:srgbClr val="000B34"/>
                </a:solidFill>
                <a:latin typeface="Source Code Pro"/>
              </a:rPr>
              <a:t>6</a:t>
            </a:r>
          </a:p>
        </p:txBody>
      </p:sp>
      <p:sp>
        <p:nvSpPr>
          <p:cNvPr id="19" name="Rectangle 18"/>
          <p:cNvSpPr/>
          <p:nvPr/>
        </p:nvSpPr>
        <p:spPr>
          <a:xfrm>
            <a:off x="6720840" y="3118104"/>
            <a:ext cx="4910328" cy="566928"/>
          </a:xfrm>
          <a:prstGeom prst="rect">
            <a:avLst/>
          </a:prstGeom>
          <a:solidFill>
            <a:srgbClr val="FFFFFF"/>
          </a:solidFill>
          <a:ln w="12700">
            <a:solidFill>
              <a:srgbClr val="DD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58000" y="3118104"/>
            <a:ext cx="2377440" cy="566928"/>
          </a:xfrm>
          <a:prstGeom prst="rect">
            <a:avLst/>
          </a:prstGeom>
          <a:noFill/>
        </p:spPr>
        <p:txBody>
          <a:bodyPr wrap="square" anchor="ctr" lIns="0" rIns="0" tIns="0" bIns="0">
            <a:spAutoFit/>
          </a:bodyPr>
          <a:lstStyle/>
          <a:p>
            <a:pPr algn="l"/>
            <a:r>
              <a:rPr sz="1150" b="1" i="0">
                <a:solidFill>
                  <a:srgbClr val="000B34"/>
                </a:solidFill>
                <a:latin typeface="Source Sans 3"/>
              </a:rPr>
              <a:t>Education</a:t>
            </a:r>
          </a:p>
        </p:txBody>
      </p:sp>
      <p:sp>
        <p:nvSpPr>
          <p:cNvPr id="21" name="TextBox 20"/>
          <p:cNvSpPr txBox="1"/>
          <p:nvPr/>
        </p:nvSpPr>
        <p:spPr>
          <a:xfrm>
            <a:off x="9189720" y="3118104"/>
            <a:ext cx="1188720" cy="566928"/>
          </a:xfrm>
          <a:prstGeom prst="rect">
            <a:avLst/>
          </a:prstGeom>
          <a:noFill/>
        </p:spPr>
        <p:txBody>
          <a:bodyPr wrap="square" anchor="ctr" lIns="0" rIns="0" tIns="0" bIns="0">
            <a:spAutoFit/>
          </a:bodyPr>
          <a:lstStyle/>
          <a:p>
            <a:pPr algn="ctr"/>
            <a:r>
              <a:rPr sz="1200" b="0" i="0">
                <a:solidFill>
                  <a:srgbClr val="000B34"/>
                </a:solidFill>
                <a:latin typeface="Source Code Pro"/>
              </a:rPr>
              <a:t>44</a:t>
            </a:r>
          </a:p>
        </p:txBody>
      </p:sp>
      <p:sp>
        <p:nvSpPr>
          <p:cNvPr id="22" name="TextBox 21"/>
          <p:cNvSpPr txBox="1"/>
          <p:nvPr/>
        </p:nvSpPr>
        <p:spPr>
          <a:xfrm>
            <a:off x="10378440" y="3118104"/>
            <a:ext cx="1143000" cy="566928"/>
          </a:xfrm>
          <a:prstGeom prst="rect">
            <a:avLst/>
          </a:prstGeom>
          <a:noFill/>
        </p:spPr>
        <p:txBody>
          <a:bodyPr wrap="square" anchor="ctr" lIns="0" rIns="0" tIns="0" bIns="0">
            <a:spAutoFit/>
          </a:bodyPr>
          <a:lstStyle/>
          <a:p>
            <a:pPr algn="ctr"/>
            <a:r>
              <a:rPr sz="1200" b="0" i="0">
                <a:solidFill>
                  <a:srgbClr val="000B34"/>
                </a:solidFill>
                <a:latin typeface="Source Code Pro"/>
              </a:rPr>
              <a:t>0</a:t>
            </a:r>
          </a:p>
        </p:txBody>
      </p:sp>
      <p:sp>
        <p:nvSpPr>
          <p:cNvPr id="23" name="Rectangle 22"/>
          <p:cNvSpPr/>
          <p:nvPr/>
        </p:nvSpPr>
        <p:spPr>
          <a:xfrm>
            <a:off x="6720840" y="3685032"/>
            <a:ext cx="4910328" cy="566928"/>
          </a:xfrm>
          <a:prstGeom prst="rect">
            <a:avLst/>
          </a:prstGeom>
          <a:solidFill>
            <a:srgbClr val="FFFFFF"/>
          </a:solidFill>
          <a:ln w="12700">
            <a:solidFill>
              <a:srgbClr val="DD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858000" y="3685032"/>
            <a:ext cx="2377440" cy="566928"/>
          </a:xfrm>
          <a:prstGeom prst="rect">
            <a:avLst/>
          </a:prstGeom>
          <a:noFill/>
        </p:spPr>
        <p:txBody>
          <a:bodyPr wrap="square" anchor="ctr" lIns="0" rIns="0" tIns="0" bIns="0">
            <a:spAutoFit/>
          </a:bodyPr>
          <a:lstStyle/>
          <a:p>
            <a:pPr algn="l"/>
            <a:r>
              <a:rPr sz="1150" b="1" i="0">
                <a:solidFill>
                  <a:srgbClr val="000B34"/>
                </a:solidFill>
                <a:latin typeface="Source Sans 3"/>
              </a:rPr>
              <a:t>ABP / MSD</a:t>
            </a:r>
          </a:p>
        </p:txBody>
      </p:sp>
      <p:sp>
        <p:nvSpPr>
          <p:cNvPr id="25" name="TextBox 24"/>
          <p:cNvSpPr txBox="1"/>
          <p:nvPr/>
        </p:nvSpPr>
        <p:spPr>
          <a:xfrm>
            <a:off x="9189720" y="3685032"/>
            <a:ext cx="1188720" cy="566928"/>
          </a:xfrm>
          <a:prstGeom prst="rect">
            <a:avLst/>
          </a:prstGeom>
          <a:noFill/>
        </p:spPr>
        <p:txBody>
          <a:bodyPr wrap="square" anchor="ctr" lIns="0" rIns="0" tIns="0" bIns="0">
            <a:spAutoFit/>
          </a:bodyPr>
          <a:lstStyle/>
          <a:p>
            <a:pPr algn="ctr"/>
            <a:r>
              <a:rPr sz="1200" b="0" i="0">
                <a:solidFill>
                  <a:srgbClr val="000B34"/>
                </a:solidFill>
                <a:latin typeface="Source Code Pro"/>
              </a:rPr>
              <a:t>46</a:t>
            </a:r>
          </a:p>
        </p:txBody>
      </p:sp>
      <p:sp>
        <p:nvSpPr>
          <p:cNvPr id="26" name="TextBox 25"/>
          <p:cNvSpPr txBox="1"/>
          <p:nvPr/>
        </p:nvSpPr>
        <p:spPr>
          <a:xfrm>
            <a:off x="10378440" y="3685032"/>
            <a:ext cx="1143000" cy="566928"/>
          </a:xfrm>
          <a:prstGeom prst="rect">
            <a:avLst/>
          </a:prstGeom>
          <a:noFill/>
        </p:spPr>
        <p:txBody>
          <a:bodyPr wrap="square" anchor="ctr" lIns="0" rIns="0" tIns="0" bIns="0">
            <a:spAutoFit/>
          </a:bodyPr>
          <a:lstStyle/>
          <a:p>
            <a:pPr algn="ctr"/>
            <a:r>
              <a:rPr sz="1200" b="0" i="0">
                <a:solidFill>
                  <a:srgbClr val="000B34"/>
                </a:solidFill>
                <a:latin typeface="Source Code Pro"/>
              </a:rPr>
              <a:t>29</a:t>
            </a:r>
          </a:p>
        </p:txBody>
      </p:sp>
      <p:sp>
        <p:nvSpPr>
          <p:cNvPr id="27" name="Rectangle 26"/>
          <p:cNvSpPr/>
          <p:nvPr/>
        </p:nvSpPr>
        <p:spPr>
          <a:xfrm>
            <a:off x="6720840" y="4251960"/>
            <a:ext cx="4910328" cy="566928"/>
          </a:xfrm>
          <a:prstGeom prst="rect">
            <a:avLst/>
          </a:prstGeom>
          <a:solidFill>
            <a:srgbClr val="FFFFFF"/>
          </a:solidFill>
          <a:ln w="12700">
            <a:solidFill>
              <a:srgbClr val="DD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858000" y="4251960"/>
            <a:ext cx="2377440" cy="566928"/>
          </a:xfrm>
          <a:prstGeom prst="rect">
            <a:avLst/>
          </a:prstGeom>
          <a:noFill/>
        </p:spPr>
        <p:txBody>
          <a:bodyPr wrap="square" anchor="ctr" lIns="0" rIns="0" tIns="0" bIns="0">
            <a:spAutoFit/>
          </a:bodyPr>
          <a:lstStyle/>
          <a:p>
            <a:pPr algn="l"/>
            <a:r>
              <a:rPr sz="1150" b="1" i="0">
                <a:solidFill>
                  <a:srgbClr val="000B34"/>
                </a:solidFill>
                <a:latin typeface="Source Sans 3"/>
              </a:rPr>
              <a:t>Law</a:t>
            </a:r>
          </a:p>
        </p:txBody>
      </p:sp>
      <p:sp>
        <p:nvSpPr>
          <p:cNvPr id="29" name="TextBox 28"/>
          <p:cNvSpPr txBox="1"/>
          <p:nvPr/>
        </p:nvSpPr>
        <p:spPr>
          <a:xfrm>
            <a:off x="9189720" y="4251960"/>
            <a:ext cx="1188720" cy="566928"/>
          </a:xfrm>
          <a:prstGeom prst="rect">
            <a:avLst/>
          </a:prstGeom>
          <a:noFill/>
        </p:spPr>
        <p:txBody>
          <a:bodyPr wrap="square" anchor="ctr" lIns="0" rIns="0" tIns="0" bIns="0">
            <a:spAutoFit/>
          </a:bodyPr>
          <a:lstStyle/>
          <a:p>
            <a:pPr algn="ctr"/>
            <a:r>
              <a:rPr sz="1200" b="0" i="0">
                <a:solidFill>
                  <a:srgbClr val="000B34"/>
                </a:solidFill>
                <a:latin typeface="Source Code Pro"/>
              </a:rPr>
              <a:t>19</a:t>
            </a:r>
          </a:p>
        </p:txBody>
      </p:sp>
      <p:sp>
        <p:nvSpPr>
          <p:cNvPr id="30" name="TextBox 29"/>
          <p:cNvSpPr txBox="1"/>
          <p:nvPr/>
        </p:nvSpPr>
        <p:spPr>
          <a:xfrm>
            <a:off x="10378440" y="4251960"/>
            <a:ext cx="1143000" cy="566928"/>
          </a:xfrm>
          <a:prstGeom prst="rect">
            <a:avLst/>
          </a:prstGeom>
          <a:noFill/>
        </p:spPr>
        <p:txBody>
          <a:bodyPr wrap="square" anchor="ctr" lIns="0" rIns="0" tIns="0" bIns="0">
            <a:spAutoFit/>
          </a:bodyPr>
          <a:lstStyle/>
          <a:p>
            <a:pPr algn="ctr"/>
            <a:r>
              <a:rPr sz="1200" b="0" i="0">
                <a:solidFill>
                  <a:srgbClr val="000B34"/>
                </a:solidFill>
                <a:latin typeface="Source Code Pro"/>
              </a:rPr>
              <a:t>79 *</a:t>
            </a:r>
          </a:p>
        </p:txBody>
      </p:sp>
      <p:sp>
        <p:nvSpPr>
          <p:cNvPr id="31" name="TextBox 30"/>
          <p:cNvSpPr txBox="1"/>
          <p:nvPr/>
        </p:nvSpPr>
        <p:spPr>
          <a:xfrm>
            <a:off x="6720840" y="4873751"/>
            <a:ext cx="4910328" cy="457200"/>
          </a:xfrm>
          <a:prstGeom prst="rect">
            <a:avLst/>
          </a:prstGeom>
          <a:noFill/>
        </p:spPr>
        <p:txBody>
          <a:bodyPr wrap="square" anchor="t" lIns="0" rIns="0" tIns="0" bIns="0">
            <a:spAutoFit/>
          </a:bodyPr>
          <a:lstStyle/>
          <a:p>
            <a:pPr algn="l">
              <a:lnSpc>
                <a:spcPct val="105000"/>
              </a:lnSpc>
            </a:pPr>
            <a:r>
              <a:rPr sz="1000" b="0" i="1">
                <a:solidFill>
                  <a:srgbClr val="5B5B6B"/>
                </a:solidFill>
                <a:latin typeface="Source Sans 3"/>
              </a:rPr>
              <a:t>* Law's 79 is mostly researcher-profile pages (61 bios); only ~18 are genuine candidature support.</a:t>
            </a:r>
          </a:p>
        </p:txBody>
      </p:sp>
      <p:sp>
        <p:nvSpPr>
          <p:cNvPr id="32" name="Rectangle 31"/>
          <p:cNvSpPr/>
          <p:nvPr/>
        </p:nvSpPr>
        <p:spPr>
          <a:xfrm>
            <a:off x="566928" y="5440680"/>
            <a:ext cx="10881360" cy="621792"/>
          </a:xfrm>
          <a:prstGeom prst="rect">
            <a:avLst/>
          </a:prstGeom>
          <a:solidFill>
            <a:srgbClr val="EA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566928" y="5440680"/>
            <a:ext cx="91440" cy="621792"/>
          </a:xfrm>
          <a:prstGeom prst="rect">
            <a:avLst/>
          </a:prstGeom>
          <a:solidFill>
            <a:srgbClr val="46C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68680" y="5440680"/>
            <a:ext cx="10332720" cy="621792"/>
          </a:xfrm>
          <a:prstGeom prst="rect">
            <a:avLst/>
          </a:prstGeom>
          <a:noFill/>
        </p:spPr>
        <p:txBody>
          <a:bodyPr wrap="square" anchor="ctr" lIns="0" rIns="0" tIns="0" bIns="0">
            <a:spAutoFit/>
          </a:bodyPr>
          <a:lstStyle/>
          <a:p>
            <a:pPr algn="l"/>
            <a:r>
              <a:rPr sz="1300" b="1" i="0">
                <a:solidFill>
                  <a:srgbClr val="000F46"/>
                </a:solidFill>
                <a:latin typeface="Source Sans 3"/>
              </a:rPr>
              <a:t>To discuss:  </a:t>
            </a:r>
            <a:r>
              <a:rPr sz="1300" b="0" i="0">
                <a:solidFill>
                  <a:srgbClr val="000B34"/>
                </a:solidFill>
                <a:latin typeface="Source Sans 3"/>
              </a:rPr>
              <a:t>Does the faculty web presence serve current students, or are they an afterthought on a reputation-and-recruitment site? Who owns the research-student experience?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256032" cy="256032"/>
          </a:xfrm>
          <a:prstGeom prst="rect">
            <a:avLst/>
          </a:prstGeom>
          <a:solidFill>
            <a:srgbClr val="46C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914400" y="457200"/>
            <a:ext cx="10698480" cy="502920"/>
          </a:xfrm>
          <a:prstGeom prst="rect">
            <a:avLst/>
          </a:prstGeom>
          <a:noFill/>
        </p:spPr>
        <p:txBody>
          <a:bodyPr wrap="square" anchor="ctr" lIns="0" rIns="0" tIns="0" bIns="0">
            <a:spAutoFit/>
          </a:bodyPr>
          <a:lstStyle/>
          <a:p>
            <a:pPr algn="l"/>
            <a:r>
              <a:rPr sz="2900" b="1" i="0">
                <a:solidFill>
                  <a:srgbClr val="000F46"/>
                </a:solidFill>
                <a:latin typeface="Fraunces"/>
              </a:rPr>
              <a:t>Cross-corpus evidence — services across the lifecycle</a:t>
            </a:r>
          </a:p>
        </p:txBody>
      </p:sp>
      <p:sp>
        <p:nvSpPr>
          <p:cNvPr id="4" name="TextBox 3"/>
          <p:cNvSpPr txBox="1"/>
          <p:nvPr/>
        </p:nvSpPr>
        <p:spPr>
          <a:xfrm>
            <a:off x="548640" y="6437376"/>
            <a:ext cx="9601200" cy="274320"/>
          </a:xfrm>
          <a:prstGeom prst="rect">
            <a:avLst/>
          </a:prstGeom>
          <a:noFill/>
        </p:spPr>
        <p:txBody>
          <a:bodyPr wrap="square" anchor="t" lIns="0" rIns="0" tIns="0" bIns="0">
            <a:spAutoFit/>
          </a:bodyPr>
          <a:lstStyle/>
          <a:p>
            <a:pPr algn="l"/>
            <a:r>
              <a:rPr sz="900" b="0" i="0">
                <a:solidFill>
                  <a:srgbClr val="5B5B6B"/>
                </a:solidFill>
                <a:latin typeface="Source Sans 3"/>
              </a:rPr>
              <a:t>University of Melbourne — web estate alignment discussion · for discussion</a:t>
            </a:r>
          </a:p>
        </p:txBody>
      </p:sp>
      <p:sp>
        <p:nvSpPr>
          <p:cNvPr id="5" name="TextBox 4"/>
          <p:cNvSpPr txBox="1"/>
          <p:nvPr/>
        </p:nvSpPr>
        <p:spPr>
          <a:xfrm>
            <a:off x="11247120" y="6437376"/>
            <a:ext cx="411480" cy="274320"/>
          </a:xfrm>
          <a:prstGeom prst="rect">
            <a:avLst/>
          </a:prstGeom>
          <a:noFill/>
        </p:spPr>
        <p:txBody>
          <a:bodyPr wrap="square" anchor="t" lIns="0" rIns="0" tIns="0" bIns="0">
            <a:spAutoFit/>
          </a:bodyPr>
          <a:lstStyle/>
          <a:p>
            <a:pPr algn="r"/>
            <a:r>
              <a:rPr sz="900" b="0" i="0">
                <a:solidFill>
                  <a:srgbClr val="5B5B6B"/>
                </a:solidFill>
                <a:latin typeface="Source Sans 3"/>
              </a:rPr>
              <a:t>16</a:t>
            </a:r>
          </a:p>
        </p:txBody>
      </p:sp>
      <p:sp>
        <p:nvSpPr>
          <p:cNvPr id="6" name="TextBox 5"/>
          <p:cNvSpPr txBox="1"/>
          <p:nvPr/>
        </p:nvSpPr>
        <p:spPr>
          <a:xfrm>
            <a:off x="566928" y="1170432"/>
            <a:ext cx="10881360" cy="548640"/>
          </a:xfrm>
          <a:prstGeom prst="rect">
            <a:avLst/>
          </a:prstGeom>
          <a:noFill/>
        </p:spPr>
        <p:txBody>
          <a:bodyPr wrap="square" anchor="t" lIns="0" rIns="0" tIns="0" bIns="0">
            <a:spAutoFit/>
          </a:bodyPr>
          <a:lstStyle/>
          <a:p>
            <a:pPr algn="l">
              <a:lnSpc>
                <a:spcPct val="112000"/>
              </a:lnSpc>
            </a:pPr>
            <a:r>
              <a:rPr sz="1350" b="0" i="0">
                <a:solidFill>
                  <a:srgbClr val="1C1C28"/>
                </a:solidFill>
                <a:latin typeface="Source Sans 3"/>
              </a:rPr>
              <a:t>Pages per topic at each lifecycle stage (June 2026 crawl). Cross-cutting services are authored at every stage; placements, course planning and candidature are genuinely stage-bound.</a:t>
            </a:r>
          </a:p>
        </p:txBody>
      </p:sp>
      <p:graphicFrame>
        <p:nvGraphicFramePr>
          <p:cNvPr id="7" name="Table 6"/>
          <p:cNvGraphicFramePr>
            <a:graphicFrameLocks noGrp="1"/>
          </p:cNvGraphicFramePr>
          <p:nvPr/>
        </p:nvGraphicFramePr>
        <p:xfrm>
          <a:off x="566928" y="1965960"/>
          <a:ext cx="11064240" cy="3657600"/>
        </p:xfrm>
        <a:graphic>
          <a:graphicData uri="http://schemas.openxmlformats.org/drawingml/2006/table">
            <a:tbl>
              <a:tblPr>
                <a:tableStyleId>{5C22544A-7EE6-4342-B048-85BDC9FD1C3A}</a:tableStyleId>
              </a:tblPr>
              <a:tblGrid>
                <a:gridCol w="3200400"/>
                <a:gridCol w="1737360"/>
                <a:gridCol w="1554480"/>
                <a:gridCol w="1371600"/>
                <a:gridCol w="3200400"/>
              </a:tblGrid>
              <a:tr h="457200">
                <a:tc>
                  <a:txBody>
                    <a:bodyPr/>
                    <a:lstStyle/>
                    <a:p>
                      <a:pPr algn="l"/>
                      <a:r>
                        <a:rPr sz="1100" b="1">
                          <a:solidFill>
                            <a:srgbClr val="FFFFFF"/>
                          </a:solidFill>
                          <a:latin typeface="Source Sans 3"/>
                        </a:rPr>
                        <a:t>Topic / service</a:t>
                      </a:r>
                    </a:p>
                  </a:txBody>
                  <a:tcPr marL="73152" marR="54864" marT="18288" marB="18288" anchor="ctr">
                    <a:solidFill>
                      <a:srgbClr val="000F46"/>
                    </a:solidFill>
                  </a:tcPr>
                </a:tc>
                <a:tc>
                  <a:txBody>
                    <a:bodyPr/>
                    <a:lstStyle/>
                    <a:p>
                      <a:pPr algn="ctr"/>
                      <a:r>
                        <a:rPr sz="1100" b="1">
                          <a:solidFill>
                            <a:srgbClr val="FFFFFF"/>
                          </a:solidFill>
                          <a:latin typeface="Source Code Pro"/>
                        </a:rPr>
                        <a:t>Prospective</a:t>
                      </a:r>
                    </a:p>
                  </a:txBody>
                  <a:tcPr marL="73152" marR="54864" marT="18288" marB="18288" anchor="ctr">
                    <a:solidFill>
                      <a:srgbClr val="000F46"/>
                    </a:solidFill>
                  </a:tcPr>
                </a:tc>
                <a:tc>
                  <a:txBody>
                    <a:bodyPr/>
                    <a:lstStyle/>
                    <a:p>
                      <a:pPr algn="ctr"/>
                      <a:r>
                        <a:rPr sz="1100" b="1">
                          <a:solidFill>
                            <a:srgbClr val="FFFFFF"/>
                          </a:solidFill>
                          <a:latin typeface="Source Code Pro"/>
                        </a:rPr>
                        <a:t>Current</a:t>
                      </a:r>
                    </a:p>
                  </a:txBody>
                  <a:tcPr marL="73152" marR="54864" marT="18288" marB="18288" anchor="ctr">
                    <a:solidFill>
                      <a:srgbClr val="000F46"/>
                    </a:solidFill>
                  </a:tcPr>
                </a:tc>
                <a:tc>
                  <a:txBody>
                    <a:bodyPr/>
                    <a:lstStyle/>
                    <a:p>
                      <a:pPr algn="ctr"/>
                      <a:r>
                        <a:rPr sz="1100" b="1">
                          <a:solidFill>
                            <a:srgbClr val="FFFFFF"/>
                          </a:solidFill>
                          <a:latin typeface="Source Code Pro"/>
                        </a:rPr>
                        <a:t>Alumni</a:t>
                      </a:r>
                    </a:p>
                  </a:txBody>
                  <a:tcPr marL="73152" marR="54864" marT="18288" marB="18288" anchor="ctr">
                    <a:solidFill>
                      <a:srgbClr val="000F46"/>
                    </a:solidFill>
                  </a:tcPr>
                </a:tc>
                <a:tc>
                  <a:txBody>
                    <a:bodyPr/>
                    <a:lstStyle/>
                    <a:p>
                      <a:pPr algn="l"/>
                      <a:r>
                        <a:rPr sz="1100" b="1">
                          <a:solidFill>
                            <a:srgbClr val="FFFFFF"/>
                          </a:solidFill>
                          <a:latin typeface="Source Sans 3"/>
                        </a:rPr>
                        <a:t>Pattern</a:t>
                      </a:r>
                    </a:p>
                  </a:txBody>
                  <a:tcPr marL="73152" marR="54864" marT="18288" marB="18288" anchor="ctr">
                    <a:solidFill>
                      <a:srgbClr val="000F46"/>
                    </a:solidFill>
                  </a:tcPr>
                </a:tc>
              </a:tr>
              <a:tr h="457200">
                <a:tc>
                  <a:txBody>
                    <a:bodyPr/>
                    <a:lstStyle/>
                    <a:p>
                      <a:pPr algn="l"/>
                      <a:r>
                        <a:rPr sz="1100" b="1">
                          <a:solidFill>
                            <a:srgbClr val="000B34"/>
                          </a:solidFill>
                          <a:latin typeface="Source Sans 3"/>
                        </a:rPr>
                        <a:t>Careers &amp; employability</a:t>
                      </a:r>
                    </a:p>
                  </a:txBody>
                  <a:tcPr marL="73152" marR="54864" marT="18288" marB="18288" anchor="ctr">
                    <a:solidFill>
                      <a:srgbClr val="FFFFFF"/>
                    </a:solidFill>
                  </a:tcPr>
                </a:tc>
                <a:tc>
                  <a:txBody>
                    <a:bodyPr/>
                    <a:lstStyle/>
                    <a:p>
                      <a:pPr algn="ctr"/>
                      <a:r>
                        <a:rPr sz="1100" b="0">
                          <a:solidFill>
                            <a:srgbClr val="1C1C28"/>
                          </a:solidFill>
                          <a:latin typeface="Source Code Pro"/>
                        </a:rPr>
                        <a:t>38</a:t>
                      </a:r>
                    </a:p>
                  </a:txBody>
                  <a:tcPr marL="73152" marR="54864" marT="18288" marB="18288" anchor="ctr">
                    <a:solidFill>
                      <a:srgbClr val="FFFFFF"/>
                    </a:solidFill>
                  </a:tcPr>
                </a:tc>
                <a:tc>
                  <a:txBody>
                    <a:bodyPr/>
                    <a:lstStyle/>
                    <a:p>
                      <a:pPr algn="ctr"/>
                      <a:r>
                        <a:rPr sz="1100" b="0">
                          <a:solidFill>
                            <a:srgbClr val="1C1C28"/>
                          </a:solidFill>
                          <a:latin typeface="Source Code Pro"/>
                        </a:rPr>
                        <a:t>124</a:t>
                      </a:r>
                    </a:p>
                  </a:txBody>
                  <a:tcPr marL="73152" marR="54864" marT="18288" marB="18288" anchor="ctr">
                    <a:solidFill>
                      <a:srgbClr val="FFFFFF"/>
                    </a:solidFill>
                  </a:tcPr>
                </a:tc>
                <a:tc>
                  <a:txBody>
                    <a:bodyPr/>
                    <a:lstStyle/>
                    <a:p>
                      <a:pPr algn="ctr"/>
                      <a:r>
                        <a:rPr sz="1100" b="0">
                          <a:solidFill>
                            <a:srgbClr val="1C1C28"/>
                          </a:solidFill>
                          <a:latin typeface="Source Code Pro"/>
                        </a:rPr>
                        <a:t>38</a:t>
                      </a:r>
                    </a:p>
                  </a:txBody>
                  <a:tcPr marL="73152" marR="54864" marT="18288" marB="18288" anchor="ctr">
                    <a:solidFill>
                      <a:srgbClr val="FFFFFF"/>
                    </a:solidFill>
                  </a:tcPr>
                </a:tc>
                <a:tc>
                  <a:txBody>
                    <a:bodyPr/>
                    <a:lstStyle/>
                    <a:p>
                      <a:pPr algn="l"/>
                      <a:r>
                        <a:rPr sz="1100" b="0">
                          <a:solidFill>
                            <a:srgbClr val="1C1C28"/>
                          </a:solidFill>
                          <a:latin typeface="Source Sans 3"/>
                        </a:rPr>
                        <a:t>all three stages</a:t>
                      </a:r>
                    </a:p>
                  </a:txBody>
                  <a:tcPr marL="73152" marR="54864" marT="18288" marB="18288" anchor="ctr">
                    <a:solidFill>
                      <a:srgbClr val="FFFFFF"/>
                    </a:solidFill>
                  </a:tcPr>
                </a:tc>
              </a:tr>
              <a:tr h="457200">
                <a:tc>
                  <a:txBody>
                    <a:bodyPr/>
                    <a:lstStyle/>
                    <a:p>
                      <a:pPr algn="l"/>
                      <a:r>
                        <a:rPr sz="1100" b="1">
                          <a:solidFill>
                            <a:srgbClr val="000B34"/>
                          </a:solidFill>
                          <a:latin typeface="Source Sans 3"/>
                        </a:rPr>
                        <a:t>Scholarships</a:t>
                      </a:r>
                    </a:p>
                  </a:txBody>
                  <a:tcPr marL="73152" marR="54864" marT="18288" marB="18288" anchor="ctr">
                    <a:solidFill>
                      <a:srgbClr val="FFFFFF"/>
                    </a:solidFill>
                  </a:tcPr>
                </a:tc>
                <a:tc>
                  <a:txBody>
                    <a:bodyPr/>
                    <a:lstStyle/>
                    <a:p>
                      <a:pPr algn="ctr"/>
                      <a:r>
                        <a:rPr sz="1100" b="0">
                          <a:solidFill>
                            <a:srgbClr val="1C1C28"/>
                          </a:solidFill>
                          <a:latin typeface="Source Code Pro"/>
                        </a:rPr>
                        <a:t>75</a:t>
                      </a:r>
                    </a:p>
                  </a:txBody>
                  <a:tcPr marL="73152" marR="54864" marT="18288" marB="18288" anchor="ctr">
                    <a:solidFill>
                      <a:srgbClr val="FFFFFF"/>
                    </a:solidFill>
                  </a:tcPr>
                </a:tc>
                <a:tc>
                  <a:txBody>
                    <a:bodyPr/>
                    <a:lstStyle/>
                    <a:p>
                      <a:pPr algn="ctr"/>
                      <a:r>
                        <a:rPr sz="1100" b="0">
                          <a:solidFill>
                            <a:srgbClr val="1C1C28"/>
                          </a:solidFill>
                          <a:latin typeface="Source Code Pro"/>
                        </a:rPr>
                        <a:t>116</a:t>
                      </a:r>
                    </a:p>
                  </a:txBody>
                  <a:tcPr marL="73152" marR="54864" marT="18288" marB="18288" anchor="ctr">
                    <a:solidFill>
                      <a:srgbClr val="FFFFFF"/>
                    </a:solidFill>
                  </a:tcPr>
                </a:tc>
                <a:tc>
                  <a:txBody>
                    <a:bodyPr/>
                    <a:lstStyle/>
                    <a:p>
                      <a:pPr algn="ctr"/>
                      <a:r>
                        <a:rPr sz="1100" b="0">
                          <a:solidFill>
                            <a:srgbClr val="1C1C28"/>
                          </a:solidFill>
                          <a:latin typeface="Source Code Pro"/>
                        </a:rPr>
                        <a:t>1</a:t>
                      </a:r>
                    </a:p>
                  </a:txBody>
                  <a:tcPr marL="73152" marR="54864" marT="18288" marB="18288" anchor="ctr">
                    <a:solidFill>
                      <a:srgbClr val="FFFFFF"/>
                    </a:solidFill>
                  </a:tcPr>
                </a:tc>
                <a:tc>
                  <a:txBody>
                    <a:bodyPr/>
                    <a:lstStyle/>
                    <a:p>
                      <a:pPr algn="l"/>
                      <a:r>
                        <a:rPr sz="1100" b="0">
                          <a:solidFill>
                            <a:srgbClr val="1C1C28"/>
                          </a:solidFill>
                          <a:latin typeface="Source Sans 3"/>
                        </a:rPr>
                        <a:t>prospective + current</a:t>
                      </a:r>
                    </a:p>
                  </a:txBody>
                  <a:tcPr marL="73152" marR="54864" marT="18288" marB="18288" anchor="ctr">
                    <a:solidFill>
                      <a:srgbClr val="FFFFFF"/>
                    </a:solidFill>
                  </a:tcPr>
                </a:tc>
              </a:tr>
              <a:tr h="457200">
                <a:tc>
                  <a:txBody>
                    <a:bodyPr/>
                    <a:lstStyle/>
                    <a:p>
                      <a:pPr algn="l"/>
                      <a:r>
                        <a:rPr sz="1100" b="1">
                          <a:solidFill>
                            <a:srgbClr val="000B34"/>
                          </a:solidFill>
                          <a:latin typeface="Source Sans 3"/>
                        </a:rPr>
                        <a:t>Student life</a:t>
                      </a:r>
                    </a:p>
                  </a:txBody>
                  <a:tcPr marL="73152" marR="54864" marT="18288" marB="18288" anchor="ctr">
                    <a:solidFill>
                      <a:srgbClr val="FFFFFF"/>
                    </a:solidFill>
                  </a:tcPr>
                </a:tc>
                <a:tc>
                  <a:txBody>
                    <a:bodyPr/>
                    <a:lstStyle/>
                    <a:p>
                      <a:pPr algn="ctr"/>
                      <a:r>
                        <a:rPr sz="1100" b="0">
                          <a:solidFill>
                            <a:srgbClr val="1C1C28"/>
                          </a:solidFill>
                          <a:latin typeface="Source Code Pro"/>
                        </a:rPr>
                        <a:t>156</a:t>
                      </a:r>
                    </a:p>
                  </a:txBody>
                  <a:tcPr marL="73152" marR="54864" marT="18288" marB="18288" anchor="ctr">
                    <a:solidFill>
                      <a:srgbClr val="FFFFFF"/>
                    </a:solidFill>
                  </a:tcPr>
                </a:tc>
                <a:tc>
                  <a:txBody>
                    <a:bodyPr/>
                    <a:lstStyle/>
                    <a:p>
                      <a:pPr algn="ctr"/>
                      <a:r>
                        <a:rPr sz="1100" b="0">
                          <a:solidFill>
                            <a:srgbClr val="1C1C28"/>
                          </a:solidFill>
                          <a:latin typeface="Source Code Pro"/>
                        </a:rPr>
                        <a:t>108</a:t>
                      </a:r>
                    </a:p>
                  </a:txBody>
                  <a:tcPr marL="73152" marR="54864" marT="18288" marB="18288" anchor="ctr">
                    <a:solidFill>
                      <a:srgbClr val="FFFFFF"/>
                    </a:solidFill>
                  </a:tcPr>
                </a:tc>
                <a:tc>
                  <a:txBody>
                    <a:bodyPr/>
                    <a:lstStyle/>
                    <a:p>
                      <a:pPr algn="ctr"/>
                      <a:r>
                        <a:rPr sz="1100" b="0">
                          <a:solidFill>
                            <a:srgbClr val="1C1C28"/>
                          </a:solidFill>
                          <a:latin typeface="Source Code Pro"/>
                        </a:rPr>
                        <a:t>21</a:t>
                      </a:r>
                    </a:p>
                  </a:txBody>
                  <a:tcPr marL="73152" marR="54864" marT="18288" marB="18288" anchor="ctr">
                    <a:solidFill>
                      <a:srgbClr val="FFFFFF"/>
                    </a:solidFill>
                  </a:tcPr>
                </a:tc>
                <a:tc>
                  <a:txBody>
                    <a:bodyPr/>
                    <a:lstStyle/>
                    <a:p>
                      <a:pPr algn="l"/>
                      <a:r>
                        <a:rPr sz="1100" b="0">
                          <a:solidFill>
                            <a:srgbClr val="1C1C28"/>
                          </a:solidFill>
                          <a:latin typeface="Source Sans 3"/>
                        </a:rPr>
                        <a:t>all three stages</a:t>
                      </a:r>
                    </a:p>
                  </a:txBody>
                  <a:tcPr marL="73152" marR="54864" marT="18288" marB="18288" anchor="ctr">
                    <a:solidFill>
                      <a:srgbClr val="FFFFFF"/>
                    </a:solidFill>
                  </a:tcPr>
                </a:tc>
              </a:tr>
              <a:tr h="457200">
                <a:tc>
                  <a:txBody>
                    <a:bodyPr/>
                    <a:lstStyle/>
                    <a:p>
                      <a:pPr algn="l"/>
                      <a:r>
                        <a:rPr sz="1100" b="1">
                          <a:solidFill>
                            <a:srgbClr val="000B34"/>
                          </a:solidFill>
                          <a:latin typeface="Source Sans 3"/>
                        </a:rPr>
                        <a:t>International</a:t>
                      </a:r>
                    </a:p>
                  </a:txBody>
                  <a:tcPr marL="73152" marR="54864" marT="18288" marB="18288" anchor="ctr">
                    <a:solidFill>
                      <a:srgbClr val="FFFFFF"/>
                    </a:solidFill>
                  </a:tcPr>
                </a:tc>
                <a:tc>
                  <a:txBody>
                    <a:bodyPr/>
                    <a:lstStyle/>
                    <a:p>
                      <a:pPr algn="ctr"/>
                      <a:r>
                        <a:rPr sz="1100" b="0">
                          <a:solidFill>
                            <a:srgbClr val="1C1C28"/>
                          </a:solidFill>
                          <a:latin typeface="Source Code Pro"/>
                        </a:rPr>
                        <a:t>121</a:t>
                      </a:r>
                    </a:p>
                  </a:txBody>
                  <a:tcPr marL="73152" marR="54864" marT="18288" marB="18288" anchor="ctr">
                    <a:solidFill>
                      <a:srgbClr val="FFFFFF"/>
                    </a:solidFill>
                  </a:tcPr>
                </a:tc>
                <a:tc>
                  <a:txBody>
                    <a:bodyPr/>
                    <a:lstStyle/>
                    <a:p>
                      <a:pPr algn="ctr"/>
                      <a:r>
                        <a:rPr sz="1100" b="0">
                          <a:solidFill>
                            <a:srgbClr val="1C1C28"/>
                          </a:solidFill>
                          <a:latin typeface="Source Code Pro"/>
                        </a:rPr>
                        <a:t>100</a:t>
                      </a:r>
                    </a:p>
                  </a:txBody>
                  <a:tcPr marL="73152" marR="54864" marT="18288" marB="18288" anchor="ctr">
                    <a:solidFill>
                      <a:srgbClr val="FFFFFF"/>
                    </a:solidFill>
                  </a:tcPr>
                </a:tc>
                <a:tc>
                  <a:txBody>
                    <a:bodyPr/>
                    <a:lstStyle/>
                    <a:p>
                      <a:pPr algn="ctr"/>
                      <a:r>
                        <a:rPr sz="1100" b="0">
                          <a:solidFill>
                            <a:srgbClr val="1C1C28"/>
                          </a:solidFill>
                          <a:latin typeface="Source Code Pro"/>
                        </a:rPr>
                        <a:t>20</a:t>
                      </a:r>
                    </a:p>
                  </a:txBody>
                  <a:tcPr marL="73152" marR="54864" marT="18288" marB="18288" anchor="ctr">
                    <a:solidFill>
                      <a:srgbClr val="FFFFFF"/>
                    </a:solidFill>
                  </a:tcPr>
                </a:tc>
                <a:tc>
                  <a:txBody>
                    <a:bodyPr/>
                    <a:lstStyle/>
                    <a:p>
                      <a:pPr algn="l"/>
                      <a:r>
                        <a:rPr sz="1100" b="0">
                          <a:solidFill>
                            <a:srgbClr val="1C1C28"/>
                          </a:solidFill>
                          <a:latin typeface="Source Sans 3"/>
                        </a:rPr>
                        <a:t>all three stages</a:t>
                      </a:r>
                    </a:p>
                  </a:txBody>
                  <a:tcPr marL="73152" marR="54864" marT="18288" marB="18288" anchor="ctr">
                    <a:solidFill>
                      <a:srgbClr val="FFFFFF"/>
                    </a:solidFill>
                  </a:tcPr>
                </a:tc>
              </a:tr>
              <a:tr h="457200">
                <a:tc>
                  <a:txBody>
                    <a:bodyPr/>
                    <a:lstStyle/>
                    <a:p>
                      <a:pPr algn="l"/>
                      <a:r>
                        <a:rPr sz="1100" b="1">
                          <a:solidFill>
                            <a:srgbClr val="000B34"/>
                          </a:solidFill>
                          <a:latin typeface="Source Sans 3"/>
                        </a:rPr>
                        <a:t>Wellbeing &amp; health</a:t>
                      </a:r>
                    </a:p>
                  </a:txBody>
                  <a:tcPr marL="73152" marR="54864" marT="18288" marB="18288" anchor="ctr">
                    <a:solidFill>
                      <a:srgbClr val="FFFFFF"/>
                    </a:solidFill>
                  </a:tcPr>
                </a:tc>
                <a:tc>
                  <a:txBody>
                    <a:bodyPr/>
                    <a:lstStyle/>
                    <a:p>
                      <a:pPr algn="ctr"/>
                      <a:r>
                        <a:rPr sz="1100" b="0">
                          <a:solidFill>
                            <a:srgbClr val="1C1C28"/>
                          </a:solidFill>
                          <a:latin typeface="Source Code Pro"/>
                        </a:rPr>
                        <a:t>17</a:t>
                      </a:r>
                    </a:p>
                  </a:txBody>
                  <a:tcPr marL="73152" marR="54864" marT="18288" marB="18288" anchor="ctr">
                    <a:solidFill>
                      <a:srgbClr val="FFFFFF"/>
                    </a:solidFill>
                  </a:tcPr>
                </a:tc>
                <a:tc>
                  <a:txBody>
                    <a:bodyPr/>
                    <a:lstStyle/>
                    <a:p>
                      <a:pPr algn="ctr"/>
                      <a:r>
                        <a:rPr sz="1100" b="0">
                          <a:solidFill>
                            <a:srgbClr val="1C1C28"/>
                          </a:solidFill>
                          <a:latin typeface="Source Code Pro"/>
                        </a:rPr>
                        <a:t>46</a:t>
                      </a:r>
                    </a:p>
                  </a:txBody>
                  <a:tcPr marL="73152" marR="54864" marT="18288" marB="18288" anchor="ctr">
                    <a:solidFill>
                      <a:srgbClr val="FFFFFF"/>
                    </a:solidFill>
                  </a:tcPr>
                </a:tc>
                <a:tc>
                  <a:txBody>
                    <a:bodyPr/>
                    <a:lstStyle/>
                    <a:p>
                      <a:pPr algn="ctr"/>
                      <a:r>
                        <a:rPr sz="1100" b="0">
                          <a:solidFill>
                            <a:srgbClr val="1C1C28"/>
                          </a:solidFill>
                          <a:latin typeface="Source Code Pro"/>
                        </a:rPr>
                        <a:t>17</a:t>
                      </a:r>
                    </a:p>
                  </a:txBody>
                  <a:tcPr marL="73152" marR="54864" marT="18288" marB="18288" anchor="ctr">
                    <a:solidFill>
                      <a:srgbClr val="FFFFFF"/>
                    </a:solidFill>
                  </a:tcPr>
                </a:tc>
                <a:tc>
                  <a:txBody>
                    <a:bodyPr/>
                    <a:lstStyle/>
                    <a:p>
                      <a:pPr algn="l"/>
                      <a:r>
                        <a:rPr sz="1100" b="0">
                          <a:solidFill>
                            <a:srgbClr val="1C1C28"/>
                          </a:solidFill>
                          <a:latin typeface="Source Sans 3"/>
                        </a:rPr>
                        <a:t>all three stages</a:t>
                      </a:r>
                    </a:p>
                  </a:txBody>
                  <a:tcPr marL="73152" marR="54864" marT="18288" marB="18288" anchor="ctr">
                    <a:solidFill>
                      <a:srgbClr val="FFFFFF"/>
                    </a:solidFill>
                  </a:tcPr>
                </a:tc>
              </a:tr>
              <a:tr h="457200">
                <a:tc>
                  <a:txBody>
                    <a:bodyPr/>
                    <a:lstStyle/>
                    <a:p>
                      <a:pPr algn="l"/>
                      <a:r>
                        <a:rPr sz="1100" b="1">
                          <a:solidFill>
                            <a:srgbClr val="000B34"/>
                          </a:solidFill>
                          <a:latin typeface="Source Sans 3"/>
                        </a:rPr>
                        <a:t>Research candidature</a:t>
                      </a:r>
                    </a:p>
                  </a:txBody>
                  <a:tcPr marL="73152" marR="54864" marT="18288" marB="18288" anchor="ctr">
                    <a:solidFill>
                      <a:srgbClr val="FFFFFF"/>
                    </a:solidFill>
                  </a:tcPr>
                </a:tc>
                <a:tc>
                  <a:txBody>
                    <a:bodyPr/>
                    <a:lstStyle/>
                    <a:p>
                      <a:pPr algn="ctr"/>
                      <a:r>
                        <a:rPr sz="1100" b="0">
                          <a:solidFill>
                            <a:srgbClr val="1C1C28"/>
                          </a:solidFill>
                          <a:latin typeface="Source Code Pro"/>
                        </a:rPr>
                        <a:t>1</a:t>
                      </a:r>
                    </a:p>
                  </a:txBody>
                  <a:tcPr marL="73152" marR="54864" marT="18288" marB="18288" anchor="ctr">
                    <a:solidFill>
                      <a:srgbClr val="FFFFFF"/>
                    </a:solidFill>
                  </a:tcPr>
                </a:tc>
                <a:tc>
                  <a:txBody>
                    <a:bodyPr/>
                    <a:lstStyle/>
                    <a:p>
                      <a:pPr algn="ctr"/>
                      <a:r>
                        <a:rPr sz="1100" b="0">
                          <a:solidFill>
                            <a:srgbClr val="1C1C28"/>
                          </a:solidFill>
                          <a:latin typeface="Source Code Pro"/>
                        </a:rPr>
                        <a:t>192</a:t>
                      </a:r>
                    </a:p>
                  </a:txBody>
                  <a:tcPr marL="73152" marR="54864" marT="18288" marB="18288" anchor="ctr">
                    <a:solidFill>
                      <a:srgbClr val="FFFFFF"/>
                    </a:solidFill>
                  </a:tcPr>
                </a:tc>
                <a:tc>
                  <a:txBody>
                    <a:bodyPr/>
                    <a:lstStyle/>
                    <a:p>
                      <a:pPr algn="ctr"/>
                      <a:r>
                        <a:rPr sz="1100" b="0">
                          <a:solidFill>
                            <a:srgbClr val="1C1C28"/>
                          </a:solidFill>
                          <a:latin typeface="Source Code Pro"/>
                        </a:rPr>
                        <a:t>1</a:t>
                      </a:r>
                    </a:p>
                  </a:txBody>
                  <a:tcPr marL="73152" marR="54864" marT="18288" marB="18288" anchor="ctr">
                    <a:solidFill>
                      <a:srgbClr val="FFFFFF"/>
                    </a:solidFill>
                  </a:tcPr>
                </a:tc>
                <a:tc>
                  <a:txBody>
                    <a:bodyPr/>
                    <a:lstStyle/>
                    <a:p>
                      <a:pPr algn="l"/>
                      <a:r>
                        <a:rPr sz="1100" b="0">
                          <a:solidFill>
                            <a:srgbClr val="1C1C28"/>
                          </a:solidFill>
                          <a:latin typeface="Source Sans 3"/>
                        </a:rPr>
                        <a:t>current only</a:t>
                      </a:r>
                    </a:p>
                  </a:txBody>
                  <a:tcPr marL="73152" marR="54864" marT="18288" marB="18288" anchor="ctr">
                    <a:solidFill>
                      <a:srgbClr val="FFFFFF"/>
                    </a:solidFill>
                  </a:tcPr>
                </a:tc>
              </a:tr>
              <a:tr h="457200">
                <a:tc>
                  <a:txBody>
                    <a:bodyPr/>
                    <a:lstStyle/>
                    <a:p>
                      <a:pPr algn="l"/>
                      <a:r>
                        <a:rPr sz="1100" b="1">
                          <a:solidFill>
                            <a:srgbClr val="000B34"/>
                          </a:solidFill>
                          <a:latin typeface="Source Sans 3"/>
                        </a:rPr>
                        <a:t>Placements &amp; WIL</a:t>
                      </a:r>
                    </a:p>
                  </a:txBody>
                  <a:tcPr marL="73152" marR="54864" marT="18288" marB="18288" anchor="ctr">
                    <a:solidFill>
                      <a:srgbClr val="FFFFFF"/>
                    </a:solidFill>
                  </a:tcPr>
                </a:tc>
                <a:tc>
                  <a:txBody>
                    <a:bodyPr/>
                    <a:lstStyle/>
                    <a:p>
                      <a:pPr algn="ctr"/>
                      <a:r>
                        <a:rPr sz="1100" b="0">
                          <a:solidFill>
                            <a:srgbClr val="1C1C28"/>
                          </a:solidFill>
                          <a:latin typeface="Source Code Pro"/>
                        </a:rPr>
                        <a:t>10</a:t>
                      </a:r>
                    </a:p>
                  </a:txBody>
                  <a:tcPr marL="73152" marR="54864" marT="18288" marB="18288" anchor="ctr">
                    <a:solidFill>
                      <a:srgbClr val="FFFFFF"/>
                    </a:solidFill>
                  </a:tcPr>
                </a:tc>
                <a:tc>
                  <a:txBody>
                    <a:bodyPr/>
                    <a:lstStyle/>
                    <a:p>
                      <a:pPr algn="ctr"/>
                      <a:r>
                        <a:rPr sz="1100" b="0">
                          <a:solidFill>
                            <a:srgbClr val="1C1C28"/>
                          </a:solidFill>
                          <a:latin typeface="Source Code Pro"/>
                        </a:rPr>
                        <a:t>230</a:t>
                      </a:r>
                    </a:p>
                  </a:txBody>
                  <a:tcPr marL="73152" marR="54864" marT="18288" marB="18288" anchor="ctr">
                    <a:solidFill>
                      <a:srgbClr val="FFFFFF"/>
                    </a:solidFill>
                  </a:tcPr>
                </a:tc>
                <a:tc>
                  <a:txBody>
                    <a:bodyPr/>
                    <a:lstStyle/>
                    <a:p>
                      <a:pPr algn="ctr"/>
                      <a:r>
                        <a:rPr sz="1100" b="0">
                          <a:solidFill>
                            <a:srgbClr val="1C1C28"/>
                          </a:solidFill>
                          <a:latin typeface="Source Code Pro"/>
                        </a:rPr>
                        <a:t>0</a:t>
                      </a:r>
                    </a:p>
                  </a:txBody>
                  <a:tcPr marL="73152" marR="54864" marT="18288" marB="18288" anchor="ctr">
                    <a:solidFill>
                      <a:srgbClr val="FFFFFF"/>
                    </a:solidFill>
                  </a:tcPr>
                </a:tc>
                <a:tc>
                  <a:txBody>
                    <a:bodyPr/>
                    <a:lstStyle/>
                    <a:p>
                      <a:pPr algn="l"/>
                      <a:r>
                        <a:rPr sz="1100" b="0">
                          <a:solidFill>
                            <a:srgbClr val="1C1C28"/>
                          </a:solidFill>
                          <a:latin typeface="Source Sans 3"/>
                        </a:rPr>
                        <a:t>current only (faculty-owned)</a:t>
                      </a:r>
                    </a:p>
                  </a:txBody>
                  <a:tcPr marL="73152" marR="54864" marT="18288" marB="18288" anchor="ctr">
                    <a:solidFill>
                      <a:srgbClr val="FFFFFF"/>
                    </a:solidFill>
                  </a:tcPr>
                </a:tc>
              </a:tr>
            </a:tbl>
          </a:graphicData>
        </a:graphic>
      </p:graphicFrame>
      <p:sp>
        <p:nvSpPr>
          <p:cNvPr id="8" name="TextBox 7"/>
          <p:cNvSpPr txBox="1"/>
          <p:nvPr/>
        </p:nvSpPr>
        <p:spPr>
          <a:xfrm>
            <a:off x="566928" y="5733288"/>
            <a:ext cx="10881360" cy="274320"/>
          </a:xfrm>
          <a:prstGeom prst="rect">
            <a:avLst/>
          </a:prstGeom>
          <a:noFill/>
        </p:spPr>
        <p:txBody>
          <a:bodyPr wrap="square" anchor="t" lIns="0" rIns="0" tIns="0" bIns="0">
            <a:spAutoFit/>
          </a:bodyPr>
          <a:lstStyle/>
          <a:p>
            <a:pPr algn="l"/>
            <a:r>
              <a:rPr sz="900" b="0" i="1">
                <a:solidFill>
                  <a:srgbClr val="5B5B6B"/>
                </a:solidFill>
                <a:latin typeface="Source Code Pro"/>
              </a:rPr>
              <a:t>Source: analysis/lifecycle-cross-corpus.md · data/clean/cross_corpus_lifecycle.py (reproducible). Careers is additionally authored at ~10 distinct locations across 4 domains.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2600</Words>
  <Application>Microsoft Macintosh PowerPoint</Application>
  <PresentationFormat>Widescreen</PresentationFormat>
  <Paragraphs>322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Fraunces</vt:lpstr>
      <vt:lpstr>Source Code Pro</vt:lpstr>
      <vt:lpstr>Source Sans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University of Melbourne — Web Estate Alignment Discussion</dc:title>
  <dc:subject>PptxGenJS Presentation</dc:subject>
  <dc:creator>University of Melbourne</dc:creator>
  <cp:lastModifiedBy>David Mulholland</cp:lastModifiedBy>
  <cp:revision>2</cp:revision>
  <dcterms:created xsi:type="dcterms:W3CDTF">2026-06-21T06:24:57Z</dcterms:created>
  <dcterms:modified xsi:type="dcterms:W3CDTF">2026-06-21T07:58:56Z</dcterms:modified>
</cp:coreProperties>
</file>