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as a lifecycle: three phases — before enrolment, during study, after graduation — and two key handoffs. The 529 links back to study.unimelb were deliberate (study.unimelb holds the canonical prospectus). Prompt the room: 'is the enrolled-student experience on those journeys working as intended?' The 0 links to alumni = no graduation handoff. Bottom chips: where the same content appears across multiple phases — these are today's discussion territory. Keep the room out of solution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quickly (~5 min). Don't defend the marks — invite corrections and mark them live. 'Cross-linked?' means: do the current-students-website and faculty versions point to each other. Alumni and study.unimelb rows are from the June 2026 crawl — 0 links from current-student pages to alumni is confirmed. The goal is a shared picture before we open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12 faculty &amp; school current-student sections and both estate-adjacent sites. The central Current Students Website (students.unimelb.edu.au) is the hub all these link into and was not separately crawled in this round.</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1,173</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1,589</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total pages</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reviewed</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of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2377440"/>
          </a:xfrm>
          <a:prstGeom prst="rect">
            <a:avLst/>
          </a:prstGeom>
          <a:noFill/>
          <a:ln/>
        </p:spPr>
        <p:txBody>
          <a:bodyPr wrap="square" lIns="0" tIns="0" rIns="0" bIns="0" rtlCol="0" anchor="t"/>
          <a:lstStyle/>
          <a:p>
            <a:pPr indent="0" marL="0">
              <a:lnSpc>
                <a:spcPct val="122000"/>
              </a:lnSpc>
              <a:buNone/>
            </a:pPr>
            <a:r>
              <a:rPr lang="en-US" sz="1650" dirty="0">
                <a:solidFill>
                  <a:srgbClr val="1C1C28"/>
                </a:solidFill>
                <a:latin typeface="Source Sans 3" pitchFamily="34" charset="0"/>
                <a:ea typeface="Source Sans 3" pitchFamily="34" charset="-122"/>
                <a:cs typeface="Source Sans 3" pitchFamily="34" charset="-120"/>
              </a:rPr>
              <a:t>Students experience one University — not separate websites. When they need careers help, scholarship info, or study planning, that need may exist in any phase of the estate. Today: where does content appear in more than one place, and where are the handoffs between phases broken?</a:t>
            </a:r>
            <a:endParaRPr lang="en-US" sz="1650" dirty="0"/>
          </a:p>
        </p:txBody>
      </p:sp>
      <p:sp>
        <p:nvSpPr>
          <p:cNvPr id="7" name="Shape 5"/>
          <p:cNvSpPr/>
          <p:nvPr/>
        </p:nvSpPr>
        <p:spPr>
          <a:xfrm>
            <a:off x="6720840" y="1920240"/>
            <a:ext cx="1234440" cy="2514600"/>
          </a:xfrm>
          <a:prstGeom prst="rect">
            <a:avLst/>
          </a:prstGeom>
          <a:solidFill>
            <a:srgbClr val="EAF6FB"/>
          </a:solidFill>
          <a:ln w="19050">
            <a:solidFill>
              <a:srgbClr val="2F95B7"/>
            </a:solidFill>
            <a:prstDash val="solid"/>
          </a:ln>
        </p:spPr>
      </p:sp>
      <p:sp>
        <p:nvSpPr>
          <p:cNvPr id="8" name="Text 6"/>
          <p:cNvSpPr/>
          <p:nvPr/>
        </p:nvSpPr>
        <p:spPr>
          <a:xfrm>
            <a:off x="6720840" y="1993392"/>
            <a:ext cx="1234440" cy="530352"/>
          </a:xfrm>
          <a:prstGeom prst="rect">
            <a:avLst/>
          </a:prstGeom>
          <a:noFill/>
          <a:ln/>
        </p:spPr>
        <p:txBody>
          <a:bodyPr wrap="square" lIns="0" tIns="0" rIns="0" bIns="0" rtlCol="0" anchor="ctr"/>
          <a:lstStyle/>
          <a:p>
            <a:pPr algn="ctr" indent="0" marL="0">
              <a:lnSpc>
                <a:spcPct val="110000"/>
              </a:lnSpc>
              <a:buNone/>
            </a:pPr>
            <a:r>
              <a:rPr lang="en-US" sz="900" b="1" spc="50" kern="0" dirty="0">
                <a:solidFill>
                  <a:srgbClr val="2F95B7"/>
                </a:solidFill>
                <a:latin typeface="Source Code Pro" pitchFamily="34" charset="0"/>
                <a:ea typeface="Source Code Pro" pitchFamily="34" charset="-122"/>
                <a:cs typeface="Source Code Pro" pitchFamily="34" charset="-120"/>
              </a:rPr>
              <a:t>BEFORE</a:t>
            </a:r>
            <a:endParaRPr lang="en-US" sz="900" dirty="0"/>
          </a:p>
          <a:p>
            <a:pPr algn="ctr" indent="0" marL="0">
              <a:lnSpc>
                <a:spcPct val="110000"/>
              </a:lnSpc>
              <a:buNone/>
            </a:pPr>
            <a:r>
              <a:rPr lang="en-US" sz="900" b="1" spc="50" kern="0" dirty="0">
                <a:solidFill>
                  <a:srgbClr val="2F95B7"/>
                </a:solidFill>
                <a:latin typeface="Source Code Pro" pitchFamily="34" charset="0"/>
                <a:ea typeface="Source Code Pro" pitchFamily="34" charset="-122"/>
                <a:cs typeface="Source Code Pro" pitchFamily="34" charset="-120"/>
              </a:rPr>
              <a:t>ENROLMENT</a:t>
            </a:r>
            <a:endParaRPr lang="en-US" sz="900" dirty="0"/>
          </a:p>
        </p:txBody>
      </p:sp>
      <p:sp>
        <p:nvSpPr>
          <p:cNvPr id="9" name="Text 7"/>
          <p:cNvSpPr/>
          <p:nvPr/>
        </p:nvSpPr>
        <p:spPr>
          <a:xfrm>
            <a:off x="6775704" y="2615184"/>
            <a:ext cx="1124712" cy="658368"/>
          </a:xfrm>
          <a:prstGeom prst="rect">
            <a:avLst/>
          </a:prstGeom>
          <a:noFill/>
          <a:ln/>
        </p:spPr>
        <p:txBody>
          <a:bodyPr wrap="square" lIns="0" tIns="0" rIns="0" bIns="0" rtlCol="0" anchor="ctr"/>
          <a:lstStyle/>
          <a:p>
            <a:pPr algn="ctr" indent="0" marL="0">
              <a:lnSpc>
                <a:spcPct val="112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2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0" name="Shape 8"/>
          <p:cNvSpPr/>
          <p:nvPr/>
        </p:nvSpPr>
        <p:spPr>
          <a:xfrm>
            <a:off x="8366760" y="1920240"/>
            <a:ext cx="1828800" cy="2514600"/>
          </a:xfrm>
          <a:prstGeom prst="rect">
            <a:avLst/>
          </a:prstGeom>
          <a:solidFill>
            <a:srgbClr val="000F46"/>
          </a:solidFill>
          <a:ln w="19050">
            <a:solidFill>
              <a:srgbClr val="000F46"/>
            </a:solidFill>
            <a:prstDash val="solid"/>
          </a:ln>
        </p:spPr>
      </p:sp>
      <p:sp>
        <p:nvSpPr>
          <p:cNvPr id="11" name="Text 9"/>
          <p:cNvSpPr/>
          <p:nvPr/>
        </p:nvSpPr>
        <p:spPr>
          <a:xfrm>
            <a:off x="8366760" y="1993392"/>
            <a:ext cx="1828800" cy="530352"/>
          </a:xfrm>
          <a:prstGeom prst="rect">
            <a:avLst/>
          </a:prstGeom>
          <a:noFill/>
          <a:ln/>
        </p:spPr>
        <p:txBody>
          <a:bodyPr wrap="square" lIns="0" tIns="0" rIns="0" bIns="0" rtlCol="0" anchor="ctr"/>
          <a:lstStyle/>
          <a:p>
            <a:pPr algn="ctr" indent="0" marL="0">
              <a:lnSpc>
                <a:spcPct val="110000"/>
              </a:lnSpc>
              <a:buNone/>
            </a:pPr>
            <a:r>
              <a:rPr lang="en-US" sz="900" b="1" spc="50" kern="0" dirty="0">
                <a:solidFill>
                  <a:srgbClr val="C9CDE6"/>
                </a:solidFill>
                <a:latin typeface="Source Code Pro" pitchFamily="34" charset="0"/>
                <a:ea typeface="Source Code Pro" pitchFamily="34" charset="-122"/>
                <a:cs typeface="Source Code Pro" pitchFamily="34" charset="-120"/>
              </a:rPr>
              <a:t>DURING STUDY</a:t>
            </a:r>
            <a:endParaRPr lang="en-US" sz="900" dirty="0"/>
          </a:p>
        </p:txBody>
      </p:sp>
      <p:sp>
        <p:nvSpPr>
          <p:cNvPr id="12" name="Text 10"/>
          <p:cNvSpPr/>
          <p:nvPr/>
        </p:nvSpPr>
        <p:spPr>
          <a:xfrm>
            <a:off x="8421624" y="2615184"/>
            <a:ext cx="1719072" cy="658368"/>
          </a:xfrm>
          <a:prstGeom prst="rect">
            <a:avLst/>
          </a:prstGeom>
          <a:noFill/>
          <a:ln/>
        </p:spPr>
        <p:txBody>
          <a:bodyPr wrap="square" lIns="0" tIns="0" rIns="0" bIns="0" rtlCol="0" anchor="ctr"/>
          <a:lstStyle/>
          <a:p>
            <a:pPr algn="ctr" indent="0" marL="0">
              <a:lnSpc>
                <a:spcPct val="112000"/>
              </a:lnSpc>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a:p>
            <a:pPr algn="ctr" indent="0" marL="0">
              <a:lnSpc>
                <a:spcPct val="112000"/>
              </a:lnSpc>
              <a:buNone/>
            </a:pPr>
            <a:r>
              <a:rPr lang="en-US" sz="1050" b="1" dirty="0">
                <a:solidFill>
                  <a:srgbClr val="FFFFFF"/>
                </a:solidFill>
                <a:latin typeface="Source Sans 3" pitchFamily="34" charset="0"/>
                <a:ea typeface="Source Sans 3" pitchFamily="34" charset="-122"/>
                <a:cs typeface="Source Sans 3" pitchFamily="34" charset="-120"/>
              </a:rPr>
              <a:t>+ 12 faculty sites</a:t>
            </a:r>
            <a:endParaRPr lang="en-US" sz="1050" dirty="0"/>
          </a:p>
        </p:txBody>
      </p:sp>
      <p:sp>
        <p:nvSpPr>
          <p:cNvPr id="13" name="Shape 11"/>
          <p:cNvSpPr/>
          <p:nvPr/>
        </p:nvSpPr>
        <p:spPr>
          <a:xfrm>
            <a:off x="10607040" y="1920240"/>
            <a:ext cx="1005840" cy="2514600"/>
          </a:xfrm>
          <a:prstGeom prst="rect">
            <a:avLst/>
          </a:prstGeom>
          <a:solidFill>
            <a:srgbClr val="F4F4F4"/>
          </a:solidFill>
          <a:ln w="19050">
            <a:solidFill>
              <a:srgbClr val="DDDDE7"/>
            </a:solidFill>
            <a:prstDash val="solid"/>
          </a:ln>
        </p:spPr>
      </p:sp>
      <p:sp>
        <p:nvSpPr>
          <p:cNvPr id="14" name="Text 12"/>
          <p:cNvSpPr/>
          <p:nvPr/>
        </p:nvSpPr>
        <p:spPr>
          <a:xfrm>
            <a:off x="10607040" y="1993392"/>
            <a:ext cx="1005840" cy="530352"/>
          </a:xfrm>
          <a:prstGeom prst="rect">
            <a:avLst/>
          </a:prstGeom>
          <a:noFill/>
          <a:ln/>
        </p:spPr>
        <p:txBody>
          <a:bodyPr wrap="square" lIns="0" tIns="0" rIns="0" bIns="0" rtlCol="0" anchor="ctr"/>
          <a:lstStyle/>
          <a:p>
            <a:pPr algn="ctr" indent="0" marL="0">
              <a:lnSpc>
                <a:spcPct val="110000"/>
              </a:lnSpc>
              <a:buNone/>
            </a:pPr>
            <a:r>
              <a:rPr lang="en-US" sz="900" b="1" spc="50" kern="0" dirty="0">
                <a:solidFill>
                  <a:srgbClr val="2F95B7"/>
                </a:solidFill>
                <a:latin typeface="Source Code Pro" pitchFamily="34" charset="0"/>
                <a:ea typeface="Source Code Pro" pitchFamily="34" charset="-122"/>
                <a:cs typeface="Source Code Pro" pitchFamily="34" charset="-120"/>
              </a:rPr>
              <a:t>AFTER</a:t>
            </a:r>
            <a:endParaRPr lang="en-US" sz="900" dirty="0"/>
          </a:p>
          <a:p>
            <a:pPr algn="ctr" indent="0" marL="0">
              <a:lnSpc>
                <a:spcPct val="110000"/>
              </a:lnSpc>
              <a:buNone/>
            </a:pPr>
            <a:r>
              <a:rPr lang="en-US" sz="900" b="1" spc="50" kern="0" dirty="0">
                <a:solidFill>
                  <a:srgbClr val="2F95B7"/>
                </a:solidFill>
                <a:latin typeface="Source Code Pro" pitchFamily="34" charset="0"/>
                <a:ea typeface="Source Code Pro" pitchFamily="34" charset="-122"/>
                <a:cs typeface="Source Code Pro" pitchFamily="34" charset="-120"/>
              </a:rPr>
              <a:t>GRADUATION</a:t>
            </a:r>
            <a:endParaRPr lang="en-US" sz="900" dirty="0"/>
          </a:p>
        </p:txBody>
      </p:sp>
      <p:sp>
        <p:nvSpPr>
          <p:cNvPr id="15" name="Text 13"/>
          <p:cNvSpPr/>
          <p:nvPr/>
        </p:nvSpPr>
        <p:spPr>
          <a:xfrm>
            <a:off x="10661904" y="2615184"/>
            <a:ext cx="896112" cy="658368"/>
          </a:xfrm>
          <a:prstGeom prst="rect">
            <a:avLst/>
          </a:prstGeom>
          <a:noFill/>
          <a:ln/>
        </p:spPr>
        <p:txBody>
          <a:bodyPr wrap="square" lIns="0" tIns="0" rIns="0" bIns="0" rtlCol="0" anchor="ctr"/>
          <a:lstStyle/>
          <a:p>
            <a:pPr algn="ctr" indent="0" marL="0">
              <a:lnSpc>
                <a:spcPct val="112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2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16" name="Text 14"/>
          <p:cNvSpPr/>
          <p:nvPr/>
        </p:nvSpPr>
        <p:spPr>
          <a:xfrm>
            <a:off x="7754112" y="2926080"/>
            <a:ext cx="804672" cy="274320"/>
          </a:xfrm>
          <a:prstGeom prst="rect">
            <a:avLst/>
          </a:prstGeom>
          <a:noFill/>
          <a:ln/>
        </p:spPr>
        <p:txBody>
          <a:bodyPr wrap="square" lIns="0" tIns="0" rIns="0" bIns="0" rtlCol="0" anchor="ctr"/>
          <a:lstStyle/>
          <a:p>
            <a:pPr algn="ctr" indent="0" marL="0">
              <a:buNone/>
            </a:pPr>
            <a:r>
              <a:rPr lang="en-US" sz="800" dirty="0">
                <a:solidFill>
                  <a:srgbClr val="000B34"/>
                </a:solidFill>
                <a:latin typeface="Source Code Pro" pitchFamily="34" charset="0"/>
                <a:ea typeface="Source Code Pro" pitchFamily="34" charset="-122"/>
                <a:cs typeface="Source Code Pro" pitchFamily="34" charset="-120"/>
              </a:rPr>
              <a:t>↔ 529 links</a:t>
            </a:r>
            <a:endParaRPr lang="en-US" sz="800" dirty="0"/>
          </a:p>
        </p:txBody>
      </p:sp>
      <p:sp>
        <p:nvSpPr>
          <p:cNvPr id="17" name="Text 15"/>
          <p:cNvSpPr/>
          <p:nvPr/>
        </p:nvSpPr>
        <p:spPr>
          <a:xfrm>
            <a:off x="7754112" y="3200400"/>
            <a:ext cx="804672" cy="237744"/>
          </a:xfrm>
          <a:prstGeom prst="rect">
            <a:avLst/>
          </a:prstGeom>
          <a:noFill/>
          <a:ln/>
        </p:spPr>
        <p:txBody>
          <a:bodyPr wrap="square" lIns="0" tIns="0" rIns="0" bIns="0" rtlCol="0" anchor="ctr"/>
          <a:lstStyle/>
          <a:p>
            <a:pPr algn="ctr" indent="0" marL="0">
              <a:buNone/>
            </a:pPr>
            <a:r>
              <a:rPr lang="en-US" sz="750" i="1" dirty="0">
                <a:solidFill>
                  <a:srgbClr val="5B5B6B"/>
                </a:solidFill>
                <a:latin typeface="Source Code Pro" pitchFamily="34" charset="0"/>
                <a:ea typeface="Source Code Pro" pitchFamily="34" charset="-122"/>
                <a:cs typeface="Source Code Pro" pitchFamily="34" charset="-120"/>
              </a:rPr>
              <a:t>(intentional?)</a:t>
            </a:r>
            <a:endParaRPr lang="en-US" sz="750" dirty="0"/>
          </a:p>
        </p:txBody>
      </p:sp>
      <p:sp>
        <p:nvSpPr>
          <p:cNvPr id="18" name="Text 16"/>
          <p:cNvSpPr/>
          <p:nvPr/>
        </p:nvSpPr>
        <p:spPr>
          <a:xfrm>
            <a:off x="10195560" y="2926080"/>
            <a:ext cx="621792" cy="274320"/>
          </a:xfrm>
          <a:prstGeom prst="rect">
            <a:avLst/>
          </a:prstGeom>
          <a:noFill/>
          <a:ln/>
        </p:spPr>
        <p:txBody>
          <a:bodyPr wrap="square" lIns="0" tIns="0" rIns="0" bIns="0" rtlCol="0" anchor="ctr"/>
          <a:lstStyle/>
          <a:p>
            <a:pPr algn="ctr" indent="0" marL="0">
              <a:buNone/>
            </a:pPr>
            <a:r>
              <a:rPr lang="en-US" sz="800" dirty="0">
                <a:solidFill>
                  <a:srgbClr val="5B5B6B"/>
                </a:solidFill>
                <a:latin typeface="Source Code Pro" pitchFamily="34" charset="0"/>
                <a:ea typeface="Source Code Pro" pitchFamily="34" charset="-122"/>
                <a:cs typeface="Source Code Pro" pitchFamily="34" charset="-120"/>
              </a:rPr>
              <a:t>→ 0 links</a:t>
            </a:r>
            <a:endParaRPr lang="en-US" sz="800" dirty="0"/>
          </a:p>
        </p:txBody>
      </p:sp>
      <p:sp>
        <p:nvSpPr>
          <p:cNvPr id="19" name="Text 17"/>
          <p:cNvSpPr/>
          <p:nvPr/>
        </p:nvSpPr>
        <p:spPr>
          <a:xfrm>
            <a:off x="10195560" y="3200400"/>
            <a:ext cx="621792" cy="237744"/>
          </a:xfrm>
          <a:prstGeom prst="rect">
            <a:avLst/>
          </a:prstGeom>
          <a:noFill/>
          <a:ln/>
        </p:spPr>
        <p:txBody>
          <a:bodyPr wrap="square" lIns="0" tIns="0" rIns="0" bIns="0" rtlCol="0" anchor="ctr"/>
          <a:lstStyle/>
          <a:p>
            <a:pPr algn="ctr" indent="0" marL="0">
              <a:buNone/>
            </a:pPr>
            <a:r>
              <a:rPr lang="en-US" sz="750" i="1" dirty="0">
                <a:solidFill>
                  <a:srgbClr val="5B5B6B"/>
                </a:solidFill>
                <a:latin typeface="Source Code Pro" pitchFamily="34" charset="0"/>
                <a:ea typeface="Source Code Pro" pitchFamily="34" charset="-122"/>
                <a:cs typeface="Source Code Pro" pitchFamily="34" charset="-120"/>
              </a:rPr>
              <a:t>out</a:t>
            </a:r>
            <a:endParaRPr lang="en-US" sz="750" dirty="0"/>
          </a:p>
        </p:txBody>
      </p:sp>
      <p:sp>
        <p:nvSpPr>
          <p:cNvPr id="20" name="Shape 18"/>
          <p:cNvSpPr/>
          <p:nvPr/>
        </p:nvSpPr>
        <p:spPr>
          <a:xfrm>
            <a:off x="6720840" y="4572000"/>
            <a:ext cx="4892040" cy="274320"/>
          </a:xfrm>
          <a:prstGeom prst="rect">
            <a:avLst/>
          </a:prstGeom>
          <a:solidFill>
            <a:srgbClr val="000F46"/>
          </a:solidFill>
          <a:ln/>
        </p:spPr>
      </p:sp>
      <p:sp>
        <p:nvSpPr>
          <p:cNvPr id="21" name="Text 19"/>
          <p:cNvSpPr/>
          <p:nvPr/>
        </p:nvSpPr>
        <p:spPr>
          <a:xfrm>
            <a:off x="6720840" y="4572000"/>
            <a:ext cx="4892040" cy="274320"/>
          </a:xfrm>
          <a:prstGeom prst="rect">
            <a:avLst/>
          </a:prstGeom>
          <a:noFill/>
          <a:ln/>
        </p:spPr>
        <p:txBody>
          <a:bodyPr wrap="square" lIns="0" tIns="0" rIns="0" bIns="0" rtlCol="0" anchor="ctr"/>
          <a:lstStyle/>
          <a:p>
            <a:pPr algn="ctr" indent="0" marL="0">
              <a:buNone/>
            </a:pPr>
            <a:r>
              <a:rPr lang="en-US" sz="800" b="1" spc="80" kern="0" dirty="0">
                <a:solidFill>
                  <a:srgbClr val="46C8F0"/>
                </a:solidFill>
                <a:latin typeface="Source Code Pro" pitchFamily="34" charset="0"/>
                <a:ea typeface="Source Code Pro" pitchFamily="34" charset="-122"/>
                <a:cs typeface="Source Code Pro" pitchFamily="34" charset="-120"/>
              </a:rPr>
              <a:t>CONTENT APPEARING ACROSS MULTIPLE PHASES</a:t>
            </a:r>
            <a:endParaRPr lang="en-US" sz="800" dirty="0"/>
          </a:p>
        </p:txBody>
      </p:sp>
      <p:sp>
        <p:nvSpPr>
          <p:cNvPr id="22" name="Shape 20"/>
          <p:cNvSpPr/>
          <p:nvPr/>
        </p:nvSpPr>
        <p:spPr>
          <a:xfrm>
            <a:off x="6720840" y="4882896"/>
            <a:ext cx="1188720" cy="804672"/>
          </a:xfrm>
          <a:prstGeom prst="rect">
            <a:avLst/>
          </a:prstGeom>
          <a:solidFill>
            <a:srgbClr val="EAF6FB"/>
          </a:solidFill>
          <a:ln w="9525">
            <a:solidFill>
              <a:srgbClr val="2F95B7"/>
            </a:solidFill>
            <a:prstDash val="solid"/>
          </a:ln>
        </p:spPr>
      </p:sp>
      <p:sp>
        <p:nvSpPr>
          <p:cNvPr id="23" name="Text 21"/>
          <p:cNvSpPr/>
          <p:nvPr/>
        </p:nvSpPr>
        <p:spPr>
          <a:xfrm>
            <a:off x="6720840" y="4910328"/>
            <a:ext cx="1188720" cy="310896"/>
          </a:xfrm>
          <a:prstGeom prst="rect">
            <a:avLst/>
          </a:prstGeom>
          <a:noFill/>
          <a:ln/>
        </p:spPr>
        <p:txBody>
          <a:bodyPr wrap="square" lIns="0" tIns="0" rIns="0" bIns="0" rtlCol="0" anchor="ctr"/>
          <a:lstStyle/>
          <a:p>
            <a:pPr algn="ctr" indent="0" marL="0">
              <a:buNone/>
            </a:pPr>
            <a:r>
              <a:rPr lang="en-US" sz="1100" b="1" dirty="0">
                <a:solidFill>
                  <a:srgbClr val="000F46"/>
                </a:solidFill>
                <a:latin typeface="Source Sans 3" pitchFamily="34" charset="0"/>
                <a:ea typeface="Source Sans 3" pitchFamily="34" charset="-122"/>
                <a:cs typeface="Source Sans 3" pitchFamily="34" charset="-120"/>
              </a:rPr>
              <a:t>Careers</a:t>
            </a:r>
            <a:endParaRPr lang="en-US" sz="1100" dirty="0"/>
          </a:p>
        </p:txBody>
      </p:sp>
      <p:sp>
        <p:nvSpPr>
          <p:cNvPr id="24" name="Text 22"/>
          <p:cNvSpPr/>
          <p:nvPr/>
        </p:nvSpPr>
        <p:spPr>
          <a:xfrm>
            <a:off x="6720840" y="5230368"/>
            <a:ext cx="1188720" cy="420624"/>
          </a:xfrm>
          <a:prstGeom prst="rect">
            <a:avLst/>
          </a:prstGeom>
          <a:noFill/>
          <a:ln/>
        </p:spPr>
        <p:txBody>
          <a:bodyPr wrap="square" lIns="0" tIns="0" rIns="0" bIns="0" rtlCol="0" anchor="ctr"/>
          <a:lstStyle/>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all 4 estates</a:t>
            </a:r>
            <a:endParaRPr lang="en-US" sz="850" dirty="0"/>
          </a:p>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none connected</a:t>
            </a:r>
            <a:endParaRPr lang="en-US" sz="850" dirty="0"/>
          </a:p>
        </p:txBody>
      </p:sp>
      <p:sp>
        <p:nvSpPr>
          <p:cNvPr id="25" name="Shape 23"/>
          <p:cNvSpPr/>
          <p:nvPr/>
        </p:nvSpPr>
        <p:spPr>
          <a:xfrm>
            <a:off x="7943850" y="4882896"/>
            <a:ext cx="1188720" cy="804672"/>
          </a:xfrm>
          <a:prstGeom prst="rect">
            <a:avLst/>
          </a:prstGeom>
          <a:solidFill>
            <a:srgbClr val="EAF6FB"/>
          </a:solidFill>
          <a:ln w="9525">
            <a:solidFill>
              <a:srgbClr val="2F95B7"/>
            </a:solidFill>
            <a:prstDash val="solid"/>
          </a:ln>
        </p:spPr>
      </p:sp>
      <p:sp>
        <p:nvSpPr>
          <p:cNvPr id="26" name="Text 24"/>
          <p:cNvSpPr/>
          <p:nvPr/>
        </p:nvSpPr>
        <p:spPr>
          <a:xfrm>
            <a:off x="7943850" y="4910328"/>
            <a:ext cx="1188720" cy="310896"/>
          </a:xfrm>
          <a:prstGeom prst="rect">
            <a:avLst/>
          </a:prstGeom>
          <a:noFill/>
          <a:ln/>
        </p:spPr>
        <p:txBody>
          <a:bodyPr wrap="square" lIns="0" tIns="0" rIns="0" bIns="0" rtlCol="0" anchor="ctr"/>
          <a:lstStyle/>
          <a:p>
            <a:pPr algn="ctr" indent="0" marL="0">
              <a:buNone/>
            </a:pPr>
            <a:r>
              <a:rPr lang="en-US" sz="1100" b="1" dirty="0">
                <a:solidFill>
                  <a:srgbClr val="000F46"/>
                </a:solidFill>
                <a:latin typeface="Source Sans 3" pitchFamily="34" charset="0"/>
                <a:ea typeface="Source Sans 3" pitchFamily="34" charset="-122"/>
                <a:cs typeface="Source Sans 3" pitchFamily="34" charset="-120"/>
              </a:rPr>
              <a:t>Mentoring</a:t>
            </a:r>
            <a:endParaRPr lang="en-US" sz="1100" dirty="0"/>
          </a:p>
        </p:txBody>
      </p:sp>
      <p:sp>
        <p:nvSpPr>
          <p:cNvPr id="27" name="Text 25"/>
          <p:cNvSpPr/>
          <p:nvPr/>
        </p:nvSpPr>
        <p:spPr>
          <a:xfrm>
            <a:off x="7943850" y="5230368"/>
            <a:ext cx="1188720" cy="420624"/>
          </a:xfrm>
          <a:prstGeom prst="rect">
            <a:avLst/>
          </a:prstGeom>
          <a:noFill/>
          <a:ln/>
        </p:spPr>
        <p:txBody>
          <a:bodyPr wrap="square" lIns="0" tIns="0" rIns="0" bIns="0" rtlCol="0" anchor="ctr"/>
          <a:lstStyle/>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both ends</a:t>
            </a:r>
            <a:endParaRPr lang="en-US" sz="850" dirty="0"/>
          </a:p>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no web link</a:t>
            </a:r>
            <a:endParaRPr lang="en-US" sz="850" dirty="0"/>
          </a:p>
        </p:txBody>
      </p:sp>
      <p:sp>
        <p:nvSpPr>
          <p:cNvPr id="28" name="Shape 26"/>
          <p:cNvSpPr/>
          <p:nvPr/>
        </p:nvSpPr>
        <p:spPr>
          <a:xfrm>
            <a:off x="9166860" y="4882896"/>
            <a:ext cx="1188720" cy="804672"/>
          </a:xfrm>
          <a:prstGeom prst="rect">
            <a:avLst/>
          </a:prstGeom>
          <a:solidFill>
            <a:srgbClr val="EAF6FB"/>
          </a:solidFill>
          <a:ln w="9525">
            <a:solidFill>
              <a:srgbClr val="2F95B7"/>
            </a:solidFill>
            <a:prstDash val="solid"/>
          </a:ln>
        </p:spPr>
      </p:sp>
      <p:sp>
        <p:nvSpPr>
          <p:cNvPr id="29" name="Text 27"/>
          <p:cNvSpPr/>
          <p:nvPr/>
        </p:nvSpPr>
        <p:spPr>
          <a:xfrm>
            <a:off x="9166860" y="4910328"/>
            <a:ext cx="1188720" cy="310896"/>
          </a:xfrm>
          <a:prstGeom prst="rect">
            <a:avLst/>
          </a:prstGeom>
          <a:noFill/>
          <a:ln/>
        </p:spPr>
        <p:txBody>
          <a:bodyPr wrap="square" lIns="0" tIns="0" rIns="0" bIns="0" rtlCol="0" anchor="ctr"/>
          <a:lstStyle/>
          <a:p>
            <a:pPr algn="ctr" indent="0" marL="0">
              <a:buNone/>
            </a:pPr>
            <a:r>
              <a:rPr lang="en-US" sz="1100" b="1" dirty="0">
                <a:solidFill>
                  <a:srgbClr val="000F46"/>
                </a:solidFill>
                <a:latin typeface="Source Sans 3" pitchFamily="34" charset="0"/>
                <a:ea typeface="Source Sans 3" pitchFamily="34" charset="-122"/>
                <a:cs typeface="Source Sans 3" pitchFamily="34" charset="-120"/>
              </a:rPr>
              <a:t>Course info</a:t>
            </a:r>
            <a:endParaRPr lang="en-US" sz="1100" dirty="0"/>
          </a:p>
        </p:txBody>
      </p:sp>
      <p:sp>
        <p:nvSpPr>
          <p:cNvPr id="30" name="Text 28"/>
          <p:cNvSpPr/>
          <p:nvPr/>
        </p:nvSpPr>
        <p:spPr>
          <a:xfrm>
            <a:off x="9166860" y="5230368"/>
            <a:ext cx="1188720" cy="420624"/>
          </a:xfrm>
          <a:prstGeom prst="rect">
            <a:avLst/>
          </a:prstGeom>
          <a:noFill/>
          <a:ln/>
        </p:spPr>
        <p:txBody>
          <a:bodyPr wrap="square" lIns="0" tIns="0" rIns="0" bIns="0" rtlCol="0" anchor="ctr"/>
          <a:lstStyle/>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study → enrolled</a:t>
            </a:r>
            <a:endParaRPr lang="en-US" sz="850" dirty="0"/>
          </a:p>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no handoff</a:t>
            </a:r>
            <a:endParaRPr lang="en-US" sz="850" dirty="0"/>
          </a:p>
        </p:txBody>
      </p:sp>
      <p:sp>
        <p:nvSpPr>
          <p:cNvPr id="31" name="Shape 29"/>
          <p:cNvSpPr/>
          <p:nvPr/>
        </p:nvSpPr>
        <p:spPr>
          <a:xfrm>
            <a:off x="10389870" y="4882896"/>
            <a:ext cx="1188720" cy="804672"/>
          </a:xfrm>
          <a:prstGeom prst="rect">
            <a:avLst/>
          </a:prstGeom>
          <a:solidFill>
            <a:srgbClr val="EAF6FB"/>
          </a:solidFill>
          <a:ln w="9525">
            <a:solidFill>
              <a:srgbClr val="2F95B7"/>
            </a:solidFill>
            <a:prstDash val="solid"/>
          </a:ln>
        </p:spPr>
      </p:sp>
      <p:sp>
        <p:nvSpPr>
          <p:cNvPr id="32" name="Text 30"/>
          <p:cNvSpPr/>
          <p:nvPr/>
        </p:nvSpPr>
        <p:spPr>
          <a:xfrm>
            <a:off x="10389870" y="4910328"/>
            <a:ext cx="1188720" cy="310896"/>
          </a:xfrm>
          <a:prstGeom prst="rect">
            <a:avLst/>
          </a:prstGeom>
          <a:noFill/>
          <a:ln/>
        </p:spPr>
        <p:txBody>
          <a:bodyPr wrap="square" lIns="0" tIns="0" rIns="0" bIns="0" rtlCol="0" anchor="ctr"/>
          <a:lstStyle/>
          <a:p>
            <a:pPr algn="ctr" indent="0" marL="0">
              <a:buNone/>
            </a:pPr>
            <a:r>
              <a:rPr lang="en-US" sz="1100" b="1" dirty="0">
                <a:solidFill>
                  <a:srgbClr val="000F46"/>
                </a:solidFill>
                <a:latin typeface="Source Sans 3" pitchFamily="34" charset="0"/>
                <a:ea typeface="Source Sans 3" pitchFamily="34" charset="-122"/>
                <a:cs typeface="Source Sans 3" pitchFamily="34" charset="-120"/>
              </a:rPr>
              <a:t>Scholarships</a:t>
            </a:r>
            <a:endParaRPr lang="en-US" sz="1100" dirty="0"/>
          </a:p>
        </p:txBody>
      </p:sp>
      <p:sp>
        <p:nvSpPr>
          <p:cNvPr id="33" name="Text 31"/>
          <p:cNvSpPr/>
          <p:nvPr/>
        </p:nvSpPr>
        <p:spPr>
          <a:xfrm>
            <a:off x="10389870" y="5230368"/>
            <a:ext cx="1188720" cy="420624"/>
          </a:xfrm>
          <a:prstGeom prst="rect">
            <a:avLst/>
          </a:prstGeom>
          <a:noFill/>
          <a:ln/>
        </p:spPr>
        <p:txBody>
          <a:bodyPr wrap="square" lIns="0" tIns="0" rIns="0" bIns="0" rtlCol="0" anchor="ctr"/>
          <a:lstStyle/>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3 sites + 1</a:t>
            </a:r>
            <a:endParaRPr lang="en-US" sz="850" dirty="0"/>
          </a:p>
          <a:p>
            <a:pPr algn="ctr" indent="0" marL="0">
              <a:lnSpc>
                <a:spcPct val="105000"/>
              </a:lnSpc>
              <a:buNone/>
            </a:pPr>
            <a:r>
              <a:rPr lang="en-US" sz="850" dirty="0">
                <a:solidFill>
                  <a:srgbClr val="5B5B6B"/>
                </a:solidFill>
                <a:latin typeface="Source Code Pro" pitchFamily="34" charset="0"/>
                <a:ea typeface="Source Code Pro" pitchFamily="34" charset="-122"/>
                <a:cs typeface="Source Code Pro" pitchFamily="34" charset="-120"/>
              </a:rPr>
              <a:t>unused entry point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Overlap at a glance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Where each topic is provided today, across the estate. The same need often appears in several places.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64240" cy="914400"/>
        </p:xfrm>
        <a:graphic>
          <a:graphicData uri="http://schemas.openxmlformats.org/drawingml/2006/table">
            <a:tbl>
              <a:tblPr/>
              <a:tblGrid>
                <a:gridCol w="2651760"/>
                <a:gridCol w="2468880"/>
                <a:gridCol w="2468880"/>
                <a:gridCol w="1828800"/>
                <a:gridCol w="1645920"/>
              </a:tblGrid>
              <a:tr h="548640">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Topic</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Current Students</a:t>
                      </a:r>
                      <a:endParaRPr lang="en-US" sz="1200" dirty="0">
                        <a:latin typeface="Source Sans 3" charset="0"/>
                        <a:ea typeface="Source Sans 3" charset="0"/>
                        <a:cs typeface="Source Sans 3" charset="0"/>
                      </a:endParaRPr>
                    </a:p>
                    <a:p>
                      <a:pPr algn="l" indent="0" marL="0">
                        <a:buNone/>
                      </a:pPr>
                      <a:r>
                        <a:rPr lang="en-US" sz="1200" b="1" dirty="0">
                          <a:solidFill>
                            <a:srgbClr val="FFFFFF"/>
                          </a:solidFill>
                          <a:latin typeface="Source Sans 3" pitchFamily="34" charset="0"/>
                          <a:ea typeface="Source Sans 3" pitchFamily="34" charset="-122"/>
                          <a:cs typeface="Source Sans 3" pitchFamily="34" charset="-120"/>
                        </a:rPr>
                        <a:t>Website</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Faculties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Schools</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Cross-linked?</a:t>
                      </a:r>
                      <a:endParaRPr lang="en-US" sz="120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Course planning</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Planner + Handbook</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 Biomedical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Partly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Careers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Careers service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8 of 9 (141 pp)</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Rarely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Placements / WIL</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Every faculty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Service requests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Stop 1 + processes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Student centres + forms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Further study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Faculties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Mixed</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Alumni engagement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Some faculties (patchy)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MBS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No — 0 links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study.unimelb</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Entry paths</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529 links back</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50" dirty="0">
                          <a:solidFill>
                            <a:srgbClr val="1C1C28"/>
                          </a:solidFill>
                          <a:latin typeface="Source Sans 3" pitchFamily="34" charset="0"/>
                          <a:ea typeface="Source Sans 3" pitchFamily="34" charset="-122"/>
                          <a:cs typeface="Source Sans 3" pitchFamily="34" charset="-120"/>
                        </a:rPr>
                        <a:t>One-way only</a:t>
                      </a:r>
                      <a:endParaRPr lang="en-US" sz="1150" dirty="0">
                        <a:latin typeface="Source Sans 3" charset="0"/>
                        <a:ea typeface="Source Sans 3" charset="0"/>
                        <a:cs typeface="Source Sans 3" charset="0"/>
                      </a:endParaRPr>
                    </a:p>
                  </a:txBody>
                  <a:tcPr marL="762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Shape 5"/>
          <p:cNvSpPr/>
          <p:nvPr/>
        </p:nvSpPr>
        <p:spPr>
          <a:xfrm>
            <a:off x="566928" y="5623560"/>
            <a:ext cx="10881360" cy="621792"/>
          </a:xfrm>
          <a:prstGeom prst="rect">
            <a:avLst/>
          </a:prstGeom>
          <a:solidFill>
            <a:srgbClr val="EAF6FB"/>
          </a:solidFill>
          <a:ln/>
        </p:spPr>
      </p:sp>
      <p:sp>
        <p:nvSpPr>
          <p:cNvPr id="9" name="Shape 6"/>
          <p:cNvSpPr/>
          <p:nvPr/>
        </p:nvSpPr>
        <p:spPr>
          <a:xfrm>
            <a:off x="566928" y="5623560"/>
            <a:ext cx="91440" cy="621792"/>
          </a:xfrm>
          <a:prstGeom prst="rect">
            <a:avLst/>
          </a:prstGeom>
          <a:solidFill>
            <a:srgbClr val="46C8F0"/>
          </a:solidFill>
          <a:ln/>
        </p:spPr>
      </p:sp>
      <p:sp>
        <p:nvSpPr>
          <p:cNvPr id="10" name="Text 7"/>
          <p:cNvSpPr/>
          <p:nvPr/>
        </p:nvSpPr>
        <p:spPr>
          <a:xfrm>
            <a:off x="868680" y="5623560"/>
            <a:ext cx="10332720" cy="621792"/>
          </a:xfrm>
          <a:prstGeom prst="rect">
            <a:avLst/>
          </a:prstGeom>
          <a:noFill/>
          <a:ln/>
        </p:spPr>
        <p:txBody>
          <a:bodyPr wrap="square" lIns="0" tIns="0" rIns="0" bIns="0" rtlCol="0" anchor="ctr"/>
          <a:lstStyle/>
          <a:p>
            <a:pPr indent="0" marL="0">
              <a:buNone/>
            </a:pPr>
            <a:r>
              <a:rPr lang="en-US" sz="135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50" dirty="0">
                <a:solidFill>
                  <a:srgbClr val="000B34"/>
                </a:solidFill>
                <a:latin typeface="Source Sans 3" pitchFamily="34" charset="0"/>
                <a:ea typeface="Source Sans 3" pitchFamily="34" charset="-122"/>
                <a:cs typeface="Source Sans 3" pitchFamily="34" charset="-120"/>
              </a:rPr>
              <a:t>Is this the right picture of where things live? Where is the overlap helpful — and where is it accidental or frustrating?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658368"/>
          </a:xfrm>
          <a:prstGeom prst="rect">
            <a:avLst/>
          </a:prstGeom>
          <a:solidFill>
            <a:srgbClr val="FFFFFF"/>
          </a:solidFill>
          <a:ln w="12700">
            <a:solidFill>
              <a:srgbClr val="DDDDE7"/>
            </a:solidFill>
            <a:prstDash val="solid"/>
          </a:ln>
        </p:spPr>
      </p:sp>
      <p:sp>
        <p:nvSpPr>
          <p:cNvPr id="11" name="Text 9"/>
          <p:cNvSpPr/>
          <p:nvPr/>
        </p:nvSpPr>
        <p:spPr>
          <a:xfrm>
            <a:off x="7150608" y="1920240"/>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150" dirty="0"/>
          </a:p>
        </p:txBody>
      </p:sp>
      <p:sp>
        <p:nvSpPr>
          <p:cNvPr id="12" name="Shape 10"/>
          <p:cNvSpPr/>
          <p:nvPr/>
        </p:nvSpPr>
        <p:spPr>
          <a:xfrm>
            <a:off x="7022592" y="2706624"/>
            <a:ext cx="4389120" cy="658368"/>
          </a:xfrm>
          <a:prstGeom prst="rect">
            <a:avLst/>
          </a:prstGeom>
          <a:solidFill>
            <a:srgbClr val="FFFFFF"/>
          </a:solidFill>
          <a:ln w="12700">
            <a:solidFill>
              <a:srgbClr val="DDDDE7"/>
            </a:solidFill>
            <a:prstDash val="solid"/>
          </a:ln>
        </p:spPr>
      </p:sp>
      <p:sp>
        <p:nvSpPr>
          <p:cNvPr id="13" name="Text 11"/>
          <p:cNvSpPr/>
          <p:nvPr/>
        </p:nvSpPr>
        <p:spPr>
          <a:xfrm>
            <a:off x="7150608" y="2706624"/>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150" dirty="0"/>
          </a:p>
        </p:txBody>
      </p:sp>
      <p:sp>
        <p:nvSpPr>
          <p:cNvPr id="14" name="Shape 12"/>
          <p:cNvSpPr/>
          <p:nvPr/>
        </p:nvSpPr>
        <p:spPr>
          <a:xfrm>
            <a:off x="7022592" y="3493008"/>
            <a:ext cx="4389120" cy="658368"/>
          </a:xfrm>
          <a:prstGeom prst="rect">
            <a:avLst/>
          </a:prstGeom>
          <a:solidFill>
            <a:srgbClr val="FFFFFF"/>
          </a:solidFill>
          <a:ln w="12700">
            <a:solidFill>
              <a:srgbClr val="DDDDE7"/>
            </a:solidFill>
            <a:prstDash val="solid"/>
          </a:ln>
        </p:spPr>
      </p:sp>
      <p:sp>
        <p:nvSpPr>
          <p:cNvPr id="15" name="Text 13"/>
          <p:cNvSpPr/>
          <p:nvPr/>
        </p:nvSpPr>
        <p:spPr>
          <a:xfrm>
            <a:off x="7150608" y="3493008"/>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150" dirty="0"/>
          </a:p>
        </p:txBody>
      </p:sp>
      <p:sp>
        <p:nvSpPr>
          <p:cNvPr id="16" name="Shape 14"/>
          <p:cNvSpPr/>
          <p:nvPr/>
        </p:nvSpPr>
        <p:spPr>
          <a:xfrm>
            <a:off x="7022592" y="4279392"/>
            <a:ext cx="4389120" cy="658368"/>
          </a:xfrm>
          <a:prstGeom prst="rect">
            <a:avLst/>
          </a:prstGeom>
          <a:solidFill>
            <a:srgbClr val="FFFFFF"/>
          </a:solidFill>
          <a:ln w="12700">
            <a:solidFill>
              <a:srgbClr val="DDDDE7"/>
            </a:solidFill>
            <a:prstDash val="solid"/>
          </a:ln>
        </p:spPr>
      </p:sp>
      <p:sp>
        <p:nvSpPr>
          <p:cNvPr id="17" name="Text 15"/>
          <p:cNvSpPr/>
          <p:nvPr/>
        </p:nvSpPr>
        <p:spPr>
          <a:xfrm>
            <a:off x="7150608" y="4279392"/>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150" dirty="0"/>
          </a:p>
        </p:txBody>
      </p:sp>
      <p:sp>
        <p:nvSpPr>
          <p:cNvPr id="18" name="Shape 16"/>
          <p:cNvSpPr/>
          <p:nvPr/>
        </p:nvSpPr>
        <p:spPr>
          <a:xfrm>
            <a:off x="7022592" y="5065776"/>
            <a:ext cx="4389120" cy="658368"/>
          </a:xfrm>
          <a:prstGeom prst="rect">
            <a:avLst/>
          </a:prstGeom>
          <a:solidFill>
            <a:srgbClr val="FFFFFF"/>
          </a:solidFill>
          <a:ln w="12700">
            <a:solidFill>
              <a:srgbClr val="DDDDE7"/>
            </a:solidFill>
            <a:prstDash val="solid"/>
          </a:ln>
        </p:spPr>
      </p:sp>
      <p:sp>
        <p:nvSpPr>
          <p:cNvPr id="19" name="Text 17"/>
          <p:cNvSpPr/>
          <p:nvPr/>
        </p:nvSpPr>
        <p:spPr>
          <a:xfrm>
            <a:off x="7150608" y="5065776"/>
            <a:ext cx="4206240" cy="658368"/>
          </a:xfrm>
          <a:prstGeom prst="rect">
            <a:avLst/>
          </a:prstGeom>
          <a:noFill/>
          <a:ln/>
        </p:spPr>
        <p:txBody>
          <a:bodyPr wrap="square" lIns="0" tIns="0" rIns="0" bIns="0" rtlCol="0" anchor="ctr"/>
          <a:lstStyle/>
          <a:p>
            <a:pPr indent="0" marL="0">
              <a:lnSpc>
                <a:spcPct val="110000"/>
              </a:lnSpc>
              <a:buNone/>
            </a:pPr>
            <a:r>
              <a:rPr lang="en-US" sz="11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exists as a dedicated single entry point for all of them, but none of the three sites link to it.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Employability Service Integration</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Central Careers / Faculties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200" dirty="0">
                          <a:solidFill>
                            <a:srgbClr val="1C1C28"/>
                          </a:solidFill>
                          <a:latin typeface="Source Sans 3" pitchFamily="34" charset="0"/>
                          <a:ea typeface="Source Sans 3" pitchFamily="34" charset="-122"/>
                          <a:cs typeface="Source Sans 3" pitchFamily="34" charset="-120"/>
                        </a:rPr>
                        <a:t>In progress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2026-06-20T10:35:40Z</dcterms:created>
  <dcterms:modified xsi:type="dcterms:W3CDTF">2026-06-20T10:35:40Z</dcterms:modified>
</cp:coreProperties>
</file>