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Website (hub), faculty sites, further study (study.unimelb) and alumni. This is the lens for everything that follows — 'is the overlap intentional, and does it help or hinder the user?' Keep the room out of solution mode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(~5 min). The key insight is the faculty band spanning all three phases. Link flows (bottom section) show what the June 2026 crawl found: three active connections (faculty→hub 4,629 links; faculty→study 529 links; study→hub 273 links) and two completely broken connections (hub→alumni 0 links; faculty→alumni 0 links despite 13 mentoring streams existing on alumni.unimelb). The gap labels between core boxes show study→hub (273 links, active) and students→alumni (0 links, broken). Invite corrections to the picture — 'does this match what you see from your site's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current student journey topics. Five data-backed findings from the June 2026 crawl across the current-student estate. For each: is this the right picture? Is the split intentional? Does it serve or confuse students? Keep out of solution mode — map the territory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502920"/>
            <a:ext cx="2011680" cy="632143"/>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749808"/>
          </a:xfrm>
          <a:prstGeom prst="rect">
            <a:avLst/>
          </a:prstGeom>
          <a:noFill/>
          <a:ln/>
        </p:spPr>
        <p:txBody>
          <a:bodyPr wrap="square" lIns="0" tIns="0" rIns="0" bIns="0" rtlCol="0" anchor="ctr"/>
          <a:lstStyle/>
          <a:p>
            <a:pPr indent="0" marL="0">
              <a:lnSpc>
                <a:spcPct val="112000"/>
              </a:lnSpc>
              <a:buNone/>
            </a:pPr>
            <a:r>
              <a:rPr lang="en-US" sz="13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 following links the same way a user would. Each page was read, classified and tagged by topic. The crawl covered the Current Students Website (students.unimelb.edu.au), 12 faculty &amp; school current-student sections, and both estate-adjacent sites.</a:t>
            </a:r>
            <a:endParaRPr lang="en-US" sz="1350" dirty="0"/>
          </a:p>
        </p:txBody>
      </p:sp>
      <p:sp>
        <p:nvSpPr>
          <p:cNvPr id="7" name="Shape 5"/>
          <p:cNvSpPr/>
          <p:nvPr/>
        </p:nvSpPr>
        <p:spPr>
          <a:xfrm>
            <a:off x="566928" y="2084832"/>
            <a:ext cx="2651760" cy="1572768"/>
          </a:xfrm>
          <a:prstGeom prst="rect">
            <a:avLst/>
          </a:prstGeom>
          <a:solidFill>
            <a:srgbClr val="F4F4F4"/>
          </a:solidFill>
          <a:ln/>
        </p:spPr>
      </p:sp>
      <p:sp>
        <p:nvSpPr>
          <p:cNvPr id="8" name="Shape 6"/>
          <p:cNvSpPr/>
          <p:nvPr/>
        </p:nvSpPr>
        <p:spPr>
          <a:xfrm>
            <a:off x="566928" y="2084832"/>
            <a:ext cx="2651760" cy="91440"/>
          </a:xfrm>
          <a:prstGeom prst="rect">
            <a:avLst/>
          </a:prstGeom>
          <a:solidFill>
            <a:srgbClr val="46C8F0"/>
          </a:solidFill>
          <a:ln/>
        </p:spPr>
      </p:sp>
      <p:sp>
        <p:nvSpPr>
          <p:cNvPr id="9" name="Text 7"/>
          <p:cNvSpPr/>
          <p:nvPr/>
        </p:nvSpPr>
        <p:spPr>
          <a:xfrm>
            <a:off x="566928"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74</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students.unimelb.edu.au</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Current Students Website</a:t>
            </a:r>
            <a:endParaRPr lang="en-US" sz="1150" dirty="0"/>
          </a:p>
        </p:txBody>
      </p:sp>
      <p:sp>
        <p:nvSpPr>
          <p:cNvPr id="11" name="Shape 9"/>
          <p:cNvSpPr/>
          <p:nvPr/>
        </p:nvSpPr>
        <p:spPr>
          <a:xfrm>
            <a:off x="3364992" y="2084832"/>
            <a:ext cx="2651760" cy="1572768"/>
          </a:xfrm>
          <a:prstGeom prst="rect">
            <a:avLst/>
          </a:prstGeom>
          <a:solidFill>
            <a:srgbClr val="F4F4F4"/>
          </a:solidFill>
          <a:ln/>
        </p:spPr>
      </p:sp>
      <p:sp>
        <p:nvSpPr>
          <p:cNvPr id="12" name="Shape 10"/>
          <p:cNvSpPr/>
          <p:nvPr/>
        </p:nvSpPr>
        <p:spPr>
          <a:xfrm>
            <a:off x="3364992" y="2084832"/>
            <a:ext cx="2651760" cy="91440"/>
          </a:xfrm>
          <a:prstGeom prst="rect">
            <a:avLst/>
          </a:prstGeom>
          <a:solidFill>
            <a:srgbClr val="46C8F0"/>
          </a:solidFill>
          <a:ln/>
        </p:spPr>
      </p:sp>
      <p:sp>
        <p:nvSpPr>
          <p:cNvPr id="13" name="Text 11"/>
          <p:cNvSpPr/>
          <p:nvPr/>
        </p:nvSpPr>
        <p:spPr>
          <a:xfrm>
            <a:off x="3364992"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1,150</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pages across 12 faculty</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&amp; school current-student sites</a:t>
            </a:r>
            <a:endParaRPr lang="en-US" sz="1150" dirty="0"/>
          </a:p>
        </p:txBody>
      </p:sp>
      <p:sp>
        <p:nvSpPr>
          <p:cNvPr id="15" name="Shape 13"/>
          <p:cNvSpPr/>
          <p:nvPr/>
        </p:nvSpPr>
        <p:spPr>
          <a:xfrm>
            <a:off x="6163056" y="2084832"/>
            <a:ext cx="2651760" cy="1572768"/>
          </a:xfrm>
          <a:prstGeom prst="rect">
            <a:avLst/>
          </a:prstGeom>
          <a:solidFill>
            <a:srgbClr val="F4F4F4"/>
          </a:solidFill>
          <a:ln/>
        </p:spPr>
      </p:sp>
      <p:sp>
        <p:nvSpPr>
          <p:cNvPr id="16" name="Shape 14"/>
          <p:cNvSpPr/>
          <p:nvPr/>
        </p:nvSpPr>
        <p:spPr>
          <a:xfrm>
            <a:off x="6163056" y="2084832"/>
            <a:ext cx="2651760" cy="91440"/>
          </a:xfrm>
          <a:prstGeom prst="rect">
            <a:avLst/>
          </a:prstGeom>
          <a:solidFill>
            <a:srgbClr val="46C8F0"/>
          </a:solidFill>
          <a:ln/>
        </p:spPr>
      </p:sp>
      <p:sp>
        <p:nvSpPr>
          <p:cNvPr id="17" name="Text 15"/>
          <p:cNvSpPr/>
          <p:nvPr/>
        </p:nvSpPr>
        <p:spPr>
          <a:xfrm>
            <a:off x="6163056"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9" name="Shape 17"/>
          <p:cNvSpPr/>
          <p:nvPr/>
        </p:nvSpPr>
        <p:spPr>
          <a:xfrm>
            <a:off x="8961120" y="2084832"/>
            <a:ext cx="2651760" cy="1572768"/>
          </a:xfrm>
          <a:prstGeom prst="rect">
            <a:avLst/>
          </a:prstGeom>
          <a:solidFill>
            <a:srgbClr val="F4F4F4"/>
          </a:solidFill>
          <a:ln/>
        </p:spPr>
      </p:sp>
      <p:sp>
        <p:nvSpPr>
          <p:cNvPr id="20" name="Shape 18"/>
          <p:cNvSpPr/>
          <p:nvPr/>
        </p:nvSpPr>
        <p:spPr>
          <a:xfrm>
            <a:off x="8961120" y="2084832"/>
            <a:ext cx="2651760" cy="91440"/>
          </a:xfrm>
          <a:prstGeom prst="rect">
            <a:avLst/>
          </a:prstGeom>
          <a:solidFill>
            <a:srgbClr val="46C8F0"/>
          </a:solidFill>
          <a:ln/>
        </p:spPr>
      </p:sp>
      <p:sp>
        <p:nvSpPr>
          <p:cNvPr id="21" name="Text 19"/>
          <p:cNvSpPr/>
          <p:nvPr/>
        </p:nvSpPr>
        <p:spPr>
          <a:xfrm>
            <a:off x="8961120"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23" name="Shape 21"/>
          <p:cNvSpPr/>
          <p:nvPr/>
        </p:nvSpPr>
        <p:spPr>
          <a:xfrm>
            <a:off x="566928" y="3767328"/>
            <a:ext cx="2651760" cy="64008"/>
          </a:xfrm>
          <a:prstGeom prst="rect">
            <a:avLst/>
          </a:prstGeom>
          <a:solidFill>
            <a:srgbClr val="46C8F0"/>
          </a:solidFill>
          <a:ln/>
        </p:spPr>
      </p:sp>
      <p:sp>
        <p:nvSpPr>
          <p:cNvPr id="24" name="Text 22"/>
          <p:cNvSpPr/>
          <p:nvPr/>
        </p:nvSpPr>
        <p:spPr>
          <a:xfrm>
            <a:off x="566928"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Current Students Website, 8 faculties, study.unimelb, alumni. No cross-links in any direction.</a:t>
            </a:r>
            <a:endParaRPr lang="en-US" sz="1100" dirty="0"/>
          </a:p>
        </p:txBody>
      </p:sp>
      <p:sp>
        <p:nvSpPr>
          <p:cNvPr id="26" name="Shape 24"/>
          <p:cNvSpPr/>
          <p:nvPr/>
        </p:nvSpPr>
        <p:spPr>
          <a:xfrm>
            <a:off x="3364992" y="3767328"/>
            <a:ext cx="2651760" cy="64008"/>
          </a:xfrm>
          <a:prstGeom prst="rect">
            <a:avLst/>
          </a:prstGeom>
          <a:solidFill>
            <a:srgbClr val="46C8F0"/>
          </a:solidFill>
          <a:ln/>
        </p:spPr>
      </p:sp>
      <p:sp>
        <p:nvSpPr>
          <p:cNvPr id="27" name="Text 25"/>
          <p:cNvSpPr/>
          <p:nvPr/>
        </p:nvSpPr>
        <p:spPr>
          <a:xfrm>
            <a:off x="3364992"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767328"/>
            <a:ext cx="2651760" cy="64008"/>
          </a:xfrm>
          <a:prstGeom prst="rect">
            <a:avLst/>
          </a:prstGeom>
          <a:solidFill>
            <a:srgbClr val="46C8F0"/>
          </a:solidFill>
          <a:ln/>
        </p:spPr>
      </p:sp>
      <p:sp>
        <p:nvSpPr>
          <p:cNvPr id="30" name="Text 28"/>
          <p:cNvSpPr/>
          <p:nvPr/>
        </p:nvSpPr>
        <p:spPr>
          <a:xfrm>
            <a:off x="6163056"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767328"/>
            <a:ext cx="2651760" cy="64008"/>
          </a:xfrm>
          <a:prstGeom prst="rect">
            <a:avLst/>
          </a:prstGeom>
          <a:solidFill>
            <a:srgbClr val="46C8F0"/>
          </a:solidFill>
          <a:ln/>
        </p:spPr>
      </p:sp>
      <p:sp>
        <p:nvSpPr>
          <p:cNvPr id="33" name="Text 31"/>
          <p:cNvSpPr/>
          <p:nvPr/>
        </p:nvSpPr>
        <p:spPr>
          <a:xfrm>
            <a:off x="8961120"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indent="0" marL="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indent="0" marL="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sp>
      <p:sp>
        <p:nvSpPr>
          <p:cNvPr id="11" name="Text 9"/>
          <p:cNvSpPr/>
          <p:nvPr/>
        </p:nvSpPr>
        <p:spPr>
          <a:xfrm>
            <a:off x="6967728" y="1664208"/>
            <a:ext cx="1737360" cy="530352"/>
          </a:xfrm>
          <a:prstGeom prst="rect">
            <a:avLst/>
          </a:prstGeom>
          <a:noFill/>
          <a:ln/>
        </p:spPr>
        <p:txBody>
          <a:bodyPr wrap="square" lIns="0" tIns="0" rIns="0" bIns="0" rtlCol="0" anchor="ctr"/>
          <a:lstStyle/>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Current Students</a:t>
            </a:r>
            <a:endParaRPr lang="en-US" sz="1150" dirty="0"/>
          </a:p>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Website</a:t>
            </a:r>
            <a:endParaRPr lang="en-US" sz="1150" dirty="0"/>
          </a:p>
        </p:txBody>
      </p:sp>
      <p:sp>
        <p:nvSpPr>
          <p:cNvPr id="12" name="Text 10"/>
          <p:cNvSpPr/>
          <p:nvPr/>
        </p:nvSpPr>
        <p:spPr>
          <a:xfrm>
            <a:off x="9738360" y="1691640"/>
            <a:ext cx="1600200" cy="502920"/>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95160" y="525780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84080" y="5257800"/>
            <a:ext cx="155448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algn="ctr" indent="0" marL="0">
              <a:buNone/>
            </a:pPr>
            <a:r>
              <a:rPr lang="en-US" sz="1100" b="1" dirty="0">
                <a:solidFill>
                  <a:srgbClr val="000B34"/>
                </a:solidFill>
                <a:latin typeface="Source Code Pro" pitchFamily="34" charset="0"/>
                <a:ea typeface="Source Code Pro" pitchFamily="34" charset="-122"/>
                <a:cs typeface="Source Code Pro" pitchFamily="34" charset="-120"/>
              </a:rPr>
              <a:t>overlap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Three phases — one student journey</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417320"/>
            <a:ext cx="5760720" cy="2560320"/>
          </a:xfrm>
          <a:prstGeom prst="rect">
            <a:avLst/>
          </a:prstGeom>
          <a:noFill/>
          <a:ln/>
        </p:spPr>
        <p:txBody>
          <a:bodyPr wrap="square" lIns="0" tIns="0" rIns="0" bIns="0" rtlCol="0" anchor="t"/>
          <a:lstStyle/>
          <a:p>
            <a:pPr indent="0" marL="0">
              <a:lnSpc>
                <a:spcPct val="122000"/>
              </a:lnSpc>
              <a:buNone/>
            </a:pPr>
            <a:r>
              <a:rPr lang="en-US" sz="1550" dirty="0">
                <a:solidFill>
                  <a:srgbClr val="1C1C28"/>
                </a:solidFill>
                <a:latin typeface="Source Sans 3" pitchFamily="34" charset="0"/>
                <a:ea typeface="Source Sans 3" pitchFamily="34" charset="-122"/>
                <a:cs typeface="Source Sans 3" pitchFamily="34" charset="-120"/>
              </a:rPr>
              <a:t>Faculty sites span all three phases — prospectus content for applicants, 1,150 current-student pages, and alumni networks. The link flows below show how estates connect and where the connections are broken. Arrows show direction and volume of links found in the June 2026 crawl.</a:t>
            </a:r>
            <a:endParaRPr lang="en-US" sz="1550" dirty="0"/>
          </a:p>
        </p:txBody>
      </p:sp>
      <p:sp>
        <p:nvSpPr>
          <p:cNvPr id="7" name="Shape 5"/>
          <p:cNvSpPr/>
          <p:nvPr/>
        </p:nvSpPr>
        <p:spPr>
          <a:xfrm>
            <a:off x="6720840" y="1691640"/>
            <a:ext cx="1280160" cy="256032"/>
          </a:xfrm>
          <a:prstGeom prst="rect">
            <a:avLst/>
          </a:prstGeom>
          <a:solidFill>
            <a:srgbClr val="EAF6FB"/>
          </a:solidFill>
          <a:ln w="6350">
            <a:solidFill>
              <a:srgbClr val="2F95B7"/>
            </a:solidFill>
            <a:prstDash val="solid"/>
          </a:ln>
        </p:spPr>
      </p:sp>
      <p:sp>
        <p:nvSpPr>
          <p:cNvPr id="8" name="Text 6"/>
          <p:cNvSpPr/>
          <p:nvPr/>
        </p:nvSpPr>
        <p:spPr>
          <a:xfrm>
            <a:off x="6720840" y="1691640"/>
            <a:ext cx="128016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BEFORE</a:t>
            </a:r>
            <a:endParaRPr lang="en-US" sz="700" dirty="0"/>
          </a:p>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ENROLMENT</a:t>
            </a:r>
            <a:endParaRPr lang="en-US" sz="700" dirty="0"/>
          </a:p>
        </p:txBody>
      </p:sp>
      <p:sp>
        <p:nvSpPr>
          <p:cNvPr id="9" name="Shape 7"/>
          <p:cNvSpPr/>
          <p:nvPr/>
        </p:nvSpPr>
        <p:spPr>
          <a:xfrm>
            <a:off x="8321040" y="1691640"/>
            <a:ext cx="1874520" cy="256032"/>
          </a:xfrm>
          <a:prstGeom prst="rect">
            <a:avLst/>
          </a:prstGeom>
          <a:solidFill>
            <a:srgbClr val="000F46"/>
          </a:solidFill>
          <a:ln w="6350">
            <a:solidFill>
              <a:srgbClr val="000F46"/>
            </a:solidFill>
            <a:prstDash val="solid"/>
          </a:ln>
        </p:spPr>
      </p:sp>
      <p:sp>
        <p:nvSpPr>
          <p:cNvPr id="10" name="Text 8"/>
          <p:cNvSpPr/>
          <p:nvPr/>
        </p:nvSpPr>
        <p:spPr>
          <a:xfrm>
            <a:off x="8321040" y="1691640"/>
            <a:ext cx="1874520" cy="256032"/>
          </a:xfrm>
          <a:prstGeom prst="rect">
            <a:avLst/>
          </a:prstGeom>
          <a:noFill/>
          <a:ln/>
        </p:spPr>
        <p:txBody>
          <a:bodyPr wrap="square" lIns="0" tIns="0" rIns="0" bIns="0" rtlCol="0" anchor="ctr"/>
          <a:lstStyle/>
          <a:p>
            <a:pPr algn="ctr" indent="0" marL="0">
              <a:buNone/>
            </a:pPr>
            <a:r>
              <a:rPr lang="en-US" sz="750" b="1" spc="50" kern="0" dirty="0">
                <a:solidFill>
                  <a:srgbClr val="46C8F0"/>
                </a:solidFill>
                <a:latin typeface="Source Code Pro" pitchFamily="34" charset="0"/>
                <a:ea typeface="Source Code Pro" pitchFamily="34" charset="-122"/>
                <a:cs typeface="Source Code Pro" pitchFamily="34" charset="-120"/>
              </a:rPr>
              <a:t>DURING STUDY</a:t>
            </a:r>
            <a:endParaRPr lang="en-US" sz="750" dirty="0"/>
          </a:p>
        </p:txBody>
      </p:sp>
      <p:sp>
        <p:nvSpPr>
          <p:cNvPr id="11" name="Shape 9"/>
          <p:cNvSpPr/>
          <p:nvPr/>
        </p:nvSpPr>
        <p:spPr>
          <a:xfrm>
            <a:off x="10469880" y="1691640"/>
            <a:ext cx="1143000" cy="256032"/>
          </a:xfrm>
          <a:prstGeom prst="rect">
            <a:avLst/>
          </a:prstGeom>
          <a:solidFill>
            <a:srgbClr val="F4F4F4"/>
          </a:solidFill>
          <a:ln w="6350">
            <a:solidFill>
              <a:srgbClr val="DDDDE7"/>
            </a:solidFill>
            <a:prstDash val="solid"/>
          </a:ln>
        </p:spPr>
      </p:sp>
      <p:sp>
        <p:nvSpPr>
          <p:cNvPr id="12" name="Text 10"/>
          <p:cNvSpPr/>
          <p:nvPr/>
        </p:nvSpPr>
        <p:spPr>
          <a:xfrm>
            <a:off x="10469880" y="1691640"/>
            <a:ext cx="114300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AFTER</a:t>
            </a:r>
            <a:endParaRPr lang="en-US" sz="700" dirty="0"/>
          </a:p>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GRADUATION</a:t>
            </a:r>
            <a:endParaRPr lang="en-US" sz="700" dirty="0"/>
          </a:p>
        </p:txBody>
      </p:sp>
      <p:sp>
        <p:nvSpPr>
          <p:cNvPr id="13" name="Shape 11"/>
          <p:cNvSpPr/>
          <p:nvPr/>
        </p:nvSpPr>
        <p:spPr>
          <a:xfrm>
            <a:off x="6720840" y="1984248"/>
            <a:ext cx="1280160" cy="1143000"/>
          </a:xfrm>
          <a:prstGeom prst="rect">
            <a:avLst/>
          </a:prstGeom>
          <a:solidFill>
            <a:srgbClr val="EAF6FB"/>
          </a:solidFill>
          <a:ln w="19050">
            <a:solidFill>
              <a:srgbClr val="2F95B7"/>
            </a:solidFill>
            <a:prstDash val="solid"/>
          </a:ln>
        </p:spPr>
      </p:sp>
      <p:sp>
        <p:nvSpPr>
          <p:cNvPr id="14" name="Text 12"/>
          <p:cNvSpPr/>
          <p:nvPr/>
        </p:nvSpPr>
        <p:spPr>
          <a:xfrm>
            <a:off x="6720840" y="2075688"/>
            <a:ext cx="128016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study.unimelb</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.edu.au</a:t>
            </a:r>
            <a:endParaRPr lang="en-US" sz="1050" dirty="0"/>
          </a:p>
        </p:txBody>
      </p:sp>
      <p:sp>
        <p:nvSpPr>
          <p:cNvPr id="15" name="Text 13"/>
          <p:cNvSpPr/>
          <p:nvPr/>
        </p:nvSpPr>
        <p:spPr>
          <a:xfrm>
            <a:off x="6720840" y="2761488"/>
            <a:ext cx="128016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300 pages</a:t>
            </a:r>
            <a:endParaRPr lang="en-US" sz="900" dirty="0"/>
          </a:p>
        </p:txBody>
      </p:sp>
      <p:sp>
        <p:nvSpPr>
          <p:cNvPr id="16" name="Shape 14"/>
          <p:cNvSpPr/>
          <p:nvPr/>
        </p:nvSpPr>
        <p:spPr>
          <a:xfrm>
            <a:off x="8321040" y="1984248"/>
            <a:ext cx="1874520" cy="1143000"/>
          </a:xfrm>
          <a:prstGeom prst="rect">
            <a:avLst/>
          </a:prstGeom>
          <a:solidFill>
            <a:srgbClr val="000F46"/>
          </a:solidFill>
          <a:ln w="19050">
            <a:solidFill>
              <a:srgbClr val="000F46"/>
            </a:solidFill>
            <a:prstDash val="solid"/>
          </a:ln>
        </p:spPr>
      </p:sp>
      <p:sp>
        <p:nvSpPr>
          <p:cNvPr id="17" name="Text 15"/>
          <p:cNvSpPr/>
          <p:nvPr/>
        </p:nvSpPr>
        <p:spPr>
          <a:xfrm>
            <a:off x="8321040" y="2121408"/>
            <a:ext cx="187452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Source Sans 3" pitchFamily="34" charset="0"/>
                <a:ea typeface="Source Sans 3" pitchFamily="34" charset="-122"/>
                <a:cs typeface="Source Sans 3" pitchFamily="34" charset="-120"/>
              </a:rPr>
              <a:t>students.unimelb.edu.au</a:t>
            </a:r>
            <a:endParaRPr lang="en-US" sz="1050" dirty="0"/>
          </a:p>
        </p:txBody>
      </p:sp>
      <p:sp>
        <p:nvSpPr>
          <p:cNvPr id="18" name="Text 16"/>
          <p:cNvSpPr/>
          <p:nvPr/>
        </p:nvSpPr>
        <p:spPr>
          <a:xfrm>
            <a:off x="8321040" y="2651760"/>
            <a:ext cx="1874520" cy="347472"/>
          </a:xfrm>
          <a:prstGeom prst="rect">
            <a:avLst/>
          </a:prstGeom>
          <a:noFill/>
          <a:ln/>
        </p:spPr>
        <p:txBody>
          <a:bodyPr wrap="square" lIns="0" tIns="0" rIns="0" bIns="0" rtlCol="0" anchor="ctr"/>
          <a:lstStyle/>
          <a:p>
            <a:pPr algn="ctr" indent="0" marL="0">
              <a:buNone/>
            </a:pPr>
            <a:r>
              <a:rPr lang="en-US" sz="850" dirty="0">
                <a:solidFill>
                  <a:srgbClr val="C9CDE6"/>
                </a:solidFill>
                <a:latin typeface="Source Code Pro" pitchFamily="34" charset="0"/>
                <a:ea typeface="Source Code Pro" pitchFamily="34" charset="-122"/>
                <a:cs typeface="Source Code Pro" pitchFamily="34" charset="-120"/>
              </a:rPr>
              <a:t>hub · student services</a:t>
            </a:r>
            <a:endParaRPr lang="en-US" sz="850" dirty="0"/>
          </a:p>
        </p:txBody>
      </p:sp>
      <p:sp>
        <p:nvSpPr>
          <p:cNvPr id="19" name="Text 17"/>
          <p:cNvSpPr/>
          <p:nvPr/>
        </p:nvSpPr>
        <p:spPr>
          <a:xfrm>
            <a:off x="8321040" y="2907792"/>
            <a:ext cx="1874520" cy="201168"/>
          </a:xfrm>
          <a:prstGeom prst="rect">
            <a:avLst/>
          </a:prstGeom>
          <a:noFill/>
          <a:ln/>
        </p:spPr>
        <p:txBody>
          <a:bodyPr wrap="square" lIns="0" tIns="0" rIns="0" bIns="0" rtlCol="0" anchor="ctr"/>
          <a:lstStyle/>
          <a:p>
            <a:pPr algn="ctr" indent="0" marL="0">
              <a:buNone/>
            </a:pPr>
            <a:r>
              <a:rPr lang="en-US" sz="900" dirty="0">
                <a:solidFill>
                  <a:srgbClr val="AAB0D4"/>
                </a:solidFill>
                <a:latin typeface="Source Code Pro" pitchFamily="34" charset="0"/>
                <a:ea typeface="Source Code Pro" pitchFamily="34" charset="-122"/>
                <a:cs typeface="Source Code Pro" pitchFamily="34" charset="-120"/>
              </a:rPr>
              <a:t>74 pages</a:t>
            </a:r>
            <a:endParaRPr lang="en-US" sz="900" dirty="0"/>
          </a:p>
        </p:txBody>
      </p:sp>
      <p:sp>
        <p:nvSpPr>
          <p:cNvPr id="20" name="Shape 18"/>
          <p:cNvSpPr/>
          <p:nvPr/>
        </p:nvSpPr>
        <p:spPr>
          <a:xfrm>
            <a:off x="10469880" y="1984248"/>
            <a:ext cx="1143000" cy="1143000"/>
          </a:xfrm>
          <a:prstGeom prst="rect">
            <a:avLst/>
          </a:prstGeom>
          <a:solidFill>
            <a:srgbClr val="F4F4F4"/>
          </a:solidFill>
          <a:ln w="19050">
            <a:solidFill>
              <a:srgbClr val="DDDDE7"/>
            </a:solidFill>
            <a:prstDash val="solid"/>
          </a:ln>
        </p:spPr>
      </p:sp>
      <p:sp>
        <p:nvSpPr>
          <p:cNvPr id="21" name="Text 19"/>
          <p:cNvSpPr/>
          <p:nvPr/>
        </p:nvSpPr>
        <p:spPr>
          <a:xfrm>
            <a:off x="10469880" y="2075688"/>
            <a:ext cx="114300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alumni</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.unimelb.edu.au</a:t>
            </a:r>
            <a:endParaRPr lang="en-US" sz="1050" dirty="0"/>
          </a:p>
        </p:txBody>
      </p:sp>
      <p:sp>
        <p:nvSpPr>
          <p:cNvPr id="22" name="Text 20"/>
          <p:cNvSpPr/>
          <p:nvPr/>
        </p:nvSpPr>
        <p:spPr>
          <a:xfrm>
            <a:off x="10469880" y="2761488"/>
            <a:ext cx="114300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116 pages</a:t>
            </a:r>
            <a:endParaRPr lang="en-US" sz="900" dirty="0"/>
          </a:p>
        </p:txBody>
      </p:sp>
      <p:sp>
        <p:nvSpPr>
          <p:cNvPr id="23" name="Text 21"/>
          <p:cNvSpPr/>
          <p:nvPr/>
        </p:nvSpPr>
        <p:spPr>
          <a:xfrm>
            <a:off x="8028432" y="2377440"/>
            <a:ext cx="274320" cy="384048"/>
          </a:xfrm>
          <a:prstGeom prst="rect">
            <a:avLst/>
          </a:prstGeom>
          <a:noFill/>
          <a:ln/>
        </p:spPr>
        <p:txBody>
          <a:bodyPr wrap="square" lIns="0" tIns="0" rIns="0" bIns="0" rtlCol="0" anchor="ctr"/>
          <a:lstStyle/>
          <a:p>
            <a:pPr algn="ctr" indent="0" marL="0">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→273</a:t>
            </a:r>
            <a:endParaRPr lang="en-US" sz="700" dirty="0"/>
          </a:p>
          <a:p>
            <a:pPr algn="ctr" indent="0" marL="0">
              <a:lnSpc>
                <a:spcPct val="105000"/>
              </a:lnSpc>
              <a:buNone/>
            </a:pPr>
            <a:r>
              <a:rPr lang="en-US" sz="700" dirty="0">
                <a:solidFill>
                  <a:srgbClr val="2F95B7"/>
                </a:solidFill>
                <a:latin typeface="Source Code Pro" pitchFamily="34" charset="0"/>
                <a:ea typeface="Source Code Pro" pitchFamily="34" charset="-122"/>
                <a:cs typeface="Source Code Pro" pitchFamily="34" charset="-120"/>
              </a:rPr>
              <a:t>links</a:t>
            </a:r>
            <a:endParaRPr lang="en-US" sz="700" dirty="0"/>
          </a:p>
        </p:txBody>
      </p:sp>
      <p:sp>
        <p:nvSpPr>
          <p:cNvPr id="24" name="Text 22"/>
          <p:cNvSpPr/>
          <p:nvPr/>
        </p:nvSpPr>
        <p:spPr>
          <a:xfrm>
            <a:off x="10222992" y="2377440"/>
            <a:ext cx="228600" cy="384048"/>
          </a:xfrm>
          <a:prstGeom prst="rect">
            <a:avLst/>
          </a:prstGeom>
          <a:noFill/>
          <a:ln/>
        </p:spPr>
        <p:txBody>
          <a:bodyPr wrap="square" lIns="0" tIns="0" rIns="0" bIns="0" rtlCol="0" anchor="ctr"/>
          <a:lstStyle/>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 0</a:t>
            </a:r>
            <a:endParaRPr lang="en-US" sz="700" dirty="0"/>
          </a:p>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links</a:t>
            </a:r>
            <a:endParaRPr lang="en-US" sz="700" dirty="0"/>
          </a:p>
        </p:txBody>
      </p:sp>
      <p:sp>
        <p:nvSpPr>
          <p:cNvPr id="25" name="Shape 23"/>
          <p:cNvSpPr/>
          <p:nvPr/>
        </p:nvSpPr>
        <p:spPr>
          <a:xfrm>
            <a:off x="6720840" y="3218688"/>
            <a:ext cx="4892040" cy="237744"/>
          </a:xfrm>
          <a:prstGeom prst="rect">
            <a:avLst/>
          </a:prstGeom>
          <a:solidFill>
            <a:srgbClr val="000B34"/>
          </a:solidFill>
          <a:ln/>
        </p:spPr>
      </p:sp>
      <p:sp>
        <p:nvSpPr>
          <p:cNvPr id="26" name="Text 24"/>
          <p:cNvSpPr/>
          <p:nvPr/>
        </p:nvSpPr>
        <p:spPr>
          <a:xfrm>
            <a:off x="6720840" y="3218688"/>
            <a:ext cx="4892040" cy="237744"/>
          </a:xfrm>
          <a:prstGeom prst="rect">
            <a:avLst/>
          </a:prstGeom>
          <a:noFill/>
          <a:ln/>
        </p:spPr>
        <p:txBody>
          <a:bodyPr wrap="square" lIns="0" tIns="0" rIns="0" bIns="0" rtlCol="0" anchor="ctr"/>
          <a:lstStyle/>
          <a:p>
            <a:pPr algn="ctr" indent="0" marL="0">
              <a:buNone/>
            </a:pPr>
            <a:r>
              <a:rPr lang="en-US" sz="800" b="1" spc="30" kern="0" dirty="0">
                <a:solidFill>
                  <a:srgbClr val="C9CDE6"/>
                </a:solidFill>
                <a:latin typeface="Source Code Pro" pitchFamily="34" charset="0"/>
                <a:ea typeface="Source Code Pro" pitchFamily="34" charset="-122"/>
                <a:cs typeface="Source Code Pro" pitchFamily="34" charset="-120"/>
              </a:rPr>
              <a:t>FACULTY &amp; SCHOOL SITES (12) — spans all three phases</a:t>
            </a:r>
            <a:endParaRPr lang="en-US" sz="800" dirty="0"/>
          </a:p>
        </p:txBody>
      </p:sp>
      <p:sp>
        <p:nvSpPr>
          <p:cNvPr id="27" name="Shape 25"/>
          <p:cNvSpPr/>
          <p:nvPr/>
        </p:nvSpPr>
        <p:spPr>
          <a:xfrm>
            <a:off x="6720840" y="3456432"/>
            <a:ext cx="4892040" cy="914400"/>
          </a:xfrm>
          <a:prstGeom prst="rect">
            <a:avLst/>
          </a:prstGeom>
          <a:solidFill>
            <a:srgbClr val="8F96C2">
              <a:alpha val="25000"/>
            </a:srgbClr>
          </a:solidFill>
          <a:ln w="9525">
            <a:solidFill>
              <a:srgbClr val="000B34"/>
            </a:solidFill>
            <a:prstDash val="solid"/>
          </a:ln>
        </p:spPr>
      </p:sp>
      <p:sp>
        <p:nvSpPr>
          <p:cNvPr id="28" name="Text 26"/>
          <p:cNvSpPr/>
          <p:nvPr/>
        </p:nvSpPr>
        <p:spPr>
          <a:xfrm>
            <a:off x="6720840" y="3456432"/>
            <a:ext cx="1280160" cy="914400"/>
          </a:xfrm>
          <a:prstGeom prst="rect">
            <a:avLst/>
          </a:prstGeom>
          <a:noFill/>
          <a:ln/>
        </p:spPr>
        <p:txBody>
          <a:bodyPr wrap="square" lIns="0" tIns="0" rIns="0" bIns="0" rtlCol="0" anchor="ctr"/>
          <a:lstStyle/>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 529 links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sent back to</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study.unimelb</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(course plans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&amp; entry info)</a:t>
            </a:r>
            <a:endParaRPr lang="en-US" sz="900" dirty="0"/>
          </a:p>
        </p:txBody>
      </p:sp>
      <p:sp>
        <p:nvSpPr>
          <p:cNvPr id="29" name="Text 27"/>
          <p:cNvSpPr/>
          <p:nvPr/>
        </p:nvSpPr>
        <p:spPr>
          <a:xfrm>
            <a:off x="8321040" y="3456432"/>
            <a:ext cx="187452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1,150 current-student pages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(9 faculties + 3 schools)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 4,629 links to hub</a:t>
            </a:r>
            <a:endParaRPr lang="en-US" sz="1000" dirty="0"/>
          </a:p>
        </p:txBody>
      </p:sp>
      <p:sp>
        <p:nvSpPr>
          <p:cNvPr id="30" name="Text 28"/>
          <p:cNvSpPr/>
          <p:nvPr/>
        </p:nvSpPr>
        <p:spPr>
          <a:xfrm>
            <a:off x="10469880" y="3456432"/>
            <a:ext cx="1143000" cy="914400"/>
          </a:xfrm>
          <a:prstGeom prst="rect">
            <a:avLst/>
          </a:prstGeom>
          <a:noFill/>
          <a:ln/>
        </p:spPr>
        <p:txBody>
          <a:bodyPr wrap="square" lIns="0" tIns="0" rIns="0" bIns="0" rtlCol="0" anchor="ctr"/>
          <a:lstStyle/>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13 faculty</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mentoring streams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on alumni.unimelb</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 0 links</a:t>
            </a:r>
            <a:endParaRPr lang="en-US" sz="900" dirty="0"/>
          </a:p>
          <a:p>
            <a:pPr algn="ctr" indent="0" marL="0">
              <a:lnSpc>
                <a:spcPct val="105000"/>
              </a:lnSpc>
              <a:buNone/>
            </a:pPr>
            <a:r>
              <a:rPr lang="en-US" sz="900" dirty="0">
                <a:solidFill>
                  <a:srgbClr val="000F46"/>
                </a:solidFill>
                <a:latin typeface="Source Sans 3" pitchFamily="34" charset="0"/>
                <a:ea typeface="Source Sans 3" pitchFamily="34" charset="-122"/>
                <a:cs typeface="Source Sans 3" pitchFamily="34" charset="-120"/>
              </a:rPr>
              <a:t>from faculty CS</a:t>
            </a:r>
            <a:endParaRPr lang="en-US" sz="900" dirty="0"/>
          </a:p>
        </p:txBody>
      </p:sp>
      <p:sp>
        <p:nvSpPr>
          <p:cNvPr id="31" name="Shape 29"/>
          <p:cNvSpPr/>
          <p:nvPr/>
        </p:nvSpPr>
        <p:spPr>
          <a:xfrm>
            <a:off x="6720840" y="4462272"/>
            <a:ext cx="4892040" cy="201168"/>
          </a:xfrm>
          <a:prstGeom prst="rect">
            <a:avLst/>
          </a:prstGeom>
          <a:solidFill>
            <a:srgbClr val="46C8F0">
              <a:alpha val="50000"/>
            </a:srgbClr>
          </a:solidFill>
          <a:ln/>
        </p:spPr>
      </p:sp>
      <p:sp>
        <p:nvSpPr>
          <p:cNvPr id="32" name="Text 30"/>
          <p:cNvSpPr/>
          <p:nvPr/>
        </p:nvSpPr>
        <p:spPr>
          <a:xfrm>
            <a:off x="6720840" y="4462272"/>
            <a:ext cx="4892040" cy="201168"/>
          </a:xfrm>
          <a:prstGeom prst="rect">
            <a:avLst/>
          </a:prstGeom>
          <a:noFill/>
          <a:ln/>
        </p:spPr>
        <p:txBody>
          <a:bodyPr wrap="square" lIns="0" tIns="0" rIns="0" bIns="0" rtlCol="0" anchor="ctr"/>
          <a:lstStyle/>
          <a:p>
            <a:pPr algn="ctr" indent="0" marL="0">
              <a:buNone/>
            </a:pPr>
            <a:r>
              <a:rPr lang="en-US" sz="750" b="1" spc="50" kern="0" dirty="0">
                <a:solidFill>
                  <a:srgbClr val="000F46"/>
                </a:solidFill>
                <a:latin typeface="Source Code Pro" pitchFamily="34" charset="0"/>
                <a:ea typeface="Source Code Pro" pitchFamily="34" charset="-122"/>
                <a:cs typeface="Source Code Pro" pitchFamily="34" charset="-120"/>
              </a:rPr>
              <a:t>LINK FLOWS BETWEEN ESTATES</a:t>
            </a:r>
            <a:endParaRPr lang="en-US" sz="750" dirty="0"/>
          </a:p>
        </p:txBody>
      </p:sp>
      <p:sp>
        <p:nvSpPr>
          <p:cNvPr id="33" name="Shape 31"/>
          <p:cNvSpPr/>
          <p:nvPr/>
        </p:nvSpPr>
        <p:spPr>
          <a:xfrm>
            <a:off x="6720840" y="4681728"/>
            <a:ext cx="4892040" cy="164592"/>
          </a:xfrm>
          <a:prstGeom prst="rect">
            <a:avLst/>
          </a:prstGeom>
          <a:solidFill>
            <a:srgbClr val="EAF6FB"/>
          </a:solidFill>
          <a:ln w="6350">
            <a:solidFill>
              <a:srgbClr val="DDDDE7"/>
            </a:solidFill>
            <a:prstDash val="solid"/>
          </a:ln>
        </p:spPr>
      </p:sp>
      <p:sp>
        <p:nvSpPr>
          <p:cNvPr id="34" name="Text 32"/>
          <p:cNvSpPr/>
          <p:nvPr/>
        </p:nvSpPr>
        <p:spPr>
          <a:xfrm>
            <a:off x="6766560" y="4681728"/>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Faculty CS → students.unimelb</a:t>
            </a:r>
            <a:endParaRPr lang="en-US" sz="800" dirty="0"/>
          </a:p>
        </p:txBody>
      </p:sp>
      <p:sp>
        <p:nvSpPr>
          <p:cNvPr id="35" name="Text 33"/>
          <p:cNvSpPr/>
          <p:nvPr/>
        </p:nvSpPr>
        <p:spPr>
          <a:xfrm>
            <a:off x="9665208" y="4681728"/>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4,629 links · all topics</a:t>
            </a:r>
            <a:endParaRPr lang="en-US" sz="750" dirty="0"/>
          </a:p>
        </p:txBody>
      </p:sp>
      <p:sp>
        <p:nvSpPr>
          <p:cNvPr id="36" name="Shape 34"/>
          <p:cNvSpPr/>
          <p:nvPr/>
        </p:nvSpPr>
        <p:spPr>
          <a:xfrm>
            <a:off x="6720840" y="4855464"/>
            <a:ext cx="4892040" cy="164592"/>
          </a:xfrm>
          <a:prstGeom prst="rect">
            <a:avLst/>
          </a:prstGeom>
          <a:solidFill>
            <a:srgbClr val="EAF6FB"/>
          </a:solidFill>
          <a:ln w="6350">
            <a:solidFill>
              <a:srgbClr val="DDDDE7"/>
            </a:solidFill>
            <a:prstDash val="solid"/>
          </a:ln>
        </p:spPr>
      </p:sp>
      <p:sp>
        <p:nvSpPr>
          <p:cNvPr id="37" name="Text 35"/>
          <p:cNvSpPr/>
          <p:nvPr/>
        </p:nvSpPr>
        <p:spPr>
          <a:xfrm>
            <a:off x="6766560" y="4855464"/>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Faculty CS → study.unimelb</a:t>
            </a:r>
            <a:endParaRPr lang="en-US" sz="800" dirty="0"/>
          </a:p>
        </p:txBody>
      </p:sp>
      <p:sp>
        <p:nvSpPr>
          <p:cNvPr id="38" name="Text 36"/>
          <p:cNvSpPr/>
          <p:nvPr/>
        </p:nvSpPr>
        <p:spPr>
          <a:xfrm>
            <a:off x="9665208" y="4855464"/>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529 links · course planning</a:t>
            </a:r>
            <a:endParaRPr lang="en-US" sz="750" dirty="0"/>
          </a:p>
        </p:txBody>
      </p:sp>
      <p:sp>
        <p:nvSpPr>
          <p:cNvPr id="39" name="Shape 37"/>
          <p:cNvSpPr/>
          <p:nvPr/>
        </p:nvSpPr>
        <p:spPr>
          <a:xfrm>
            <a:off x="6720840" y="5029200"/>
            <a:ext cx="4892040" cy="164592"/>
          </a:xfrm>
          <a:prstGeom prst="rect">
            <a:avLst/>
          </a:prstGeom>
          <a:solidFill>
            <a:srgbClr val="EAF6FB"/>
          </a:solidFill>
          <a:ln w="6350">
            <a:solidFill>
              <a:srgbClr val="DDDDE7"/>
            </a:solidFill>
            <a:prstDash val="solid"/>
          </a:ln>
        </p:spPr>
      </p:sp>
      <p:sp>
        <p:nvSpPr>
          <p:cNvPr id="40" name="Text 38"/>
          <p:cNvSpPr/>
          <p:nvPr/>
        </p:nvSpPr>
        <p:spPr>
          <a:xfrm>
            <a:off x="6766560" y="5029200"/>
            <a:ext cx="2880360" cy="164592"/>
          </a:xfrm>
          <a:prstGeom prst="rect">
            <a:avLst/>
          </a:prstGeom>
          <a:noFill/>
          <a:ln/>
        </p:spPr>
        <p:txBody>
          <a:bodyPr wrap="square" lIns="0" tIns="0" rIns="0" bIns="0" rtlCol="0" anchor="ctr"/>
          <a:lstStyle/>
          <a:p>
            <a:pPr indent="0" marL="0">
              <a:buNone/>
            </a:pPr>
            <a:r>
              <a:rPr lang="en-US" sz="800" b="1" dirty="0">
                <a:solidFill>
                  <a:srgbClr val="2F95B7"/>
                </a:solidFill>
                <a:latin typeface="Source Code Pro" pitchFamily="34" charset="0"/>
                <a:ea typeface="Source Code Pro" pitchFamily="34" charset="-122"/>
                <a:cs typeface="Source Code Pro" pitchFamily="34" charset="-120"/>
              </a:rPr>
              <a:t>→ study.unimelb → students hub</a:t>
            </a:r>
            <a:endParaRPr lang="en-US" sz="800" dirty="0"/>
          </a:p>
        </p:txBody>
      </p:sp>
      <p:sp>
        <p:nvSpPr>
          <p:cNvPr id="41" name="Text 39"/>
          <p:cNvSpPr/>
          <p:nvPr/>
        </p:nvSpPr>
        <p:spPr>
          <a:xfrm>
            <a:off x="9665208" y="5029200"/>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273 links · course info</a:t>
            </a:r>
            <a:endParaRPr lang="en-US" sz="750" dirty="0"/>
          </a:p>
        </p:txBody>
      </p:sp>
      <p:sp>
        <p:nvSpPr>
          <p:cNvPr id="42" name="Shape 40"/>
          <p:cNvSpPr/>
          <p:nvPr/>
        </p:nvSpPr>
        <p:spPr>
          <a:xfrm>
            <a:off x="6720840" y="5202936"/>
            <a:ext cx="4892040" cy="164592"/>
          </a:xfrm>
          <a:prstGeom prst="rect">
            <a:avLst/>
          </a:prstGeom>
          <a:solidFill>
            <a:srgbClr val="F4F4F4"/>
          </a:solidFill>
          <a:ln w="6350">
            <a:solidFill>
              <a:srgbClr val="DDDDE7"/>
            </a:solidFill>
            <a:prstDash val="solid"/>
          </a:ln>
        </p:spPr>
      </p:sp>
      <p:sp>
        <p:nvSpPr>
          <p:cNvPr id="43" name="Text 41"/>
          <p:cNvSpPr/>
          <p:nvPr/>
        </p:nvSpPr>
        <p:spPr>
          <a:xfrm>
            <a:off x="6766560" y="5202936"/>
            <a:ext cx="2880360" cy="164592"/>
          </a:xfrm>
          <a:prstGeom prst="rect">
            <a:avLst/>
          </a:prstGeom>
          <a:noFill/>
          <a:ln/>
        </p:spPr>
        <p:txBody>
          <a:bodyPr wrap="square" lIns="0" tIns="0" rIns="0" bIns="0" rtlCol="0" anchor="ctr"/>
          <a:lstStyle/>
          <a:p>
            <a:pPr indent="0" marL="0">
              <a:buNone/>
            </a:pPr>
            <a:r>
              <a:rPr lang="en-US" sz="800" b="1" dirty="0">
                <a:solidFill>
                  <a:srgbClr val="5B5B6B"/>
                </a:solidFill>
                <a:latin typeface="Source Code Pro" pitchFamily="34" charset="0"/>
                <a:ea typeface="Source Code Pro" pitchFamily="34" charset="-122"/>
                <a:cs typeface="Source Code Pro" pitchFamily="34" charset="-120"/>
              </a:rPr>
              <a:t>✗ students hub → alumni.unimelb</a:t>
            </a:r>
            <a:endParaRPr lang="en-US" sz="800" dirty="0"/>
          </a:p>
        </p:txBody>
      </p:sp>
      <p:sp>
        <p:nvSpPr>
          <p:cNvPr id="44" name="Text 42"/>
          <p:cNvSpPr/>
          <p:nvPr/>
        </p:nvSpPr>
        <p:spPr>
          <a:xfrm>
            <a:off x="9665208" y="5202936"/>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0 links — graduation exit broken</a:t>
            </a:r>
            <a:endParaRPr lang="en-US" sz="750" dirty="0"/>
          </a:p>
        </p:txBody>
      </p:sp>
      <p:sp>
        <p:nvSpPr>
          <p:cNvPr id="45" name="Shape 43"/>
          <p:cNvSpPr/>
          <p:nvPr/>
        </p:nvSpPr>
        <p:spPr>
          <a:xfrm>
            <a:off x="6720840" y="5376672"/>
            <a:ext cx="4892040" cy="164592"/>
          </a:xfrm>
          <a:prstGeom prst="rect">
            <a:avLst/>
          </a:prstGeom>
          <a:solidFill>
            <a:srgbClr val="F4F4F4"/>
          </a:solidFill>
          <a:ln w="6350">
            <a:solidFill>
              <a:srgbClr val="DDDDE7"/>
            </a:solidFill>
            <a:prstDash val="solid"/>
          </a:ln>
        </p:spPr>
      </p:sp>
      <p:sp>
        <p:nvSpPr>
          <p:cNvPr id="46" name="Text 44"/>
          <p:cNvSpPr/>
          <p:nvPr/>
        </p:nvSpPr>
        <p:spPr>
          <a:xfrm>
            <a:off x="6766560" y="5376672"/>
            <a:ext cx="2880360" cy="164592"/>
          </a:xfrm>
          <a:prstGeom prst="rect">
            <a:avLst/>
          </a:prstGeom>
          <a:noFill/>
          <a:ln/>
        </p:spPr>
        <p:txBody>
          <a:bodyPr wrap="square" lIns="0" tIns="0" rIns="0" bIns="0" rtlCol="0" anchor="ctr"/>
          <a:lstStyle/>
          <a:p>
            <a:pPr indent="0" marL="0">
              <a:buNone/>
            </a:pPr>
            <a:r>
              <a:rPr lang="en-US" sz="800" b="1" dirty="0">
                <a:solidFill>
                  <a:srgbClr val="5B5B6B"/>
                </a:solidFill>
                <a:latin typeface="Source Code Pro" pitchFamily="34" charset="0"/>
                <a:ea typeface="Source Code Pro" pitchFamily="34" charset="-122"/>
                <a:cs typeface="Source Code Pro" pitchFamily="34" charset="-120"/>
              </a:rPr>
              <a:t>✗ Faculty CS → alumni.unimelb</a:t>
            </a:r>
            <a:endParaRPr lang="en-US" sz="800" dirty="0"/>
          </a:p>
        </p:txBody>
      </p:sp>
      <p:sp>
        <p:nvSpPr>
          <p:cNvPr id="47" name="Text 45"/>
          <p:cNvSpPr/>
          <p:nvPr/>
        </p:nvSpPr>
        <p:spPr>
          <a:xfrm>
            <a:off x="9665208" y="5376672"/>
            <a:ext cx="1901952" cy="164592"/>
          </a:xfrm>
          <a:prstGeom prst="rect">
            <a:avLst/>
          </a:prstGeom>
          <a:noFill/>
          <a:ln/>
        </p:spPr>
        <p:txBody>
          <a:bodyPr wrap="square" lIns="0" tIns="0" rIns="0" bIns="0" rtlCol="0" anchor="ctr"/>
          <a:lstStyle/>
          <a:p>
            <a:pPr indent="0" marL="0">
              <a:buNone/>
            </a:pPr>
            <a:r>
              <a:rPr lang="en-US" sz="750" dirty="0">
                <a:solidFill>
                  <a:srgbClr val="5B5B6B"/>
                </a:solidFill>
                <a:latin typeface="Source Code Pro" pitchFamily="34" charset="0"/>
                <a:ea typeface="Source Code Pro" pitchFamily="34" charset="-122"/>
                <a:cs typeface="Source Code Pro" pitchFamily="34" charset="-120"/>
              </a:rPr>
              <a:t>0 links — 13 mentoring streams not connected</a:t>
            </a:r>
            <a:endParaRPr lang="en-US" sz="750" dirty="0"/>
          </a:p>
        </p:txBody>
      </p:sp>
      <p:sp>
        <p:nvSpPr>
          <p:cNvPr id="48" name="Shape 46"/>
          <p:cNvSpPr/>
          <p:nvPr/>
        </p:nvSpPr>
        <p:spPr>
          <a:xfrm>
            <a:off x="566928" y="5559552"/>
            <a:ext cx="10881360" cy="621792"/>
          </a:xfrm>
          <a:prstGeom prst="rect">
            <a:avLst/>
          </a:prstGeom>
          <a:solidFill>
            <a:srgbClr val="EAF6FB"/>
          </a:solidFill>
          <a:ln/>
        </p:spPr>
      </p:sp>
      <p:sp>
        <p:nvSpPr>
          <p:cNvPr id="49" name="Shape 47"/>
          <p:cNvSpPr/>
          <p:nvPr/>
        </p:nvSpPr>
        <p:spPr>
          <a:xfrm>
            <a:off x="566928" y="5559552"/>
            <a:ext cx="91440" cy="621792"/>
          </a:xfrm>
          <a:prstGeom prst="rect">
            <a:avLst/>
          </a:prstGeom>
          <a:solidFill>
            <a:srgbClr val="46C8F0"/>
          </a:solidFill>
          <a:ln/>
        </p:spPr>
      </p:sp>
      <p:sp>
        <p:nvSpPr>
          <p:cNvPr id="50" name="Text 48"/>
          <p:cNvSpPr/>
          <p:nvPr/>
        </p:nvSpPr>
        <p:spPr>
          <a:xfrm>
            <a:off x="868680" y="5559552"/>
            <a:ext cx="10332720" cy="621792"/>
          </a:xfrm>
          <a:prstGeom prst="rect">
            <a:avLst/>
          </a:prstGeom>
          <a:noFill/>
          <a:ln/>
        </p:spPr>
        <p:txBody>
          <a:bodyPr wrap="square" lIns="0" tIns="0" rIns="0" bIns="0" rtlCol="0" anchor="ctr"/>
          <a:lstStyle/>
          <a:p>
            <a:pPr indent="0" marL="0">
              <a:buNone/>
            </a:pPr>
            <a:r>
              <a:rPr lang="en-US" sz="13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00" dirty="0">
                <a:solidFill>
                  <a:srgbClr val="000B34"/>
                </a:solidFill>
                <a:latin typeface="Source Sans 3" pitchFamily="34" charset="0"/>
                <a:ea typeface="Source Sans 3" pitchFamily="34" charset="-122"/>
                <a:cs typeface="Source Sans 3" pitchFamily="34" charset="-120"/>
              </a:rPr>
              <a:t>Is this the right picture of where the estate sits? Where does the faculty presence in all three phases create useful duplication — and where is it a broken thread?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sp>
      <p:sp>
        <p:nvSpPr>
          <p:cNvPr id="11" name="Text 9"/>
          <p:cNvSpPr/>
          <p:nvPr/>
        </p:nvSpPr>
        <p:spPr>
          <a:xfrm>
            <a:off x="7150608" y="192024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sp>
      <p:sp>
        <p:nvSpPr>
          <p:cNvPr id="13" name="Text 11"/>
          <p:cNvSpPr/>
          <p:nvPr/>
        </p:nvSpPr>
        <p:spPr>
          <a:xfrm>
            <a:off x="7150608" y="274320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Careers: 4 parallel presences — Current Students Website, 8 faculties, study.unimelb, alumni. No cross-links in any direction.</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sp>
      <p:sp>
        <p:nvSpPr>
          <p:cNvPr id="15" name="Text 13"/>
          <p:cNvSpPr/>
          <p:nvPr/>
        </p:nvSpPr>
        <p:spPr>
          <a:xfrm>
            <a:off x="7150608" y="356616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sp>
      <p:sp>
        <p:nvSpPr>
          <p:cNvPr id="17" name="Text 15"/>
          <p:cNvSpPr/>
          <p:nvPr/>
        </p:nvSpPr>
        <p:spPr>
          <a:xfrm>
            <a:off x="7150608" y="438912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study.unimelb: 529 links from faculty pages back to the prospective site — deliberate when study.unimelb was set up. Is the enrolled-student experience on these journeys working as intended?</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sp>
      <p:sp>
        <p:nvSpPr>
          <p:cNvPr id="19" name="Text 17"/>
          <p:cNvSpPr/>
          <p:nvPr/>
        </p:nvSpPr>
        <p:spPr>
          <a:xfrm>
            <a:off x="7150608" y="521208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3 separate presences — 141 faculty pages, 75 on study.unimelb, 1 on alumni. scholarships.unimelb.edu.au is the dedicated entry point; none of the three link to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Current student topics — where the content sits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topic area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student?</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sp>
      <p:sp>
        <p:nvSpPr>
          <p:cNvPr id="11" name="Text 9"/>
          <p:cNvSpPr/>
          <p:nvPr/>
        </p:nvSpPr>
        <p:spPr>
          <a:xfrm>
            <a:off x="7150608" y="192024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Course planning: hub has My Course Planner; every faculty runs discipline-specific degree plans (heavy in the 1,150 CS pages). Two sources serving the same need — no connecting link between them.</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sp>
      <p:sp>
        <p:nvSpPr>
          <p:cNvPr id="13" name="Text 11"/>
          <p:cNvSpPr/>
          <p:nvPr/>
        </p:nvSpPr>
        <p:spPr>
          <a:xfrm>
            <a:off x="7150608" y="274320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Placements &amp; WIL: 207 pages on faculty sites; hub has none. Students on clinical, practicum, studio or internship placements have no central entry point — they must find their faculty page first.</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sp>
      <p:sp>
        <p:nvSpPr>
          <p:cNvPr id="15" name="Text 13"/>
          <p:cNvSpPr/>
          <p:nvPr/>
        </p:nvSpPr>
        <p:spPr>
          <a:xfrm>
            <a:off x="7150608" y="356616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Employability: hub Careers (11 pages) + 8 faculty services (141 pages) + study.unimelb (37 pages) + alumni mentoring (20 pages). Four presences in the estate, zero cross-links between them.</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sp>
      <p:sp>
        <p:nvSpPr>
          <p:cNvPr id="17" name="Text 15"/>
          <p:cNvSpPr/>
          <p:nvPr/>
        </p:nvSpPr>
        <p:spPr>
          <a:xfrm>
            <a:off x="7150608" y="438912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Student life: hub covers UMSU/GSA (20 pages); faculties run their own enrichment programs; alumni.unimelb has 21 community pages. Three framings of campus experience with no connecting web path.</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sp>
      <p:sp>
        <p:nvSpPr>
          <p:cNvPr id="19" name="Text 17"/>
          <p:cNvSpPr/>
          <p:nvPr/>
        </p:nvSpPr>
        <p:spPr>
          <a:xfrm>
            <a:off x="7150608" y="521208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141 faculty pages + hub's generic 'Find a scholarship' link. scholarships.unimelb.edu.au is the dedicated entry point; none of the faculty CS pages link to it.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9</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01200" y="6053328"/>
            <a:ext cx="2011680" cy="632143"/>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13</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 service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2026-06-20T11:36:20Z</dcterms:created>
  <dcterms:modified xsi:type="dcterms:W3CDTF">2026-06-20T11:36:20Z</dcterms:modified>
</cp:coreProperties>
</file>