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discussion, not a decision meeting (~45 min). Frame: we're aligning on where the University's web experiences overlap across our sites, what's already underway, and what we might explore together. Make clear up front: no recommendations today — the data is a guide, the questions are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the user's view (~4 min). The journey is illustrative — it shows the current-student view, but the same crossing-between-sites experience applies to anyone moving through University web content. Ask the opening question and capture early themes. We'll go deeper on specific areas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Scale-setting and method (~3 min). Explain the crawl in one sentence: an automated browser, every public page, tagged by topic. The four stat cards cover all four parts of the estate. The four themes below are the main overlaps the data surfaced. Don't dwell — the discussion slides go deeper. We're not grading anyone's site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overlap neutrally (~2 min): not inherently good or bad. Four circles because four parts of the estate share users and content — Current Students Website (hub), faculty sites, further study (study.unimelb) and alumni. This is the lens for everything that follows — 'is the overlap intentional, and does it help or hinder the user?' Keep the room out of solution mode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(~5 min). The key insight is the faculty band spanning all three phases — faculties are not just 'current student' sites, they have prospectus content and alumni sections too. The four overlap chips are today's discussion territory. Invite corrections to the picture before moving to open discussion. For each chip: 'is this a problem, and is anyone already working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discussion (~15 min). Each finding on the right is from the June 2026 crawl — use them as conversation starters, not a rigid sequence. For each: is this the right picture? What explains it? Is someone already working on it? Capture themes on the next slide. Keep out of solution mode — we're mapping the territory, not resolving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already underway in your area that touches these overlaps?' Pre-populate any known initiatives before the session. Goal: we don't want to invent solutions to problems someone else is already solving — connect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capture mode. Fill the four columns from everything raised: overlaps people agreed on, work already in flight, things worth exploring, and a name against each. This is the artefact we take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Land next steps as questions, not conclusions. Confirm who picks up what from the capture board, and how we'll stay aligned (e.g. a follow-up).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Pull up the next slide only if the room wants faculty-level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Per-faculty page counts by topic, from the current-students crawl. Schools (*) run their own sites. Use to answer 'how much does faculty X have for topic Y?' Bigger numbers = more content there, not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broader view of the estate across all four circles from the overlap diagram. All page counts are from the June 2026 crawl. See analysis/cross-site-overlap.md for full breakdown and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F46"/>
        </a:solidFill>
      </p:bgPr>
    </p:bg>
    <p:spTree>
      <p:nvGrpSpPr>
        <p:cNvPr id="1" name=""/>
        <p:cNvGrpSpPr/>
        <p:nvPr/>
      </p:nvGrpSpPr>
      <p:grpSpPr>
        <a:xfrm>
          <a:off x="0" y="0"/>
          <a:ext cx="0" cy="0"/>
          <a:chOff x="0" y="0"/>
          <a:chExt cx="0" cy="0"/>
        </a:xfrm>
      </p:grpSpPr>
      <p:pic>
        <p:nvPicPr>
          <p:cNvPr id="2"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502920"/>
            <a:ext cx="2011680" cy="632143"/>
          </a:xfrm>
          <a:prstGeom prst="rect">
            <a:avLst/>
          </a:prstGeom>
        </p:spPr>
      </p:pic>
      <p:sp>
        <p:nvSpPr>
          <p:cNvPr id="3" name="Shape 0"/>
          <p:cNvSpPr/>
          <p:nvPr/>
        </p:nvSpPr>
        <p:spPr>
          <a:xfrm>
            <a:off x="566928" y="2286000"/>
            <a:ext cx="292608" cy="292608"/>
          </a:xfrm>
          <a:prstGeom prst="rect">
            <a:avLst/>
          </a:prstGeom>
          <a:solidFill>
            <a:srgbClr val="46C8F0"/>
          </a:solidFill>
          <a:ln/>
        </p:spPr>
      </p:sp>
      <p:sp>
        <p:nvSpPr>
          <p:cNvPr id="4" name="Text 1"/>
          <p:cNvSpPr/>
          <p:nvPr/>
        </p:nvSpPr>
        <p:spPr>
          <a:xfrm>
            <a:off x="987552" y="2267712"/>
            <a:ext cx="9144000" cy="347472"/>
          </a:xfrm>
          <a:prstGeom prst="rect">
            <a:avLst/>
          </a:prstGeom>
          <a:noFill/>
          <a:ln/>
        </p:spPr>
        <p:txBody>
          <a:bodyPr wrap="square" lIns="0" tIns="0" rIns="0" bIns="0" rtlCol="0" anchor="ctr"/>
          <a:lstStyle/>
          <a:p>
            <a:pPr indent="0" marL="0">
              <a:buNone/>
            </a:pPr>
            <a:r>
              <a:rPr lang="en-US" sz="1200" b="1" spc="300" kern="0" dirty="0">
                <a:solidFill>
                  <a:srgbClr val="46C8F0"/>
                </a:solidFill>
                <a:latin typeface="Source Code Pro" pitchFamily="34" charset="0"/>
                <a:ea typeface="Source Code Pro" pitchFamily="34" charset="-122"/>
                <a:cs typeface="Source Code Pro" pitchFamily="34" charset="-120"/>
              </a:rPr>
              <a:t>DIGITAL EXPERIENCE · ALIGNMENT DISCUSSION</a:t>
            </a:r>
            <a:endParaRPr lang="en-US" sz="1200" dirty="0"/>
          </a:p>
        </p:txBody>
      </p:sp>
      <p:sp>
        <p:nvSpPr>
          <p:cNvPr id="5" name="Text 2"/>
          <p:cNvSpPr/>
          <p:nvPr/>
        </p:nvSpPr>
        <p:spPr>
          <a:xfrm>
            <a:off x="548640" y="274320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Fraunces" pitchFamily="34" charset="0"/>
                <a:ea typeface="Fraunces" pitchFamily="34" charset="-122"/>
                <a:cs typeface="Fraunces" pitchFamily="34" charset="-120"/>
              </a:rPr>
              <a:t>The end-to-end student experience</a:t>
            </a:r>
            <a:endParaRPr lang="en-US" sz="4400" dirty="0"/>
          </a:p>
        </p:txBody>
      </p:sp>
      <p:sp>
        <p:nvSpPr>
          <p:cNvPr id="6" name="Text 3"/>
          <p:cNvSpPr/>
          <p:nvPr/>
        </p:nvSpPr>
        <p:spPr>
          <a:xfrm>
            <a:off x="576072" y="3977640"/>
            <a:ext cx="9692640" cy="640080"/>
          </a:xfrm>
          <a:prstGeom prst="rect">
            <a:avLst/>
          </a:prstGeom>
          <a:noFill/>
          <a:ln/>
        </p:spPr>
        <p:txBody>
          <a:bodyPr wrap="square" lIns="0" tIns="0" rIns="0" bIns="0" rtlCol="0" anchor="ctr"/>
          <a:lstStyle/>
          <a:p>
            <a:pPr indent="0" marL="0">
              <a:buNone/>
            </a:pPr>
            <a:r>
              <a:rPr lang="en-US" sz="1800" dirty="0">
                <a:solidFill>
                  <a:srgbClr val="C9CDE6"/>
                </a:solidFill>
                <a:latin typeface="Source Sans 3" pitchFamily="34" charset="0"/>
                <a:ea typeface="Source Sans 3" pitchFamily="34" charset="-122"/>
                <a:cs typeface="Source Sans 3" pitchFamily="34" charset="-120"/>
              </a:rPr>
              <a:t>An alignment conversation about overlaps across the University's web estate</a:t>
            </a:r>
            <a:endParaRPr lang="en-US" sz="1800" dirty="0"/>
          </a:p>
        </p:txBody>
      </p:sp>
      <p:sp>
        <p:nvSpPr>
          <p:cNvPr id="7" name="Text 4"/>
          <p:cNvSpPr/>
          <p:nvPr/>
        </p:nvSpPr>
        <p:spPr>
          <a:xfrm>
            <a:off x="576072" y="4663440"/>
            <a:ext cx="7315200" cy="365760"/>
          </a:xfrm>
          <a:prstGeom prst="rect">
            <a:avLst/>
          </a:prstGeom>
          <a:noFill/>
          <a:ln/>
        </p:spPr>
        <p:txBody>
          <a:bodyPr wrap="square" lIns="0" tIns="0" rIns="0" bIns="0" rtlCol="0" anchor="ctr"/>
          <a:lstStyle/>
          <a:p>
            <a:pPr indent="0" marL="0">
              <a:buNone/>
            </a:pPr>
            <a:r>
              <a:rPr lang="en-US" sz="1200" dirty="0">
                <a:solidFill>
                  <a:srgbClr val="AAB0D4"/>
                </a:solidFill>
                <a:latin typeface="Source Code Pro" pitchFamily="34" charset="0"/>
                <a:ea typeface="Source Code Pro" pitchFamily="34" charset="-122"/>
                <a:cs typeface="Source Code Pro" pitchFamily="34" charset="-120"/>
              </a:rPr>
              <a:t>For discussion · June 2026</a:t>
            </a:r>
            <a:endParaRPr lang="en-US" sz="1200" dirty="0"/>
          </a:p>
        </p:txBody>
      </p:sp>
      <p:sp>
        <p:nvSpPr>
          <p:cNvPr id="8" name="Text 5"/>
          <p:cNvSpPr/>
          <p:nvPr/>
        </p:nvSpPr>
        <p:spPr>
          <a:xfrm>
            <a:off x="576072" y="6126480"/>
            <a:ext cx="10607040" cy="548640"/>
          </a:xfrm>
          <a:prstGeom prst="rect">
            <a:avLst/>
          </a:prstGeom>
          <a:noFill/>
          <a:ln/>
        </p:spPr>
        <p:txBody>
          <a:bodyPr wrap="square" lIns="0" tIns="0" rIns="0" bIns="0" rtlCol="0" anchor="ctr"/>
          <a:lstStyle/>
          <a:p>
            <a:pPr indent="0" marL="0">
              <a:buNone/>
            </a:pPr>
            <a:r>
              <a:rPr lang="en-US" sz="950" i="1" dirty="0">
                <a:solidFill>
                  <a:srgbClr val="C9CDE6"/>
                </a:solidFill>
                <a:latin typeface="Source Sans 3" pitchFamily="34" charset="0"/>
                <a:ea typeface="Source Sans 3" pitchFamily="34" charset="-122"/>
                <a:cs typeface="Source Sans 3" pitchFamily="34" charset="-120"/>
              </a:rPr>
              <a:t>The University of Melbourne acknowledges the Traditional Owners of the unceded land on which we work, learn and live, and pays respect to their Elders, past and present, and to Indigenous Australians today.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How users move across our websites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2</a:t>
            </a:r>
            <a:endParaRPr lang="en-US" sz="900" dirty="0"/>
          </a:p>
        </p:txBody>
      </p:sp>
      <p:sp>
        <p:nvSpPr>
          <p:cNvPr id="6" name="Text 4"/>
          <p:cNvSpPr/>
          <p:nvPr/>
        </p:nvSpPr>
        <p:spPr>
          <a:xfrm>
            <a:off x="566928" y="1325880"/>
            <a:ext cx="10881360" cy="731520"/>
          </a:xfrm>
          <a:prstGeom prst="rect">
            <a:avLst/>
          </a:prstGeom>
          <a:noFill/>
          <a:ln/>
        </p:spPr>
        <p:txBody>
          <a:bodyPr wrap="square" lIns="0" tIns="0" rIns="0" bIns="0" rtlCol="0" anchor="ctr"/>
          <a:lstStyle/>
          <a:p>
            <a:pPr indent="0" marL="0">
              <a:lnSpc>
                <a:spcPct val="112000"/>
              </a:lnSpc>
              <a:buNone/>
            </a:pPr>
            <a:r>
              <a:rPr lang="en-US" sz="1600" dirty="0">
                <a:solidFill>
                  <a:srgbClr val="1C1C28"/>
                </a:solidFill>
                <a:latin typeface="Source Sans 3" pitchFamily="34" charset="0"/>
                <a:ea typeface="Source Sans 3" pitchFamily="34" charset="-122"/>
                <a:cs typeface="Source Sans 3" pitchFamily="34" charset="-120"/>
              </a:rPr>
              <a:t>Our websites are experienced as one University — not as separate sites. Users cross between them as they try to do things, and the seams show.</a:t>
            </a:r>
            <a:endParaRPr lang="en-US" sz="1600" dirty="0"/>
          </a:p>
        </p:txBody>
      </p:sp>
      <p:sp>
        <p:nvSpPr>
          <p:cNvPr id="7" name="Shape 5"/>
          <p:cNvSpPr/>
          <p:nvPr/>
        </p:nvSpPr>
        <p:spPr>
          <a:xfrm>
            <a:off x="960120" y="3063240"/>
            <a:ext cx="10012680" cy="0"/>
          </a:xfrm>
          <a:prstGeom prst="line">
            <a:avLst/>
          </a:prstGeom>
          <a:noFill/>
          <a:ln w="25400">
            <a:solidFill>
              <a:srgbClr val="46C8F0"/>
            </a:solidFill>
            <a:prstDash val="solid"/>
          </a:ln>
        </p:spPr>
      </p:sp>
      <p:sp>
        <p:nvSpPr>
          <p:cNvPr id="8" name="Shape 6"/>
          <p:cNvSpPr/>
          <p:nvPr/>
        </p:nvSpPr>
        <p:spPr>
          <a:xfrm>
            <a:off x="786384" y="2889504"/>
            <a:ext cx="347472" cy="347472"/>
          </a:xfrm>
          <a:prstGeom prst="ellipse">
            <a:avLst/>
          </a:prstGeom>
          <a:solidFill>
            <a:srgbClr val="000F46"/>
          </a:solidFill>
          <a:ln w="19050">
            <a:solidFill>
              <a:srgbClr val="FFFFFF"/>
            </a:solidFill>
            <a:prstDash val="solid"/>
          </a:ln>
        </p:spPr>
      </p:sp>
      <p:sp>
        <p:nvSpPr>
          <p:cNvPr id="9" name="Text 7"/>
          <p:cNvSpPr/>
          <p:nvPr/>
        </p:nvSpPr>
        <p:spPr>
          <a:xfrm>
            <a:off x="7863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1</a:t>
            </a:r>
            <a:endParaRPr lang="en-US" sz="1100" dirty="0"/>
          </a:p>
        </p:txBody>
      </p:sp>
      <p:sp>
        <p:nvSpPr>
          <p:cNvPr id="10" name="Text 8"/>
          <p:cNvSpPr/>
          <p:nvPr/>
        </p:nvSpPr>
        <p:spPr>
          <a:xfrm>
            <a:off x="914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Orientate</a:t>
            </a:r>
            <a:endParaRPr lang="en-US" sz="1100" dirty="0"/>
          </a:p>
        </p:txBody>
      </p:sp>
      <p:sp>
        <p:nvSpPr>
          <p:cNvPr id="11" name="Shape 9"/>
          <p:cNvSpPr/>
          <p:nvPr/>
        </p:nvSpPr>
        <p:spPr>
          <a:xfrm>
            <a:off x="2455164" y="2889504"/>
            <a:ext cx="347472" cy="347472"/>
          </a:xfrm>
          <a:prstGeom prst="ellipse">
            <a:avLst/>
          </a:prstGeom>
          <a:solidFill>
            <a:srgbClr val="000F46"/>
          </a:solidFill>
          <a:ln w="19050">
            <a:solidFill>
              <a:srgbClr val="FFFFFF"/>
            </a:solidFill>
            <a:prstDash val="solid"/>
          </a:ln>
        </p:spPr>
      </p:sp>
      <p:sp>
        <p:nvSpPr>
          <p:cNvPr id="12" name="Text 10"/>
          <p:cNvSpPr/>
          <p:nvPr/>
        </p:nvSpPr>
        <p:spPr>
          <a:xfrm>
            <a:off x="24551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2</a:t>
            </a:r>
            <a:endParaRPr lang="en-US" sz="1100" dirty="0"/>
          </a:p>
        </p:txBody>
      </p:sp>
      <p:sp>
        <p:nvSpPr>
          <p:cNvPr id="13" name="Text 11"/>
          <p:cNvSpPr/>
          <p:nvPr/>
        </p:nvSpPr>
        <p:spPr>
          <a:xfrm>
            <a:off x="17602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Plan my course</a:t>
            </a:r>
            <a:endParaRPr lang="en-US" sz="1100" dirty="0"/>
          </a:p>
        </p:txBody>
      </p:sp>
      <p:sp>
        <p:nvSpPr>
          <p:cNvPr id="14" name="Shape 12"/>
          <p:cNvSpPr/>
          <p:nvPr/>
        </p:nvSpPr>
        <p:spPr>
          <a:xfrm>
            <a:off x="4123944" y="2889504"/>
            <a:ext cx="347472" cy="347472"/>
          </a:xfrm>
          <a:prstGeom prst="ellipse">
            <a:avLst/>
          </a:prstGeom>
          <a:solidFill>
            <a:srgbClr val="000F46"/>
          </a:solidFill>
          <a:ln w="19050">
            <a:solidFill>
              <a:srgbClr val="FFFFFF"/>
            </a:solidFill>
            <a:prstDash val="solid"/>
          </a:ln>
        </p:spPr>
      </p:sp>
      <p:sp>
        <p:nvSpPr>
          <p:cNvPr id="15" name="Text 13"/>
          <p:cNvSpPr/>
          <p:nvPr/>
        </p:nvSpPr>
        <p:spPr>
          <a:xfrm>
            <a:off x="412394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3</a:t>
            </a:r>
            <a:endParaRPr lang="en-US" sz="1100" dirty="0"/>
          </a:p>
        </p:txBody>
      </p:sp>
      <p:sp>
        <p:nvSpPr>
          <p:cNvPr id="16" name="Text 14"/>
          <p:cNvSpPr/>
          <p:nvPr/>
        </p:nvSpPr>
        <p:spPr>
          <a:xfrm>
            <a:off x="342900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Manage study</a:t>
            </a:r>
            <a:endParaRPr lang="en-US" sz="1100" dirty="0"/>
          </a:p>
        </p:txBody>
      </p:sp>
      <p:sp>
        <p:nvSpPr>
          <p:cNvPr id="17" name="Shape 15"/>
          <p:cNvSpPr/>
          <p:nvPr/>
        </p:nvSpPr>
        <p:spPr>
          <a:xfrm>
            <a:off x="5792724" y="2889504"/>
            <a:ext cx="347472" cy="347472"/>
          </a:xfrm>
          <a:prstGeom prst="ellipse">
            <a:avLst/>
          </a:prstGeom>
          <a:solidFill>
            <a:srgbClr val="000F46"/>
          </a:solidFill>
          <a:ln w="19050">
            <a:solidFill>
              <a:srgbClr val="FFFFFF"/>
            </a:solidFill>
            <a:prstDash val="solid"/>
          </a:ln>
        </p:spPr>
      </p:sp>
      <p:sp>
        <p:nvSpPr>
          <p:cNvPr id="18" name="Text 16"/>
          <p:cNvSpPr/>
          <p:nvPr/>
        </p:nvSpPr>
        <p:spPr>
          <a:xfrm>
            <a:off x="579272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4</a:t>
            </a:r>
            <a:endParaRPr lang="en-US" sz="1100" dirty="0"/>
          </a:p>
        </p:txBody>
      </p:sp>
      <p:sp>
        <p:nvSpPr>
          <p:cNvPr id="19" name="Text 17"/>
          <p:cNvSpPr/>
          <p:nvPr/>
        </p:nvSpPr>
        <p:spPr>
          <a:xfrm>
            <a:off x="509778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experience</a:t>
            </a:r>
            <a:endParaRPr lang="en-US" sz="1100" dirty="0"/>
          </a:p>
        </p:txBody>
      </p:sp>
      <p:sp>
        <p:nvSpPr>
          <p:cNvPr id="20" name="Shape 18"/>
          <p:cNvSpPr/>
          <p:nvPr/>
        </p:nvSpPr>
        <p:spPr>
          <a:xfrm>
            <a:off x="7461504" y="2889504"/>
            <a:ext cx="347472" cy="347472"/>
          </a:xfrm>
          <a:prstGeom prst="ellipse">
            <a:avLst/>
          </a:prstGeom>
          <a:solidFill>
            <a:srgbClr val="000F46"/>
          </a:solidFill>
          <a:ln w="19050">
            <a:solidFill>
              <a:srgbClr val="FFFFFF"/>
            </a:solidFill>
            <a:prstDash val="solid"/>
          </a:ln>
        </p:spPr>
      </p:sp>
      <p:sp>
        <p:nvSpPr>
          <p:cNvPr id="21" name="Text 19"/>
          <p:cNvSpPr/>
          <p:nvPr/>
        </p:nvSpPr>
        <p:spPr>
          <a:xfrm>
            <a:off x="746150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5</a:t>
            </a:r>
            <a:endParaRPr lang="en-US" sz="1100" dirty="0"/>
          </a:p>
        </p:txBody>
      </p:sp>
      <p:sp>
        <p:nvSpPr>
          <p:cNvPr id="22" name="Text 20"/>
          <p:cNvSpPr/>
          <p:nvPr/>
        </p:nvSpPr>
        <p:spPr>
          <a:xfrm>
            <a:off x="676656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Build my career</a:t>
            </a:r>
            <a:endParaRPr lang="en-US" sz="1100" dirty="0"/>
          </a:p>
        </p:txBody>
      </p:sp>
      <p:sp>
        <p:nvSpPr>
          <p:cNvPr id="23" name="Shape 21"/>
          <p:cNvSpPr/>
          <p:nvPr/>
        </p:nvSpPr>
        <p:spPr>
          <a:xfrm>
            <a:off x="9130284" y="2889504"/>
            <a:ext cx="347472" cy="347472"/>
          </a:xfrm>
          <a:prstGeom prst="ellipse">
            <a:avLst/>
          </a:prstGeom>
          <a:solidFill>
            <a:srgbClr val="000F46"/>
          </a:solidFill>
          <a:ln w="19050">
            <a:solidFill>
              <a:srgbClr val="FFFFFF"/>
            </a:solidFill>
            <a:prstDash val="solid"/>
          </a:ln>
        </p:spPr>
      </p:sp>
      <p:sp>
        <p:nvSpPr>
          <p:cNvPr id="24" name="Text 22"/>
          <p:cNvSpPr/>
          <p:nvPr/>
        </p:nvSpPr>
        <p:spPr>
          <a:xfrm>
            <a:off x="91302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6</a:t>
            </a:r>
            <a:endParaRPr lang="en-US" sz="1100" dirty="0"/>
          </a:p>
        </p:txBody>
      </p:sp>
      <p:sp>
        <p:nvSpPr>
          <p:cNvPr id="25" name="Text 23"/>
          <p:cNvSpPr/>
          <p:nvPr/>
        </p:nvSpPr>
        <p:spPr>
          <a:xfrm>
            <a:off x="84353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support</a:t>
            </a:r>
            <a:endParaRPr lang="en-US" sz="1100" dirty="0"/>
          </a:p>
        </p:txBody>
      </p:sp>
      <p:sp>
        <p:nvSpPr>
          <p:cNvPr id="26" name="Shape 24"/>
          <p:cNvSpPr/>
          <p:nvPr/>
        </p:nvSpPr>
        <p:spPr>
          <a:xfrm>
            <a:off x="10799064" y="2889504"/>
            <a:ext cx="347472" cy="347472"/>
          </a:xfrm>
          <a:prstGeom prst="ellipse">
            <a:avLst/>
          </a:prstGeom>
          <a:solidFill>
            <a:srgbClr val="000F46"/>
          </a:solidFill>
          <a:ln w="19050">
            <a:solidFill>
              <a:srgbClr val="FFFFFF"/>
            </a:solidFill>
            <a:prstDash val="solid"/>
          </a:ln>
        </p:spPr>
      </p:sp>
      <p:sp>
        <p:nvSpPr>
          <p:cNvPr id="27" name="Text 25"/>
          <p:cNvSpPr/>
          <p:nvPr/>
        </p:nvSpPr>
        <p:spPr>
          <a:xfrm>
            <a:off x="107990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7</a:t>
            </a:r>
            <a:endParaRPr lang="en-US" sz="1100" dirty="0"/>
          </a:p>
        </p:txBody>
      </p:sp>
      <p:sp>
        <p:nvSpPr>
          <p:cNvPr id="28" name="Text 26"/>
          <p:cNvSpPr/>
          <p:nvPr/>
        </p:nvSpPr>
        <p:spPr>
          <a:xfrm>
            <a:off x="101041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Finish &amp; graduate</a:t>
            </a:r>
            <a:endParaRPr lang="en-US" sz="1100" dirty="0"/>
          </a:p>
        </p:txBody>
      </p:sp>
      <p:sp>
        <p:nvSpPr>
          <p:cNvPr id="29" name="Text 27"/>
          <p:cNvSpPr/>
          <p:nvPr/>
        </p:nvSpPr>
        <p:spPr>
          <a:xfrm>
            <a:off x="566928" y="4096512"/>
            <a:ext cx="10881360" cy="384048"/>
          </a:xfrm>
          <a:prstGeom prst="rect">
            <a:avLst/>
          </a:prstGeom>
          <a:noFill/>
          <a:ln/>
        </p:spPr>
        <p:txBody>
          <a:bodyPr wrap="square" lIns="0" tIns="0" rIns="0" bIns="0" rtlCol="0" anchor="ctr"/>
          <a:lstStyle/>
          <a:p>
            <a:pPr algn="ctr" indent="0" marL="0">
              <a:buNone/>
            </a:pPr>
            <a:r>
              <a:rPr lang="en-US" sz="1000" i="1" dirty="0">
                <a:solidFill>
                  <a:srgbClr val="5B5B6B"/>
                </a:solidFill>
                <a:latin typeface="Source Code Pro" pitchFamily="34" charset="0"/>
                <a:ea typeface="Source Code Pro" pitchFamily="34" charset="-122"/>
                <a:cs typeface="Source Code Pro" pitchFamily="34" charset="-120"/>
              </a:rPr>
              <a:t>Shown for a current student — the same pattern of crossing between sites applies across further study, alumni and faculty experiences.</a:t>
            </a:r>
            <a:endParaRPr lang="en-US" sz="1000" dirty="0"/>
          </a:p>
        </p:txBody>
      </p:sp>
      <p:sp>
        <p:nvSpPr>
          <p:cNvPr id="30" name="Shape 28"/>
          <p:cNvSpPr/>
          <p:nvPr/>
        </p:nvSpPr>
        <p:spPr>
          <a:xfrm>
            <a:off x="566928" y="4617720"/>
            <a:ext cx="10881360" cy="960120"/>
          </a:xfrm>
          <a:prstGeom prst="rect">
            <a:avLst/>
          </a:prstGeom>
          <a:solidFill>
            <a:srgbClr val="EAF6FB"/>
          </a:solidFill>
          <a:ln/>
        </p:spPr>
      </p:sp>
      <p:sp>
        <p:nvSpPr>
          <p:cNvPr id="31" name="Shape 29"/>
          <p:cNvSpPr/>
          <p:nvPr/>
        </p:nvSpPr>
        <p:spPr>
          <a:xfrm>
            <a:off x="566928" y="4617720"/>
            <a:ext cx="91440" cy="960120"/>
          </a:xfrm>
          <a:prstGeom prst="rect">
            <a:avLst/>
          </a:prstGeom>
          <a:solidFill>
            <a:srgbClr val="46C8F0"/>
          </a:solidFill>
          <a:ln/>
        </p:spPr>
      </p:sp>
      <p:sp>
        <p:nvSpPr>
          <p:cNvPr id="32" name="Text 30"/>
          <p:cNvSpPr/>
          <p:nvPr/>
        </p:nvSpPr>
        <p:spPr>
          <a:xfrm>
            <a:off x="868680" y="4617720"/>
            <a:ext cx="10332720" cy="960120"/>
          </a:xfrm>
          <a:prstGeom prst="rect">
            <a:avLst/>
          </a:prstGeom>
          <a:noFill/>
          <a:ln/>
        </p:spPr>
        <p:txBody>
          <a:bodyPr wrap="square" lIns="0" tIns="0" rIns="0" bIns="0" rtlCol="0" anchor="ctr"/>
          <a:lstStyle/>
          <a:p>
            <a:pPr indent="0" marL="0">
              <a:buNone/>
            </a:pPr>
            <a:r>
              <a:rPr lang="en-US" sz="15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500" dirty="0">
                <a:solidFill>
                  <a:srgbClr val="000B34"/>
                </a:solidFill>
                <a:latin typeface="Source Sans 3" pitchFamily="34" charset="0"/>
                <a:ea typeface="Source Sans 3" pitchFamily="34" charset="-122"/>
                <a:cs typeface="Source Sans 3" pitchFamily="34" charset="-120"/>
              </a:rPr>
              <a:t>Where do users cross between websites most — and where does that crossing help or hinder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shared landscape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3</a:t>
            </a:r>
            <a:endParaRPr lang="en-US" sz="900" dirty="0"/>
          </a:p>
        </p:txBody>
      </p:sp>
      <p:sp>
        <p:nvSpPr>
          <p:cNvPr id="6" name="Text 4"/>
          <p:cNvSpPr/>
          <p:nvPr/>
        </p:nvSpPr>
        <p:spPr>
          <a:xfrm>
            <a:off x="566928" y="1325880"/>
            <a:ext cx="10881360" cy="749808"/>
          </a:xfrm>
          <a:prstGeom prst="rect">
            <a:avLst/>
          </a:prstGeom>
          <a:noFill/>
          <a:ln/>
        </p:spPr>
        <p:txBody>
          <a:bodyPr wrap="square" lIns="0" tIns="0" rIns="0" bIns="0" rtlCol="0" anchor="ctr"/>
          <a:lstStyle/>
          <a:p>
            <a:pPr indent="0" marL="0">
              <a:lnSpc>
                <a:spcPct val="112000"/>
              </a:lnSpc>
              <a:buNone/>
            </a:pPr>
            <a:r>
              <a:rPr lang="en-US" sz="1350" dirty="0">
                <a:solidFill>
                  <a:srgbClr val="1C1C28"/>
                </a:solidFill>
                <a:latin typeface="Source Sans 3" pitchFamily="34" charset="0"/>
                <a:ea typeface="Source Sans 3" pitchFamily="34" charset="-122"/>
                <a:cs typeface="Source Sans 3" pitchFamily="34" charset="-120"/>
              </a:rPr>
              <a:t>In June 2026, an automated browser visited every publicly reachable page — following links the same way a user would. Each page was read, classified and tagged by topic. The crawl covered the Current Students Website (students.unimelb.edu.au), 12 faculty &amp; school current-student sections, and both estate-adjacent sites. The hub is largely auth-gated — only 4 public pages were reachable.</a:t>
            </a:r>
            <a:endParaRPr lang="en-US" sz="1350" dirty="0"/>
          </a:p>
        </p:txBody>
      </p:sp>
      <p:sp>
        <p:nvSpPr>
          <p:cNvPr id="7" name="Shape 5"/>
          <p:cNvSpPr/>
          <p:nvPr/>
        </p:nvSpPr>
        <p:spPr>
          <a:xfrm>
            <a:off x="566928" y="2084832"/>
            <a:ext cx="2651760" cy="1572768"/>
          </a:xfrm>
          <a:prstGeom prst="rect">
            <a:avLst/>
          </a:prstGeom>
          <a:solidFill>
            <a:srgbClr val="F4F4F4"/>
          </a:solidFill>
          <a:ln/>
        </p:spPr>
      </p:sp>
      <p:sp>
        <p:nvSpPr>
          <p:cNvPr id="8" name="Shape 6"/>
          <p:cNvSpPr/>
          <p:nvPr/>
        </p:nvSpPr>
        <p:spPr>
          <a:xfrm>
            <a:off x="566928" y="2084832"/>
            <a:ext cx="2651760" cy="91440"/>
          </a:xfrm>
          <a:prstGeom prst="rect">
            <a:avLst/>
          </a:prstGeom>
          <a:solidFill>
            <a:srgbClr val="46C8F0"/>
          </a:solidFill>
          <a:ln/>
        </p:spPr>
      </p:sp>
      <p:sp>
        <p:nvSpPr>
          <p:cNvPr id="9" name="Text 7"/>
          <p:cNvSpPr/>
          <p:nvPr/>
        </p:nvSpPr>
        <p:spPr>
          <a:xfrm>
            <a:off x="566928"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4</a:t>
            </a:r>
            <a:endParaRPr lang="en-US" sz="4400" dirty="0"/>
          </a:p>
        </p:txBody>
      </p:sp>
      <p:sp>
        <p:nvSpPr>
          <p:cNvPr id="10" name="Text 8"/>
          <p:cNvSpPr/>
          <p:nvPr/>
        </p:nvSpPr>
        <p:spPr>
          <a:xfrm>
            <a:off x="658368"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students.unimelb.edu.au</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(auth-gated, 4 public pages)</a:t>
            </a:r>
            <a:endParaRPr lang="en-US" sz="1150" dirty="0"/>
          </a:p>
        </p:txBody>
      </p:sp>
      <p:sp>
        <p:nvSpPr>
          <p:cNvPr id="11" name="Shape 9"/>
          <p:cNvSpPr/>
          <p:nvPr/>
        </p:nvSpPr>
        <p:spPr>
          <a:xfrm>
            <a:off x="3364992" y="2084832"/>
            <a:ext cx="2651760" cy="1572768"/>
          </a:xfrm>
          <a:prstGeom prst="rect">
            <a:avLst/>
          </a:prstGeom>
          <a:solidFill>
            <a:srgbClr val="F4F4F4"/>
          </a:solidFill>
          <a:ln/>
        </p:spPr>
      </p:sp>
      <p:sp>
        <p:nvSpPr>
          <p:cNvPr id="12" name="Shape 10"/>
          <p:cNvSpPr/>
          <p:nvPr/>
        </p:nvSpPr>
        <p:spPr>
          <a:xfrm>
            <a:off x="3364992" y="2084832"/>
            <a:ext cx="2651760" cy="91440"/>
          </a:xfrm>
          <a:prstGeom prst="rect">
            <a:avLst/>
          </a:prstGeom>
          <a:solidFill>
            <a:srgbClr val="46C8F0"/>
          </a:solidFill>
          <a:ln/>
        </p:spPr>
      </p:sp>
      <p:sp>
        <p:nvSpPr>
          <p:cNvPr id="13" name="Text 11"/>
          <p:cNvSpPr/>
          <p:nvPr/>
        </p:nvSpPr>
        <p:spPr>
          <a:xfrm>
            <a:off x="3364992"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1,169</a:t>
            </a:r>
            <a:endParaRPr lang="en-US" sz="4400" dirty="0"/>
          </a:p>
        </p:txBody>
      </p:sp>
      <p:sp>
        <p:nvSpPr>
          <p:cNvPr id="14" name="Text 12"/>
          <p:cNvSpPr/>
          <p:nvPr/>
        </p:nvSpPr>
        <p:spPr>
          <a:xfrm>
            <a:off x="3456432"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pages across 12 faculty</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&amp; school current-student sites</a:t>
            </a:r>
            <a:endParaRPr lang="en-US" sz="1150" dirty="0"/>
          </a:p>
        </p:txBody>
      </p:sp>
      <p:sp>
        <p:nvSpPr>
          <p:cNvPr id="15" name="Shape 13"/>
          <p:cNvSpPr/>
          <p:nvPr/>
        </p:nvSpPr>
        <p:spPr>
          <a:xfrm>
            <a:off x="6163056" y="2084832"/>
            <a:ext cx="2651760" cy="1572768"/>
          </a:xfrm>
          <a:prstGeom prst="rect">
            <a:avLst/>
          </a:prstGeom>
          <a:solidFill>
            <a:srgbClr val="F4F4F4"/>
          </a:solidFill>
          <a:ln/>
        </p:spPr>
      </p:sp>
      <p:sp>
        <p:nvSpPr>
          <p:cNvPr id="16" name="Shape 14"/>
          <p:cNvSpPr/>
          <p:nvPr/>
        </p:nvSpPr>
        <p:spPr>
          <a:xfrm>
            <a:off x="6163056" y="2084832"/>
            <a:ext cx="2651760" cy="91440"/>
          </a:xfrm>
          <a:prstGeom prst="rect">
            <a:avLst/>
          </a:prstGeom>
          <a:solidFill>
            <a:srgbClr val="46C8F0"/>
          </a:solidFill>
          <a:ln/>
        </p:spPr>
      </p:sp>
      <p:sp>
        <p:nvSpPr>
          <p:cNvPr id="17" name="Text 15"/>
          <p:cNvSpPr/>
          <p:nvPr/>
        </p:nvSpPr>
        <p:spPr>
          <a:xfrm>
            <a:off x="6163056"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300</a:t>
            </a:r>
            <a:endParaRPr lang="en-US" sz="4400" dirty="0"/>
          </a:p>
        </p:txBody>
      </p:sp>
      <p:sp>
        <p:nvSpPr>
          <p:cNvPr id="18" name="Text 16"/>
          <p:cNvSpPr/>
          <p:nvPr/>
        </p:nvSpPr>
        <p:spPr>
          <a:xfrm>
            <a:off x="6254496"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study.unimelb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prospective students</a:t>
            </a:r>
            <a:endParaRPr lang="en-US" sz="1150" dirty="0"/>
          </a:p>
        </p:txBody>
      </p:sp>
      <p:sp>
        <p:nvSpPr>
          <p:cNvPr id="19" name="Shape 17"/>
          <p:cNvSpPr/>
          <p:nvPr/>
        </p:nvSpPr>
        <p:spPr>
          <a:xfrm>
            <a:off x="8961120" y="2084832"/>
            <a:ext cx="2651760" cy="1572768"/>
          </a:xfrm>
          <a:prstGeom prst="rect">
            <a:avLst/>
          </a:prstGeom>
          <a:solidFill>
            <a:srgbClr val="F4F4F4"/>
          </a:solidFill>
          <a:ln/>
        </p:spPr>
      </p:sp>
      <p:sp>
        <p:nvSpPr>
          <p:cNvPr id="20" name="Shape 18"/>
          <p:cNvSpPr/>
          <p:nvPr/>
        </p:nvSpPr>
        <p:spPr>
          <a:xfrm>
            <a:off x="8961120" y="2084832"/>
            <a:ext cx="2651760" cy="91440"/>
          </a:xfrm>
          <a:prstGeom prst="rect">
            <a:avLst/>
          </a:prstGeom>
          <a:solidFill>
            <a:srgbClr val="46C8F0"/>
          </a:solidFill>
          <a:ln/>
        </p:spPr>
      </p:sp>
      <p:sp>
        <p:nvSpPr>
          <p:cNvPr id="21" name="Text 19"/>
          <p:cNvSpPr/>
          <p:nvPr/>
        </p:nvSpPr>
        <p:spPr>
          <a:xfrm>
            <a:off x="8961120"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116</a:t>
            </a:r>
            <a:endParaRPr lang="en-US" sz="4400" dirty="0"/>
          </a:p>
        </p:txBody>
      </p:sp>
      <p:sp>
        <p:nvSpPr>
          <p:cNvPr id="22" name="Text 20"/>
          <p:cNvSpPr/>
          <p:nvPr/>
        </p:nvSpPr>
        <p:spPr>
          <a:xfrm>
            <a:off x="9052560"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alumni.unimelb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graduate community</a:t>
            </a:r>
            <a:endParaRPr lang="en-US" sz="1150" dirty="0"/>
          </a:p>
        </p:txBody>
      </p:sp>
      <p:sp>
        <p:nvSpPr>
          <p:cNvPr id="23" name="Shape 21"/>
          <p:cNvSpPr/>
          <p:nvPr/>
        </p:nvSpPr>
        <p:spPr>
          <a:xfrm>
            <a:off x="566928" y="3767328"/>
            <a:ext cx="2651760" cy="64008"/>
          </a:xfrm>
          <a:prstGeom prst="rect">
            <a:avLst/>
          </a:prstGeom>
          <a:solidFill>
            <a:srgbClr val="46C8F0"/>
          </a:solidFill>
          <a:ln/>
        </p:spPr>
      </p:sp>
      <p:sp>
        <p:nvSpPr>
          <p:cNvPr id="24" name="Text 22"/>
          <p:cNvSpPr/>
          <p:nvPr/>
        </p:nvSpPr>
        <p:spPr>
          <a:xfrm>
            <a:off x="566928"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Careers</a:t>
            </a:r>
            <a:endParaRPr lang="en-US" sz="1200" dirty="0"/>
          </a:p>
        </p:txBody>
      </p:sp>
      <p:sp>
        <p:nvSpPr>
          <p:cNvPr id="25" name="Text 23"/>
          <p:cNvSpPr/>
          <p:nvPr/>
        </p:nvSpPr>
        <p:spPr>
          <a:xfrm>
            <a:off x="566928"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4 parallel presences — Current Students Website, 8 faculties, study.unimelb, alumni. No cross-links in any direction.</a:t>
            </a:r>
            <a:endParaRPr lang="en-US" sz="1100" dirty="0"/>
          </a:p>
        </p:txBody>
      </p:sp>
      <p:sp>
        <p:nvSpPr>
          <p:cNvPr id="26" name="Shape 24"/>
          <p:cNvSpPr/>
          <p:nvPr/>
        </p:nvSpPr>
        <p:spPr>
          <a:xfrm>
            <a:off x="3364992" y="3767328"/>
            <a:ext cx="2651760" cy="64008"/>
          </a:xfrm>
          <a:prstGeom prst="rect">
            <a:avLst/>
          </a:prstGeom>
          <a:solidFill>
            <a:srgbClr val="46C8F0"/>
          </a:solidFill>
          <a:ln/>
        </p:spPr>
      </p:sp>
      <p:sp>
        <p:nvSpPr>
          <p:cNvPr id="27" name="Text 25"/>
          <p:cNvSpPr/>
          <p:nvPr/>
        </p:nvSpPr>
        <p:spPr>
          <a:xfrm>
            <a:off x="3364992"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Mentoring</a:t>
            </a:r>
            <a:endParaRPr lang="en-US" sz="1200" dirty="0"/>
          </a:p>
        </p:txBody>
      </p:sp>
      <p:sp>
        <p:nvSpPr>
          <p:cNvPr id="28" name="Text 26"/>
          <p:cNvSpPr/>
          <p:nvPr/>
        </p:nvSpPr>
        <p:spPr>
          <a:xfrm>
            <a:off x="3364992"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12 faculty alumni programs matching student programs on all faculties. Neither side links to the other.</a:t>
            </a:r>
            <a:endParaRPr lang="en-US" sz="1100" dirty="0"/>
          </a:p>
        </p:txBody>
      </p:sp>
      <p:sp>
        <p:nvSpPr>
          <p:cNvPr id="29" name="Shape 27"/>
          <p:cNvSpPr/>
          <p:nvPr/>
        </p:nvSpPr>
        <p:spPr>
          <a:xfrm>
            <a:off x="6163056" y="3767328"/>
            <a:ext cx="2651760" cy="64008"/>
          </a:xfrm>
          <a:prstGeom prst="rect">
            <a:avLst/>
          </a:prstGeom>
          <a:solidFill>
            <a:srgbClr val="46C8F0"/>
          </a:solidFill>
          <a:ln/>
        </p:spPr>
      </p:sp>
      <p:sp>
        <p:nvSpPr>
          <p:cNvPr id="30" name="Text 28"/>
          <p:cNvSpPr/>
          <p:nvPr/>
        </p:nvSpPr>
        <p:spPr>
          <a:xfrm>
            <a:off x="6163056"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Course info</a:t>
            </a:r>
            <a:endParaRPr lang="en-US" sz="1200" dirty="0"/>
          </a:p>
        </p:txBody>
      </p:sp>
      <p:sp>
        <p:nvSpPr>
          <p:cNvPr id="31" name="Text 29"/>
          <p:cNvSpPr/>
          <p:nvPr/>
        </p:nvSpPr>
        <p:spPr>
          <a:xfrm>
            <a:off x="6163056"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Enrolled students follow 529 links back to the prospective site — for content missing from their own.</a:t>
            </a:r>
            <a:endParaRPr lang="en-US" sz="1100" dirty="0"/>
          </a:p>
        </p:txBody>
      </p:sp>
      <p:sp>
        <p:nvSpPr>
          <p:cNvPr id="32" name="Shape 30"/>
          <p:cNvSpPr/>
          <p:nvPr/>
        </p:nvSpPr>
        <p:spPr>
          <a:xfrm>
            <a:off x="8961120" y="3767328"/>
            <a:ext cx="2651760" cy="64008"/>
          </a:xfrm>
          <a:prstGeom prst="rect">
            <a:avLst/>
          </a:prstGeom>
          <a:solidFill>
            <a:srgbClr val="46C8F0"/>
          </a:solidFill>
          <a:ln/>
        </p:spPr>
      </p:sp>
      <p:sp>
        <p:nvSpPr>
          <p:cNvPr id="33" name="Text 31"/>
          <p:cNvSpPr/>
          <p:nvPr/>
        </p:nvSpPr>
        <p:spPr>
          <a:xfrm>
            <a:off x="8961120"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Alumni handoff</a:t>
            </a:r>
            <a:endParaRPr lang="en-US" sz="1200" dirty="0"/>
          </a:p>
        </p:txBody>
      </p:sp>
      <p:sp>
        <p:nvSpPr>
          <p:cNvPr id="34" name="Text 32"/>
          <p:cNvSpPr/>
          <p:nvPr/>
        </p:nvSpPr>
        <p:spPr>
          <a:xfrm>
            <a:off x="8961120"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0 current-student pages link forward to alumni, including graduation pages. No web path at exit.</a:t>
            </a:r>
            <a:endParaRPr lang="en-US" sz="1100" dirty="0"/>
          </a:p>
        </p:txBody>
      </p:sp>
      <p:sp>
        <p:nvSpPr>
          <p:cNvPr id="35" name="Text 33"/>
          <p:cNvSpPr/>
          <p:nvPr/>
        </p:nvSpPr>
        <p:spPr>
          <a:xfrm>
            <a:off x="566928" y="5266944"/>
            <a:ext cx="10881360" cy="566928"/>
          </a:xfrm>
          <a:prstGeom prst="rect">
            <a:avLst/>
          </a:prstGeom>
          <a:noFill/>
          <a:ln/>
        </p:spPr>
        <p:txBody>
          <a:bodyPr wrap="square" lIns="0" tIns="0" rIns="0" bIns="0" rtlCol="0" anchor="ctr"/>
          <a:lstStyle/>
          <a:p>
            <a:pPr indent="0" marL="0">
              <a:lnSpc>
                <a:spcPct val="112000"/>
              </a:lnSpc>
              <a:buNone/>
            </a:pPr>
            <a:r>
              <a:rPr lang="en-US" sz="1100" i="1" dirty="0">
                <a:solidFill>
                  <a:srgbClr val="000B34"/>
                </a:solidFill>
                <a:latin typeface="Source Sans 3" pitchFamily="34" charset="0"/>
                <a:ea typeface="Source Sans 3" pitchFamily="34" charset="-122"/>
                <a:cs typeface="Source Sans 3" pitchFamily="34" charset="-120"/>
              </a:rPr>
              <a:t>Current Students Website · Architecture, Building &amp; Planning · Arts · Business &amp; Economics · Education · Engineering &amp; IT · Fine Arts &amp; Music · Law · Medicine, Dentistry &amp; Health Sciences · Science · Melbourne Business School · Biomedical Sciences · Dental School · study.unimelb.edu.au · alumni.unimelb.edu.au</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A lens for today: overlap</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4</a:t>
            </a:r>
            <a:endParaRPr lang="en-US" sz="900" dirty="0"/>
          </a:p>
        </p:txBody>
      </p:sp>
      <p:sp>
        <p:nvSpPr>
          <p:cNvPr id="6" name="Text 4"/>
          <p:cNvSpPr/>
          <p:nvPr/>
        </p:nvSpPr>
        <p:spPr>
          <a:xfrm>
            <a:off x="566928" y="1417320"/>
            <a:ext cx="5760720" cy="3657600"/>
          </a:xfrm>
          <a:prstGeom prst="rect">
            <a:avLst/>
          </a:prstGeom>
          <a:noFill/>
          <a:ln/>
        </p:spPr>
        <p:txBody>
          <a:bodyPr wrap="square" lIns="0" tIns="0" rIns="0" bIns="0" rtlCol="0" anchor="t"/>
          <a:lstStyle/>
          <a:p>
            <a:pPr indent="0" marL="0">
              <a:lnSpc>
                <a:spcPct val="122000"/>
              </a:lnSpc>
              <a:buNone/>
            </a:pPr>
            <a:r>
              <a:rPr lang="en-US" sz="1700" dirty="0">
                <a:solidFill>
                  <a:srgbClr val="1C1C28"/>
                </a:solidFill>
                <a:latin typeface="Source Sans 3" pitchFamily="34" charset="0"/>
                <a:ea typeface="Source Sans 3" pitchFamily="34" charset="-122"/>
                <a:cs typeface="Source Sans 3" pitchFamily="34" charset="-120"/>
              </a:rPr>
              <a:t>Overlap isn't automatically a problem. Sometimes it is helpful local context; sometimes it is duplicated effort or mixed messages. For each area today, we will look at where the content sits — then ask whether the overlap is intentional, and whether it helps or hinders the user.</a:t>
            </a:r>
            <a:endParaRPr lang="en-US" sz="1700" dirty="0"/>
          </a:p>
        </p:txBody>
      </p:sp>
      <p:sp>
        <p:nvSpPr>
          <p:cNvPr id="7" name="Shape 5"/>
          <p:cNvSpPr/>
          <p:nvPr/>
        </p:nvSpPr>
        <p:spPr>
          <a:xfrm>
            <a:off x="6949440" y="1645920"/>
            <a:ext cx="2606040" cy="2606040"/>
          </a:xfrm>
          <a:prstGeom prst="ellipse">
            <a:avLst/>
          </a:prstGeom>
          <a:solidFill>
            <a:srgbClr val="000F46">
              <a:alpha val="18000"/>
            </a:srgbClr>
          </a:solidFill>
          <a:ln w="19050">
            <a:solidFill>
              <a:srgbClr val="000F46"/>
            </a:solidFill>
            <a:prstDash val="solid"/>
          </a:ln>
        </p:spPr>
      </p:sp>
      <p:sp>
        <p:nvSpPr>
          <p:cNvPr id="8" name="Shape 6"/>
          <p:cNvSpPr/>
          <p:nvPr/>
        </p:nvSpPr>
        <p:spPr>
          <a:xfrm>
            <a:off x="8778240" y="1645920"/>
            <a:ext cx="2606040" cy="2606040"/>
          </a:xfrm>
          <a:prstGeom prst="ellipse">
            <a:avLst/>
          </a:prstGeom>
          <a:solidFill>
            <a:srgbClr val="46C8F0">
              <a:alpha val="28000"/>
            </a:srgbClr>
          </a:solidFill>
          <a:ln w="19050">
            <a:solidFill>
              <a:srgbClr val="2F95B7"/>
            </a:solidFill>
            <a:prstDash val="solid"/>
          </a:ln>
        </p:spPr>
      </p:sp>
      <p:sp>
        <p:nvSpPr>
          <p:cNvPr id="9" name="Shape 7"/>
          <p:cNvSpPr/>
          <p:nvPr/>
        </p:nvSpPr>
        <p:spPr>
          <a:xfrm>
            <a:off x="6949440" y="3291840"/>
            <a:ext cx="2606040" cy="2606040"/>
          </a:xfrm>
          <a:prstGeom prst="ellipse">
            <a:avLst/>
          </a:prstGeom>
          <a:solidFill>
            <a:srgbClr val="000F46">
              <a:alpha val="18000"/>
            </a:srgbClr>
          </a:solidFill>
          <a:ln w="19050">
            <a:solidFill>
              <a:srgbClr val="000F46"/>
            </a:solidFill>
            <a:prstDash val="solid"/>
          </a:ln>
        </p:spPr>
      </p:sp>
      <p:sp>
        <p:nvSpPr>
          <p:cNvPr id="10" name="Shape 8"/>
          <p:cNvSpPr/>
          <p:nvPr/>
        </p:nvSpPr>
        <p:spPr>
          <a:xfrm>
            <a:off x="8778240" y="3291840"/>
            <a:ext cx="2606040" cy="2606040"/>
          </a:xfrm>
          <a:prstGeom prst="ellipse">
            <a:avLst/>
          </a:prstGeom>
          <a:solidFill>
            <a:srgbClr val="46C8F0">
              <a:alpha val="28000"/>
            </a:srgbClr>
          </a:solidFill>
          <a:ln w="19050">
            <a:solidFill>
              <a:srgbClr val="2F95B7"/>
            </a:solidFill>
            <a:prstDash val="solid"/>
          </a:ln>
        </p:spPr>
      </p:sp>
      <p:sp>
        <p:nvSpPr>
          <p:cNvPr id="11" name="Text 9"/>
          <p:cNvSpPr/>
          <p:nvPr/>
        </p:nvSpPr>
        <p:spPr>
          <a:xfrm>
            <a:off x="6967728" y="1664208"/>
            <a:ext cx="1737360" cy="530352"/>
          </a:xfrm>
          <a:prstGeom prst="rect">
            <a:avLst/>
          </a:prstGeom>
          <a:noFill/>
          <a:ln/>
        </p:spPr>
        <p:txBody>
          <a:bodyPr wrap="square" lIns="0" tIns="0" rIns="0" bIns="0" rtlCol="0" anchor="ctr"/>
          <a:lstStyle/>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Current Students</a:t>
            </a:r>
            <a:endParaRPr lang="en-US" sz="1150" dirty="0"/>
          </a:p>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Website</a:t>
            </a:r>
            <a:endParaRPr lang="en-US" sz="1150" dirty="0"/>
          </a:p>
        </p:txBody>
      </p:sp>
      <p:sp>
        <p:nvSpPr>
          <p:cNvPr id="12" name="Text 10"/>
          <p:cNvSpPr/>
          <p:nvPr/>
        </p:nvSpPr>
        <p:spPr>
          <a:xfrm>
            <a:off x="9738360" y="1691640"/>
            <a:ext cx="1600200" cy="502920"/>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Faculty /</a:t>
            </a:r>
            <a:endParaRPr lang="en-US" sz="1200" dirty="0"/>
          </a:p>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school sites</a:t>
            </a:r>
            <a:endParaRPr lang="en-US" sz="1200" dirty="0"/>
          </a:p>
        </p:txBody>
      </p:sp>
      <p:sp>
        <p:nvSpPr>
          <p:cNvPr id="13" name="Text 11"/>
          <p:cNvSpPr/>
          <p:nvPr/>
        </p:nvSpPr>
        <p:spPr>
          <a:xfrm>
            <a:off x="6995160" y="5257800"/>
            <a:ext cx="169164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Further study</a:t>
            </a:r>
            <a:endParaRPr lang="en-US" sz="1200" dirty="0"/>
          </a:p>
        </p:txBody>
      </p:sp>
      <p:sp>
        <p:nvSpPr>
          <p:cNvPr id="14" name="Text 12"/>
          <p:cNvSpPr/>
          <p:nvPr/>
        </p:nvSpPr>
        <p:spPr>
          <a:xfrm>
            <a:off x="9784080" y="5257800"/>
            <a:ext cx="155448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Alumni</a:t>
            </a:r>
            <a:endParaRPr lang="en-US" sz="1200" dirty="0"/>
          </a:p>
        </p:txBody>
      </p:sp>
      <p:sp>
        <p:nvSpPr>
          <p:cNvPr id="15" name="Text 13"/>
          <p:cNvSpPr/>
          <p:nvPr/>
        </p:nvSpPr>
        <p:spPr>
          <a:xfrm>
            <a:off x="8778240" y="3611880"/>
            <a:ext cx="914400" cy="320040"/>
          </a:xfrm>
          <a:prstGeom prst="rect">
            <a:avLst/>
          </a:prstGeom>
          <a:noFill/>
          <a:ln/>
        </p:spPr>
        <p:txBody>
          <a:bodyPr wrap="square" lIns="0" tIns="0" rIns="0" bIns="0" rtlCol="0" anchor="ctr"/>
          <a:lstStyle/>
          <a:p>
            <a:pPr algn="ctr" indent="0" marL="0">
              <a:buNone/>
            </a:pPr>
            <a:r>
              <a:rPr lang="en-US" sz="1100" b="1" dirty="0">
                <a:solidFill>
                  <a:srgbClr val="000B34"/>
                </a:solidFill>
                <a:latin typeface="Source Code Pro" pitchFamily="34" charset="0"/>
                <a:ea typeface="Source Code Pro" pitchFamily="34" charset="-122"/>
                <a:cs typeface="Source Code Pro" pitchFamily="34" charset="-120"/>
              </a:rPr>
              <a:t>overlap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Three phases — one student journey</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5</a:t>
            </a:r>
            <a:endParaRPr lang="en-US" sz="900" dirty="0"/>
          </a:p>
        </p:txBody>
      </p:sp>
      <p:sp>
        <p:nvSpPr>
          <p:cNvPr id="6" name="Text 4"/>
          <p:cNvSpPr/>
          <p:nvPr/>
        </p:nvSpPr>
        <p:spPr>
          <a:xfrm>
            <a:off x="566928" y="1417320"/>
            <a:ext cx="5760720" cy="2560320"/>
          </a:xfrm>
          <a:prstGeom prst="rect">
            <a:avLst/>
          </a:prstGeom>
          <a:noFill/>
          <a:ln/>
        </p:spPr>
        <p:txBody>
          <a:bodyPr wrap="square" lIns="0" tIns="0" rIns="0" bIns="0" rtlCol="0" anchor="t"/>
          <a:lstStyle/>
          <a:p>
            <a:pPr indent="0" marL="0">
              <a:lnSpc>
                <a:spcPct val="122000"/>
              </a:lnSpc>
              <a:buNone/>
            </a:pPr>
            <a:r>
              <a:rPr lang="en-US" sz="1550" dirty="0">
                <a:solidFill>
                  <a:srgbClr val="1C1C28"/>
                </a:solidFill>
                <a:latin typeface="Source Sans 3" pitchFamily="34" charset="0"/>
                <a:ea typeface="Source Sans 3" pitchFamily="34" charset="-122"/>
                <a:cs typeface="Source Sans 3" pitchFamily="34" charset="-120"/>
              </a:rPr>
              <a:t>Faculty sites are unusual in this picture: they have a presence in all three phases — prospectus content for applicants, current-student sections (1,169 pages crawled), and alumni networks. The chips below show where the same content appears across phases without connecting.</a:t>
            </a:r>
            <a:endParaRPr lang="en-US" sz="1550" dirty="0"/>
          </a:p>
        </p:txBody>
      </p:sp>
      <p:sp>
        <p:nvSpPr>
          <p:cNvPr id="7" name="Shape 5"/>
          <p:cNvSpPr/>
          <p:nvPr/>
        </p:nvSpPr>
        <p:spPr>
          <a:xfrm>
            <a:off x="6720840" y="1691640"/>
            <a:ext cx="1280160" cy="256032"/>
          </a:xfrm>
          <a:prstGeom prst="rect">
            <a:avLst/>
          </a:prstGeom>
          <a:solidFill>
            <a:srgbClr val="EAF6FB"/>
          </a:solidFill>
          <a:ln w="6350">
            <a:solidFill>
              <a:srgbClr val="2F95B7"/>
            </a:solidFill>
            <a:prstDash val="solid"/>
          </a:ln>
        </p:spPr>
      </p:sp>
      <p:sp>
        <p:nvSpPr>
          <p:cNvPr id="8" name="Text 6"/>
          <p:cNvSpPr/>
          <p:nvPr/>
        </p:nvSpPr>
        <p:spPr>
          <a:xfrm>
            <a:off x="6720840" y="1691640"/>
            <a:ext cx="128016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BEFORE</a:t>
            </a:r>
            <a:endParaRPr lang="en-US" sz="700" dirty="0"/>
          </a:p>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ENROLMENT</a:t>
            </a:r>
            <a:endParaRPr lang="en-US" sz="700" dirty="0"/>
          </a:p>
        </p:txBody>
      </p:sp>
      <p:sp>
        <p:nvSpPr>
          <p:cNvPr id="9" name="Shape 7"/>
          <p:cNvSpPr/>
          <p:nvPr/>
        </p:nvSpPr>
        <p:spPr>
          <a:xfrm>
            <a:off x="8321040" y="1691640"/>
            <a:ext cx="1874520" cy="256032"/>
          </a:xfrm>
          <a:prstGeom prst="rect">
            <a:avLst/>
          </a:prstGeom>
          <a:solidFill>
            <a:srgbClr val="000F46"/>
          </a:solidFill>
          <a:ln w="6350">
            <a:solidFill>
              <a:srgbClr val="000F46"/>
            </a:solidFill>
            <a:prstDash val="solid"/>
          </a:ln>
        </p:spPr>
      </p:sp>
      <p:sp>
        <p:nvSpPr>
          <p:cNvPr id="10" name="Text 8"/>
          <p:cNvSpPr/>
          <p:nvPr/>
        </p:nvSpPr>
        <p:spPr>
          <a:xfrm>
            <a:off x="8321040" y="1691640"/>
            <a:ext cx="1874520" cy="256032"/>
          </a:xfrm>
          <a:prstGeom prst="rect">
            <a:avLst/>
          </a:prstGeom>
          <a:noFill/>
          <a:ln/>
        </p:spPr>
        <p:txBody>
          <a:bodyPr wrap="square" lIns="0" tIns="0" rIns="0" bIns="0" rtlCol="0" anchor="ctr"/>
          <a:lstStyle/>
          <a:p>
            <a:pPr algn="ctr" indent="0" marL="0">
              <a:buNone/>
            </a:pPr>
            <a:r>
              <a:rPr lang="en-US" sz="750" b="1" spc="50" kern="0" dirty="0">
                <a:solidFill>
                  <a:srgbClr val="46C8F0"/>
                </a:solidFill>
                <a:latin typeface="Source Code Pro" pitchFamily="34" charset="0"/>
                <a:ea typeface="Source Code Pro" pitchFamily="34" charset="-122"/>
                <a:cs typeface="Source Code Pro" pitchFamily="34" charset="-120"/>
              </a:rPr>
              <a:t>DURING STUDY</a:t>
            </a:r>
            <a:endParaRPr lang="en-US" sz="750" dirty="0"/>
          </a:p>
        </p:txBody>
      </p:sp>
      <p:sp>
        <p:nvSpPr>
          <p:cNvPr id="11" name="Shape 9"/>
          <p:cNvSpPr/>
          <p:nvPr/>
        </p:nvSpPr>
        <p:spPr>
          <a:xfrm>
            <a:off x="10469880" y="1691640"/>
            <a:ext cx="1143000" cy="256032"/>
          </a:xfrm>
          <a:prstGeom prst="rect">
            <a:avLst/>
          </a:prstGeom>
          <a:solidFill>
            <a:srgbClr val="F4F4F4"/>
          </a:solidFill>
          <a:ln w="6350">
            <a:solidFill>
              <a:srgbClr val="DDDDE7"/>
            </a:solidFill>
            <a:prstDash val="solid"/>
          </a:ln>
        </p:spPr>
      </p:sp>
      <p:sp>
        <p:nvSpPr>
          <p:cNvPr id="12" name="Text 10"/>
          <p:cNvSpPr/>
          <p:nvPr/>
        </p:nvSpPr>
        <p:spPr>
          <a:xfrm>
            <a:off x="10469880" y="1691640"/>
            <a:ext cx="114300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AFTER</a:t>
            </a:r>
            <a:endParaRPr lang="en-US" sz="700" dirty="0"/>
          </a:p>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GRADUATION</a:t>
            </a:r>
            <a:endParaRPr lang="en-US" sz="700" dirty="0"/>
          </a:p>
        </p:txBody>
      </p:sp>
      <p:sp>
        <p:nvSpPr>
          <p:cNvPr id="13" name="Shape 11"/>
          <p:cNvSpPr/>
          <p:nvPr/>
        </p:nvSpPr>
        <p:spPr>
          <a:xfrm>
            <a:off x="6720840" y="1984248"/>
            <a:ext cx="1280160" cy="1143000"/>
          </a:xfrm>
          <a:prstGeom prst="rect">
            <a:avLst/>
          </a:prstGeom>
          <a:solidFill>
            <a:srgbClr val="EAF6FB"/>
          </a:solidFill>
          <a:ln w="19050">
            <a:solidFill>
              <a:srgbClr val="2F95B7"/>
            </a:solidFill>
            <a:prstDash val="solid"/>
          </a:ln>
        </p:spPr>
      </p:sp>
      <p:sp>
        <p:nvSpPr>
          <p:cNvPr id="14" name="Text 12"/>
          <p:cNvSpPr/>
          <p:nvPr/>
        </p:nvSpPr>
        <p:spPr>
          <a:xfrm>
            <a:off x="6720840" y="2075688"/>
            <a:ext cx="128016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study.unimelb</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.edu.au</a:t>
            </a:r>
            <a:endParaRPr lang="en-US" sz="1050" dirty="0"/>
          </a:p>
        </p:txBody>
      </p:sp>
      <p:sp>
        <p:nvSpPr>
          <p:cNvPr id="15" name="Text 13"/>
          <p:cNvSpPr/>
          <p:nvPr/>
        </p:nvSpPr>
        <p:spPr>
          <a:xfrm>
            <a:off x="6720840" y="2761488"/>
            <a:ext cx="128016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300 pages</a:t>
            </a:r>
            <a:endParaRPr lang="en-US" sz="900" dirty="0"/>
          </a:p>
        </p:txBody>
      </p:sp>
      <p:sp>
        <p:nvSpPr>
          <p:cNvPr id="16" name="Shape 14"/>
          <p:cNvSpPr/>
          <p:nvPr/>
        </p:nvSpPr>
        <p:spPr>
          <a:xfrm>
            <a:off x="8321040" y="1984248"/>
            <a:ext cx="1874520" cy="1143000"/>
          </a:xfrm>
          <a:prstGeom prst="rect">
            <a:avLst/>
          </a:prstGeom>
          <a:solidFill>
            <a:srgbClr val="000F46"/>
          </a:solidFill>
          <a:ln w="19050">
            <a:solidFill>
              <a:srgbClr val="000F46"/>
            </a:solidFill>
            <a:prstDash val="solid"/>
          </a:ln>
        </p:spPr>
      </p:sp>
      <p:sp>
        <p:nvSpPr>
          <p:cNvPr id="17" name="Text 15"/>
          <p:cNvSpPr/>
          <p:nvPr/>
        </p:nvSpPr>
        <p:spPr>
          <a:xfrm>
            <a:off x="8321040" y="2121408"/>
            <a:ext cx="1874520" cy="502920"/>
          </a:xfrm>
          <a:prstGeom prst="rect">
            <a:avLst/>
          </a:prstGeom>
          <a:noFill/>
          <a:ln/>
        </p:spPr>
        <p:txBody>
          <a:bodyPr wrap="square" lIns="0" tIns="0" rIns="0" bIns="0" rtlCol="0" anchor="ctr"/>
          <a:lstStyle/>
          <a:p>
            <a:pPr algn="ctr" indent="0" marL="0">
              <a:buNone/>
            </a:pPr>
            <a:r>
              <a:rPr lang="en-US" sz="1050" b="1" dirty="0">
                <a:solidFill>
                  <a:srgbClr val="FFFFFF"/>
                </a:solidFill>
                <a:latin typeface="Source Sans 3" pitchFamily="34" charset="0"/>
                <a:ea typeface="Source Sans 3" pitchFamily="34" charset="-122"/>
                <a:cs typeface="Source Sans 3" pitchFamily="34" charset="-120"/>
              </a:rPr>
              <a:t>students.unimelb.edu.au</a:t>
            </a:r>
            <a:endParaRPr lang="en-US" sz="1050" dirty="0"/>
          </a:p>
        </p:txBody>
      </p:sp>
      <p:sp>
        <p:nvSpPr>
          <p:cNvPr id="18" name="Text 16"/>
          <p:cNvSpPr/>
          <p:nvPr/>
        </p:nvSpPr>
        <p:spPr>
          <a:xfrm>
            <a:off x="8321040" y="2651760"/>
            <a:ext cx="1874520" cy="347472"/>
          </a:xfrm>
          <a:prstGeom prst="rect">
            <a:avLst/>
          </a:prstGeom>
          <a:noFill/>
          <a:ln/>
        </p:spPr>
        <p:txBody>
          <a:bodyPr wrap="square" lIns="0" tIns="0" rIns="0" bIns="0" rtlCol="0" anchor="ctr"/>
          <a:lstStyle/>
          <a:p>
            <a:pPr algn="ctr" indent="0" marL="0">
              <a:buNone/>
            </a:pPr>
            <a:r>
              <a:rPr lang="en-US" sz="850" dirty="0">
                <a:solidFill>
                  <a:srgbClr val="C9CDE6"/>
                </a:solidFill>
                <a:latin typeface="Source Code Pro" pitchFamily="34" charset="0"/>
                <a:ea typeface="Source Code Pro" pitchFamily="34" charset="-122"/>
                <a:cs typeface="Source Code Pro" pitchFamily="34" charset="-120"/>
              </a:rPr>
              <a:t>hub · student services</a:t>
            </a:r>
            <a:endParaRPr lang="en-US" sz="850" dirty="0"/>
          </a:p>
        </p:txBody>
      </p:sp>
      <p:sp>
        <p:nvSpPr>
          <p:cNvPr id="19" name="Text 17"/>
          <p:cNvSpPr/>
          <p:nvPr/>
        </p:nvSpPr>
        <p:spPr>
          <a:xfrm>
            <a:off x="8321040" y="2907792"/>
            <a:ext cx="1874520" cy="201168"/>
          </a:xfrm>
          <a:prstGeom prst="rect">
            <a:avLst/>
          </a:prstGeom>
          <a:noFill/>
          <a:ln/>
        </p:spPr>
        <p:txBody>
          <a:bodyPr wrap="square" lIns="0" tIns="0" rIns="0" bIns="0" rtlCol="0" anchor="ctr"/>
          <a:lstStyle/>
          <a:p>
            <a:pPr algn="ctr" indent="0" marL="0">
              <a:buNone/>
            </a:pPr>
            <a:r>
              <a:rPr lang="en-US" sz="750" dirty="0">
                <a:solidFill>
                  <a:srgbClr val="AAB0D4"/>
                </a:solidFill>
                <a:latin typeface="Source Code Pro" pitchFamily="34" charset="0"/>
                <a:ea typeface="Source Code Pro" pitchFamily="34" charset="-122"/>
                <a:cs typeface="Source Code Pro" pitchFamily="34" charset="-120"/>
              </a:rPr>
              <a:t>(auth-gated, 4 public pages)</a:t>
            </a:r>
            <a:endParaRPr lang="en-US" sz="750" dirty="0"/>
          </a:p>
        </p:txBody>
      </p:sp>
      <p:sp>
        <p:nvSpPr>
          <p:cNvPr id="20" name="Shape 18"/>
          <p:cNvSpPr/>
          <p:nvPr/>
        </p:nvSpPr>
        <p:spPr>
          <a:xfrm>
            <a:off x="10469880" y="1984248"/>
            <a:ext cx="1143000" cy="1143000"/>
          </a:xfrm>
          <a:prstGeom prst="rect">
            <a:avLst/>
          </a:prstGeom>
          <a:solidFill>
            <a:srgbClr val="F4F4F4"/>
          </a:solidFill>
          <a:ln w="19050">
            <a:solidFill>
              <a:srgbClr val="DDDDE7"/>
            </a:solidFill>
            <a:prstDash val="solid"/>
          </a:ln>
        </p:spPr>
      </p:sp>
      <p:sp>
        <p:nvSpPr>
          <p:cNvPr id="21" name="Text 19"/>
          <p:cNvSpPr/>
          <p:nvPr/>
        </p:nvSpPr>
        <p:spPr>
          <a:xfrm>
            <a:off x="10469880" y="2075688"/>
            <a:ext cx="114300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alumni</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.unimelb.edu.au</a:t>
            </a:r>
            <a:endParaRPr lang="en-US" sz="1050" dirty="0"/>
          </a:p>
        </p:txBody>
      </p:sp>
      <p:sp>
        <p:nvSpPr>
          <p:cNvPr id="22" name="Text 20"/>
          <p:cNvSpPr/>
          <p:nvPr/>
        </p:nvSpPr>
        <p:spPr>
          <a:xfrm>
            <a:off x="10469880" y="2761488"/>
            <a:ext cx="114300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116 pages</a:t>
            </a:r>
            <a:endParaRPr lang="en-US" sz="900" dirty="0"/>
          </a:p>
        </p:txBody>
      </p:sp>
      <p:sp>
        <p:nvSpPr>
          <p:cNvPr id="23" name="Text 21"/>
          <p:cNvSpPr/>
          <p:nvPr/>
        </p:nvSpPr>
        <p:spPr>
          <a:xfrm>
            <a:off x="8028432" y="2377440"/>
            <a:ext cx="274320" cy="384048"/>
          </a:xfrm>
          <a:prstGeom prst="rect">
            <a:avLst/>
          </a:prstGeom>
          <a:noFill/>
          <a:ln/>
        </p:spPr>
        <p:txBody>
          <a:bodyPr wrap="square" lIns="0" tIns="0" rIns="0" bIns="0" rtlCol="0" anchor="ctr"/>
          <a:lstStyle/>
          <a:p>
            <a:pPr algn="ctr" indent="0" marL="0">
              <a:lnSpc>
                <a:spcPct val="105000"/>
              </a:lnSpc>
              <a:buNone/>
            </a:pPr>
            <a:r>
              <a:rPr lang="en-US" sz="700" dirty="0">
                <a:solidFill>
                  <a:srgbClr val="000B34"/>
                </a:solidFill>
                <a:latin typeface="Source Code Pro" pitchFamily="34" charset="0"/>
                <a:ea typeface="Source Code Pro" pitchFamily="34" charset="-122"/>
                <a:cs typeface="Source Code Pro" pitchFamily="34" charset="-120"/>
              </a:rPr>
              <a:t>↔ 529</a:t>
            </a:r>
            <a:endParaRPr lang="en-US" sz="700" dirty="0"/>
          </a:p>
          <a:p>
            <a:pPr algn="ctr" indent="0" marL="0">
              <a:lnSpc>
                <a:spcPct val="105000"/>
              </a:lnSpc>
              <a:buNone/>
            </a:pPr>
            <a:r>
              <a:rPr lang="en-US" sz="700" dirty="0">
                <a:solidFill>
                  <a:srgbClr val="000B34"/>
                </a:solidFill>
                <a:latin typeface="Source Code Pro" pitchFamily="34" charset="0"/>
                <a:ea typeface="Source Code Pro" pitchFamily="34" charset="-122"/>
                <a:cs typeface="Source Code Pro" pitchFamily="34" charset="-120"/>
              </a:rPr>
              <a:t>links</a:t>
            </a:r>
            <a:endParaRPr lang="en-US" sz="700" dirty="0"/>
          </a:p>
        </p:txBody>
      </p:sp>
      <p:sp>
        <p:nvSpPr>
          <p:cNvPr id="24" name="Text 22"/>
          <p:cNvSpPr/>
          <p:nvPr/>
        </p:nvSpPr>
        <p:spPr>
          <a:xfrm>
            <a:off x="10222992" y="2377440"/>
            <a:ext cx="228600" cy="384048"/>
          </a:xfrm>
          <a:prstGeom prst="rect">
            <a:avLst/>
          </a:prstGeom>
          <a:noFill/>
          <a:ln/>
        </p:spPr>
        <p:txBody>
          <a:bodyPr wrap="square" lIns="0" tIns="0" rIns="0" bIns="0" rtlCol="0" anchor="ctr"/>
          <a:lstStyle/>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 0</a:t>
            </a:r>
            <a:endParaRPr lang="en-US" sz="700" dirty="0"/>
          </a:p>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links</a:t>
            </a:r>
            <a:endParaRPr lang="en-US" sz="700" dirty="0"/>
          </a:p>
        </p:txBody>
      </p:sp>
      <p:sp>
        <p:nvSpPr>
          <p:cNvPr id="25" name="Shape 23"/>
          <p:cNvSpPr/>
          <p:nvPr/>
        </p:nvSpPr>
        <p:spPr>
          <a:xfrm>
            <a:off x="6720840" y="3218688"/>
            <a:ext cx="4892040" cy="237744"/>
          </a:xfrm>
          <a:prstGeom prst="rect">
            <a:avLst/>
          </a:prstGeom>
          <a:solidFill>
            <a:srgbClr val="000B34"/>
          </a:solidFill>
          <a:ln/>
        </p:spPr>
      </p:sp>
      <p:sp>
        <p:nvSpPr>
          <p:cNvPr id="26" name="Text 24"/>
          <p:cNvSpPr/>
          <p:nvPr/>
        </p:nvSpPr>
        <p:spPr>
          <a:xfrm>
            <a:off x="6720840" y="3218688"/>
            <a:ext cx="4892040" cy="237744"/>
          </a:xfrm>
          <a:prstGeom prst="rect">
            <a:avLst/>
          </a:prstGeom>
          <a:noFill/>
          <a:ln/>
        </p:spPr>
        <p:txBody>
          <a:bodyPr wrap="square" lIns="0" tIns="0" rIns="0" bIns="0" rtlCol="0" anchor="ctr"/>
          <a:lstStyle/>
          <a:p>
            <a:pPr algn="ctr" indent="0" marL="0">
              <a:buNone/>
            </a:pPr>
            <a:r>
              <a:rPr lang="en-US" sz="800" b="1" spc="30" kern="0" dirty="0">
                <a:solidFill>
                  <a:srgbClr val="C9CDE6"/>
                </a:solidFill>
                <a:latin typeface="Source Code Pro" pitchFamily="34" charset="0"/>
                <a:ea typeface="Source Code Pro" pitchFamily="34" charset="-122"/>
                <a:cs typeface="Source Code Pro" pitchFamily="34" charset="-120"/>
              </a:rPr>
              <a:t>FACULTY &amp; SCHOOL SITES (12) — spans all three phases</a:t>
            </a:r>
            <a:endParaRPr lang="en-US" sz="800" dirty="0"/>
          </a:p>
        </p:txBody>
      </p:sp>
      <p:sp>
        <p:nvSpPr>
          <p:cNvPr id="27" name="Shape 25"/>
          <p:cNvSpPr/>
          <p:nvPr/>
        </p:nvSpPr>
        <p:spPr>
          <a:xfrm>
            <a:off x="6720840" y="3456432"/>
            <a:ext cx="4892040" cy="914400"/>
          </a:xfrm>
          <a:prstGeom prst="rect">
            <a:avLst/>
          </a:prstGeom>
          <a:solidFill>
            <a:srgbClr val="8F96C2">
              <a:alpha val="25000"/>
            </a:srgbClr>
          </a:solidFill>
          <a:ln w="9525">
            <a:solidFill>
              <a:srgbClr val="000B34"/>
            </a:solidFill>
            <a:prstDash val="solid"/>
          </a:ln>
        </p:spPr>
      </p:sp>
      <p:sp>
        <p:nvSpPr>
          <p:cNvPr id="28" name="Text 26"/>
          <p:cNvSpPr/>
          <p:nvPr/>
        </p:nvSpPr>
        <p:spPr>
          <a:xfrm>
            <a:off x="6720840" y="3456432"/>
            <a:ext cx="1280160" cy="914400"/>
          </a:xfrm>
          <a:prstGeom prst="rect">
            <a:avLst/>
          </a:prstGeom>
          <a:noFill/>
          <a:ln/>
        </p:spPr>
        <p:txBody>
          <a:bodyPr wrap="square" lIns="0" tIns="0" rIns="0" bIns="0" rtlCol="0" anchor="ctr"/>
          <a:lstStyle/>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Prospectus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&amp; entry info</a:t>
            </a:r>
            <a:endParaRPr lang="en-US" sz="1000" dirty="0"/>
          </a:p>
        </p:txBody>
      </p:sp>
      <p:sp>
        <p:nvSpPr>
          <p:cNvPr id="29" name="Text 27"/>
          <p:cNvSpPr/>
          <p:nvPr/>
        </p:nvSpPr>
        <p:spPr>
          <a:xfrm>
            <a:off x="8321040" y="3456432"/>
            <a:ext cx="1874520" cy="914400"/>
          </a:xfrm>
          <a:prstGeom prst="rect">
            <a:avLst/>
          </a:prstGeom>
          <a:noFill/>
          <a:ln/>
        </p:spPr>
        <p:txBody>
          <a:bodyPr wrap="square" lIns="0" tIns="0" rIns="0" bIns="0" rtlCol="0" anchor="ctr"/>
          <a:lstStyle/>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1,169 current-student pages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(9 faculties + 3 schools)</a:t>
            </a:r>
            <a:endParaRPr lang="en-US" sz="1000" dirty="0"/>
          </a:p>
        </p:txBody>
      </p:sp>
      <p:sp>
        <p:nvSpPr>
          <p:cNvPr id="30" name="Text 28"/>
          <p:cNvSpPr/>
          <p:nvPr/>
        </p:nvSpPr>
        <p:spPr>
          <a:xfrm>
            <a:off x="10469880" y="3456432"/>
            <a:ext cx="1143000" cy="914400"/>
          </a:xfrm>
          <a:prstGeom prst="rect">
            <a:avLst/>
          </a:prstGeom>
          <a:noFill/>
          <a:ln/>
        </p:spPr>
        <p:txBody>
          <a:bodyPr wrap="square" lIns="0" tIns="0" rIns="0" bIns="0" rtlCol="0" anchor="ctr"/>
          <a:lstStyle/>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Alumni</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networks</a:t>
            </a:r>
            <a:endParaRPr lang="en-US" sz="1000" dirty="0"/>
          </a:p>
        </p:txBody>
      </p:sp>
      <p:sp>
        <p:nvSpPr>
          <p:cNvPr id="31" name="Shape 29"/>
          <p:cNvSpPr/>
          <p:nvPr/>
        </p:nvSpPr>
        <p:spPr>
          <a:xfrm>
            <a:off x="6720840" y="4462272"/>
            <a:ext cx="4892040" cy="219456"/>
          </a:xfrm>
          <a:prstGeom prst="rect">
            <a:avLst/>
          </a:prstGeom>
          <a:solidFill>
            <a:srgbClr val="46C8F0">
              <a:alpha val="50000"/>
            </a:srgbClr>
          </a:solidFill>
          <a:ln/>
        </p:spPr>
      </p:sp>
      <p:sp>
        <p:nvSpPr>
          <p:cNvPr id="32" name="Text 30"/>
          <p:cNvSpPr/>
          <p:nvPr/>
        </p:nvSpPr>
        <p:spPr>
          <a:xfrm>
            <a:off x="6720840" y="4462272"/>
            <a:ext cx="4892040" cy="219456"/>
          </a:xfrm>
          <a:prstGeom prst="rect">
            <a:avLst/>
          </a:prstGeom>
          <a:noFill/>
          <a:ln/>
        </p:spPr>
        <p:txBody>
          <a:bodyPr wrap="square" lIns="0" tIns="0" rIns="0" bIns="0" rtlCol="0" anchor="ctr"/>
          <a:lstStyle/>
          <a:p>
            <a:pPr algn="ctr" indent="0" marL="0">
              <a:buNone/>
            </a:pPr>
            <a:r>
              <a:rPr lang="en-US" sz="750" b="1" spc="50" kern="0" dirty="0">
                <a:solidFill>
                  <a:srgbClr val="000F46"/>
                </a:solidFill>
                <a:latin typeface="Source Code Pro" pitchFamily="34" charset="0"/>
                <a:ea typeface="Source Code Pro" pitchFamily="34" charset="-122"/>
                <a:cs typeface="Source Code Pro" pitchFamily="34" charset="-120"/>
              </a:rPr>
              <a:t>WHERE CONTENT OVERLAPS ACROSS PHASES</a:t>
            </a:r>
            <a:endParaRPr lang="en-US" sz="750" dirty="0"/>
          </a:p>
        </p:txBody>
      </p:sp>
      <p:sp>
        <p:nvSpPr>
          <p:cNvPr id="33" name="Shape 31"/>
          <p:cNvSpPr/>
          <p:nvPr/>
        </p:nvSpPr>
        <p:spPr>
          <a:xfrm>
            <a:off x="6720840" y="4718304"/>
            <a:ext cx="1188720" cy="685800"/>
          </a:xfrm>
          <a:prstGeom prst="rect">
            <a:avLst/>
          </a:prstGeom>
          <a:solidFill>
            <a:srgbClr val="EAF6FB"/>
          </a:solidFill>
          <a:ln w="9525">
            <a:solidFill>
              <a:srgbClr val="2F95B7"/>
            </a:solidFill>
            <a:prstDash val="solid"/>
          </a:ln>
        </p:spPr>
      </p:sp>
      <p:sp>
        <p:nvSpPr>
          <p:cNvPr id="34" name="Text 32"/>
          <p:cNvSpPr/>
          <p:nvPr/>
        </p:nvSpPr>
        <p:spPr>
          <a:xfrm>
            <a:off x="6720840" y="4745736"/>
            <a:ext cx="1188720" cy="274320"/>
          </a:xfrm>
          <a:prstGeom prst="rect">
            <a:avLst/>
          </a:prstGeom>
          <a:noFill/>
          <a:ln/>
        </p:spPr>
        <p:txBody>
          <a:bodyPr wrap="square" lIns="0" tIns="0" rIns="0" bIns="0" rtlCol="0" anchor="ctr"/>
          <a:lstStyle/>
          <a:p>
            <a:pPr algn="ctr" indent="0" marL="0">
              <a:buNone/>
            </a:pPr>
            <a:r>
              <a:rPr lang="en-US" sz="1050" b="1" dirty="0">
                <a:solidFill>
                  <a:srgbClr val="000F46"/>
                </a:solidFill>
                <a:latin typeface="Source Sans 3" pitchFamily="34" charset="0"/>
                <a:ea typeface="Source Sans 3" pitchFamily="34" charset="-122"/>
                <a:cs typeface="Source Sans 3" pitchFamily="34" charset="-120"/>
              </a:rPr>
              <a:t>Careers</a:t>
            </a:r>
            <a:endParaRPr lang="en-US" sz="1050" dirty="0"/>
          </a:p>
        </p:txBody>
      </p:sp>
      <p:sp>
        <p:nvSpPr>
          <p:cNvPr id="35" name="Text 33"/>
          <p:cNvSpPr/>
          <p:nvPr/>
        </p:nvSpPr>
        <p:spPr>
          <a:xfrm>
            <a:off x="6720840" y="5029200"/>
            <a:ext cx="1188720" cy="347472"/>
          </a:xfrm>
          <a:prstGeom prst="rect">
            <a:avLst/>
          </a:prstGeom>
          <a:noFill/>
          <a:ln/>
        </p:spPr>
        <p:txBody>
          <a:bodyPr wrap="square" lIns="0" tIns="0" rIns="0" bIns="0" rtlCol="0" anchor="ctr"/>
          <a:lstStyle/>
          <a:p>
            <a:pPr algn="ctr" indent="0" marL="0">
              <a:lnSpc>
                <a:spcPct val="105000"/>
              </a:lnSpc>
              <a:buNone/>
            </a:pPr>
            <a:r>
              <a:rPr lang="en-US" sz="800" dirty="0">
                <a:solidFill>
                  <a:srgbClr val="5B5B6B"/>
                </a:solidFill>
                <a:latin typeface="Source Code Pro" pitchFamily="34" charset="0"/>
                <a:ea typeface="Source Code Pro" pitchFamily="34" charset="-122"/>
                <a:cs typeface="Source Code Pro" pitchFamily="34" charset="-120"/>
              </a:rPr>
              <a:t>4 estates, none linked</a:t>
            </a:r>
            <a:endParaRPr lang="en-US" sz="800" dirty="0"/>
          </a:p>
        </p:txBody>
      </p:sp>
      <p:sp>
        <p:nvSpPr>
          <p:cNvPr id="36" name="Shape 34"/>
          <p:cNvSpPr/>
          <p:nvPr/>
        </p:nvSpPr>
        <p:spPr>
          <a:xfrm>
            <a:off x="7943850" y="4718304"/>
            <a:ext cx="1188720" cy="685800"/>
          </a:xfrm>
          <a:prstGeom prst="rect">
            <a:avLst/>
          </a:prstGeom>
          <a:solidFill>
            <a:srgbClr val="EAF6FB"/>
          </a:solidFill>
          <a:ln w="9525">
            <a:solidFill>
              <a:srgbClr val="2F95B7"/>
            </a:solidFill>
            <a:prstDash val="solid"/>
          </a:ln>
        </p:spPr>
      </p:sp>
      <p:sp>
        <p:nvSpPr>
          <p:cNvPr id="37" name="Text 35"/>
          <p:cNvSpPr/>
          <p:nvPr/>
        </p:nvSpPr>
        <p:spPr>
          <a:xfrm>
            <a:off x="7943850" y="4745736"/>
            <a:ext cx="1188720" cy="274320"/>
          </a:xfrm>
          <a:prstGeom prst="rect">
            <a:avLst/>
          </a:prstGeom>
          <a:noFill/>
          <a:ln/>
        </p:spPr>
        <p:txBody>
          <a:bodyPr wrap="square" lIns="0" tIns="0" rIns="0" bIns="0" rtlCol="0" anchor="ctr"/>
          <a:lstStyle/>
          <a:p>
            <a:pPr algn="ctr" indent="0" marL="0">
              <a:buNone/>
            </a:pPr>
            <a:r>
              <a:rPr lang="en-US" sz="1050" b="1" dirty="0">
                <a:solidFill>
                  <a:srgbClr val="000F46"/>
                </a:solidFill>
                <a:latin typeface="Source Sans 3" pitchFamily="34" charset="0"/>
                <a:ea typeface="Source Sans 3" pitchFamily="34" charset="-122"/>
                <a:cs typeface="Source Sans 3" pitchFamily="34" charset="-120"/>
              </a:rPr>
              <a:t>Mentoring</a:t>
            </a:r>
            <a:endParaRPr lang="en-US" sz="1050" dirty="0"/>
          </a:p>
        </p:txBody>
      </p:sp>
      <p:sp>
        <p:nvSpPr>
          <p:cNvPr id="38" name="Text 36"/>
          <p:cNvSpPr/>
          <p:nvPr/>
        </p:nvSpPr>
        <p:spPr>
          <a:xfrm>
            <a:off x="7943850" y="5029200"/>
            <a:ext cx="1188720" cy="347472"/>
          </a:xfrm>
          <a:prstGeom prst="rect">
            <a:avLst/>
          </a:prstGeom>
          <a:noFill/>
          <a:ln/>
        </p:spPr>
        <p:txBody>
          <a:bodyPr wrap="square" lIns="0" tIns="0" rIns="0" bIns="0" rtlCol="0" anchor="ctr"/>
          <a:lstStyle/>
          <a:p>
            <a:pPr algn="ctr" indent="0" marL="0">
              <a:lnSpc>
                <a:spcPct val="105000"/>
              </a:lnSpc>
              <a:buNone/>
            </a:pPr>
            <a:r>
              <a:rPr lang="en-US" sz="800" dirty="0">
                <a:solidFill>
                  <a:srgbClr val="5B5B6B"/>
                </a:solidFill>
                <a:latin typeface="Source Code Pro" pitchFamily="34" charset="0"/>
                <a:ea typeface="Source Code Pro" pitchFamily="34" charset="-122"/>
                <a:cs typeface="Source Code Pro" pitchFamily="34" charset="-120"/>
              </a:rPr>
              <a:t>faculty ↔ alumni, no link</a:t>
            </a:r>
            <a:endParaRPr lang="en-US" sz="800" dirty="0"/>
          </a:p>
        </p:txBody>
      </p:sp>
      <p:sp>
        <p:nvSpPr>
          <p:cNvPr id="39" name="Shape 37"/>
          <p:cNvSpPr/>
          <p:nvPr/>
        </p:nvSpPr>
        <p:spPr>
          <a:xfrm>
            <a:off x="9166860" y="4718304"/>
            <a:ext cx="1188720" cy="685800"/>
          </a:xfrm>
          <a:prstGeom prst="rect">
            <a:avLst/>
          </a:prstGeom>
          <a:solidFill>
            <a:srgbClr val="EAF6FB"/>
          </a:solidFill>
          <a:ln w="9525">
            <a:solidFill>
              <a:srgbClr val="2F95B7"/>
            </a:solidFill>
            <a:prstDash val="solid"/>
          </a:ln>
        </p:spPr>
      </p:sp>
      <p:sp>
        <p:nvSpPr>
          <p:cNvPr id="40" name="Text 38"/>
          <p:cNvSpPr/>
          <p:nvPr/>
        </p:nvSpPr>
        <p:spPr>
          <a:xfrm>
            <a:off x="9166860" y="4745736"/>
            <a:ext cx="1188720" cy="274320"/>
          </a:xfrm>
          <a:prstGeom prst="rect">
            <a:avLst/>
          </a:prstGeom>
          <a:noFill/>
          <a:ln/>
        </p:spPr>
        <p:txBody>
          <a:bodyPr wrap="square" lIns="0" tIns="0" rIns="0" bIns="0" rtlCol="0" anchor="ctr"/>
          <a:lstStyle/>
          <a:p>
            <a:pPr algn="ctr" indent="0" marL="0">
              <a:buNone/>
            </a:pPr>
            <a:r>
              <a:rPr lang="en-US" sz="1050" b="1" dirty="0">
                <a:solidFill>
                  <a:srgbClr val="000F46"/>
                </a:solidFill>
                <a:latin typeface="Source Sans 3" pitchFamily="34" charset="0"/>
                <a:ea typeface="Source Sans 3" pitchFamily="34" charset="-122"/>
                <a:cs typeface="Source Sans 3" pitchFamily="34" charset="-120"/>
              </a:rPr>
              <a:t>Course info</a:t>
            </a:r>
            <a:endParaRPr lang="en-US" sz="1050" dirty="0"/>
          </a:p>
        </p:txBody>
      </p:sp>
      <p:sp>
        <p:nvSpPr>
          <p:cNvPr id="41" name="Text 39"/>
          <p:cNvSpPr/>
          <p:nvPr/>
        </p:nvSpPr>
        <p:spPr>
          <a:xfrm>
            <a:off x="9166860" y="5029200"/>
            <a:ext cx="1188720" cy="347472"/>
          </a:xfrm>
          <a:prstGeom prst="rect">
            <a:avLst/>
          </a:prstGeom>
          <a:noFill/>
          <a:ln/>
        </p:spPr>
        <p:txBody>
          <a:bodyPr wrap="square" lIns="0" tIns="0" rIns="0" bIns="0" rtlCol="0" anchor="ctr"/>
          <a:lstStyle/>
          <a:p>
            <a:pPr algn="ctr" indent="0" marL="0">
              <a:lnSpc>
                <a:spcPct val="105000"/>
              </a:lnSpc>
              <a:buNone/>
            </a:pPr>
            <a:r>
              <a:rPr lang="en-US" sz="800" dirty="0">
                <a:solidFill>
                  <a:srgbClr val="5B5B6B"/>
                </a:solidFill>
                <a:latin typeface="Source Code Pro" pitchFamily="34" charset="0"/>
                <a:ea typeface="Source Code Pro" pitchFamily="34" charset="-122"/>
                <a:cs typeface="Source Code Pro" pitchFamily="34" charset="-120"/>
              </a:rPr>
              <a:t>529 back-links, no forward path</a:t>
            </a:r>
            <a:endParaRPr lang="en-US" sz="800" dirty="0"/>
          </a:p>
        </p:txBody>
      </p:sp>
      <p:sp>
        <p:nvSpPr>
          <p:cNvPr id="42" name="Shape 40"/>
          <p:cNvSpPr/>
          <p:nvPr/>
        </p:nvSpPr>
        <p:spPr>
          <a:xfrm>
            <a:off x="10389870" y="4718304"/>
            <a:ext cx="1188720" cy="685800"/>
          </a:xfrm>
          <a:prstGeom prst="rect">
            <a:avLst/>
          </a:prstGeom>
          <a:solidFill>
            <a:srgbClr val="EAF6FB"/>
          </a:solidFill>
          <a:ln w="9525">
            <a:solidFill>
              <a:srgbClr val="2F95B7"/>
            </a:solidFill>
            <a:prstDash val="solid"/>
          </a:ln>
        </p:spPr>
      </p:sp>
      <p:sp>
        <p:nvSpPr>
          <p:cNvPr id="43" name="Text 41"/>
          <p:cNvSpPr/>
          <p:nvPr/>
        </p:nvSpPr>
        <p:spPr>
          <a:xfrm>
            <a:off x="10389870" y="4745736"/>
            <a:ext cx="1188720" cy="274320"/>
          </a:xfrm>
          <a:prstGeom prst="rect">
            <a:avLst/>
          </a:prstGeom>
          <a:noFill/>
          <a:ln/>
        </p:spPr>
        <p:txBody>
          <a:bodyPr wrap="square" lIns="0" tIns="0" rIns="0" bIns="0" rtlCol="0" anchor="ctr"/>
          <a:lstStyle/>
          <a:p>
            <a:pPr algn="ctr" indent="0" marL="0">
              <a:buNone/>
            </a:pPr>
            <a:r>
              <a:rPr lang="en-US" sz="1050" b="1" dirty="0">
                <a:solidFill>
                  <a:srgbClr val="000F46"/>
                </a:solidFill>
                <a:latin typeface="Source Sans 3" pitchFamily="34" charset="0"/>
                <a:ea typeface="Source Sans 3" pitchFamily="34" charset="-122"/>
                <a:cs typeface="Source Sans 3" pitchFamily="34" charset="-120"/>
              </a:rPr>
              <a:t>Scholarships</a:t>
            </a:r>
            <a:endParaRPr lang="en-US" sz="1050" dirty="0"/>
          </a:p>
        </p:txBody>
      </p:sp>
      <p:sp>
        <p:nvSpPr>
          <p:cNvPr id="44" name="Text 42"/>
          <p:cNvSpPr/>
          <p:nvPr/>
        </p:nvSpPr>
        <p:spPr>
          <a:xfrm>
            <a:off x="10389870" y="5029200"/>
            <a:ext cx="1188720" cy="347472"/>
          </a:xfrm>
          <a:prstGeom prst="rect">
            <a:avLst/>
          </a:prstGeom>
          <a:noFill/>
          <a:ln/>
        </p:spPr>
        <p:txBody>
          <a:bodyPr wrap="square" lIns="0" tIns="0" rIns="0" bIns="0" rtlCol="0" anchor="ctr"/>
          <a:lstStyle/>
          <a:p>
            <a:pPr algn="ctr" indent="0" marL="0">
              <a:lnSpc>
                <a:spcPct val="105000"/>
              </a:lnSpc>
              <a:buNone/>
            </a:pPr>
            <a:r>
              <a:rPr lang="en-US" sz="800" dirty="0">
                <a:solidFill>
                  <a:srgbClr val="5B5B6B"/>
                </a:solidFill>
                <a:latin typeface="Source Code Pro" pitchFamily="34" charset="0"/>
                <a:ea typeface="Source Code Pro" pitchFamily="34" charset="-122"/>
                <a:cs typeface="Source Code Pro" pitchFamily="34" charset="-120"/>
              </a:rPr>
              <a:t>3 presences, 1 unused entry point</a:t>
            </a:r>
            <a:endParaRPr lang="en-US" sz="800" dirty="0"/>
          </a:p>
        </p:txBody>
      </p:sp>
      <p:sp>
        <p:nvSpPr>
          <p:cNvPr id="45" name="Shape 43"/>
          <p:cNvSpPr/>
          <p:nvPr/>
        </p:nvSpPr>
        <p:spPr>
          <a:xfrm>
            <a:off x="566928" y="5559552"/>
            <a:ext cx="10881360" cy="621792"/>
          </a:xfrm>
          <a:prstGeom prst="rect">
            <a:avLst/>
          </a:prstGeom>
          <a:solidFill>
            <a:srgbClr val="EAF6FB"/>
          </a:solidFill>
          <a:ln/>
        </p:spPr>
      </p:sp>
      <p:sp>
        <p:nvSpPr>
          <p:cNvPr id="46" name="Shape 44"/>
          <p:cNvSpPr/>
          <p:nvPr/>
        </p:nvSpPr>
        <p:spPr>
          <a:xfrm>
            <a:off x="566928" y="5559552"/>
            <a:ext cx="91440" cy="621792"/>
          </a:xfrm>
          <a:prstGeom prst="rect">
            <a:avLst/>
          </a:prstGeom>
          <a:solidFill>
            <a:srgbClr val="46C8F0"/>
          </a:solidFill>
          <a:ln/>
        </p:spPr>
      </p:sp>
      <p:sp>
        <p:nvSpPr>
          <p:cNvPr id="47" name="Text 45"/>
          <p:cNvSpPr/>
          <p:nvPr/>
        </p:nvSpPr>
        <p:spPr>
          <a:xfrm>
            <a:off x="868680" y="5559552"/>
            <a:ext cx="10332720" cy="621792"/>
          </a:xfrm>
          <a:prstGeom prst="rect">
            <a:avLst/>
          </a:prstGeom>
          <a:noFill/>
          <a:ln/>
        </p:spPr>
        <p:txBody>
          <a:bodyPr wrap="square" lIns="0" tIns="0" rIns="0" bIns="0" rtlCol="0" anchor="ctr"/>
          <a:lstStyle/>
          <a:p>
            <a:pPr indent="0" marL="0">
              <a:buNone/>
            </a:pPr>
            <a:r>
              <a:rPr lang="en-US" sz="13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300" dirty="0">
                <a:solidFill>
                  <a:srgbClr val="000B34"/>
                </a:solidFill>
                <a:latin typeface="Source Sans 3" pitchFamily="34" charset="0"/>
                <a:ea typeface="Source Sans 3" pitchFamily="34" charset="-122"/>
                <a:cs typeface="Source Sans 3" pitchFamily="34" charset="-120"/>
              </a:rPr>
              <a:t>Is this the right picture of where the estate sits? Where does the faculty presence in all three phases create useful duplication — and where is it a broken thread?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Where overlap shows up — and where it matters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6</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finding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user?</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731520"/>
          </a:xfrm>
          <a:prstGeom prst="rect">
            <a:avLst/>
          </a:prstGeom>
          <a:solidFill>
            <a:srgbClr val="FFFFFF"/>
          </a:solidFill>
          <a:ln w="12700">
            <a:solidFill>
              <a:srgbClr val="DDDDE7"/>
            </a:solidFill>
            <a:prstDash val="solid"/>
          </a:ln>
        </p:spPr>
      </p:sp>
      <p:sp>
        <p:nvSpPr>
          <p:cNvPr id="11" name="Text 9"/>
          <p:cNvSpPr/>
          <p:nvPr/>
        </p:nvSpPr>
        <p:spPr>
          <a:xfrm>
            <a:off x="7150608" y="192024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Mentoring: 12 faculty alumni programs + matching student programs on all faculties. Neither side links to the other.</a:t>
            </a:r>
            <a:endParaRPr lang="en-US" sz="1050" dirty="0"/>
          </a:p>
        </p:txBody>
      </p:sp>
      <p:sp>
        <p:nvSpPr>
          <p:cNvPr id="12" name="Shape 10"/>
          <p:cNvSpPr/>
          <p:nvPr/>
        </p:nvSpPr>
        <p:spPr>
          <a:xfrm>
            <a:off x="7022592" y="2743200"/>
            <a:ext cx="4389120" cy="731520"/>
          </a:xfrm>
          <a:prstGeom prst="rect">
            <a:avLst/>
          </a:prstGeom>
          <a:solidFill>
            <a:srgbClr val="FFFFFF"/>
          </a:solidFill>
          <a:ln w="12700">
            <a:solidFill>
              <a:srgbClr val="DDDDE7"/>
            </a:solidFill>
            <a:prstDash val="solid"/>
          </a:ln>
        </p:spPr>
      </p:sp>
      <p:sp>
        <p:nvSpPr>
          <p:cNvPr id="13" name="Text 11"/>
          <p:cNvSpPr/>
          <p:nvPr/>
        </p:nvSpPr>
        <p:spPr>
          <a:xfrm>
            <a:off x="7150608" y="274320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Careers: 4 parallel presences — Current Students Website, 8 faculties, study.unimelb, alumni. No cross-links in any direction.</a:t>
            </a:r>
            <a:endParaRPr lang="en-US" sz="1050" dirty="0"/>
          </a:p>
        </p:txBody>
      </p:sp>
      <p:sp>
        <p:nvSpPr>
          <p:cNvPr id="14" name="Shape 12"/>
          <p:cNvSpPr/>
          <p:nvPr/>
        </p:nvSpPr>
        <p:spPr>
          <a:xfrm>
            <a:off x="7022592" y="3566160"/>
            <a:ext cx="4389120" cy="731520"/>
          </a:xfrm>
          <a:prstGeom prst="rect">
            <a:avLst/>
          </a:prstGeom>
          <a:solidFill>
            <a:srgbClr val="FFFFFF"/>
          </a:solidFill>
          <a:ln w="12700">
            <a:solidFill>
              <a:srgbClr val="DDDDE7"/>
            </a:solidFill>
            <a:prstDash val="solid"/>
          </a:ln>
        </p:spPr>
      </p:sp>
      <p:sp>
        <p:nvSpPr>
          <p:cNvPr id="15" name="Text 13"/>
          <p:cNvSpPr/>
          <p:nvPr/>
        </p:nvSpPr>
        <p:spPr>
          <a:xfrm>
            <a:off x="7150608" y="356616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Graduation exit: 0 current-student pages link to alumni, including graduation pages. No web path forward.</a:t>
            </a:r>
            <a:endParaRPr lang="en-US" sz="1050" dirty="0"/>
          </a:p>
        </p:txBody>
      </p:sp>
      <p:sp>
        <p:nvSpPr>
          <p:cNvPr id="16" name="Shape 14"/>
          <p:cNvSpPr/>
          <p:nvPr/>
        </p:nvSpPr>
        <p:spPr>
          <a:xfrm>
            <a:off x="7022592" y="4389120"/>
            <a:ext cx="4389120" cy="731520"/>
          </a:xfrm>
          <a:prstGeom prst="rect">
            <a:avLst/>
          </a:prstGeom>
          <a:solidFill>
            <a:srgbClr val="FFFFFF"/>
          </a:solidFill>
          <a:ln w="12700">
            <a:solidFill>
              <a:srgbClr val="DDDDE7"/>
            </a:solidFill>
            <a:prstDash val="solid"/>
          </a:ln>
        </p:spPr>
      </p:sp>
      <p:sp>
        <p:nvSpPr>
          <p:cNvPr id="17" name="Text 15"/>
          <p:cNvSpPr/>
          <p:nvPr/>
        </p:nvSpPr>
        <p:spPr>
          <a:xfrm>
            <a:off x="7150608" y="438912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study.unimelb: 529 links from faculty pages back to the prospective site — deliberate when study.unimelb was set up. Is the enrolled-student experience on these journeys working as intended?</a:t>
            </a:r>
            <a:endParaRPr lang="en-US" sz="1050" dirty="0"/>
          </a:p>
        </p:txBody>
      </p:sp>
      <p:sp>
        <p:nvSpPr>
          <p:cNvPr id="18" name="Shape 16"/>
          <p:cNvSpPr/>
          <p:nvPr/>
        </p:nvSpPr>
        <p:spPr>
          <a:xfrm>
            <a:off x="7022592" y="5212080"/>
            <a:ext cx="4389120" cy="731520"/>
          </a:xfrm>
          <a:prstGeom prst="rect">
            <a:avLst/>
          </a:prstGeom>
          <a:solidFill>
            <a:srgbClr val="FFFFFF"/>
          </a:solidFill>
          <a:ln w="12700">
            <a:solidFill>
              <a:srgbClr val="DDDDE7"/>
            </a:solidFill>
            <a:prstDash val="solid"/>
          </a:ln>
        </p:spPr>
      </p:sp>
      <p:sp>
        <p:nvSpPr>
          <p:cNvPr id="19" name="Text 17"/>
          <p:cNvSpPr/>
          <p:nvPr/>
        </p:nvSpPr>
        <p:spPr>
          <a:xfrm>
            <a:off x="7150608" y="521208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Scholarships: 3 separate presences — 141 faculty pages, 75 on study.unimelb, 1 on alumni. scholarships.unimelb.edu.au is the dedicated entry point; none of the three link to it.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What's already in flight</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7</a:t>
            </a:r>
            <a:endParaRPr lang="en-US" sz="900" dirty="0"/>
          </a:p>
        </p:txBody>
      </p:sp>
      <p:sp>
        <p:nvSpPr>
          <p:cNvPr id="6" name="Text 4"/>
          <p:cNvSpPr/>
          <p:nvPr/>
        </p:nvSpPr>
        <p:spPr>
          <a:xfrm>
            <a:off x="566928" y="132588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Initiatives already underway — to build on rather than duplicate.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64240" cy="914400"/>
        </p:xfrm>
        <a:graphic>
          <a:graphicData uri="http://schemas.openxmlformats.org/drawingml/2006/table">
            <a:tbl>
              <a:tblPr/>
              <a:tblGrid>
                <a:gridCol w="6217920"/>
                <a:gridCol w="2926080"/>
                <a:gridCol w="1920240"/>
              </a:tblGrid>
              <a:tr h="566928">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Initiative</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Owner area</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Status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89320"/>
            <a:ext cx="10881360" cy="274320"/>
          </a:xfrm>
          <a:prstGeom prst="rect">
            <a:avLst/>
          </a:prstGeom>
          <a:noFill/>
          <a:ln/>
        </p:spPr>
        <p:txBody>
          <a:bodyPr wrap="square" lIns="0" tIns="0" rIns="0" bIns="0" rtlCol="0" anchor="ctr"/>
          <a:lstStyle/>
          <a:p>
            <a:pPr indent="0" marL="0">
              <a:buNone/>
            </a:pPr>
            <a:r>
              <a:rPr lang="en-US" sz="950" dirty="0">
                <a:solidFill>
                  <a:srgbClr val="5B5B6B"/>
                </a:solidFill>
                <a:latin typeface="Source Code Pro" pitchFamily="34" charset="0"/>
                <a:ea typeface="Source Code Pro" pitchFamily="34" charset="-122"/>
                <a:cs typeface="Source Code Pro" pitchFamily="34" charset="-120"/>
              </a:rPr>
              <a:t>Pre-populate any known initiatives before the session — or capture from the room.</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Capturing today's discussion</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8</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i="1" dirty="0">
                <a:solidFill>
                  <a:srgbClr val="1C1C28"/>
                </a:solidFill>
                <a:latin typeface="Source Sans 3" pitchFamily="34" charset="0"/>
                <a:ea typeface="Source Sans 3" pitchFamily="34" charset="-122"/>
                <a:cs typeface="Source Sans 3" pitchFamily="34" charset="-120"/>
              </a:rPr>
              <a:t>We'll capture the conversation here — to revisit together, not to conclude today.</a:t>
            </a:r>
            <a:endParaRPr lang="en-US" sz="1500" dirty="0"/>
          </a:p>
        </p:txBody>
      </p:sp>
      <p:sp>
        <p:nvSpPr>
          <p:cNvPr id="7" name="Shape 5"/>
          <p:cNvSpPr/>
          <p:nvPr/>
        </p:nvSpPr>
        <p:spPr>
          <a:xfrm>
            <a:off x="566928" y="1920240"/>
            <a:ext cx="2633472" cy="548640"/>
          </a:xfrm>
          <a:prstGeom prst="rect">
            <a:avLst/>
          </a:prstGeom>
          <a:solidFill>
            <a:srgbClr val="000F46"/>
          </a:solidFill>
          <a:ln/>
        </p:spPr>
      </p:sp>
      <p:sp>
        <p:nvSpPr>
          <p:cNvPr id="8" name="Text 6"/>
          <p:cNvSpPr/>
          <p:nvPr/>
        </p:nvSpPr>
        <p:spPr>
          <a:xfrm>
            <a:off x="676656"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Overlaps to align</a:t>
            </a:r>
            <a:endParaRPr lang="en-US" sz="1250" dirty="0"/>
          </a:p>
        </p:txBody>
      </p:sp>
      <p:sp>
        <p:nvSpPr>
          <p:cNvPr id="9" name="Shape 7"/>
          <p:cNvSpPr/>
          <p:nvPr/>
        </p:nvSpPr>
        <p:spPr>
          <a:xfrm>
            <a:off x="566928" y="2468880"/>
            <a:ext cx="2633472" cy="3566160"/>
          </a:xfrm>
          <a:prstGeom prst="rect">
            <a:avLst/>
          </a:prstGeom>
          <a:solidFill>
            <a:srgbClr val="F4F4F4"/>
          </a:solidFill>
          <a:ln w="12700">
            <a:solidFill>
              <a:srgbClr val="DDDDE7"/>
            </a:solidFill>
            <a:prstDash val="solid"/>
          </a:ln>
        </p:spPr>
      </p:sp>
      <p:sp>
        <p:nvSpPr>
          <p:cNvPr id="10" name="Shape 8"/>
          <p:cNvSpPr/>
          <p:nvPr/>
        </p:nvSpPr>
        <p:spPr>
          <a:xfrm>
            <a:off x="3337560" y="1920240"/>
            <a:ext cx="2633472" cy="548640"/>
          </a:xfrm>
          <a:prstGeom prst="rect">
            <a:avLst/>
          </a:prstGeom>
          <a:solidFill>
            <a:srgbClr val="000F46"/>
          </a:solidFill>
          <a:ln/>
        </p:spPr>
      </p:sp>
      <p:sp>
        <p:nvSpPr>
          <p:cNvPr id="11" name="Text 9"/>
          <p:cNvSpPr/>
          <p:nvPr/>
        </p:nvSpPr>
        <p:spPr>
          <a:xfrm>
            <a:off x="3447288"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Already in flight</a:t>
            </a:r>
            <a:endParaRPr lang="en-US" sz="1250" dirty="0"/>
          </a:p>
        </p:txBody>
      </p:sp>
      <p:sp>
        <p:nvSpPr>
          <p:cNvPr id="12" name="Shape 10"/>
          <p:cNvSpPr/>
          <p:nvPr/>
        </p:nvSpPr>
        <p:spPr>
          <a:xfrm>
            <a:off x="3337560" y="2468880"/>
            <a:ext cx="2633472" cy="3566160"/>
          </a:xfrm>
          <a:prstGeom prst="rect">
            <a:avLst/>
          </a:prstGeom>
          <a:solidFill>
            <a:srgbClr val="F4F4F4"/>
          </a:solidFill>
          <a:ln w="12700">
            <a:solidFill>
              <a:srgbClr val="DDDDE7"/>
            </a:solidFill>
            <a:prstDash val="solid"/>
          </a:ln>
        </p:spPr>
      </p:sp>
      <p:sp>
        <p:nvSpPr>
          <p:cNvPr id="13" name="Shape 11"/>
          <p:cNvSpPr/>
          <p:nvPr/>
        </p:nvSpPr>
        <p:spPr>
          <a:xfrm>
            <a:off x="6108192" y="1920240"/>
            <a:ext cx="2633472" cy="548640"/>
          </a:xfrm>
          <a:prstGeom prst="rect">
            <a:avLst/>
          </a:prstGeom>
          <a:solidFill>
            <a:srgbClr val="000F46"/>
          </a:solidFill>
          <a:ln/>
        </p:spPr>
      </p:sp>
      <p:sp>
        <p:nvSpPr>
          <p:cNvPr id="14" name="Text 12"/>
          <p:cNvSpPr/>
          <p:nvPr/>
        </p:nvSpPr>
        <p:spPr>
          <a:xfrm>
            <a:off x="6217920"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Worth exploring</a:t>
            </a:r>
            <a:endParaRPr lang="en-US" sz="1250" dirty="0"/>
          </a:p>
        </p:txBody>
      </p:sp>
      <p:sp>
        <p:nvSpPr>
          <p:cNvPr id="15" name="Shape 13"/>
          <p:cNvSpPr/>
          <p:nvPr/>
        </p:nvSpPr>
        <p:spPr>
          <a:xfrm>
            <a:off x="6108192" y="2468880"/>
            <a:ext cx="2633472" cy="3566160"/>
          </a:xfrm>
          <a:prstGeom prst="rect">
            <a:avLst/>
          </a:prstGeom>
          <a:solidFill>
            <a:srgbClr val="F4F4F4"/>
          </a:solidFill>
          <a:ln w="12700">
            <a:solidFill>
              <a:srgbClr val="DDDDE7"/>
            </a:solidFill>
            <a:prstDash val="solid"/>
          </a:ln>
        </p:spPr>
      </p:sp>
      <p:sp>
        <p:nvSpPr>
          <p:cNvPr id="16" name="Shape 14"/>
          <p:cNvSpPr/>
          <p:nvPr/>
        </p:nvSpPr>
        <p:spPr>
          <a:xfrm>
            <a:off x="8878824" y="1920240"/>
            <a:ext cx="2633472" cy="548640"/>
          </a:xfrm>
          <a:prstGeom prst="rect">
            <a:avLst/>
          </a:prstGeom>
          <a:solidFill>
            <a:srgbClr val="000F46"/>
          </a:solidFill>
          <a:ln/>
        </p:spPr>
      </p:sp>
      <p:sp>
        <p:nvSpPr>
          <p:cNvPr id="17" name="Text 15"/>
          <p:cNvSpPr/>
          <p:nvPr/>
        </p:nvSpPr>
        <p:spPr>
          <a:xfrm>
            <a:off x="8988552"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Owners / next step</a:t>
            </a:r>
            <a:endParaRPr lang="en-US" sz="1250" dirty="0"/>
          </a:p>
        </p:txBody>
      </p:sp>
      <p:sp>
        <p:nvSpPr>
          <p:cNvPr id="18" name="Shape 16"/>
          <p:cNvSpPr/>
          <p:nvPr/>
        </p:nvSpPr>
        <p:spPr>
          <a:xfrm>
            <a:off x="8878824" y="2468880"/>
            <a:ext cx="2633472" cy="3566160"/>
          </a:xfrm>
          <a:prstGeom prst="rect">
            <a:avLst/>
          </a:prstGeom>
          <a:solidFill>
            <a:srgbClr val="F4F4F4"/>
          </a:solidFill>
          <a:ln w="12700">
            <a:solidFill>
              <a:srgbClr val="DDDDE7"/>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F46"/>
        </a:solidFill>
      </p:bgPr>
    </p:bg>
    <p:spTree>
      <p:nvGrpSpPr>
        <p:cNvPr id="1" name=""/>
        <p:cNvGrpSpPr/>
        <p:nvPr/>
      </p:nvGrpSpPr>
      <p:grpSpPr>
        <a:xfrm>
          <a:off x="0" y="0"/>
          <a:ext cx="0" cy="0"/>
          <a:chOff x="0" y="0"/>
          <a:chExt cx="0" cy="0"/>
        </a:xfrm>
      </p:grpSpPr>
      <p:sp>
        <p:nvSpPr>
          <p:cNvPr id="2" name="Shape 0"/>
          <p:cNvSpPr/>
          <p:nvPr/>
        </p:nvSpPr>
        <p:spPr>
          <a:xfrm>
            <a:off x="566928" y="658368"/>
            <a:ext cx="274320" cy="274320"/>
          </a:xfrm>
          <a:prstGeom prst="rect">
            <a:avLst/>
          </a:prstGeom>
          <a:solidFill>
            <a:srgbClr val="46C8F0"/>
          </a:solidFill>
          <a:ln/>
        </p:spPr>
      </p:sp>
      <p:sp>
        <p:nvSpPr>
          <p:cNvPr id="3" name="Text 1"/>
          <p:cNvSpPr/>
          <p:nvPr/>
        </p:nvSpPr>
        <p:spPr>
          <a:xfrm>
            <a:off x="969264" y="54864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Fraunces" pitchFamily="34" charset="0"/>
                <a:ea typeface="Fraunces" pitchFamily="34" charset="-122"/>
                <a:cs typeface="Fraunces" pitchFamily="34" charset="-120"/>
              </a:rPr>
              <a:t>Where to from here — together</a:t>
            </a:r>
            <a:endParaRPr lang="en-US" sz="3200" dirty="0"/>
          </a:p>
        </p:txBody>
      </p:sp>
      <p:sp>
        <p:nvSpPr>
          <p:cNvPr id="4" name="Text 2"/>
          <p:cNvSpPr/>
          <p:nvPr/>
        </p:nvSpPr>
        <p:spPr>
          <a:xfrm>
            <a:off x="585216" y="1508760"/>
            <a:ext cx="10058400" cy="457200"/>
          </a:xfrm>
          <a:prstGeom prst="rect">
            <a:avLst/>
          </a:prstGeom>
          <a:noFill/>
          <a:ln/>
        </p:spPr>
        <p:txBody>
          <a:bodyPr wrap="square" lIns="0" tIns="0" rIns="0" bIns="0" rtlCol="0" anchor="ctr"/>
          <a:lstStyle/>
          <a:p>
            <a:pPr indent="0" marL="0">
              <a:buNone/>
            </a:pPr>
            <a:r>
              <a:rPr lang="en-US" sz="1700" i="1" dirty="0">
                <a:solidFill>
                  <a:srgbClr val="46C8F0"/>
                </a:solidFill>
                <a:latin typeface="Source Sans 3" pitchFamily="34" charset="0"/>
                <a:ea typeface="Source Sans 3" pitchFamily="34" charset="-122"/>
                <a:cs typeface="Source Sans 3" pitchFamily="34" charset="-120"/>
              </a:rPr>
              <a:t>Not conclusions — questions to take forward.</a:t>
            </a:r>
            <a:endParaRPr lang="en-US" sz="1700" dirty="0"/>
          </a:p>
        </p:txBody>
      </p:sp>
      <p:sp>
        <p:nvSpPr>
          <p:cNvPr id="5" name="Text 3"/>
          <p:cNvSpPr/>
          <p:nvPr/>
        </p:nvSpPr>
        <p:spPr>
          <a:xfrm>
            <a:off x="603504" y="2286000"/>
            <a:ext cx="10424160" cy="32918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Across all areas: what did we agree are the real overlaps?</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What is already in flight that we could connect or build on?</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For the biggest overlap — what is one next step, and who is involved?</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How will we keep aligned as this work continues?</a:t>
            </a:r>
            <a:endParaRPr lang="en-US" sz="1800" dirty="0"/>
          </a:p>
        </p:txBody>
      </p:sp>
      <p:pic>
        <p:nvPicPr>
          <p:cNvPr id="6"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01200" y="6053328"/>
            <a:ext cx="2011680" cy="632143"/>
          </a:xfrm>
          <a:prstGeom prst="rect">
            <a:avLst/>
          </a:prstGeom>
        </p:spPr>
      </p:pic>
      <p:sp>
        <p:nvSpPr>
          <p:cNvPr id="7" name="Text 4"/>
          <p:cNvSpPr/>
          <p:nvPr/>
        </p:nvSpPr>
        <p:spPr>
          <a:xfrm>
            <a:off x="603504" y="6217920"/>
            <a:ext cx="5486400" cy="365760"/>
          </a:xfrm>
          <a:prstGeom prst="rect">
            <a:avLst/>
          </a:prstGeom>
          <a:noFill/>
          <a:ln/>
        </p:spPr>
        <p:txBody>
          <a:bodyPr wrap="square" lIns="0" tIns="0" rIns="0" bIns="0" rtlCol="0" anchor="ctr"/>
          <a:lstStyle/>
          <a:p>
            <a:pPr indent="0" marL="0">
              <a:buNone/>
            </a:pPr>
            <a:r>
              <a:rPr lang="en-US" sz="1200" dirty="0">
                <a:solidFill>
                  <a:srgbClr val="C9CDE6"/>
                </a:solidFill>
                <a:latin typeface="Source Code Pro" pitchFamily="34" charset="0"/>
                <a:ea typeface="Source Code Pro" pitchFamily="34" charset="-122"/>
                <a:cs typeface="Source Code Pro" pitchFamily="34" charset="-120"/>
              </a:rPr>
              <a:t>Thank you · discussion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B34"/>
        </a:solidFill>
      </p:bgPr>
    </p:bg>
    <p:spTree>
      <p:nvGrpSpPr>
        <p:cNvPr id="1" name=""/>
        <p:cNvGrpSpPr/>
        <p:nvPr/>
      </p:nvGrpSpPr>
      <p:grpSpPr>
        <a:xfrm>
          <a:off x="0" y="0"/>
          <a:ext cx="0" cy="0"/>
          <a:chOff x="0" y="0"/>
          <a:chExt cx="0" cy="0"/>
        </a:xfrm>
      </p:grpSpPr>
      <p:sp>
        <p:nvSpPr>
          <p:cNvPr id="2" name="Shape 0"/>
          <p:cNvSpPr/>
          <p:nvPr/>
        </p:nvSpPr>
        <p:spPr>
          <a:xfrm>
            <a:off x="566928" y="2926080"/>
            <a:ext cx="292608" cy="292608"/>
          </a:xfrm>
          <a:prstGeom prst="rect">
            <a:avLst/>
          </a:prstGeom>
          <a:solidFill>
            <a:srgbClr val="46C8F0"/>
          </a:solidFill>
          <a:ln/>
        </p:spPr>
      </p:sp>
      <p:sp>
        <p:nvSpPr>
          <p:cNvPr id="3" name="Text 1"/>
          <p:cNvSpPr/>
          <p:nvPr/>
        </p:nvSpPr>
        <p:spPr>
          <a:xfrm>
            <a:off x="987552" y="2788920"/>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Fraunces" pitchFamily="34" charset="0"/>
                <a:ea typeface="Fraunces" pitchFamily="34" charset="-122"/>
                <a:cs typeface="Fraunces" pitchFamily="34" charset="-120"/>
              </a:rPr>
              <a:t>Appendix</a:t>
            </a:r>
            <a:endParaRPr lang="en-US" sz="3400" dirty="0"/>
          </a:p>
        </p:txBody>
      </p:sp>
      <p:sp>
        <p:nvSpPr>
          <p:cNvPr id="4" name="Text 2"/>
          <p:cNvSpPr/>
          <p:nvPr/>
        </p:nvSpPr>
        <p:spPr>
          <a:xfrm>
            <a:off x="585216" y="3611880"/>
            <a:ext cx="9601200" cy="457200"/>
          </a:xfrm>
          <a:prstGeom prst="rect">
            <a:avLst/>
          </a:prstGeom>
          <a:noFill/>
          <a:ln/>
        </p:spPr>
        <p:txBody>
          <a:bodyPr wrap="square" lIns="0" tIns="0" rIns="0" bIns="0" rtlCol="0" anchor="ctr"/>
          <a:lstStyle/>
          <a:p>
            <a:pPr indent="0" marL="0">
              <a:buNone/>
            </a:pPr>
            <a:r>
              <a:rPr lang="en-US" sz="1500" dirty="0">
                <a:solidFill>
                  <a:srgbClr val="C9CDE6"/>
                </a:solidFill>
                <a:latin typeface="Source Sans 3" pitchFamily="34" charset="0"/>
                <a:ea typeface="Source Sans 3" pitchFamily="34" charset="-122"/>
                <a:cs typeface="Source Sans 3" pitchFamily="34" charset="-120"/>
              </a:rPr>
              <a:t>Backup detail — per-faculty data, for reference if the discussion calls for specifics.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Who holds what — pages by faculty and topic</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64240" cy="914400"/>
        </p:xfrm>
        <a:graphic>
          <a:graphicData uri="http://schemas.openxmlformats.org/drawingml/2006/table">
            <a:tbl>
              <a:tblPr/>
              <a:tblGrid>
                <a:gridCol w="3108960"/>
                <a:gridCol w="1591056"/>
                <a:gridCol w="1591056"/>
                <a:gridCol w="1591056"/>
                <a:gridCol w="1591056"/>
                <a:gridCol w="1591056"/>
              </a:tblGrid>
              <a:tr h="365760">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Faculty / school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Course</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planning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Placements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Forms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admin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Research</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Arts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ABP / MSD</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Business &amp; Economics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Education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Engineering &amp; IT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Fine Arts &amp; Music</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Law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Medicine, Dentistry &amp; HS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Science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Melbourne Business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Biomedical Sciences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Dental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989320"/>
            <a:ext cx="10881360" cy="365760"/>
          </a:xfrm>
          <a:prstGeom prst="rect">
            <a:avLst/>
          </a:prstGeom>
          <a:noFill/>
          <a:ln/>
        </p:spPr>
        <p:txBody>
          <a:bodyPr wrap="square" lIns="0" tIns="0" rIns="0" bIns="0" rtlCol="0" anchor="ctr"/>
          <a:lstStyle/>
          <a:p>
            <a:pPr indent="0" marL="0">
              <a:buNone/>
            </a:pPr>
            <a:r>
              <a:rPr lang="en-US" sz="1000" i="1" dirty="0">
                <a:solidFill>
                  <a:srgbClr val="5B5B6B"/>
                </a:solidFill>
                <a:latin typeface="Source Sans 3" pitchFamily="34" charset="0"/>
                <a:ea typeface="Source Sans 3" pitchFamily="34" charset="-122"/>
                <a:cs typeface="Source Sans 3" pitchFamily="34" charset="-120"/>
              </a:rPr>
              <a:t>* school-level site (runs its own current-students section below its faculty).  Page counts are descriptive — they show where content sits, not its quality. Source: current-students crawl, June 2026.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broader estate — where each topic lives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12</a:t>
            </a:r>
            <a:endParaRPr lang="en-US" sz="900" dirty="0"/>
          </a:p>
        </p:txBody>
      </p:sp>
      <p:sp>
        <p:nvSpPr>
          <p:cNvPr id="6" name="Text 4"/>
          <p:cNvSpPr/>
          <p:nvPr/>
        </p:nvSpPr>
        <p:spPr>
          <a:xfrm>
            <a:off x="566928" y="1325880"/>
            <a:ext cx="10881360" cy="594360"/>
          </a:xfrm>
          <a:prstGeom prst="rect">
            <a:avLst/>
          </a:prstGeom>
          <a:noFill/>
          <a:ln/>
        </p:spPr>
        <p:txBody>
          <a:bodyPr wrap="square" lIns="0" tIns="0" rIns="0" bIns="0" rtlCol="0" anchor="ctr"/>
          <a:lstStyle/>
          <a:p>
            <a:pPr indent="0" marL="0">
              <a:lnSpc>
                <a:spcPct val="112000"/>
              </a:lnSpc>
              <a:buNone/>
            </a:pPr>
            <a:r>
              <a:rPr lang="en-US" sz="1400" dirty="0">
                <a:solidFill>
                  <a:srgbClr val="1C1C28"/>
                </a:solidFill>
                <a:latin typeface="Source Sans 3" pitchFamily="34" charset="0"/>
                <a:ea typeface="Source Sans 3" pitchFamily="34" charset="-122"/>
                <a:cs typeface="Source Sans 3" pitchFamily="34" charset="-120"/>
              </a:rPr>
              <a:t>Across all four parts of the University's web estate. Source: June 2026 crawl — 1,173 pages (current-students), 300 pages (study.unimelb), 116 pages (alumni.unimelb).</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64240" cy="914400"/>
        </p:xfrm>
        <a:graphic>
          <a:graphicData uri="http://schemas.openxmlformats.org/drawingml/2006/table">
            <a:tbl>
              <a:tblPr/>
              <a:tblGrid>
                <a:gridCol w="3108960"/>
                <a:gridCol w="2286000"/>
                <a:gridCol w="2286000"/>
                <a:gridCol w="1920240"/>
                <a:gridCol w="1463040"/>
              </a:tblGrid>
              <a:tr h="429768">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Topic area</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Current Students</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Website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Faculty sites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Further study</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(study.)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Alumni</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Course / degree info</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Planner + Handbook</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224 pages — full coverage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 service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8 of 9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37 pages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38 pp + mentoring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Placements /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p>
                      <a:pPr indent="0" marL="0">
                        <a:buNone/>
                      </a:pPr>
                      <a:r>
                        <a:rPr lang="en-US" sz="1100" dirty="0">
                          <a:solidFill>
                            <a:srgbClr val="1C1C28"/>
                          </a:solidFill>
                          <a:latin typeface="Source Sans 3" pitchFamily="34" charset="0"/>
                          <a:ea typeface="Source Sans 3" pitchFamily="34" charset="-122"/>
                          <a:cs typeface="Source Sans 3" pitchFamily="34" charset="-120"/>
                        </a:rPr>
                        <a:t>(207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10 pages — overview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Scholarships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75 pages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Research 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Thin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Heavy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(patchy)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116 pages — full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Service requests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Stop 1 + processes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Student centres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669280"/>
            <a:ext cx="10881360" cy="274320"/>
          </a:xfrm>
          <a:prstGeom prst="rect">
            <a:avLst/>
          </a:prstGeom>
          <a:noFill/>
          <a:ln/>
        </p:spPr>
        <p:txBody>
          <a:bodyPr wrap="square" lIns="0" tIns="0" rIns="0" bIns="0" rtlCol="0" anchor="ctr"/>
          <a:lstStyle/>
          <a:p>
            <a:pPr indent="0" marL="0">
              <a:buNone/>
            </a:pPr>
            <a:r>
              <a:rPr lang="en-US" sz="900" i="1" dirty="0">
                <a:solidFill>
                  <a:srgbClr val="5B5B6B"/>
                </a:solidFill>
                <a:latin typeface="Source Code Pro" pitchFamily="34" charset="0"/>
                <a:ea typeface="Source Code Pro" pitchFamily="34" charset="-122"/>
                <a:cs typeface="Source Code Pro" pitchFamily="34" charset="-120"/>
              </a:rPr>
              <a:t>Source: analysis/cross-site-overlap.md · crawl/pages/study-unimelb.json (300 pp) · crawl/pages/alumni-unimelb.json (116 pp)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University of Melbourne — Web Estate Alignment Discussion</dc:title>
  <dc:subject>PptxGenJS Presentation</dc:subject>
  <dc:creator>University of Melbourne</dc:creator>
  <cp:lastModifiedBy>University of Melbourne</cp:lastModifiedBy>
  <cp:revision>1</cp:revision>
  <dcterms:created xsi:type="dcterms:W3CDTF">2026-06-20T11:01:05Z</dcterms:created>
  <dcterms:modified xsi:type="dcterms:W3CDTF">2026-06-20T11:01:05Z</dcterms:modified>
</cp:coreProperties>
</file>