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discussion, not a decision meeting (~45 min). Frame: we're aligning on where the current-students experience overlaps across our websites, what's already underway, and what we might explore together. Make clear up front: no recommendations today — the data is a guide, the questions are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(~3 min): the data describes what exists and where — it is not a judgement. The four topics are our agenda. Invite people to hold their 'what should we do' ideas for the discussion prompts and the capture board near the end. Confirm everyone can see the four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room in the student's view (~4 min). The journey is illustrative, not a process map. Ask the opening question and capture early themes about where students hop between sites. Today's four topics each sit somewhere on this journey — flag that we'll go deep on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Scale-setting (~2 min), don't dwell. The point is breadth: 13 sites, 6 address patterns. Reinforce the 'descriptive, not an assessment' note — we're not grading anyone's site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overlap neutrally (~2 min): not inherently good or bad. This is the lens for every topic that follows — 'is the overlap intentional, and does it help or hinder the student?' Keep the room out of solution mode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quickly (~5 min). Don't defend the marks — invite corrections and mark them live. 'Cross-linked?' means: do the central and faculty versions point to each other. The goal is a shared picture before we go topic by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Course planning is mostly degree-specific (legitimately faculty-owned), with a thin shared layer on top. Pull in faculty course-planning owners. Listen for: where the hub tool and faculty plans should connect, and whether labels/locations differ confusingly. Hold solutions for the capture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The richest topic. Note the Employability Service Integration (ESI) work is already in flight — invite that team to speak to it. Listen for: the careers central/faculty disconnect, and that WIL has no central front door. Keep neutral — surface, don't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This is the service-model question. Bring in Stop 1 / faculty student-centre voices. Listen for: the hand-offs between central and faculty, and where students start vs where requests are resolved. Distinguish genuinely faculty-specific requests from university-wide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The trickiest boundary — current-student vs admissions/future-student content. Listen for: where the 'apply for further study' path lives and who owns it, and the overlap with course planning. Note any progression-support work already underway.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Make it concrete — one student, four topics, one semester. The right-hand tags show which site(s) she touches. The point is the experience is a single thread for her, even though our content isn't. Ask where small changes in her journey would help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capture mode. Fill the four columns from everything raised: overlaps people agreed on, work already in flight, things worth exploring, and a name against each. This is the artefact we take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Land next steps as questions, not conclusions. Confirm who picks up what from the capture board, and how we'll stay aligned (e.g. a follow-up). Thank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Pull up the next slide only if the room wants faculty-level specifics.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Per-faculty page counts by topic, from the full crawl. Schools (*) run their own sites. Use to answer 'how much does faculty X have for topic Y?' Bigger numbers = more content there, not better or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F46"/>
        </a:solidFill>
      </p:bgPr>
    </p:bg>
    <p:spTree>
      <p:nvGrpSpPr>
        <p:cNvPr id="1" name=""/>
        <p:cNvGrpSpPr/>
        <p:nvPr/>
      </p:nvGrpSpPr>
      <p:grpSpPr>
        <a:xfrm>
          <a:off x="0" y="0"/>
          <a:ext cx="0" cy="0"/>
          <a:chOff x="0" y="0"/>
          <a:chExt cx="0" cy="0"/>
        </a:xfrm>
      </p:grpSpPr>
      <p:pic>
        <p:nvPicPr>
          <p:cNvPr id="2" name="Image 0" descr="/Users/djmulholland/Documents/Claude/projects/unimelb-current-students-ia/discussion-deck/assets/logo-white.png">    </p:cNvPr>
          <p:cNvPicPr>
            <a:picLocks noChangeAspect="1"/>
          </p:cNvPicPr>
          <p:nvPr/>
        </p:nvPicPr>
        <p:blipFill>
          <a:blip r:embed="rId1"/>
          <a:stretch>
            <a:fillRect/>
          </a:stretch>
        </p:blipFill>
        <p:spPr>
          <a:xfrm>
            <a:off x="548640" y="502920"/>
            <a:ext cx="2011680" cy="632905"/>
          </a:xfrm>
          <a:prstGeom prst="rect">
            <a:avLst/>
          </a:prstGeom>
        </p:spPr>
      </p:pic>
      <p:sp>
        <p:nvSpPr>
          <p:cNvPr id="3" name="Shape 0"/>
          <p:cNvSpPr/>
          <p:nvPr/>
        </p:nvSpPr>
        <p:spPr>
          <a:xfrm>
            <a:off x="566928" y="2286000"/>
            <a:ext cx="292608" cy="292608"/>
          </a:xfrm>
          <a:prstGeom prst="rect">
            <a:avLst/>
          </a:prstGeom>
          <a:solidFill>
            <a:srgbClr val="46C8F0"/>
          </a:solidFill>
          <a:ln/>
        </p:spPr>
      </p:sp>
      <p:sp>
        <p:nvSpPr>
          <p:cNvPr id="4" name="Text 1"/>
          <p:cNvSpPr/>
          <p:nvPr/>
        </p:nvSpPr>
        <p:spPr>
          <a:xfrm>
            <a:off x="987552" y="2267712"/>
            <a:ext cx="9144000" cy="347472"/>
          </a:xfrm>
          <a:prstGeom prst="rect">
            <a:avLst/>
          </a:prstGeom>
          <a:noFill/>
          <a:ln/>
        </p:spPr>
        <p:txBody>
          <a:bodyPr wrap="square" lIns="0" tIns="0" rIns="0" bIns="0" rtlCol="0" anchor="ctr"/>
          <a:lstStyle/>
          <a:p>
            <a:pPr indent="0" marL="0">
              <a:buNone/>
            </a:pPr>
            <a:r>
              <a:rPr lang="en-US" sz="1200" b="1" spc="300" kern="0" dirty="0">
                <a:solidFill>
                  <a:srgbClr val="46C8F0"/>
                </a:solidFill>
                <a:latin typeface="Source Code Pro" pitchFamily="34" charset="0"/>
                <a:ea typeface="Source Code Pro" pitchFamily="34" charset="-122"/>
                <a:cs typeface="Source Code Pro" pitchFamily="34" charset="-120"/>
              </a:rPr>
              <a:t>CURRENT STUDENTS · SERVICE EXPERIENCE</a:t>
            </a:r>
            <a:endParaRPr lang="en-US" sz="1200" dirty="0"/>
          </a:p>
        </p:txBody>
      </p:sp>
      <p:sp>
        <p:nvSpPr>
          <p:cNvPr id="5" name="Text 2"/>
          <p:cNvSpPr/>
          <p:nvPr/>
        </p:nvSpPr>
        <p:spPr>
          <a:xfrm>
            <a:off x="548640" y="274320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Fraunces" pitchFamily="34" charset="0"/>
                <a:ea typeface="Fraunces" pitchFamily="34" charset="-122"/>
                <a:cs typeface="Fraunces" pitchFamily="34" charset="-120"/>
              </a:rPr>
              <a:t>The end-to-end student experience</a:t>
            </a:r>
            <a:endParaRPr lang="en-US" sz="4400" dirty="0"/>
          </a:p>
        </p:txBody>
      </p:sp>
      <p:sp>
        <p:nvSpPr>
          <p:cNvPr id="6" name="Text 3"/>
          <p:cNvSpPr/>
          <p:nvPr/>
        </p:nvSpPr>
        <p:spPr>
          <a:xfrm>
            <a:off x="576072" y="3977640"/>
            <a:ext cx="9692640" cy="640080"/>
          </a:xfrm>
          <a:prstGeom prst="rect">
            <a:avLst/>
          </a:prstGeom>
          <a:noFill/>
          <a:ln/>
        </p:spPr>
        <p:txBody>
          <a:bodyPr wrap="square" lIns="0" tIns="0" rIns="0" bIns="0" rtlCol="0" anchor="ctr"/>
          <a:lstStyle/>
          <a:p>
            <a:pPr indent="0" marL="0">
              <a:buNone/>
            </a:pPr>
            <a:r>
              <a:rPr lang="en-US" sz="1800" dirty="0">
                <a:solidFill>
                  <a:srgbClr val="C9CDE6"/>
                </a:solidFill>
                <a:latin typeface="Source Sans 3" pitchFamily="34" charset="0"/>
                <a:ea typeface="Source Sans 3" pitchFamily="34" charset="-122"/>
                <a:cs typeface="Source Sans 3" pitchFamily="34" charset="-120"/>
              </a:rPr>
              <a:t>An alignment discussion on overlaps across our current-students websites</a:t>
            </a:r>
            <a:endParaRPr lang="en-US" sz="1800" dirty="0"/>
          </a:p>
        </p:txBody>
      </p:sp>
      <p:sp>
        <p:nvSpPr>
          <p:cNvPr id="7" name="Text 4"/>
          <p:cNvSpPr/>
          <p:nvPr/>
        </p:nvSpPr>
        <p:spPr>
          <a:xfrm>
            <a:off x="576072" y="4663440"/>
            <a:ext cx="7315200" cy="365760"/>
          </a:xfrm>
          <a:prstGeom prst="rect">
            <a:avLst/>
          </a:prstGeom>
          <a:noFill/>
          <a:ln/>
        </p:spPr>
        <p:txBody>
          <a:bodyPr wrap="square" lIns="0" tIns="0" rIns="0" bIns="0" rtlCol="0" anchor="ctr"/>
          <a:lstStyle/>
          <a:p>
            <a:pPr indent="0" marL="0">
              <a:buNone/>
            </a:pPr>
            <a:r>
              <a:rPr lang="en-US" sz="1200" dirty="0">
                <a:solidFill>
                  <a:srgbClr val="AAB0D4"/>
                </a:solidFill>
                <a:latin typeface="Source Code Pro" pitchFamily="34" charset="0"/>
                <a:ea typeface="Source Code Pro" pitchFamily="34" charset="-122"/>
                <a:cs typeface="Source Code Pro" pitchFamily="34" charset="-120"/>
              </a:rPr>
              <a:t>For discussion · June 2026</a:t>
            </a:r>
            <a:endParaRPr lang="en-US" sz="1200" dirty="0"/>
          </a:p>
        </p:txBody>
      </p:sp>
      <p:sp>
        <p:nvSpPr>
          <p:cNvPr id="8" name="Text 5"/>
          <p:cNvSpPr/>
          <p:nvPr/>
        </p:nvSpPr>
        <p:spPr>
          <a:xfrm>
            <a:off x="576072" y="6126480"/>
            <a:ext cx="10607040" cy="548640"/>
          </a:xfrm>
          <a:prstGeom prst="rect">
            <a:avLst/>
          </a:prstGeom>
          <a:noFill/>
          <a:ln/>
        </p:spPr>
        <p:txBody>
          <a:bodyPr wrap="square" lIns="0" tIns="0" rIns="0" bIns="0" rtlCol="0" anchor="ctr"/>
          <a:lstStyle/>
          <a:p>
            <a:pPr indent="0" marL="0">
              <a:buNone/>
            </a:pPr>
            <a:r>
              <a:rPr lang="en-US" sz="950" i="1" dirty="0">
                <a:solidFill>
                  <a:srgbClr val="C9CDE6"/>
                </a:solidFill>
                <a:latin typeface="Source Sans 3" pitchFamily="34" charset="0"/>
                <a:ea typeface="Source Sans 3" pitchFamily="34" charset="-122"/>
                <a:cs typeface="Source Sans 3" pitchFamily="34" charset="-120"/>
              </a:rPr>
              <a:t>The University of Melbourne acknowledges the Traditional Owners of the unceded land on which we work, learn and live, and pays respect to their Elders, past and present, and to Indigenous Australians today.</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sp>
      <p:sp>
        <p:nvSpPr>
          <p:cNvPr id="3" name="Text 1"/>
          <p:cNvSpPr/>
          <p:nvPr/>
        </p:nvSpPr>
        <p:spPr>
          <a:xfrm>
            <a:off x="914400" y="457200"/>
            <a:ext cx="10698480" cy="502920"/>
          </a:xfrm>
          <a:prstGeom prst="rect">
            <a:avLst/>
          </a:prstGeom>
          <a:noFill/>
          <a:ln/>
        </p:spPr>
        <p:txBody>
          <a:bodyPr wrap="square" lIns="0" tIns="0" rIns="0" bIns="0" rtlCol="0" anchor="ctr"/>
          <a:lstStyle/>
          <a:p>
            <a:pPr indent="0" marL="0">
              <a:buNone/>
            </a:pPr>
            <a:r>
              <a:rPr lang="en-US" sz="2900" b="1" dirty="0">
                <a:solidFill>
                  <a:srgbClr val="000F46"/>
                </a:solidFill>
                <a:latin typeface="Fraunces" pitchFamily="34" charset="0"/>
                <a:ea typeface="Fraunces" pitchFamily="34" charset="-122"/>
                <a:cs typeface="Fraunces" pitchFamily="34" charset="-120"/>
              </a:rPr>
              <a:t>About this session</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indent="0" marL="0">
              <a:buNone/>
            </a:pPr>
            <a:r>
              <a:rPr lang="en-US" sz="900" dirty="0">
                <a:solidFill>
                  <a:srgbClr val="5B5B6B"/>
                </a:solidFill>
                <a:latin typeface="Source Sans 3" pitchFamily="34" charset="0"/>
                <a:ea typeface="Source Sans 3" pitchFamily="34" charset="-122"/>
                <a:cs typeface="Source Sans 3" pitchFamily="34" charset="-120"/>
              </a:rPr>
              <a:t>Current Students: End-to-End Experience —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algn="r" indent="0" marL="0">
              <a:buNone/>
            </a:pPr>
            <a:r>
              <a:rPr lang="en-US" sz="900" dirty="0">
                <a:solidFill>
                  <a:srgbClr val="5B5B6B"/>
                </a:solidFill>
                <a:latin typeface="Source Sans 3" pitchFamily="34" charset="0"/>
                <a:ea typeface="Source Sans 3" pitchFamily="34" charset="-122"/>
                <a:cs typeface="Source Sans 3" pitchFamily="34" charset="-120"/>
              </a:rPr>
              <a:t>2</a:t>
            </a:r>
            <a:endParaRPr lang="en-US" sz="900" dirty="0"/>
          </a:p>
        </p:txBody>
      </p:sp>
      <p:sp>
        <p:nvSpPr>
          <p:cNvPr id="6" name="Text 4"/>
          <p:cNvSpPr/>
          <p:nvPr/>
        </p:nvSpPr>
        <p:spPr>
          <a:xfrm>
            <a:off x="566928" y="1371600"/>
            <a:ext cx="10881360" cy="2194560"/>
          </a:xfrm>
          <a:prstGeom prst="rect">
            <a:avLst/>
          </a:prstGeom>
          <a:noFill/>
          <a:ln/>
        </p:spPr>
        <p:txBody>
          <a:bodyPr wrap="square" lIns="0" tIns="0" rIns="0" bIns="0" rtlCol="0" anchor="t"/>
          <a:lstStyle/>
          <a:p>
            <a:pPr indent="0" marL="0">
              <a:lnSpc>
                <a:spcPct val="112000"/>
              </a:lnSpc>
              <a:spcAft>
                <a:spcPts val="1400"/>
              </a:spcAft>
              <a:buNone/>
            </a:pPr>
            <a:r>
              <a:rPr lang="en-US" sz="1700" dirty="0">
                <a:solidFill>
                  <a:srgbClr val="1C1C28"/>
                </a:solidFill>
                <a:latin typeface="Source Sans 3" pitchFamily="34" charset="0"/>
                <a:ea typeface="Source Sans 3" pitchFamily="34" charset="-122"/>
                <a:cs typeface="Source Sans 3" pitchFamily="34" charset="-120"/>
              </a:rPr>
              <a:t>Our current-students content lives across many websites — the central hub, nine faculties and three schools. Students move between them, end to end.</a:t>
            </a:r>
            <a:endParaRPr lang="en-US" sz="1700" dirty="0"/>
          </a:p>
          <a:p>
            <a:pPr indent="0" marL="0">
              <a:lnSpc>
                <a:spcPct val="112000"/>
              </a:lnSpc>
              <a:spcAft>
                <a:spcPts val="1400"/>
              </a:spcAft>
              <a:buNone/>
            </a:pPr>
            <a:r>
              <a:rPr lang="en-US" sz="1700" dirty="0">
                <a:solidFill>
                  <a:srgbClr val="1C1C28"/>
                </a:solidFill>
                <a:latin typeface="Source Sans 3" pitchFamily="34" charset="0"/>
                <a:ea typeface="Source Sans 3" pitchFamily="34" charset="-122"/>
                <a:cs typeface="Source Sans 3" pitchFamily="34" charset="-120"/>
              </a:rPr>
              <a:t>This is an alignment conversation: where do these experiences overlap, what is already underway to address them, and what might we do together.</a:t>
            </a:r>
            <a:endParaRPr lang="en-US" sz="1700" dirty="0"/>
          </a:p>
          <a:p>
            <a:pPr indent="0" marL="0">
              <a:lnSpc>
                <a:spcPct val="112000"/>
              </a:lnSpc>
              <a:buNone/>
            </a:pPr>
            <a:r>
              <a:rPr lang="en-US" sz="1700" dirty="0">
                <a:solidFill>
                  <a:srgbClr val="1C1C28"/>
                </a:solidFill>
                <a:latin typeface="Source Sans 3" pitchFamily="34" charset="0"/>
                <a:ea typeface="Source Sans 3" pitchFamily="34" charset="-122"/>
                <a:cs typeface="Source Sans 3" pitchFamily="34" charset="-120"/>
              </a:rPr>
              <a:t>This pack is a discussion guide — not a set of recommendations. The data sets the scene; the questions are ours to work through.</a:t>
            </a:r>
            <a:endParaRPr lang="en-US" sz="1700" dirty="0"/>
          </a:p>
        </p:txBody>
      </p:sp>
      <p:sp>
        <p:nvSpPr>
          <p:cNvPr id="7" name="Text 5"/>
          <p:cNvSpPr/>
          <p:nvPr/>
        </p:nvSpPr>
        <p:spPr>
          <a:xfrm>
            <a:off x="566928" y="4069080"/>
            <a:ext cx="5486400" cy="274320"/>
          </a:xfrm>
          <a:prstGeom prst="rect">
            <a:avLst/>
          </a:prstGeom>
          <a:noFill/>
          <a:ln/>
        </p:spPr>
        <p:txBody>
          <a:bodyPr wrap="square" lIns="0" tIns="0" rIns="0" bIns="0" rtlCol="0" anchor="ctr"/>
          <a:lstStyle/>
          <a:p>
            <a:pPr indent="0" marL="0">
              <a:buNone/>
            </a:pPr>
            <a:r>
              <a:rPr lang="en-US" sz="1100" b="1" spc="200" kern="0" dirty="0">
                <a:solidFill>
                  <a:srgbClr val="2F95B7"/>
                </a:solidFill>
                <a:latin typeface="Source Code Pro" pitchFamily="34" charset="0"/>
                <a:ea typeface="Source Code Pro" pitchFamily="34" charset="-122"/>
                <a:cs typeface="Source Code Pro" pitchFamily="34" charset="-120"/>
              </a:rPr>
              <a:t>TODAY'S TOPICS</a:t>
            </a:r>
            <a:endParaRPr lang="en-US" sz="1100" dirty="0"/>
          </a:p>
        </p:txBody>
      </p:sp>
      <p:sp>
        <p:nvSpPr>
          <p:cNvPr id="8" name="Shape 6"/>
          <p:cNvSpPr/>
          <p:nvPr/>
        </p:nvSpPr>
        <p:spPr>
          <a:xfrm>
            <a:off x="566928" y="4526280"/>
            <a:ext cx="2542032" cy="713232"/>
          </a:xfrm>
          <a:prstGeom prst="rect">
            <a:avLst/>
          </a:prstGeom>
          <a:solidFill>
            <a:srgbClr val="000F46"/>
          </a:solidFill>
          <a:ln/>
        </p:spPr>
      </p:sp>
      <p:sp>
        <p:nvSpPr>
          <p:cNvPr id="9" name="Shape 7"/>
          <p:cNvSpPr/>
          <p:nvPr/>
        </p:nvSpPr>
        <p:spPr>
          <a:xfrm>
            <a:off x="566928" y="4526280"/>
            <a:ext cx="2542032" cy="82296"/>
          </a:xfrm>
          <a:prstGeom prst="rect">
            <a:avLst/>
          </a:prstGeom>
          <a:solidFill>
            <a:srgbClr val="46C8F0"/>
          </a:solidFill>
          <a:ln/>
        </p:spPr>
      </p:sp>
      <p:sp>
        <p:nvSpPr>
          <p:cNvPr id="10" name="Text 8"/>
          <p:cNvSpPr/>
          <p:nvPr/>
        </p:nvSpPr>
        <p:spPr>
          <a:xfrm>
            <a:off x="658368" y="4526280"/>
            <a:ext cx="2359152" cy="713232"/>
          </a:xfrm>
          <a:prstGeom prst="rect">
            <a:avLst/>
          </a:prstGeom>
          <a:noFill/>
          <a:ln/>
        </p:spPr>
        <p:txBody>
          <a:bodyPr wrap="square" lIns="0" tIns="0" rIns="0" bIns="0" rtlCol="0" anchor="ctr"/>
          <a:lstStyle/>
          <a:p>
            <a:pPr algn="ctr" indent="0" marL="0">
              <a:buNone/>
            </a:pPr>
            <a:r>
              <a:rPr lang="en-US" sz="1250" b="1" dirty="0">
                <a:solidFill>
                  <a:srgbClr val="FFFFFF"/>
                </a:solidFill>
                <a:latin typeface="Source Sans 3" pitchFamily="34" charset="0"/>
                <a:ea typeface="Source Sans 3" pitchFamily="34" charset="-122"/>
                <a:cs typeface="Source Sans 3" pitchFamily="34" charset="-120"/>
              </a:rPr>
              <a:t>Course planning</a:t>
            </a:r>
            <a:endParaRPr lang="en-US" sz="1250" dirty="0"/>
          </a:p>
        </p:txBody>
      </p:sp>
      <p:sp>
        <p:nvSpPr>
          <p:cNvPr id="11" name="Shape 9"/>
          <p:cNvSpPr/>
          <p:nvPr/>
        </p:nvSpPr>
        <p:spPr>
          <a:xfrm>
            <a:off x="3310128" y="4526280"/>
            <a:ext cx="2542032" cy="713232"/>
          </a:xfrm>
          <a:prstGeom prst="rect">
            <a:avLst/>
          </a:prstGeom>
          <a:solidFill>
            <a:srgbClr val="000F46"/>
          </a:solidFill>
          <a:ln/>
        </p:spPr>
      </p:sp>
      <p:sp>
        <p:nvSpPr>
          <p:cNvPr id="12" name="Shape 10"/>
          <p:cNvSpPr/>
          <p:nvPr/>
        </p:nvSpPr>
        <p:spPr>
          <a:xfrm>
            <a:off x="3310128" y="4526280"/>
            <a:ext cx="2542032" cy="82296"/>
          </a:xfrm>
          <a:prstGeom prst="rect">
            <a:avLst/>
          </a:prstGeom>
          <a:solidFill>
            <a:srgbClr val="46C8F0"/>
          </a:solidFill>
          <a:ln/>
        </p:spPr>
      </p:sp>
      <p:sp>
        <p:nvSpPr>
          <p:cNvPr id="13" name="Text 11"/>
          <p:cNvSpPr/>
          <p:nvPr/>
        </p:nvSpPr>
        <p:spPr>
          <a:xfrm>
            <a:off x="3401568" y="4526280"/>
            <a:ext cx="2359152" cy="713232"/>
          </a:xfrm>
          <a:prstGeom prst="rect">
            <a:avLst/>
          </a:prstGeom>
          <a:noFill/>
          <a:ln/>
        </p:spPr>
        <p:txBody>
          <a:bodyPr wrap="square" lIns="0" tIns="0" rIns="0" bIns="0" rtlCol="0" anchor="ctr"/>
          <a:lstStyle/>
          <a:p>
            <a:pPr algn="ctr" indent="0" marL="0">
              <a:buNone/>
            </a:pPr>
            <a:r>
              <a:rPr lang="en-US" sz="1250" b="1" dirty="0">
                <a:solidFill>
                  <a:srgbClr val="FFFFFF"/>
                </a:solidFill>
                <a:latin typeface="Source Sans 3" pitchFamily="34" charset="0"/>
                <a:ea typeface="Source Sans 3" pitchFamily="34" charset="-122"/>
                <a:cs typeface="Source Sans 3" pitchFamily="34" charset="-120"/>
              </a:rPr>
              <a:t>Employability</a:t>
            </a:r>
            <a:endParaRPr lang="en-US" sz="1250" dirty="0"/>
          </a:p>
        </p:txBody>
      </p:sp>
      <p:sp>
        <p:nvSpPr>
          <p:cNvPr id="14" name="Shape 12"/>
          <p:cNvSpPr/>
          <p:nvPr/>
        </p:nvSpPr>
        <p:spPr>
          <a:xfrm>
            <a:off x="6053328" y="4526280"/>
            <a:ext cx="2542032" cy="713232"/>
          </a:xfrm>
          <a:prstGeom prst="rect">
            <a:avLst/>
          </a:prstGeom>
          <a:solidFill>
            <a:srgbClr val="000F46"/>
          </a:solidFill>
          <a:ln/>
        </p:spPr>
      </p:sp>
      <p:sp>
        <p:nvSpPr>
          <p:cNvPr id="15" name="Shape 13"/>
          <p:cNvSpPr/>
          <p:nvPr/>
        </p:nvSpPr>
        <p:spPr>
          <a:xfrm>
            <a:off x="6053328" y="4526280"/>
            <a:ext cx="2542032" cy="82296"/>
          </a:xfrm>
          <a:prstGeom prst="rect">
            <a:avLst/>
          </a:prstGeom>
          <a:solidFill>
            <a:srgbClr val="46C8F0"/>
          </a:solidFill>
          <a:ln/>
        </p:spPr>
      </p:sp>
      <p:sp>
        <p:nvSpPr>
          <p:cNvPr id="16" name="Text 14"/>
          <p:cNvSpPr/>
          <p:nvPr/>
        </p:nvSpPr>
        <p:spPr>
          <a:xfrm>
            <a:off x="6144768" y="4526280"/>
            <a:ext cx="2359152" cy="713232"/>
          </a:xfrm>
          <a:prstGeom prst="rect">
            <a:avLst/>
          </a:prstGeom>
          <a:noFill/>
          <a:ln/>
        </p:spPr>
        <p:txBody>
          <a:bodyPr wrap="square" lIns="0" tIns="0" rIns="0" bIns="0" rtlCol="0" anchor="ctr"/>
          <a:lstStyle/>
          <a:p>
            <a:pPr algn="ctr" indent="0" marL="0">
              <a:buNone/>
            </a:pPr>
            <a:r>
              <a:rPr lang="en-US" sz="1250" b="1" dirty="0">
                <a:solidFill>
                  <a:srgbClr val="FFFFFF"/>
                </a:solidFill>
                <a:latin typeface="Source Sans 3" pitchFamily="34" charset="0"/>
                <a:ea typeface="Source Sans 3" pitchFamily="34" charset="-122"/>
                <a:cs typeface="Source Sans 3" pitchFamily="34" charset="-120"/>
              </a:rPr>
              <a:t>Faculty service requests</a:t>
            </a:r>
            <a:endParaRPr lang="en-US" sz="1250" dirty="0"/>
          </a:p>
        </p:txBody>
      </p:sp>
      <p:sp>
        <p:nvSpPr>
          <p:cNvPr id="17" name="Shape 15"/>
          <p:cNvSpPr/>
          <p:nvPr/>
        </p:nvSpPr>
        <p:spPr>
          <a:xfrm>
            <a:off x="8796528" y="4526280"/>
            <a:ext cx="2542032" cy="713232"/>
          </a:xfrm>
          <a:prstGeom prst="rect">
            <a:avLst/>
          </a:prstGeom>
          <a:solidFill>
            <a:srgbClr val="000F46"/>
          </a:solidFill>
          <a:ln/>
        </p:spPr>
      </p:sp>
      <p:sp>
        <p:nvSpPr>
          <p:cNvPr id="18" name="Shape 16"/>
          <p:cNvSpPr/>
          <p:nvPr/>
        </p:nvSpPr>
        <p:spPr>
          <a:xfrm>
            <a:off x="8796528" y="4526280"/>
            <a:ext cx="2542032" cy="82296"/>
          </a:xfrm>
          <a:prstGeom prst="rect">
            <a:avLst/>
          </a:prstGeom>
          <a:solidFill>
            <a:srgbClr val="46C8F0"/>
          </a:solidFill>
          <a:ln/>
        </p:spPr>
      </p:sp>
      <p:sp>
        <p:nvSpPr>
          <p:cNvPr id="19" name="Text 17"/>
          <p:cNvSpPr/>
          <p:nvPr/>
        </p:nvSpPr>
        <p:spPr>
          <a:xfrm>
            <a:off x="8887968" y="4526280"/>
            <a:ext cx="2359152" cy="713232"/>
          </a:xfrm>
          <a:prstGeom prst="rect">
            <a:avLst/>
          </a:prstGeom>
          <a:noFill/>
          <a:ln/>
        </p:spPr>
        <p:txBody>
          <a:bodyPr wrap="square" lIns="0" tIns="0" rIns="0" bIns="0" rtlCol="0" anchor="ctr"/>
          <a:lstStyle/>
          <a:p>
            <a:pPr algn="ctr" indent="0" marL="0">
              <a:buNone/>
            </a:pPr>
            <a:r>
              <a:rPr lang="en-US" sz="1250" b="1" dirty="0">
                <a:solidFill>
                  <a:srgbClr val="FFFFFF"/>
                </a:solidFill>
                <a:latin typeface="Source Sans 3" pitchFamily="34" charset="0"/>
                <a:ea typeface="Source Sans 3" pitchFamily="34" charset="-122"/>
                <a:cs typeface="Source Sans 3" pitchFamily="34" charset="-120"/>
              </a:rPr>
              <a:t>Applications for further study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sp>
      <p:sp>
        <p:nvSpPr>
          <p:cNvPr id="3" name="Text 1"/>
          <p:cNvSpPr/>
          <p:nvPr/>
        </p:nvSpPr>
        <p:spPr>
          <a:xfrm>
            <a:off x="914400" y="457200"/>
            <a:ext cx="10698480" cy="502920"/>
          </a:xfrm>
          <a:prstGeom prst="rect">
            <a:avLst/>
          </a:prstGeom>
          <a:noFill/>
          <a:ln/>
        </p:spPr>
        <p:txBody>
          <a:bodyPr wrap="square" lIns="0" tIns="0" rIns="0" bIns="0" rtlCol="0" anchor="ctr"/>
          <a:lstStyle/>
          <a:p>
            <a:pPr indent="0" marL="0">
              <a:buNone/>
            </a:pPr>
            <a:r>
              <a:rPr lang="en-US" sz="2900" b="1" dirty="0">
                <a:solidFill>
                  <a:srgbClr val="000F46"/>
                </a:solidFill>
                <a:latin typeface="Fraunces" pitchFamily="34" charset="0"/>
                <a:ea typeface="Fraunces" pitchFamily="34" charset="-122"/>
                <a:cs typeface="Fraunces" pitchFamily="34" charset="-120"/>
              </a:rPr>
              <a:t>What students are trying to do</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indent="0" marL="0">
              <a:buNone/>
            </a:pPr>
            <a:r>
              <a:rPr lang="en-US" sz="900" dirty="0">
                <a:solidFill>
                  <a:srgbClr val="5B5B6B"/>
                </a:solidFill>
                <a:latin typeface="Source Sans 3" pitchFamily="34" charset="0"/>
                <a:ea typeface="Source Sans 3" pitchFamily="34" charset="-122"/>
                <a:cs typeface="Source Sans 3" pitchFamily="34" charset="-120"/>
              </a:rPr>
              <a:t>Current Students: End-to-End Experience —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algn="r" indent="0" marL="0">
              <a:buNone/>
            </a:pPr>
            <a:r>
              <a:rPr lang="en-US" sz="900" dirty="0">
                <a:solidFill>
                  <a:srgbClr val="5B5B6B"/>
                </a:solidFill>
                <a:latin typeface="Source Sans 3" pitchFamily="34" charset="0"/>
                <a:ea typeface="Source Sans 3" pitchFamily="34" charset="-122"/>
                <a:cs typeface="Source Sans 3" pitchFamily="34" charset="-120"/>
              </a:rPr>
              <a:t>3</a:t>
            </a:r>
            <a:endParaRPr lang="en-US" sz="900" dirty="0"/>
          </a:p>
        </p:txBody>
      </p:sp>
      <p:sp>
        <p:nvSpPr>
          <p:cNvPr id="6" name="Text 4"/>
          <p:cNvSpPr/>
          <p:nvPr/>
        </p:nvSpPr>
        <p:spPr>
          <a:xfrm>
            <a:off x="566928" y="1325880"/>
            <a:ext cx="10881360" cy="731520"/>
          </a:xfrm>
          <a:prstGeom prst="rect">
            <a:avLst/>
          </a:prstGeom>
          <a:noFill/>
          <a:ln/>
        </p:spPr>
        <p:txBody>
          <a:bodyPr wrap="square" lIns="0" tIns="0" rIns="0" bIns="0" rtlCol="0" anchor="ctr"/>
          <a:lstStyle/>
          <a:p>
            <a:pPr indent="0" marL="0">
              <a:lnSpc>
                <a:spcPct val="112000"/>
              </a:lnSpc>
              <a:buNone/>
            </a:pPr>
            <a:r>
              <a:rPr lang="en-US" sz="1600" dirty="0">
                <a:solidFill>
                  <a:srgbClr val="1C1C28"/>
                </a:solidFill>
                <a:latin typeface="Source Sans 3" pitchFamily="34" charset="0"/>
                <a:ea typeface="Source Sans 3" pitchFamily="34" charset="-122"/>
                <a:cs typeface="Source Sans 3" pitchFamily="34" charset="-120"/>
              </a:rPr>
              <a:t>Students don't experience our websites as 'central' or 'faculty' — they have needs that run across the whole year, and they cross between sites as they go.</a:t>
            </a:r>
            <a:endParaRPr lang="en-US" sz="1600" dirty="0"/>
          </a:p>
        </p:txBody>
      </p:sp>
      <p:sp>
        <p:nvSpPr>
          <p:cNvPr id="7" name="Shape 5"/>
          <p:cNvSpPr/>
          <p:nvPr/>
        </p:nvSpPr>
        <p:spPr>
          <a:xfrm>
            <a:off x="960120" y="3063240"/>
            <a:ext cx="10012680" cy="0"/>
          </a:xfrm>
          <a:prstGeom prst="line">
            <a:avLst/>
          </a:prstGeom>
          <a:noFill/>
          <a:ln w="25400">
            <a:solidFill>
              <a:srgbClr val="46C8F0"/>
            </a:solidFill>
            <a:prstDash val="solid"/>
          </a:ln>
        </p:spPr>
      </p:sp>
      <p:sp>
        <p:nvSpPr>
          <p:cNvPr id="8" name="Shape 6"/>
          <p:cNvSpPr/>
          <p:nvPr/>
        </p:nvSpPr>
        <p:spPr>
          <a:xfrm>
            <a:off x="786384" y="2889504"/>
            <a:ext cx="347472" cy="347472"/>
          </a:xfrm>
          <a:prstGeom prst="ellipse">
            <a:avLst/>
          </a:prstGeom>
          <a:solidFill>
            <a:srgbClr val="000F46"/>
          </a:solidFill>
          <a:ln w="19050">
            <a:solidFill>
              <a:srgbClr val="FFFFFF"/>
            </a:solidFill>
            <a:prstDash val="solid"/>
          </a:ln>
        </p:spPr>
      </p:sp>
      <p:sp>
        <p:nvSpPr>
          <p:cNvPr id="9" name="Text 7"/>
          <p:cNvSpPr/>
          <p:nvPr/>
        </p:nvSpPr>
        <p:spPr>
          <a:xfrm>
            <a:off x="786384" y="28895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1</a:t>
            </a:r>
            <a:endParaRPr lang="en-US" sz="1100" dirty="0"/>
          </a:p>
        </p:txBody>
      </p:sp>
      <p:sp>
        <p:nvSpPr>
          <p:cNvPr id="10" name="Text 8"/>
          <p:cNvSpPr/>
          <p:nvPr/>
        </p:nvSpPr>
        <p:spPr>
          <a:xfrm>
            <a:off x="91440" y="3319272"/>
            <a:ext cx="1737360" cy="640080"/>
          </a:xfrm>
          <a:prstGeom prst="rect">
            <a:avLst/>
          </a:prstGeom>
          <a:noFill/>
          <a:ln/>
        </p:spPr>
        <p:txBody>
          <a:bodyPr wrap="square" lIns="0" tIns="0" rIns="0" bIns="0" rtlCol="0" anchor="t"/>
          <a:lstStyle/>
          <a:p>
            <a:pPr algn="ctr" indent="0" marL="0">
              <a:buNone/>
            </a:pPr>
            <a:r>
              <a:rPr lang="en-US" sz="1100" b="1" dirty="0">
                <a:solidFill>
                  <a:srgbClr val="000B34"/>
                </a:solidFill>
                <a:latin typeface="Source Sans 3" pitchFamily="34" charset="0"/>
                <a:ea typeface="Source Sans 3" pitchFamily="34" charset="-122"/>
                <a:cs typeface="Source Sans 3" pitchFamily="34" charset="-120"/>
              </a:rPr>
              <a:t>Orientate</a:t>
            </a:r>
            <a:endParaRPr lang="en-US" sz="1100" dirty="0"/>
          </a:p>
        </p:txBody>
      </p:sp>
      <p:sp>
        <p:nvSpPr>
          <p:cNvPr id="11" name="Shape 9"/>
          <p:cNvSpPr/>
          <p:nvPr/>
        </p:nvSpPr>
        <p:spPr>
          <a:xfrm>
            <a:off x="2455164" y="2889504"/>
            <a:ext cx="347472" cy="347472"/>
          </a:xfrm>
          <a:prstGeom prst="ellipse">
            <a:avLst/>
          </a:prstGeom>
          <a:solidFill>
            <a:srgbClr val="000F46"/>
          </a:solidFill>
          <a:ln w="19050">
            <a:solidFill>
              <a:srgbClr val="FFFFFF"/>
            </a:solidFill>
            <a:prstDash val="solid"/>
          </a:ln>
        </p:spPr>
      </p:sp>
      <p:sp>
        <p:nvSpPr>
          <p:cNvPr id="12" name="Text 10"/>
          <p:cNvSpPr/>
          <p:nvPr/>
        </p:nvSpPr>
        <p:spPr>
          <a:xfrm>
            <a:off x="2455164" y="28895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2</a:t>
            </a:r>
            <a:endParaRPr lang="en-US" sz="1100" dirty="0"/>
          </a:p>
        </p:txBody>
      </p:sp>
      <p:sp>
        <p:nvSpPr>
          <p:cNvPr id="13" name="Text 11"/>
          <p:cNvSpPr/>
          <p:nvPr/>
        </p:nvSpPr>
        <p:spPr>
          <a:xfrm>
            <a:off x="1760220" y="3319272"/>
            <a:ext cx="1737360" cy="640080"/>
          </a:xfrm>
          <a:prstGeom prst="rect">
            <a:avLst/>
          </a:prstGeom>
          <a:noFill/>
          <a:ln/>
        </p:spPr>
        <p:txBody>
          <a:bodyPr wrap="square" lIns="0" tIns="0" rIns="0" bIns="0" rtlCol="0" anchor="t"/>
          <a:lstStyle/>
          <a:p>
            <a:pPr algn="ctr" indent="0" marL="0">
              <a:buNone/>
            </a:pPr>
            <a:r>
              <a:rPr lang="en-US" sz="1100" b="1" dirty="0">
                <a:solidFill>
                  <a:srgbClr val="000B34"/>
                </a:solidFill>
                <a:latin typeface="Source Sans 3" pitchFamily="34" charset="0"/>
                <a:ea typeface="Source Sans 3" pitchFamily="34" charset="-122"/>
                <a:cs typeface="Source Sans 3" pitchFamily="34" charset="-120"/>
              </a:rPr>
              <a:t>Plan my course</a:t>
            </a:r>
            <a:endParaRPr lang="en-US" sz="1100" dirty="0"/>
          </a:p>
        </p:txBody>
      </p:sp>
      <p:sp>
        <p:nvSpPr>
          <p:cNvPr id="14" name="Shape 12"/>
          <p:cNvSpPr/>
          <p:nvPr/>
        </p:nvSpPr>
        <p:spPr>
          <a:xfrm>
            <a:off x="4123944" y="2889504"/>
            <a:ext cx="347472" cy="347472"/>
          </a:xfrm>
          <a:prstGeom prst="ellipse">
            <a:avLst/>
          </a:prstGeom>
          <a:solidFill>
            <a:srgbClr val="000F46"/>
          </a:solidFill>
          <a:ln w="19050">
            <a:solidFill>
              <a:srgbClr val="FFFFFF"/>
            </a:solidFill>
            <a:prstDash val="solid"/>
          </a:ln>
        </p:spPr>
      </p:sp>
      <p:sp>
        <p:nvSpPr>
          <p:cNvPr id="15" name="Text 13"/>
          <p:cNvSpPr/>
          <p:nvPr/>
        </p:nvSpPr>
        <p:spPr>
          <a:xfrm>
            <a:off x="4123944" y="28895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3</a:t>
            </a:r>
            <a:endParaRPr lang="en-US" sz="1100" dirty="0"/>
          </a:p>
        </p:txBody>
      </p:sp>
      <p:sp>
        <p:nvSpPr>
          <p:cNvPr id="16" name="Text 14"/>
          <p:cNvSpPr/>
          <p:nvPr/>
        </p:nvSpPr>
        <p:spPr>
          <a:xfrm>
            <a:off x="3429000" y="3319272"/>
            <a:ext cx="1737360" cy="640080"/>
          </a:xfrm>
          <a:prstGeom prst="rect">
            <a:avLst/>
          </a:prstGeom>
          <a:noFill/>
          <a:ln/>
        </p:spPr>
        <p:txBody>
          <a:bodyPr wrap="square" lIns="0" tIns="0" rIns="0" bIns="0" rtlCol="0" anchor="t"/>
          <a:lstStyle/>
          <a:p>
            <a:pPr algn="ctr" indent="0" marL="0">
              <a:buNone/>
            </a:pPr>
            <a:r>
              <a:rPr lang="en-US" sz="1100" b="1" dirty="0">
                <a:solidFill>
                  <a:srgbClr val="000B34"/>
                </a:solidFill>
                <a:latin typeface="Source Sans 3" pitchFamily="34" charset="0"/>
                <a:ea typeface="Source Sans 3" pitchFamily="34" charset="-122"/>
                <a:cs typeface="Source Sans 3" pitchFamily="34" charset="-120"/>
              </a:rPr>
              <a:t>Manage study</a:t>
            </a:r>
            <a:endParaRPr lang="en-US" sz="1100" dirty="0"/>
          </a:p>
        </p:txBody>
      </p:sp>
      <p:sp>
        <p:nvSpPr>
          <p:cNvPr id="17" name="Shape 15"/>
          <p:cNvSpPr/>
          <p:nvPr/>
        </p:nvSpPr>
        <p:spPr>
          <a:xfrm>
            <a:off x="5792724" y="2889504"/>
            <a:ext cx="347472" cy="347472"/>
          </a:xfrm>
          <a:prstGeom prst="ellipse">
            <a:avLst/>
          </a:prstGeom>
          <a:solidFill>
            <a:srgbClr val="000F46"/>
          </a:solidFill>
          <a:ln w="19050">
            <a:solidFill>
              <a:srgbClr val="FFFFFF"/>
            </a:solidFill>
            <a:prstDash val="solid"/>
          </a:ln>
        </p:spPr>
      </p:sp>
      <p:sp>
        <p:nvSpPr>
          <p:cNvPr id="18" name="Text 16"/>
          <p:cNvSpPr/>
          <p:nvPr/>
        </p:nvSpPr>
        <p:spPr>
          <a:xfrm>
            <a:off x="5792724" y="28895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4</a:t>
            </a:r>
            <a:endParaRPr lang="en-US" sz="1100" dirty="0"/>
          </a:p>
        </p:txBody>
      </p:sp>
      <p:sp>
        <p:nvSpPr>
          <p:cNvPr id="19" name="Text 17"/>
          <p:cNvSpPr/>
          <p:nvPr/>
        </p:nvSpPr>
        <p:spPr>
          <a:xfrm>
            <a:off x="5097780" y="3319272"/>
            <a:ext cx="1737360" cy="640080"/>
          </a:xfrm>
          <a:prstGeom prst="rect">
            <a:avLst/>
          </a:prstGeom>
          <a:noFill/>
          <a:ln/>
        </p:spPr>
        <p:txBody>
          <a:bodyPr wrap="square" lIns="0" tIns="0" rIns="0" bIns="0" rtlCol="0" anchor="t"/>
          <a:lstStyle/>
          <a:p>
            <a:pPr algn="ctr" indent="0" marL="0">
              <a:buNone/>
            </a:pPr>
            <a:r>
              <a:rPr lang="en-US" sz="1100" b="1" dirty="0">
                <a:solidFill>
                  <a:srgbClr val="000B34"/>
                </a:solidFill>
                <a:latin typeface="Source Sans 3" pitchFamily="34" charset="0"/>
                <a:ea typeface="Source Sans 3" pitchFamily="34" charset="-122"/>
                <a:cs typeface="Source Sans 3" pitchFamily="34" charset="-120"/>
              </a:rPr>
              <a:t>Get experience</a:t>
            </a:r>
            <a:endParaRPr lang="en-US" sz="1100" dirty="0"/>
          </a:p>
        </p:txBody>
      </p:sp>
      <p:sp>
        <p:nvSpPr>
          <p:cNvPr id="20" name="Shape 18"/>
          <p:cNvSpPr/>
          <p:nvPr/>
        </p:nvSpPr>
        <p:spPr>
          <a:xfrm>
            <a:off x="7461504" y="2889504"/>
            <a:ext cx="347472" cy="347472"/>
          </a:xfrm>
          <a:prstGeom prst="ellipse">
            <a:avLst/>
          </a:prstGeom>
          <a:solidFill>
            <a:srgbClr val="000F46"/>
          </a:solidFill>
          <a:ln w="19050">
            <a:solidFill>
              <a:srgbClr val="FFFFFF"/>
            </a:solidFill>
            <a:prstDash val="solid"/>
          </a:ln>
        </p:spPr>
      </p:sp>
      <p:sp>
        <p:nvSpPr>
          <p:cNvPr id="21" name="Text 19"/>
          <p:cNvSpPr/>
          <p:nvPr/>
        </p:nvSpPr>
        <p:spPr>
          <a:xfrm>
            <a:off x="7461504" y="28895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5</a:t>
            </a:r>
            <a:endParaRPr lang="en-US" sz="1100" dirty="0"/>
          </a:p>
        </p:txBody>
      </p:sp>
      <p:sp>
        <p:nvSpPr>
          <p:cNvPr id="22" name="Text 20"/>
          <p:cNvSpPr/>
          <p:nvPr/>
        </p:nvSpPr>
        <p:spPr>
          <a:xfrm>
            <a:off x="6766560" y="3319272"/>
            <a:ext cx="1737360" cy="640080"/>
          </a:xfrm>
          <a:prstGeom prst="rect">
            <a:avLst/>
          </a:prstGeom>
          <a:noFill/>
          <a:ln/>
        </p:spPr>
        <p:txBody>
          <a:bodyPr wrap="square" lIns="0" tIns="0" rIns="0" bIns="0" rtlCol="0" anchor="t"/>
          <a:lstStyle/>
          <a:p>
            <a:pPr algn="ctr" indent="0" marL="0">
              <a:buNone/>
            </a:pPr>
            <a:r>
              <a:rPr lang="en-US" sz="1100" b="1" dirty="0">
                <a:solidFill>
                  <a:srgbClr val="000B34"/>
                </a:solidFill>
                <a:latin typeface="Source Sans 3" pitchFamily="34" charset="0"/>
                <a:ea typeface="Source Sans 3" pitchFamily="34" charset="-122"/>
                <a:cs typeface="Source Sans 3" pitchFamily="34" charset="-120"/>
              </a:rPr>
              <a:t>Build my career</a:t>
            </a:r>
            <a:endParaRPr lang="en-US" sz="1100" dirty="0"/>
          </a:p>
        </p:txBody>
      </p:sp>
      <p:sp>
        <p:nvSpPr>
          <p:cNvPr id="23" name="Shape 21"/>
          <p:cNvSpPr/>
          <p:nvPr/>
        </p:nvSpPr>
        <p:spPr>
          <a:xfrm>
            <a:off x="9130284" y="2889504"/>
            <a:ext cx="347472" cy="347472"/>
          </a:xfrm>
          <a:prstGeom prst="ellipse">
            <a:avLst/>
          </a:prstGeom>
          <a:solidFill>
            <a:srgbClr val="000F46"/>
          </a:solidFill>
          <a:ln w="19050">
            <a:solidFill>
              <a:srgbClr val="FFFFFF"/>
            </a:solidFill>
            <a:prstDash val="solid"/>
          </a:ln>
        </p:spPr>
      </p:sp>
      <p:sp>
        <p:nvSpPr>
          <p:cNvPr id="24" name="Text 22"/>
          <p:cNvSpPr/>
          <p:nvPr/>
        </p:nvSpPr>
        <p:spPr>
          <a:xfrm>
            <a:off x="9130284" y="28895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6</a:t>
            </a:r>
            <a:endParaRPr lang="en-US" sz="1100" dirty="0"/>
          </a:p>
        </p:txBody>
      </p:sp>
      <p:sp>
        <p:nvSpPr>
          <p:cNvPr id="25" name="Text 23"/>
          <p:cNvSpPr/>
          <p:nvPr/>
        </p:nvSpPr>
        <p:spPr>
          <a:xfrm>
            <a:off x="8435340" y="3319272"/>
            <a:ext cx="1737360" cy="640080"/>
          </a:xfrm>
          <a:prstGeom prst="rect">
            <a:avLst/>
          </a:prstGeom>
          <a:noFill/>
          <a:ln/>
        </p:spPr>
        <p:txBody>
          <a:bodyPr wrap="square" lIns="0" tIns="0" rIns="0" bIns="0" rtlCol="0" anchor="t"/>
          <a:lstStyle/>
          <a:p>
            <a:pPr algn="ctr" indent="0" marL="0">
              <a:buNone/>
            </a:pPr>
            <a:r>
              <a:rPr lang="en-US" sz="1100" b="1" dirty="0">
                <a:solidFill>
                  <a:srgbClr val="000B34"/>
                </a:solidFill>
                <a:latin typeface="Source Sans 3" pitchFamily="34" charset="0"/>
                <a:ea typeface="Source Sans 3" pitchFamily="34" charset="-122"/>
                <a:cs typeface="Source Sans 3" pitchFamily="34" charset="-120"/>
              </a:rPr>
              <a:t>Get support</a:t>
            </a:r>
            <a:endParaRPr lang="en-US" sz="1100" dirty="0"/>
          </a:p>
        </p:txBody>
      </p:sp>
      <p:sp>
        <p:nvSpPr>
          <p:cNvPr id="26" name="Shape 24"/>
          <p:cNvSpPr/>
          <p:nvPr/>
        </p:nvSpPr>
        <p:spPr>
          <a:xfrm>
            <a:off x="10799064" y="2889504"/>
            <a:ext cx="347472" cy="347472"/>
          </a:xfrm>
          <a:prstGeom prst="ellipse">
            <a:avLst/>
          </a:prstGeom>
          <a:solidFill>
            <a:srgbClr val="000F46"/>
          </a:solidFill>
          <a:ln w="19050">
            <a:solidFill>
              <a:srgbClr val="FFFFFF"/>
            </a:solidFill>
            <a:prstDash val="solid"/>
          </a:ln>
        </p:spPr>
      </p:sp>
      <p:sp>
        <p:nvSpPr>
          <p:cNvPr id="27" name="Text 25"/>
          <p:cNvSpPr/>
          <p:nvPr/>
        </p:nvSpPr>
        <p:spPr>
          <a:xfrm>
            <a:off x="10799064" y="28895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7</a:t>
            </a:r>
            <a:endParaRPr lang="en-US" sz="1100" dirty="0"/>
          </a:p>
        </p:txBody>
      </p:sp>
      <p:sp>
        <p:nvSpPr>
          <p:cNvPr id="28" name="Text 26"/>
          <p:cNvSpPr/>
          <p:nvPr/>
        </p:nvSpPr>
        <p:spPr>
          <a:xfrm>
            <a:off x="10104120" y="3319272"/>
            <a:ext cx="1737360" cy="640080"/>
          </a:xfrm>
          <a:prstGeom prst="rect">
            <a:avLst/>
          </a:prstGeom>
          <a:noFill/>
          <a:ln/>
        </p:spPr>
        <p:txBody>
          <a:bodyPr wrap="square" lIns="0" tIns="0" rIns="0" bIns="0" rtlCol="0" anchor="t"/>
          <a:lstStyle/>
          <a:p>
            <a:pPr algn="ctr" indent="0" marL="0">
              <a:buNone/>
            </a:pPr>
            <a:r>
              <a:rPr lang="en-US" sz="1100" b="1" dirty="0">
                <a:solidFill>
                  <a:srgbClr val="000B34"/>
                </a:solidFill>
                <a:latin typeface="Source Sans 3" pitchFamily="34" charset="0"/>
                <a:ea typeface="Source Sans 3" pitchFamily="34" charset="-122"/>
                <a:cs typeface="Source Sans 3" pitchFamily="34" charset="-120"/>
              </a:rPr>
              <a:t>Finish &amp; graduate</a:t>
            </a:r>
            <a:endParaRPr lang="en-US" sz="1100" dirty="0"/>
          </a:p>
        </p:txBody>
      </p:sp>
      <p:sp>
        <p:nvSpPr>
          <p:cNvPr id="29" name="Shape 27"/>
          <p:cNvSpPr/>
          <p:nvPr/>
        </p:nvSpPr>
        <p:spPr>
          <a:xfrm>
            <a:off x="566928" y="4617720"/>
            <a:ext cx="10881360" cy="960120"/>
          </a:xfrm>
          <a:prstGeom prst="rect">
            <a:avLst/>
          </a:prstGeom>
          <a:solidFill>
            <a:srgbClr val="EAF6FB"/>
          </a:solidFill>
          <a:ln/>
        </p:spPr>
      </p:sp>
      <p:sp>
        <p:nvSpPr>
          <p:cNvPr id="30" name="Shape 28"/>
          <p:cNvSpPr/>
          <p:nvPr/>
        </p:nvSpPr>
        <p:spPr>
          <a:xfrm>
            <a:off x="566928" y="4617720"/>
            <a:ext cx="91440" cy="960120"/>
          </a:xfrm>
          <a:prstGeom prst="rect">
            <a:avLst/>
          </a:prstGeom>
          <a:solidFill>
            <a:srgbClr val="46C8F0"/>
          </a:solidFill>
          <a:ln/>
        </p:spPr>
      </p:sp>
      <p:sp>
        <p:nvSpPr>
          <p:cNvPr id="31" name="Text 29"/>
          <p:cNvSpPr/>
          <p:nvPr/>
        </p:nvSpPr>
        <p:spPr>
          <a:xfrm>
            <a:off x="868680" y="4617720"/>
            <a:ext cx="10332720" cy="960120"/>
          </a:xfrm>
          <a:prstGeom prst="rect">
            <a:avLst/>
          </a:prstGeom>
          <a:noFill/>
          <a:ln/>
        </p:spPr>
        <p:txBody>
          <a:bodyPr wrap="square" lIns="0" tIns="0" rIns="0" bIns="0" rtlCol="0" anchor="ctr"/>
          <a:lstStyle/>
          <a:p>
            <a:pPr indent="0" marL="0">
              <a:buNone/>
            </a:pPr>
            <a:r>
              <a:rPr lang="en-US" sz="1500" b="1" dirty="0">
                <a:solidFill>
                  <a:srgbClr val="000F46"/>
                </a:solidFill>
                <a:latin typeface="Source Sans 3" pitchFamily="34" charset="0"/>
                <a:ea typeface="Source Sans 3" pitchFamily="34" charset="-122"/>
                <a:cs typeface="Source Sans 3" pitchFamily="34" charset="-120"/>
              </a:rPr>
              <a:t>To discuss:  </a:t>
            </a:r>
            <a:pPr indent="0" marL="0">
              <a:buNone/>
            </a:pPr>
            <a:r>
              <a:rPr lang="en-US" sz="1500" dirty="0">
                <a:solidFill>
                  <a:srgbClr val="000B34"/>
                </a:solidFill>
                <a:latin typeface="Source Sans 3" pitchFamily="34" charset="0"/>
                <a:ea typeface="Source Sans 3" pitchFamily="34" charset="-122"/>
                <a:cs typeface="Source Sans 3" pitchFamily="34" charset="-120"/>
              </a:rPr>
              <a:t>Where in this journey do students cross between websites most — and where does that help or hinder them?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sp>
      <p:sp>
        <p:nvSpPr>
          <p:cNvPr id="3" name="Text 1"/>
          <p:cNvSpPr/>
          <p:nvPr/>
        </p:nvSpPr>
        <p:spPr>
          <a:xfrm>
            <a:off x="914400" y="457200"/>
            <a:ext cx="10698480" cy="502920"/>
          </a:xfrm>
          <a:prstGeom prst="rect">
            <a:avLst/>
          </a:prstGeom>
          <a:noFill/>
          <a:ln/>
        </p:spPr>
        <p:txBody>
          <a:bodyPr wrap="square" lIns="0" tIns="0" rIns="0" bIns="0" rtlCol="0" anchor="ctr"/>
          <a:lstStyle/>
          <a:p>
            <a:pPr indent="0" marL="0">
              <a:buNone/>
            </a:pPr>
            <a:r>
              <a:rPr lang="en-US" sz="2900" b="1" dirty="0">
                <a:solidFill>
                  <a:srgbClr val="000F46"/>
                </a:solidFill>
                <a:latin typeface="Fraunces" pitchFamily="34" charset="0"/>
                <a:ea typeface="Fraunces" pitchFamily="34" charset="-122"/>
                <a:cs typeface="Fraunces" pitchFamily="34" charset="-120"/>
              </a:rPr>
              <a:t>The shared landscape</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indent="0" marL="0">
              <a:buNone/>
            </a:pPr>
            <a:r>
              <a:rPr lang="en-US" sz="900" dirty="0">
                <a:solidFill>
                  <a:srgbClr val="5B5B6B"/>
                </a:solidFill>
                <a:latin typeface="Source Sans 3" pitchFamily="34" charset="0"/>
                <a:ea typeface="Source Sans 3" pitchFamily="34" charset="-122"/>
                <a:cs typeface="Source Sans 3" pitchFamily="34" charset="-120"/>
              </a:rPr>
              <a:t>Current Students: End-to-End Experience —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algn="r" indent="0" marL="0">
              <a:buNone/>
            </a:pPr>
            <a:r>
              <a:rPr lang="en-US" sz="900" dirty="0">
                <a:solidFill>
                  <a:srgbClr val="5B5B6B"/>
                </a:solidFill>
                <a:latin typeface="Source Sans 3" pitchFamily="34" charset="0"/>
                <a:ea typeface="Source Sans 3" pitchFamily="34" charset="-122"/>
                <a:cs typeface="Source Sans 3" pitchFamily="34" charset="-120"/>
              </a:rPr>
              <a:t>4</a:t>
            </a:r>
            <a:endParaRPr lang="en-US" sz="900" dirty="0"/>
          </a:p>
        </p:txBody>
      </p:sp>
      <p:sp>
        <p:nvSpPr>
          <p:cNvPr id="6" name="Text 4"/>
          <p:cNvSpPr/>
          <p:nvPr/>
        </p:nvSpPr>
        <p:spPr>
          <a:xfrm>
            <a:off x="566928" y="1325880"/>
            <a:ext cx="10881360" cy="914400"/>
          </a:xfrm>
          <a:prstGeom prst="rect">
            <a:avLst/>
          </a:prstGeom>
          <a:noFill/>
          <a:ln/>
        </p:spPr>
        <p:txBody>
          <a:bodyPr wrap="square" lIns="0" tIns="0" rIns="0" bIns="0" rtlCol="0" anchor="ctr"/>
          <a:lstStyle/>
          <a:p>
            <a:pPr indent="0" marL="0">
              <a:lnSpc>
                <a:spcPct val="112000"/>
              </a:lnSpc>
              <a:buNone/>
            </a:pPr>
            <a:r>
              <a:rPr lang="en-US" sz="1550" dirty="0">
                <a:solidFill>
                  <a:srgbClr val="1C1C28"/>
                </a:solidFill>
                <a:latin typeface="Source Sans 3" pitchFamily="34" charset="0"/>
                <a:ea typeface="Source Sans 3" pitchFamily="34" charset="-122"/>
                <a:cs typeface="Source Sans 3" pitchFamily="34" charset="-120"/>
              </a:rPr>
              <a:t>A full content scan of the current-students estate — the central hub plus nine faculties and three schools. The same student need is often served in more than one place; some content is genuinely discipline-specific, and some is shared.</a:t>
            </a:r>
            <a:endParaRPr lang="en-US" sz="1550" dirty="0"/>
          </a:p>
        </p:txBody>
      </p:sp>
      <p:sp>
        <p:nvSpPr>
          <p:cNvPr id="7" name="Shape 5"/>
          <p:cNvSpPr/>
          <p:nvPr/>
        </p:nvSpPr>
        <p:spPr>
          <a:xfrm>
            <a:off x="566928" y="2606040"/>
            <a:ext cx="3529584" cy="1828800"/>
          </a:xfrm>
          <a:prstGeom prst="rect">
            <a:avLst/>
          </a:prstGeom>
          <a:solidFill>
            <a:srgbClr val="F4F4F4"/>
          </a:solidFill>
          <a:ln/>
        </p:spPr>
      </p:sp>
      <p:sp>
        <p:nvSpPr>
          <p:cNvPr id="8" name="Shape 6"/>
          <p:cNvSpPr/>
          <p:nvPr/>
        </p:nvSpPr>
        <p:spPr>
          <a:xfrm>
            <a:off x="566928" y="2606040"/>
            <a:ext cx="3529584" cy="91440"/>
          </a:xfrm>
          <a:prstGeom prst="rect">
            <a:avLst/>
          </a:prstGeom>
          <a:solidFill>
            <a:srgbClr val="46C8F0"/>
          </a:solidFill>
          <a:ln/>
        </p:spPr>
      </p:sp>
      <p:sp>
        <p:nvSpPr>
          <p:cNvPr id="9" name="Text 7"/>
          <p:cNvSpPr/>
          <p:nvPr/>
        </p:nvSpPr>
        <p:spPr>
          <a:xfrm>
            <a:off x="566928" y="2834640"/>
            <a:ext cx="3529584" cy="914400"/>
          </a:xfrm>
          <a:prstGeom prst="rect">
            <a:avLst/>
          </a:prstGeom>
          <a:noFill/>
          <a:ln/>
        </p:spPr>
        <p:txBody>
          <a:bodyPr wrap="square" lIns="0" tIns="0" rIns="0" bIns="0" rtlCol="0" anchor="ctr"/>
          <a:lstStyle/>
          <a:p>
            <a:pPr algn="ctr" indent="0" marL="0">
              <a:buNone/>
            </a:pPr>
            <a:r>
              <a:rPr lang="en-US" sz="5200" b="1" dirty="0">
                <a:solidFill>
                  <a:srgbClr val="000F46"/>
                </a:solidFill>
                <a:latin typeface="Fraunces" pitchFamily="34" charset="0"/>
                <a:ea typeface="Fraunces" pitchFamily="34" charset="-122"/>
                <a:cs typeface="Fraunces" pitchFamily="34" charset="-120"/>
              </a:rPr>
              <a:t>1,161</a:t>
            </a:r>
            <a:endParaRPr lang="en-US" sz="5200" dirty="0"/>
          </a:p>
        </p:txBody>
      </p:sp>
      <p:sp>
        <p:nvSpPr>
          <p:cNvPr id="10" name="Text 8"/>
          <p:cNvSpPr/>
          <p:nvPr/>
        </p:nvSpPr>
        <p:spPr>
          <a:xfrm>
            <a:off x="795528" y="3749040"/>
            <a:ext cx="3072384" cy="548640"/>
          </a:xfrm>
          <a:prstGeom prst="rect">
            <a:avLst/>
          </a:prstGeom>
          <a:noFill/>
          <a:ln/>
        </p:spPr>
        <p:txBody>
          <a:bodyPr wrap="square" lIns="0" tIns="0" rIns="0" bIns="0" rtlCol="0" anchor="ctr"/>
          <a:lstStyle/>
          <a:p>
            <a:pPr algn="ctr" indent="0" marL="0">
              <a:buNone/>
            </a:pPr>
            <a:r>
              <a:rPr lang="en-US" sz="1300" dirty="0">
                <a:solidFill>
                  <a:srgbClr val="5B5B6B"/>
                </a:solidFill>
                <a:latin typeface="Source Sans 3" pitchFamily="34" charset="0"/>
                <a:ea typeface="Source Sans 3" pitchFamily="34" charset="-122"/>
                <a:cs typeface="Source Sans 3" pitchFamily="34" charset="-120"/>
              </a:rPr>
              <a:t>pages of current-students content</a:t>
            </a:r>
            <a:endParaRPr lang="en-US" sz="1300" dirty="0"/>
          </a:p>
        </p:txBody>
      </p:sp>
      <p:sp>
        <p:nvSpPr>
          <p:cNvPr id="11" name="Shape 9"/>
          <p:cNvSpPr/>
          <p:nvPr/>
        </p:nvSpPr>
        <p:spPr>
          <a:xfrm>
            <a:off x="4334256" y="2606040"/>
            <a:ext cx="3529584" cy="1828800"/>
          </a:xfrm>
          <a:prstGeom prst="rect">
            <a:avLst/>
          </a:prstGeom>
          <a:solidFill>
            <a:srgbClr val="F4F4F4"/>
          </a:solidFill>
          <a:ln/>
        </p:spPr>
      </p:sp>
      <p:sp>
        <p:nvSpPr>
          <p:cNvPr id="12" name="Shape 10"/>
          <p:cNvSpPr/>
          <p:nvPr/>
        </p:nvSpPr>
        <p:spPr>
          <a:xfrm>
            <a:off x="4334256" y="2606040"/>
            <a:ext cx="3529584" cy="91440"/>
          </a:xfrm>
          <a:prstGeom prst="rect">
            <a:avLst/>
          </a:prstGeom>
          <a:solidFill>
            <a:srgbClr val="46C8F0"/>
          </a:solidFill>
          <a:ln/>
        </p:spPr>
      </p:sp>
      <p:sp>
        <p:nvSpPr>
          <p:cNvPr id="13" name="Text 11"/>
          <p:cNvSpPr/>
          <p:nvPr/>
        </p:nvSpPr>
        <p:spPr>
          <a:xfrm>
            <a:off x="4334256" y="2834640"/>
            <a:ext cx="3529584" cy="914400"/>
          </a:xfrm>
          <a:prstGeom prst="rect">
            <a:avLst/>
          </a:prstGeom>
          <a:noFill/>
          <a:ln/>
        </p:spPr>
        <p:txBody>
          <a:bodyPr wrap="square" lIns="0" tIns="0" rIns="0" bIns="0" rtlCol="0" anchor="ctr"/>
          <a:lstStyle/>
          <a:p>
            <a:pPr algn="ctr" indent="0" marL="0">
              <a:buNone/>
            </a:pPr>
            <a:r>
              <a:rPr lang="en-US" sz="5200" b="1" dirty="0">
                <a:solidFill>
                  <a:srgbClr val="000F46"/>
                </a:solidFill>
                <a:latin typeface="Fraunces" pitchFamily="34" charset="0"/>
                <a:ea typeface="Fraunces" pitchFamily="34" charset="-122"/>
                <a:cs typeface="Fraunces" pitchFamily="34" charset="-120"/>
              </a:rPr>
              <a:t>13</a:t>
            </a:r>
            <a:endParaRPr lang="en-US" sz="5200" dirty="0"/>
          </a:p>
        </p:txBody>
      </p:sp>
      <p:sp>
        <p:nvSpPr>
          <p:cNvPr id="14" name="Text 12"/>
          <p:cNvSpPr/>
          <p:nvPr/>
        </p:nvSpPr>
        <p:spPr>
          <a:xfrm>
            <a:off x="4562856" y="3749040"/>
            <a:ext cx="3072384" cy="548640"/>
          </a:xfrm>
          <a:prstGeom prst="rect">
            <a:avLst/>
          </a:prstGeom>
          <a:noFill/>
          <a:ln/>
        </p:spPr>
        <p:txBody>
          <a:bodyPr wrap="square" lIns="0" tIns="0" rIns="0" bIns="0" rtlCol="0" anchor="ctr"/>
          <a:lstStyle/>
          <a:p>
            <a:pPr algn="ctr" indent="0" marL="0">
              <a:buNone/>
            </a:pPr>
            <a:r>
              <a:rPr lang="en-US" sz="1300" dirty="0">
                <a:solidFill>
                  <a:srgbClr val="5B5B6B"/>
                </a:solidFill>
                <a:latin typeface="Source Sans 3" pitchFamily="34" charset="0"/>
                <a:ea typeface="Source Sans 3" pitchFamily="34" charset="-122"/>
                <a:cs typeface="Source Sans 3" pitchFamily="34" charset="-120"/>
              </a:rPr>
              <a:t>separate websites</a:t>
            </a:r>
            <a:endParaRPr lang="en-US" sz="1300" dirty="0"/>
          </a:p>
        </p:txBody>
      </p:sp>
      <p:sp>
        <p:nvSpPr>
          <p:cNvPr id="15" name="Shape 13"/>
          <p:cNvSpPr/>
          <p:nvPr/>
        </p:nvSpPr>
        <p:spPr>
          <a:xfrm>
            <a:off x="8101584" y="2606040"/>
            <a:ext cx="3529584" cy="1828800"/>
          </a:xfrm>
          <a:prstGeom prst="rect">
            <a:avLst/>
          </a:prstGeom>
          <a:solidFill>
            <a:srgbClr val="F4F4F4"/>
          </a:solidFill>
          <a:ln/>
        </p:spPr>
      </p:sp>
      <p:sp>
        <p:nvSpPr>
          <p:cNvPr id="16" name="Shape 14"/>
          <p:cNvSpPr/>
          <p:nvPr/>
        </p:nvSpPr>
        <p:spPr>
          <a:xfrm>
            <a:off x="8101584" y="2606040"/>
            <a:ext cx="3529584" cy="91440"/>
          </a:xfrm>
          <a:prstGeom prst="rect">
            <a:avLst/>
          </a:prstGeom>
          <a:solidFill>
            <a:srgbClr val="46C8F0"/>
          </a:solidFill>
          <a:ln/>
        </p:spPr>
      </p:sp>
      <p:sp>
        <p:nvSpPr>
          <p:cNvPr id="17" name="Text 15"/>
          <p:cNvSpPr/>
          <p:nvPr/>
        </p:nvSpPr>
        <p:spPr>
          <a:xfrm>
            <a:off x="8101584" y="2834640"/>
            <a:ext cx="3529584" cy="914400"/>
          </a:xfrm>
          <a:prstGeom prst="rect">
            <a:avLst/>
          </a:prstGeom>
          <a:noFill/>
          <a:ln/>
        </p:spPr>
        <p:txBody>
          <a:bodyPr wrap="square" lIns="0" tIns="0" rIns="0" bIns="0" rtlCol="0" anchor="ctr"/>
          <a:lstStyle/>
          <a:p>
            <a:pPr algn="ctr" indent="0" marL="0">
              <a:buNone/>
            </a:pPr>
            <a:r>
              <a:rPr lang="en-US" sz="5200" b="1" dirty="0">
                <a:solidFill>
                  <a:srgbClr val="000F46"/>
                </a:solidFill>
                <a:latin typeface="Fraunces" pitchFamily="34" charset="0"/>
                <a:ea typeface="Fraunces" pitchFamily="34" charset="-122"/>
                <a:cs typeface="Fraunces" pitchFamily="34" charset="-120"/>
              </a:rPr>
              <a:t>6</a:t>
            </a:r>
            <a:endParaRPr lang="en-US" sz="5200" dirty="0"/>
          </a:p>
        </p:txBody>
      </p:sp>
      <p:sp>
        <p:nvSpPr>
          <p:cNvPr id="18" name="Text 16"/>
          <p:cNvSpPr/>
          <p:nvPr/>
        </p:nvSpPr>
        <p:spPr>
          <a:xfrm>
            <a:off x="8330184" y="3749040"/>
            <a:ext cx="3072384" cy="548640"/>
          </a:xfrm>
          <a:prstGeom prst="rect">
            <a:avLst/>
          </a:prstGeom>
          <a:noFill/>
          <a:ln/>
        </p:spPr>
        <p:txBody>
          <a:bodyPr wrap="square" lIns="0" tIns="0" rIns="0" bIns="0" rtlCol="0" anchor="ctr"/>
          <a:lstStyle/>
          <a:p>
            <a:pPr algn="ctr" indent="0" marL="0">
              <a:buNone/>
            </a:pPr>
            <a:r>
              <a:rPr lang="en-US" sz="1300" dirty="0">
                <a:solidFill>
                  <a:srgbClr val="5B5B6B"/>
                </a:solidFill>
                <a:latin typeface="Source Sans 3" pitchFamily="34" charset="0"/>
                <a:ea typeface="Source Sans 3" pitchFamily="34" charset="-122"/>
                <a:cs typeface="Source Sans 3" pitchFamily="34" charset="-120"/>
              </a:rPr>
              <a:t>different web-address patterns</a:t>
            </a:r>
            <a:endParaRPr lang="en-US" sz="1300" dirty="0"/>
          </a:p>
        </p:txBody>
      </p:sp>
      <p:sp>
        <p:nvSpPr>
          <p:cNvPr id="19" name="Text 17"/>
          <p:cNvSpPr/>
          <p:nvPr/>
        </p:nvSpPr>
        <p:spPr>
          <a:xfrm>
            <a:off x="566928" y="4754880"/>
            <a:ext cx="10881360" cy="822960"/>
          </a:xfrm>
          <a:prstGeom prst="rect">
            <a:avLst/>
          </a:prstGeom>
          <a:noFill/>
          <a:ln/>
        </p:spPr>
        <p:txBody>
          <a:bodyPr wrap="square" lIns="0" tIns="0" rIns="0" bIns="0" rtlCol="0" anchor="ctr"/>
          <a:lstStyle/>
          <a:p>
            <a:pPr indent="0" marL="0">
              <a:lnSpc>
                <a:spcPct val="118000"/>
              </a:lnSpc>
              <a:buNone/>
            </a:pPr>
            <a:r>
              <a:rPr lang="en-US" sz="1250" i="1" dirty="0">
                <a:solidFill>
                  <a:srgbClr val="000B34"/>
                </a:solidFill>
                <a:latin typeface="Source Sans 3" pitchFamily="34" charset="0"/>
                <a:ea typeface="Source Sans 3" pitchFamily="34" charset="-122"/>
                <a:cs typeface="Source Sans 3" pitchFamily="34" charset="-120"/>
              </a:rPr>
              <a:t>Central hub · Architecture, Building &amp; Planning · Arts · Business &amp; Economics · Education · Engineering &amp; IT · Fine Arts &amp; Music · Law · Medicine, Dentistry &amp; Health Sciences · Science  —  plus separate Business School, Biomedical Sciences and Dental school sites.</a:t>
            </a:r>
            <a:endParaRPr lang="en-US" sz="1250" dirty="0"/>
          </a:p>
        </p:txBody>
      </p:sp>
      <p:sp>
        <p:nvSpPr>
          <p:cNvPr id="20" name="Text 18"/>
          <p:cNvSpPr/>
          <p:nvPr/>
        </p:nvSpPr>
        <p:spPr>
          <a:xfrm>
            <a:off x="566928" y="5715000"/>
            <a:ext cx="10881360" cy="274320"/>
          </a:xfrm>
          <a:prstGeom prst="rect">
            <a:avLst/>
          </a:prstGeom>
          <a:noFill/>
          <a:ln/>
        </p:spPr>
        <p:txBody>
          <a:bodyPr wrap="square" lIns="0" tIns="0" rIns="0" bIns="0" rtlCol="0" anchor="ctr"/>
          <a:lstStyle/>
          <a:p>
            <a:pPr indent="0" marL="0">
              <a:buNone/>
            </a:pPr>
            <a:r>
              <a:rPr lang="en-US" sz="950" dirty="0">
                <a:solidFill>
                  <a:srgbClr val="5B5B6B"/>
                </a:solidFill>
                <a:latin typeface="Source Code Pro" pitchFamily="34" charset="0"/>
                <a:ea typeface="Source Code Pro" pitchFamily="34" charset="-122"/>
                <a:cs typeface="Source Code Pro" pitchFamily="34" charset="-120"/>
              </a:rPr>
              <a:t>Descriptive only — a scan of what exists and where, not an assessment.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sp>
      <p:sp>
        <p:nvSpPr>
          <p:cNvPr id="3" name="Text 1"/>
          <p:cNvSpPr/>
          <p:nvPr/>
        </p:nvSpPr>
        <p:spPr>
          <a:xfrm>
            <a:off x="914400" y="457200"/>
            <a:ext cx="10698480" cy="502920"/>
          </a:xfrm>
          <a:prstGeom prst="rect">
            <a:avLst/>
          </a:prstGeom>
          <a:noFill/>
          <a:ln/>
        </p:spPr>
        <p:txBody>
          <a:bodyPr wrap="square" lIns="0" tIns="0" rIns="0" bIns="0" rtlCol="0" anchor="ctr"/>
          <a:lstStyle/>
          <a:p>
            <a:pPr indent="0" marL="0">
              <a:buNone/>
            </a:pPr>
            <a:r>
              <a:rPr lang="en-US" sz="2900" b="1" dirty="0">
                <a:solidFill>
                  <a:srgbClr val="000F46"/>
                </a:solidFill>
                <a:latin typeface="Fraunces" pitchFamily="34" charset="0"/>
                <a:ea typeface="Fraunces" pitchFamily="34" charset="-122"/>
                <a:cs typeface="Fraunces" pitchFamily="34" charset="-120"/>
              </a:rPr>
              <a:t>A lens for today: overlap</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indent="0" marL="0">
              <a:buNone/>
            </a:pPr>
            <a:r>
              <a:rPr lang="en-US" sz="900" dirty="0">
                <a:solidFill>
                  <a:srgbClr val="5B5B6B"/>
                </a:solidFill>
                <a:latin typeface="Source Sans 3" pitchFamily="34" charset="0"/>
                <a:ea typeface="Source Sans 3" pitchFamily="34" charset="-122"/>
                <a:cs typeface="Source Sans 3" pitchFamily="34" charset="-120"/>
              </a:rPr>
              <a:t>Current Students: End-to-End Experience —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algn="r" indent="0" marL="0">
              <a:buNone/>
            </a:pPr>
            <a:r>
              <a:rPr lang="en-US" sz="900" dirty="0">
                <a:solidFill>
                  <a:srgbClr val="5B5B6B"/>
                </a:solidFill>
                <a:latin typeface="Source Sans 3" pitchFamily="34" charset="0"/>
                <a:ea typeface="Source Sans 3" pitchFamily="34" charset="-122"/>
                <a:cs typeface="Source Sans 3" pitchFamily="34" charset="-120"/>
              </a:rPr>
              <a:t>5</a:t>
            </a:r>
            <a:endParaRPr lang="en-US" sz="900" dirty="0"/>
          </a:p>
        </p:txBody>
      </p:sp>
      <p:sp>
        <p:nvSpPr>
          <p:cNvPr id="6" name="Text 4"/>
          <p:cNvSpPr/>
          <p:nvPr/>
        </p:nvSpPr>
        <p:spPr>
          <a:xfrm>
            <a:off x="566928" y="1417320"/>
            <a:ext cx="5760720" cy="3657600"/>
          </a:xfrm>
          <a:prstGeom prst="rect">
            <a:avLst/>
          </a:prstGeom>
          <a:noFill/>
          <a:ln/>
        </p:spPr>
        <p:txBody>
          <a:bodyPr wrap="square" lIns="0" tIns="0" rIns="0" bIns="0" rtlCol="0" anchor="t"/>
          <a:lstStyle/>
          <a:p>
            <a:pPr indent="0" marL="0">
              <a:lnSpc>
                <a:spcPct val="122000"/>
              </a:lnSpc>
              <a:buNone/>
            </a:pPr>
            <a:r>
              <a:rPr lang="en-US" sz="1700" dirty="0">
                <a:solidFill>
                  <a:srgbClr val="1C1C28"/>
                </a:solidFill>
                <a:latin typeface="Source Sans 3" pitchFamily="34" charset="0"/>
                <a:ea typeface="Source Sans 3" pitchFamily="34" charset="-122"/>
                <a:cs typeface="Source Sans 3" pitchFamily="34" charset="-120"/>
              </a:rPr>
              <a:t>Overlap isn't automatically a problem. Sometimes it is helpful local context; sometimes it is duplicated effort or mixed messages. For each topic today, we will look at where the content sits — then ask whether the overlap is intentional, and whether it helps or hinders the student.</a:t>
            </a:r>
            <a:endParaRPr lang="en-US" sz="1700" dirty="0"/>
          </a:p>
        </p:txBody>
      </p:sp>
      <p:sp>
        <p:nvSpPr>
          <p:cNvPr id="7" name="Shape 5"/>
          <p:cNvSpPr/>
          <p:nvPr/>
        </p:nvSpPr>
        <p:spPr>
          <a:xfrm>
            <a:off x="6903720" y="1920240"/>
            <a:ext cx="2834640" cy="2834640"/>
          </a:xfrm>
          <a:prstGeom prst="ellipse">
            <a:avLst/>
          </a:prstGeom>
          <a:solidFill>
            <a:srgbClr val="000F46">
              <a:alpha val="14000"/>
            </a:srgbClr>
          </a:solidFill>
          <a:ln w="19050">
            <a:solidFill>
              <a:srgbClr val="000F46"/>
            </a:solidFill>
            <a:prstDash val="solid"/>
          </a:ln>
        </p:spPr>
      </p:sp>
      <p:sp>
        <p:nvSpPr>
          <p:cNvPr id="8" name="Shape 6"/>
          <p:cNvSpPr/>
          <p:nvPr/>
        </p:nvSpPr>
        <p:spPr>
          <a:xfrm>
            <a:off x="8549640" y="1920240"/>
            <a:ext cx="2834640" cy="2834640"/>
          </a:xfrm>
          <a:prstGeom prst="ellipse">
            <a:avLst/>
          </a:prstGeom>
          <a:solidFill>
            <a:srgbClr val="46C8F0">
              <a:alpha val="28000"/>
            </a:srgbClr>
          </a:solidFill>
          <a:ln w="19050">
            <a:solidFill>
              <a:srgbClr val="2F95B7"/>
            </a:solidFill>
            <a:prstDash val="solid"/>
          </a:ln>
        </p:spPr>
      </p:sp>
      <p:sp>
        <p:nvSpPr>
          <p:cNvPr id="9" name="Text 7"/>
          <p:cNvSpPr/>
          <p:nvPr/>
        </p:nvSpPr>
        <p:spPr>
          <a:xfrm>
            <a:off x="6858000" y="3063240"/>
            <a:ext cx="1691640" cy="457200"/>
          </a:xfrm>
          <a:prstGeom prst="rect">
            <a:avLst/>
          </a:prstGeom>
          <a:noFill/>
          <a:ln/>
        </p:spPr>
        <p:txBody>
          <a:bodyPr wrap="square" lIns="0" tIns="0" rIns="0" bIns="0" rtlCol="0" anchor="ctr"/>
          <a:lstStyle/>
          <a:p>
            <a:pPr algn="ctr" indent="0" marL="0">
              <a:buNone/>
            </a:pPr>
            <a:r>
              <a:rPr lang="en-US" sz="1300" b="1" dirty="0">
                <a:solidFill>
                  <a:srgbClr val="000F46"/>
                </a:solidFill>
                <a:latin typeface="Source Sans 3" pitchFamily="34" charset="0"/>
                <a:ea typeface="Source Sans 3" pitchFamily="34" charset="-122"/>
                <a:cs typeface="Source Sans 3" pitchFamily="34" charset="-120"/>
              </a:rPr>
              <a:t>Central hub</a:t>
            </a:r>
            <a:endParaRPr lang="en-US" sz="1300" dirty="0"/>
          </a:p>
        </p:txBody>
      </p:sp>
      <p:sp>
        <p:nvSpPr>
          <p:cNvPr id="10" name="Text 8"/>
          <p:cNvSpPr/>
          <p:nvPr/>
        </p:nvSpPr>
        <p:spPr>
          <a:xfrm>
            <a:off x="9692640" y="2926080"/>
            <a:ext cx="1783080" cy="777240"/>
          </a:xfrm>
          <a:prstGeom prst="rect">
            <a:avLst/>
          </a:prstGeom>
          <a:noFill/>
          <a:ln/>
        </p:spPr>
        <p:txBody>
          <a:bodyPr wrap="square" lIns="0" tIns="0" rIns="0" bIns="0" rtlCol="0" anchor="ctr"/>
          <a:lstStyle/>
          <a:p>
            <a:pPr algn="ctr" indent="0" marL="0">
              <a:buNone/>
            </a:pPr>
            <a:r>
              <a:rPr lang="en-US" sz="1300" b="1" dirty="0">
                <a:solidFill>
                  <a:srgbClr val="000F46"/>
                </a:solidFill>
                <a:latin typeface="Source Sans 3" pitchFamily="34" charset="0"/>
                <a:ea typeface="Source Sans 3" pitchFamily="34" charset="-122"/>
                <a:cs typeface="Source Sans 3" pitchFamily="34" charset="-120"/>
              </a:rPr>
              <a:t>Faculty /</a:t>
            </a:r>
            <a:endParaRPr lang="en-US" sz="1300" dirty="0"/>
          </a:p>
          <a:p>
            <a:pPr algn="ctr" indent="0" marL="0">
              <a:buNone/>
            </a:pPr>
            <a:r>
              <a:rPr lang="en-US" sz="1300" b="1" dirty="0">
                <a:solidFill>
                  <a:srgbClr val="000F46"/>
                </a:solidFill>
                <a:latin typeface="Source Sans 3" pitchFamily="34" charset="0"/>
                <a:ea typeface="Source Sans 3" pitchFamily="34" charset="-122"/>
                <a:cs typeface="Source Sans 3" pitchFamily="34" charset="-120"/>
              </a:rPr>
              <a:t>school sites</a:t>
            </a:r>
            <a:endParaRPr lang="en-US" sz="1300" dirty="0"/>
          </a:p>
        </p:txBody>
      </p:sp>
      <p:sp>
        <p:nvSpPr>
          <p:cNvPr id="11" name="Text 9"/>
          <p:cNvSpPr/>
          <p:nvPr/>
        </p:nvSpPr>
        <p:spPr>
          <a:xfrm>
            <a:off x="8622792" y="3730752"/>
            <a:ext cx="1051560" cy="320040"/>
          </a:xfrm>
          <a:prstGeom prst="rect">
            <a:avLst/>
          </a:prstGeom>
          <a:noFill/>
          <a:ln/>
        </p:spPr>
        <p:txBody>
          <a:bodyPr wrap="square" lIns="0" tIns="0" rIns="0" bIns="0" rtlCol="0" anchor="ctr"/>
          <a:lstStyle/>
          <a:p>
            <a:pPr algn="ctr" indent="0" marL="0">
              <a:buNone/>
            </a:pPr>
            <a:r>
              <a:rPr lang="en-US" sz="1100" b="1" dirty="0">
                <a:solidFill>
                  <a:srgbClr val="000B34"/>
                </a:solidFill>
                <a:latin typeface="Source Code Pro" pitchFamily="34" charset="0"/>
                <a:ea typeface="Source Code Pro" pitchFamily="34" charset="-122"/>
                <a:cs typeface="Source Code Pro" pitchFamily="34" charset="-120"/>
              </a:rPr>
              <a:t>overlap</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sp>
      <p:sp>
        <p:nvSpPr>
          <p:cNvPr id="3" name="Text 1"/>
          <p:cNvSpPr/>
          <p:nvPr/>
        </p:nvSpPr>
        <p:spPr>
          <a:xfrm>
            <a:off x="914400" y="457200"/>
            <a:ext cx="10698480" cy="502920"/>
          </a:xfrm>
          <a:prstGeom prst="rect">
            <a:avLst/>
          </a:prstGeom>
          <a:noFill/>
          <a:ln/>
        </p:spPr>
        <p:txBody>
          <a:bodyPr wrap="square" lIns="0" tIns="0" rIns="0" bIns="0" rtlCol="0" anchor="ctr"/>
          <a:lstStyle/>
          <a:p>
            <a:pPr indent="0" marL="0">
              <a:buNone/>
            </a:pPr>
            <a:r>
              <a:rPr lang="en-US" sz="2900" b="1" dirty="0">
                <a:solidFill>
                  <a:srgbClr val="000F46"/>
                </a:solidFill>
                <a:latin typeface="Fraunces" pitchFamily="34" charset="0"/>
                <a:ea typeface="Fraunces" pitchFamily="34" charset="-122"/>
                <a:cs typeface="Fraunces" pitchFamily="34" charset="-120"/>
              </a:rPr>
              <a:t>Overlap at a glance</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indent="0" marL="0">
              <a:buNone/>
            </a:pPr>
            <a:r>
              <a:rPr lang="en-US" sz="900" dirty="0">
                <a:solidFill>
                  <a:srgbClr val="5B5B6B"/>
                </a:solidFill>
                <a:latin typeface="Source Sans 3" pitchFamily="34" charset="0"/>
                <a:ea typeface="Source Sans 3" pitchFamily="34" charset="-122"/>
                <a:cs typeface="Source Sans 3" pitchFamily="34" charset="-120"/>
              </a:rPr>
              <a:t>Current Students: End-to-End Experience —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algn="r" indent="0" marL="0">
              <a:buNone/>
            </a:pPr>
            <a:r>
              <a:rPr lang="en-US" sz="900" dirty="0">
                <a:solidFill>
                  <a:srgbClr val="5B5B6B"/>
                </a:solidFill>
                <a:latin typeface="Source Sans 3" pitchFamily="34" charset="0"/>
                <a:ea typeface="Source Sans 3" pitchFamily="34" charset="-122"/>
                <a:cs typeface="Source Sans 3" pitchFamily="34" charset="-120"/>
              </a:rPr>
              <a:t>6</a:t>
            </a:r>
            <a:endParaRPr lang="en-US" sz="900" dirty="0"/>
          </a:p>
        </p:txBody>
      </p:sp>
      <p:sp>
        <p:nvSpPr>
          <p:cNvPr id="6" name="Text 4"/>
          <p:cNvSpPr/>
          <p:nvPr/>
        </p:nvSpPr>
        <p:spPr>
          <a:xfrm>
            <a:off x="566928" y="1280160"/>
            <a:ext cx="10881360" cy="457200"/>
          </a:xfrm>
          <a:prstGeom prst="rect">
            <a:avLst/>
          </a:prstGeom>
          <a:noFill/>
          <a:ln/>
        </p:spPr>
        <p:txBody>
          <a:bodyPr wrap="square" lIns="0" tIns="0" rIns="0" bIns="0" rtlCol="0" anchor="ctr"/>
          <a:lstStyle/>
          <a:p>
            <a:pPr indent="0" marL="0">
              <a:buNone/>
            </a:pPr>
            <a:r>
              <a:rPr lang="en-US" sz="1500" dirty="0">
                <a:solidFill>
                  <a:srgbClr val="1C1C28"/>
                </a:solidFill>
                <a:latin typeface="Source Sans 3" pitchFamily="34" charset="0"/>
                <a:ea typeface="Source Sans 3" pitchFamily="34" charset="-122"/>
                <a:cs typeface="Source Sans 3" pitchFamily="34" charset="-120"/>
              </a:rPr>
              <a:t>Where each topic is provided today, across the estate. The same need often appears in several places.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64240" cy="914400"/>
        </p:xfrm>
        <a:graphic>
          <a:graphicData uri="http://schemas.openxmlformats.org/drawingml/2006/table">
            <a:tbl>
              <a:tblPr/>
              <a:tblGrid>
                <a:gridCol w="2651760"/>
                <a:gridCol w="2468880"/>
                <a:gridCol w="2468880"/>
                <a:gridCol w="1828800"/>
                <a:gridCol w="1645920"/>
              </a:tblGrid>
              <a:tr h="566928">
                <a:tc>
                  <a:txBody>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Topic</a:t>
                      </a:r>
                      <a:endParaRPr lang="en-US" sz="120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Central hub</a:t>
                      </a:r>
                      <a:endParaRPr lang="en-US" sz="120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Faculties</a:t>
                      </a:r>
                      <a:endParaRPr lang="en-US" sz="120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Schools</a:t>
                      </a:r>
                      <a:endParaRPr lang="en-US" sz="120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Cross-linked?</a:t>
                      </a:r>
                      <a:endParaRPr lang="en-US" sz="120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r>
              <a:tr h="566928">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Course planning</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Planner + Handbook</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Every faculty</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MBS, Biomedical</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Partly</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Careers</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Central platform</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8 of 9</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MBS</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Rarely</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Placements / WIL</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Every faculty</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Some</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Service requests</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Stop 1 + processes</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Student centres + forms</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Some</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Mixed</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Further study</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Some</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Faculties</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Some</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indent="0" marL="0">
                        <a:buNone/>
                      </a:pPr>
                      <a:r>
                        <a:rPr lang="en-US" sz="1150" dirty="0">
                          <a:solidFill>
                            <a:srgbClr val="1C1C28"/>
                          </a:solidFill>
                          <a:latin typeface="Source Sans 3" pitchFamily="34" charset="0"/>
                          <a:ea typeface="Source Sans 3" pitchFamily="34" charset="-122"/>
                          <a:cs typeface="Source Sans 3" pitchFamily="34" charset="-120"/>
                        </a:rPr>
                        <a:t>Mixed</a:t>
                      </a:r>
                      <a:endParaRPr lang="en-US" sz="1150" dirty="0">
                        <a:latin typeface="Source Sans 3" charset="0"/>
                        <a:ea typeface="Source Sans 3" charset="0"/>
                        <a:cs typeface="Source Sans 3" charset="0"/>
                      </a:endParaRPr>
                    </a:p>
                  </a:txBody>
                  <a:tcPr marL="762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532120"/>
            <a:ext cx="10881360" cy="640080"/>
          </a:xfrm>
          <a:prstGeom prst="rect">
            <a:avLst/>
          </a:prstGeom>
          <a:solidFill>
            <a:srgbClr val="EAF6FB"/>
          </a:solidFill>
          <a:ln/>
        </p:spPr>
      </p:sp>
      <p:sp>
        <p:nvSpPr>
          <p:cNvPr id="9" name="Shape 6"/>
          <p:cNvSpPr/>
          <p:nvPr/>
        </p:nvSpPr>
        <p:spPr>
          <a:xfrm>
            <a:off x="566928" y="5532120"/>
            <a:ext cx="91440" cy="640080"/>
          </a:xfrm>
          <a:prstGeom prst="rect">
            <a:avLst/>
          </a:prstGeom>
          <a:solidFill>
            <a:srgbClr val="46C8F0"/>
          </a:solidFill>
          <a:ln/>
        </p:spPr>
      </p:sp>
      <p:sp>
        <p:nvSpPr>
          <p:cNvPr id="10" name="Text 7"/>
          <p:cNvSpPr/>
          <p:nvPr/>
        </p:nvSpPr>
        <p:spPr>
          <a:xfrm>
            <a:off x="868680" y="5532120"/>
            <a:ext cx="10332720" cy="640080"/>
          </a:xfrm>
          <a:prstGeom prst="rect">
            <a:avLst/>
          </a:prstGeom>
          <a:noFill/>
          <a:ln/>
        </p:spPr>
        <p:txBody>
          <a:bodyPr wrap="square" lIns="0" tIns="0" rIns="0" bIns="0" rtlCol="0" anchor="ctr"/>
          <a:lstStyle/>
          <a:p>
            <a:pPr indent="0" marL="0">
              <a:buNone/>
            </a:pPr>
            <a:r>
              <a:rPr lang="en-US" sz="1450" b="1" dirty="0">
                <a:solidFill>
                  <a:srgbClr val="000F46"/>
                </a:solidFill>
                <a:latin typeface="Source Sans 3" pitchFamily="34" charset="0"/>
                <a:ea typeface="Source Sans 3" pitchFamily="34" charset="-122"/>
                <a:cs typeface="Source Sans 3" pitchFamily="34" charset="-120"/>
              </a:rPr>
              <a:t>To discuss:  </a:t>
            </a:r>
            <a:pPr indent="0" marL="0">
              <a:buNone/>
            </a:pPr>
            <a:r>
              <a:rPr lang="en-US" sz="1450" dirty="0">
                <a:solidFill>
                  <a:srgbClr val="000B34"/>
                </a:solidFill>
                <a:latin typeface="Source Sans 3" pitchFamily="34" charset="0"/>
                <a:ea typeface="Source Sans 3" pitchFamily="34" charset="-122"/>
                <a:cs typeface="Source Sans 3" pitchFamily="34" charset="-120"/>
              </a:rPr>
              <a:t>Is this the right picture? Where is the overlap intentional and helpful — and where is it accidental?</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sp>
      <p:sp>
        <p:nvSpPr>
          <p:cNvPr id="3" name="Text 1"/>
          <p:cNvSpPr/>
          <p:nvPr/>
        </p:nvSpPr>
        <p:spPr>
          <a:xfrm>
            <a:off x="914400" y="457200"/>
            <a:ext cx="10698480" cy="502920"/>
          </a:xfrm>
          <a:prstGeom prst="rect">
            <a:avLst/>
          </a:prstGeom>
          <a:noFill/>
          <a:ln/>
        </p:spPr>
        <p:txBody>
          <a:bodyPr wrap="square" lIns="0" tIns="0" rIns="0" bIns="0" rtlCol="0" anchor="ctr"/>
          <a:lstStyle/>
          <a:p>
            <a:pPr indent="0" marL="0">
              <a:buNone/>
            </a:pPr>
            <a:r>
              <a:rPr lang="en-US" sz="2900" b="1" dirty="0">
                <a:solidFill>
                  <a:srgbClr val="000F46"/>
                </a:solidFill>
                <a:latin typeface="Fraunces" pitchFamily="34" charset="0"/>
                <a:ea typeface="Fraunces" pitchFamily="34" charset="-122"/>
                <a:cs typeface="Fraunces" pitchFamily="34" charset="-120"/>
              </a:rPr>
              <a:t>Course planning</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indent="0" marL="0">
              <a:buNone/>
            </a:pPr>
            <a:r>
              <a:rPr lang="en-US" sz="900" dirty="0">
                <a:solidFill>
                  <a:srgbClr val="5B5B6B"/>
                </a:solidFill>
                <a:latin typeface="Source Sans 3" pitchFamily="34" charset="0"/>
                <a:ea typeface="Source Sans 3" pitchFamily="34" charset="-122"/>
                <a:cs typeface="Source Sans 3" pitchFamily="34" charset="-120"/>
              </a:rPr>
              <a:t>Current Students: End-to-End Experience —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algn="r" indent="0" marL="0">
              <a:buNone/>
            </a:pPr>
            <a:r>
              <a:rPr lang="en-US" sz="900" dirty="0">
                <a:solidFill>
                  <a:srgbClr val="5B5B6B"/>
                </a:solidFill>
                <a:latin typeface="Source Sans 3" pitchFamily="34" charset="0"/>
                <a:ea typeface="Source Sans 3" pitchFamily="34" charset="-122"/>
                <a:cs typeface="Source Sans 3" pitchFamily="34" charset="-120"/>
              </a:rPr>
              <a:t>7</a:t>
            </a:r>
            <a:endParaRPr lang="en-US" sz="900" dirty="0"/>
          </a:p>
        </p:txBody>
      </p:sp>
      <p:sp>
        <p:nvSpPr>
          <p:cNvPr id="6" name="Text 4"/>
          <p:cNvSpPr/>
          <p:nvPr/>
        </p:nvSpPr>
        <p:spPr>
          <a:xfrm>
            <a:off x="566928" y="1280160"/>
            <a:ext cx="6035040" cy="274320"/>
          </a:xfrm>
          <a:prstGeom prst="rect">
            <a:avLst/>
          </a:prstGeom>
          <a:noFill/>
          <a:ln/>
        </p:spPr>
        <p:txBody>
          <a:bodyPr wrap="square" lIns="0" tIns="0" rIns="0" bIns="0" rtlCol="0" anchor="ctr"/>
          <a:lstStyle/>
          <a:p>
            <a:pPr indent="0" marL="0">
              <a:buNone/>
            </a:pPr>
            <a:r>
              <a:rPr lang="en-US" sz="1100" b="1" spc="200" kern="0" dirty="0">
                <a:solidFill>
                  <a:srgbClr val="2F95B7"/>
                </a:solidFill>
                <a:latin typeface="Source Code Pro" pitchFamily="34" charset="0"/>
                <a:ea typeface="Source Code Pro" pitchFamily="34" charset="-122"/>
                <a:cs typeface="Source Code Pro" pitchFamily="34" charset="-120"/>
              </a:rPr>
              <a:t>WHAT THE DATA SHOWS</a:t>
            </a:r>
            <a:endParaRPr lang="en-US" sz="1100" dirty="0"/>
          </a:p>
        </p:txBody>
      </p:sp>
      <p:sp>
        <p:nvSpPr>
          <p:cNvPr id="7" name="Text 5"/>
          <p:cNvSpPr/>
          <p:nvPr/>
        </p:nvSpPr>
        <p:spPr>
          <a:xfrm>
            <a:off x="566928" y="1645920"/>
            <a:ext cx="6080760" cy="457200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Around 207 pages relate to course planning — across the central hub (My Course Planner, the Handbook) and every faculty.</a:t>
            </a:r>
            <a:endParaRPr lang="en-US" sz="1350" dirty="0"/>
          </a:p>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Two schools — Business (MBS) and Biomedical Sciences — hold about 46% of it, a level below their faculty.</a:t>
            </a:r>
            <a:endParaRPr lang="en-US" sz="1350" dirty="0"/>
          </a:p>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It spans many forms: degree sample plans, subject-selection guides, breadth and diploma options, prerequisites and quotas, honours and research-project planning.</a:t>
            </a:r>
            <a:endParaRPr lang="en-US" sz="1350" dirty="0"/>
          </a:p>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The central planning tool is sometimes re-presented on faculty sites, and the section is reached through several different web addresses.</a:t>
            </a:r>
            <a:endParaRPr lang="en-US" sz="1350" dirty="0"/>
          </a:p>
        </p:txBody>
      </p:sp>
      <p:sp>
        <p:nvSpPr>
          <p:cNvPr id="8" name="Shape 6"/>
          <p:cNvSpPr/>
          <p:nvPr/>
        </p:nvSpPr>
        <p:spPr>
          <a:xfrm>
            <a:off x="6967728" y="1280160"/>
            <a:ext cx="4672584" cy="4846320"/>
          </a:xfrm>
          <a:prstGeom prst="rect">
            <a:avLst/>
          </a:prstGeom>
          <a:solidFill>
            <a:srgbClr val="EAF6FB"/>
          </a:solidFill>
          <a:ln/>
        </p:spPr>
      </p:sp>
      <p:sp>
        <p:nvSpPr>
          <p:cNvPr id="9" name="Shape 7"/>
          <p:cNvSpPr/>
          <p:nvPr/>
        </p:nvSpPr>
        <p:spPr>
          <a:xfrm>
            <a:off x="6967728" y="1280160"/>
            <a:ext cx="91440" cy="4846320"/>
          </a:xfrm>
          <a:prstGeom prst="rect">
            <a:avLst/>
          </a:prstGeom>
          <a:solidFill>
            <a:srgbClr val="46C8F0"/>
          </a:solidFill>
          <a:ln/>
        </p:spPr>
      </p:sp>
      <p:sp>
        <p:nvSpPr>
          <p:cNvPr id="10" name="Text 8"/>
          <p:cNvSpPr/>
          <p:nvPr/>
        </p:nvSpPr>
        <p:spPr>
          <a:xfrm>
            <a:off x="7269480" y="1481328"/>
            <a:ext cx="4206240" cy="274320"/>
          </a:xfrm>
          <a:prstGeom prst="rect">
            <a:avLst/>
          </a:prstGeom>
          <a:noFill/>
          <a:ln/>
        </p:spPr>
        <p:txBody>
          <a:bodyPr wrap="square" lIns="0" tIns="0" rIns="0" bIns="0" rtlCol="0" anchor="ctr"/>
          <a:lstStyle/>
          <a:p>
            <a:pPr indent="0" marL="0">
              <a:buNone/>
            </a:pPr>
            <a:r>
              <a:rPr lang="en-US" sz="1100" b="1" spc="200" kern="0" dirty="0">
                <a:solidFill>
                  <a:srgbClr val="000F46"/>
                </a:solidFill>
                <a:latin typeface="Source Code Pro" pitchFamily="34" charset="0"/>
                <a:ea typeface="Source Code Pro" pitchFamily="34" charset="-122"/>
                <a:cs typeface="Source Code Pro" pitchFamily="34" charset="-120"/>
              </a:rPr>
              <a:t>TO DISCUSS</a:t>
            </a:r>
            <a:endParaRPr lang="en-US" sz="1100" dirty="0"/>
          </a:p>
        </p:txBody>
      </p:sp>
      <p:sp>
        <p:nvSpPr>
          <p:cNvPr id="11" name="Text 9"/>
          <p:cNvSpPr/>
          <p:nvPr/>
        </p:nvSpPr>
        <p:spPr>
          <a:xfrm>
            <a:off x="7269480" y="1883664"/>
            <a:ext cx="4160520" cy="411480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Where do students actually start when planning their course?</a:t>
            </a:r>
            <a:endParaRPr lang="en-US" sz="1400" dirty="0"/>
          </a:p>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Which parts are genuinely degree-specific, and which are shared?</a:t>
            </a:r>
            <a:endParaRPr lang="en-US" sz="1400" dirty="0"/>
          </a:p>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What is already underway to align course planning?</a:t>
            </a:r>
            <a:endParaRPr lang="en-US" sz="1400" dirty="0"/>
          </a:p>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What would make course planning feel seamless to a student?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sp>
      <p:sp>
        <p:nvSpPr>
          <p:cNvPr id="3" name="Text 1"/>
          <p:cNvSpPr/>
          <p:nvPr/>
        </p:nvSpPr>
        <p:spPr>
          <a:xfrm>
            <a:off x="914400" y="457200"/>
            <a:ext cx="10698480" cy="502920"/>
          </a:xfrm>
          <a:prstGeom prst="rect">
            <a:avLst/>
          </a:prstGeom>
          <a:noFill/>
          <a:ln/>
        </p:spPr>
        <p:txBody>
          <a:bodyPr wrap="square" lIns="0" tIns="0" rIns="0" bIns="0" rtlCol="0" anchor="ctr"/>
          <a:lstStyle/>
          <a:p>
            <a:pPr indent="0" marL="0">
              <a:buNone/>
            </a:pPr>
            <a:r>
              <a:rPr lang="en-US" sz="2900" b="1" dirty="0">
                <a:solidFill>
                  <a:srgbClr val="000F46"/>
                </a:solidFill>
                <a:latin typeface="Fraunces" pitchFamily="34" charset="0"/>
                <a:ea typeface="Fraunces" pitchFamily="34" charset="-122"/>
                <a:cs typeface="Fraunces" pitchFamily="34" charset="-120"/>
              </a:rPr>
              <a:t>Employability</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indent="0" marL="0">
              <a:buNone/>
            </a:pPr>
            <a:r>
              <a:rPr lang="en-US" sz="900" dirty="0">
                <a:solidFill>
                  <a:srgbClr val="5B5B6B"/>
                </a:solidFill>
                <a:latin typeface="Source Sans 3" pitchFamily="34" charset="0"/>
                <a:ea typeface="Source Sans 3" pitchFamily="34" charset="-122"/>
                <a:cs typeface="Source Sans 3" pitchFamily="34" charset="-120"/>
              </a:rPr>
              <a:t>Current Students: End-to-End Experience —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algn="r" indent="0" marL="0">
              <a:buNone/>
            </a:pPr>
            <a:r>
              <a:rPr lang="en-US" sz="900" dirty="0">
                <a:solidFill>
                  <a:srgbClr val="5B5B6B"/>
                </a:solidFill>
                <a:latin typeface="Source Sans 3" pitchFamily="34" charset="0"/>
                <a:ea typeface="Source Sans 3" pitchFamily="34" charset="-122"/>
                <a:cs typeface="Source Sans 3" pitchFamily="34" charset="-120"/>
              </a:rPr>
              <a:t>8</a:t>
            </a:r>
            <a:endParaRPr lang="en-US" sz="900" dirty="0"/>
          </a:p>
        </p:txBody>
      </p:sp>
      <p:sp>
        <p:nvSpPr>
          <p:cNvPr id="6" name="Text 4"/>
          <p:cNvSpPr/>
          <p:nvPr/>
        </p:nvSpPr>
        <p:spPr>
          <a:xfrm>
            <a:off x="566928" y="1280160"/>
            <a:ext cx="6035040" cy="274320"/>
          </a:xfrm>
          <a:prstGeom prst="rect">
            <a:avLst/>
          </a:prstGeom>
          <a:noFill/>
          <a:ln/>
        </p:spPr>
        <p:txBody>
          <a:bodyPr wrap="square" lIns="0" tIns="0" rIns="0" bIns="0" rtlCol="0" anchor="ctr"/>
          <a:lstStyle/>
          <a:p>
            <a:pPr indent="0" marL="0">
              <a:buNone/>
            </a:pPr>
            <a:r>
              <a:rPr lang="en-US" sz="1100" b="1" spc="200" kern="0" dirty="0">
                <a:solidFill>
                  <a:srgbClr val="2F95B7"/>
                </a:solidFill>
                <a:latin typeface="Source Code Pro" pitchFamily="34" charset="0"/>
                <a:ea typeface="Source Code Pro" pitchFamily="34" charset="-122"/>
                <a:cs typeface="Source Code Pro" pitchFamily="34" charset="-120"/>
              </a:rPr>
              <a:t>WHAT THE DATA SHOWS</a:t>
            </a:r>
            <a:endParaRPr lang="en-US" sz="1100" dirty="0"/>
          </a:p>
        </p:txBody>
      </p:sp>
      <p:sp>
        <p:nvSpPr>
          <p:cNvPr id="7" name="Text 5"/>
          <p:cNvSpPr/>
          <p:nvPr/>
        </p:nvSpPr>
        <p:spPr>
          <a:xfrm>
            <a:off x="566928" y="1645920"/>
            <a:ext cx="6080760" cy="457200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Around 351 pages relate to employability — roughly 144 on careers and 207 on work-integrated learning (placements, internships).</a:t>
            </a:r>
            <a:endParaRPr lang="en-US" sz="1350" dirty="0"/>
          </a:p>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Careers content appears in 8 of 9 faculties, plus Melbourne Business School, alongside the central careers platform.</a:t>
            </a:r>
            <a:endParaRPr lang="en-US" sz="1350" dirty="0"/>
          </a:p>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Today the central and faculty careers content largely do not link to each other; several near-identical 'Employability in [discipline]' pages exist.</a:t>
            </a:r>
            <a:endParaRPr lang="en-US" sz="1350" dirty="0"/>
          </a:p>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Work-integrated learning sits entirely with faculties; there is no central placements page.</a:t>
            </a:r>
            <a:endParaRPr lang="en-US" sz="1350" dirty="0"/>
          </a:p>
        </p:txBody>
      </p:sp>
      <p:sp>
        <p:nvSpPr>
          <p:cNvPr id="8" name="Shape 6"/>
          <p:cNvSpPr/>
          <p:nvPr/>
        </p:nvSpPr>
        <p:spPr>
          <a:xfrm>
            <a:off x="6967728" y="1280160"/>
            <a:ext cx="4672584" cy="4846320"/>
          </a:xfrm>
          <a:prstGeom prst="rect">
            <a:avLst/>
          </a:prstGeom>
          <a:solidFill>
            <a:srgbClr val="EAF6FB"/>
          </a:solidFill>
          <a:ln/>
        </p:spPr>
      </p:sp>
      <p:sp>
        <p:nvSpPr>
          <p:cNvPr id="9" name="Shape 7"/>
          <p:cNvSpPr/>
          <p:nvPr/>
        </p:nvSpPr>
        <p:spPr>
          <a:xfrm>
            <a:off x="6967728" y="1280160"/>
            <a:ext cx="91440" cy="4846320"/>
          </a:xfrm>
          <a:prstGeom prst="rect">
            <a:avLst/>
          </a:prstGeom>
          <a:solidFill>
            <a:srgbClr val="46C8F0"/>
          </a:solidFill>
          <a:ln/>
        </p:spPr>
      </p:sp>
      <p:sp>
        <p:nvSpPr>
          <p:cNvPr id="10" name="Text 8"/>
          <p:cNvSpPr/>
          <p:nvPr/>
        </p:nvSpPr>
        <p:spPr>
          <a:xfrm>
            <a:off x="7269480" y="1481328"/>
            <a:ext cx="4206240" cy="274320"/>
          </a:xfrm>
          <a:prstGeom prst="rect">
            <a:avLst/>
          </a:prstGeom>
          <a:noFill/>
          <a:ln/>
        </p:spPr>
        <p:txBody>
          <a:bodyPr wrap="square" lIns="0" tIns="0" rIns="0" bIns="0" rtlCol="0" anchor="ctr"/>
          <a:lstStyle/>
          <a:p>
            <a:pPr indent="0" marL="0">
              <a:buNone/>
            </a:pPr>
            <a:r>
              <a:rPr lang="en-US" sz="1100" b="1" spc="200" kern="0" dirty="0">
                <a:solidFill>
                  <a:srgbClr val="000F46"/>
                </a:solidFill>
                <a:latin typeface="Source Code Pro" pitchFamily="34" charset="0"/>
                <a:ea typeface="Source Code Pro" pitchFamily="34" charset="-122"/>
                <a:cs typeface="Source Code Pro" pitchFamily="34" charset="-120"/>
              </a:rPr>
              <a:t>TO DISCUSS</a:t>
            </a:r>
            <a:endParaRPr lang="en-US" sz="1100" dirty="0"/>
          </a:p>
        </p:txBody>
      </p:sp>
      <p:sp>
        <p:nvSpPr>
          <p:cNvPr id="11" name="Text 9"/>
          <p:cNvSpPr/>
          <p:nvPr/>
        </p:nvSpPr>
        <p:spPr>
          <a:xfrm>
            <a:off x="7269480" y="1883664"/>
            <a:ext cx="4160520" cy="411480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How does a student discover careers and placement support — central, faculty, or both?</a:t>
            </a:r>
            <a:endParaRPr lang="en-US" sz="1400" dirty="0"/>
          </a:p>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Where does the current split serve students well, and where does it confuse?</a:t>
            </a:r>
            <a:endParaRPr lang="en-US" sz="1400" dirty="0"/>
          </a:p>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What is already in flight here (for example, the Employability Service Integration work)?</a:t>
            </a:r>
            <a:endParaRPr lang="en-US" sz="1400" dirty="0"/>
          </a:p>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What would a joined-up employability journey feel like?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sp>
      <p:sp>
        <p:nvSpPr>
          <p:cNvPr id="3" name="Text 1"/>
          <p:cNvSpPr/>
          <p:nvPr/>
        </p:nvSpPr>
        <p:spPr>
          <a:xfrm>
            <a:off x="914400" y="457200"/>
            <a:ext cx="10698480" cy="502920"/>
          </a:xfrm>
          <a:prstGeom prst="rect">
            <a:avLst/>
          </a:prstGeom>
          <a:noFill/>
          <a:ln/>
        </p:spPr>
        <p:txBody>
          <a:bodyPr wrap="square" lIns="0" tIns="0" rIns="0" bIns="0" rtlCol="0" anchor="ctr"/>
          <a:lstStyle/>
          <a:p>
            <a:pPr indent="0" marL="0">
              <a:buNone/>
            </a:pPr>
            <a:r>
              <a:rPr lang="en-US" sz="2900" b="1" dirty="0">
                <a:solidFill>
                  <a:srgbClr val="000F46"/>
                </a:solidFill>
                <a:latin typeface="Fraunces" pitchFamily="34" charset="0"/>
                <a:ea typeface="Fraunces" pitchFamily="34" charset="-122"/>
                <a:cs typeface="Fraunces" pitchFamily="34" charset="-120"/>
              </a:rPr>
              <a:t>Faculty service requests</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indent="0" marL="0">
              <a:buNone/>
            </a:pPr>
            <a:r>
              <a:rPr lang="en-US" sz="900" dirty="0">
                <a:solidFill>
                  <a:srgbClr val="5B5B6B"/>
                </a:solidFill>
                <a:latin typeface="Source Sans 3" pitchFamily="34" charset="0"/>
                <a:ea typeface="Source Sans 3" pitchFamily="34" charset="-122"/>
                <a:cs typeface="Source Sans 3" pitchFamily="34" charset="-120"/>
              </a:rPr>
              <a:t>Current Students: End-to-End Experience —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algn="r" indent="0" marL="0">
              <a:buNone/>
            </a:pPr>
            <a:r>
              <a:rPr lang="en-US" sz="900" dirty="0">
                <a:solidFill>
                  <a:srgbClr val="5B5B6B"/>
                </a:solidFill>
                <a:latin typeface="Source Sans 3" pitchFamily="34" charset="0"/>
                <a:ea typeface="Source Sans 3" pitchFamily="34" charset="-122"/>
                <a:cs typeface="Source Sans 3" pitchFamily="34" charset="-120"/>
              </a:rPr>
              <a:t>9</a:t>
            </a:r>
            <a:endParaRPr lang="en-US" sz="900" dirty="0"/>
          </a:p>
        </p:txBody>
      </p:sp>
      <p:sp>
        <p:nvSpPr>
          <p:cNvPr id="6" name="Text 4"/>
          <p:cNvSpPr/>
          <p:nvPr/>
        </p:nvSpPr>
        <p:spPr>
          <a:xfrm>
            <a:off x="566928" y="1280160"/>
            <a:ext cx="6035040" cy="274320"/>
          </a:xfrm>
          <a:prstGeom prst="rect">
            <a:avLst/>
          </a:prstGeom>
          <a:noFill/>
          <a:ln/>
        </p:spPr>
        <p:txBody>
          <a:bodyPr wrap="square" lIns="0" tIns="0" rIns="0" bIns="0" rtlCol="0" anchor="ctr"/>
          <a:lstStyle/>
          <a:p>
            <a:pPr indent="0" marL="0">
              <a:buNone/>
            </a:pPr>
            <a:r>
              <a:rPr lang="en-US" sz="1100" b="1" spc="200" kern="0" dirty="0">
                <a:solidFill>
                  <a:srgbClr val="2F95B7"/>
                </a:solidFill>
                <a:latin typeface="Source Code Pro" pitchFamily="34" charset="0"/>
                <a:ea typeface="Source Code Pro" pitchFamily="34" charset="-122"/>
                <a:cs typeface="Source Code Pro" pitchFamily="34" charset="-120"/>
              </a:rPr>
              <a:t>WHAT THE DATA SHOWS</a:t>
            </a:r>
            <a:endParaRPr lang="en-US" sz="1100" dirty="0"/>
          </a:p>
        </p:txBody>
      </p:sp>
      <p:sp>
        <p:nvSpPr>
          <p:cNvPr id="7" name="Text 5"/>
          <p:cNvSpPr/>
          <p:nvPr/>
        </p:nvSpPr>
        <p:spPr>
          <a:xfrm>
            <a:off x="566928" y="1645920"/>
            <a:ext cx="6080760" cy="457200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Students request help — special consideration, forms, advising, enrolment changes — through several channels: Stop 1 centrally, faculty student centres, and around 210 faculty forms and admin pages.</a:t>
            </a:r>
            <a:endParaRPr lang="en-US" sz="1350" dirty="0"/>
          </a:p>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Some requests are university-wide processes (special consideration, leave of absence, fees); others are specific to a faculty or school.</a:t>
            </a:r>
            <a:endParaRPr lang="en-US" sz="1350" dirty="0"/>
          </a:p>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Across the estate, about 227 pages touch enrolment, exams, fees and special consideration — and the same process is often described in more than one place.</a:t>
            </a:r>
            <a:endParaRPr lang="en-US" sz="1350" dirty="0"/>
          </a:p>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Where a student starts (central or faculty) often differs from where the request is actually handled.</a:t>
            </a:r>
            <a:endParaRPr lang="en-US" sz="1350" dirty="0"/>
          </a:p>
        </p:txBody>
      </p:sp>
      <p:sp>
        <p:nvSpPr>
          <p:cNvPr id="8" name="Shape 6"/>
          <p:cNvSpPr/>
          <p:nvPr/>
        </p:nvSpPr>
        <p:spPr>
          <a:xfrm>
            <a:off x="6967728" y="1280160"/>
            <a:ext cx="4672584" cy="4846320"/>
          </a:xfrm>
          <a:prstGeom prst="rect">
            <a:avLst/>
          </a:prstGeom>
          <a:solidFill>
            <a:srgbClr val="EAF6FB"/>
          </a:solidFill>
          <a:ln/>
        </p:spPr>
      </p:sp>
      <p:sp>
        <p:nvSpPr>
          <p:cNvPr id="9" name="Shape 7"/>
          <p:cNvSpPr/>
          <p:nvPr/>
        </p:nvSpPr>
        <p:spPr>
          <a:xfrm>
            <a:off x="6967728" y="1280160"/>
            <a:ext cx="91440" cy="4846320"/>
          </a:xfrm>
          <a:prstGeom prst="rect">
            <a:avLst/>
          </a:prstGeom>
          <a:solidFill>
            <a:srgbClr val="46C8F0"/>
          </a:solidFill>
          <a:ln/>
        </p:spPr>
      </p:sp>
      <p:sp>
        <p:nvSpPr>
          <p:cNvPr id="10" name="Text 8"/>
          <p:cNvSpPr/>
          <p:nvPr/>
        </p:nvSpPr>
        <p:spPr>
          <a:xfrm>
            <a:off x="7269480" y="1481328"/>
            <a:ext cx="4206240" cy="274320"/>
          </a:xfrm>
          <a:prstGeom prst="rect">
            <a:avLst/>
          </a:prstGeom>
          <a:noFill/>
          <a:ln/>
        </p:spPr>
        <p:txBody>
          <a:bodyPr wrap="square" lIns="0" tIns="0" rIns="0" bIns="0" rtlCol="0" anchor="ctr"/>
          <a:lstStyle/>
          <a:p>
            <a:pPr indent="0" marL="0">
              <a:buNone/>
            </a:pPr>
            <a:r>
              <a:rPr lang="en-US" sz="1100" b="1" spc="200" kern="0" dirty="0">
                <a:solidFill>
                  <a:srgbClr val="000F46"/>
                </a:solidFill>
                <a:latin typeface="Source Code Pro" pitchFamily="34" charset="0"/>
                <a:ea typeface="Source Code Pro" pitchFamily="34" charset="-122"/>
                <a:cs typeface="Source Code Pro" pitchFamily="34" charset="-120"/>
              </a:rPr>
              <a:t>TO DISCUSS</a:t>
            </a:r>
            <a:endParaRPr lang="en-US" sz="1100" dirty="0"/>
          </a:p>
        </p:txBody>
      </p:sp>
      <p:sp>
        <p:nvSpPr>
          <p:cNvPr id="11" name="Text 9"/>
          <p:cNvSpPr/>
          <p:nvPr/>
        </p:nvSpPr>
        <p:spPr>
          <a:xfrm>
            <a:off x="7269480" y="1883664"/>
            <a:ext cx="4160520" cy="411480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When a student needs to request something, where do they go first — and where do they end up?</a:t>
            </a:r>
            <a:endParaRPr lang="en-US" sz="1400" dirty="0"/>
          </a:p>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Which service requests are genuinely faculty-specific, and which are university-wide?</a:t>
            </a:r>
            <a:endParaRPr lang="en-US" sz="1400" dirty="0"/>
          </a:p>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What is underway to streamline how students request service?</a:t>
            </a:r>
            <a:endParaRPr lang="en-US" sz="1400" dirty="0"/>
          </a:p>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Where are the hand-offs that frustrate students or duplicate effort?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sp>
      <p:sp>
        <p:nvSpPr>
          <p:cNvPr id="3" name="Text 1"/>
          <p:cNvSpPr/>
          <p:nvPr/>
        </p:nvSpPr>
        <p:spPr>
          <a:xfrm>
            <a:off x="914400" y="457200"/>
            <a:ext cx="10698480" cy="502920"/>
          </a:xfrm>
          <a:prstGeom prst="rect">
            <a:avLst/>
          </a:prstGeom>
          <a:noFill/>
          <a:ln/>
        </p:spPr>
        <p:txBody>
          <a:bodyPr wrap="square" lIns="0" tIns="0" rIns="0" bIns="0" rtlCol="0" anchor="ctr"/>
          <a:lstStyle/>
          <a:p>
            <a:pPr indent="0" marL="0">
              <a:buNone/>
            </a:pPr>
            <a:r>
              <a:rPr lang="en-US" sz="2900" b="1" dirty="0">
                <a:solidFill>
                  <a:srgbClr val="000F46"/>
                </a:solidFill>
                <a:latin typeface="Fraunces" pitchFamily="34" charset="0"/>
                <a:ea typeface="Fraunces" pitchFamily="34" charset="-122"/>
                <a:cs typeface="Fraunces" pitchFamily="34" charset="-120"/>
              </a:rPr>
              <a:t>Applications for further study</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indent="0" marL="0">
              <a:buNone/>
            </a:pPr>
            <a:r>
              <a:rPr lang="en-US" sz="900" dirty="0">
                <a:solidFill>
                  <a:srgbClr val="5B5B6B"/>
                </a:solidFill>
                <a:latin typeface="Source Sans 3" pitchFamily="34" charset="0"/>
                <a:ea typeface="Source Sans 3" pitchFamily="34" charset="-122"/>
                <a:cs typeface="Source Sans 3" pitchFamily="34" charset="-120"/>
              </a:rPr>
              <a:t>Current Students: End-to-End Experience —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algn="r" indent="0" marL="0">
              <a:buNone/>
            </a:pPr>
            <a:r>
              <a:rPr lang="en-US" sz="900" dirty="0">
                <a:solidFill>
                  <a:srgbClr val="5B5B6B"/>
                </a:solidFill>
                <a:latin typeface="Source Sans 3" pitchFamily="34" charset="0"/>
                <a:ea typeface="Source Sans 3" pitchFamily="34" charset="-122"/>
                <a:cs typeface="Source Sans 3" pitchFamily="34" charset="-120"/>
              </a:rPr>
              <a:t>10</a:t>
            </a:r>
            <a:endParaRPr lang="en-US" sz="900" dirty="0"/>
          </a:p>
        </p:txBody>
      </p:sp>
      <p:sp>
        <p:nvSpPr>
          <p:cNvPr id="6" name="Text 4"/>
          <p:cNvSpPr/>
          <p:nvPr/>
        </p:nvSpPr>
        <p:spPr>
          <a:xfrm>
            <a:off x="566928" y="1280160"/>
            <a:ext cx="6035040" cy="274320"/>
          </a:xfrm>
          <a:prstGeom prst="rect">
            <a:avLst/>
          </a:prstGeom>
          <a:noFill/>
          <a:ln/>
        </p:spPr>
        <p:txBody>
          <a:bodyPr wrap="square" lIns="0" tIns="0" rIns="0" bIns="0" rtlCol="0" anchor="ctr"/>
          <a:lstStyle/>
          <a:p>
            <a:pPr indent="0" marL="0">
              <a:buNone/>
            </a:pPr>
            <a:r>
              <a:rPr lang="en-US" sz="1100" b="1" spc="200" kern="0" dirty="0">
                <a:solidFill>
                  <a:srgbClr val="2F95B7"/>
                </a:solidFill>
                <a:latin typeface="Source Code Pro" pitchFamily="34" charset="0"/>
                <a:ea typeface="Source Code Pro" pitchFamily="34" charset="-122"/>
                <a:cs typeface="Source Code Pro" pitchFamily="34" charset="-120"/>
              </a:rPr>
              <a:t>WHAT THE DATA SHOWS</a:t>
            </a:r>
            <a:endParaRPr lang="en-US" sz="1100" dirty="0"/>
          </a:p>
        </p:txBody>
      </p:sp>
      <p:sp>
        <p:nvSpPr>
          <p:cNvPr id="7" name="Text 5"/>
          <p:cNvSpPr/>
          <p:nvPr/>
        </p:nvSpPr>
        <p:spPr>
          <a:xfrm>
            <a:off x="566928" y="1645920"/>
            <a:ext cx="6080760" cy="457200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'What next' content spans honours, graduate and coursework pathways, course transfers, concurrent diplomas, and research candidature.</a:t>
            </a:r>
            <a:endParaRPr lang="en-US" sz="1350" dirty="0"/>
          </a:p>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It sits across faculties and schools — for example faculty honours pages and graduate-pathway guides.</a:t>
            </a:r>
            <a:endParaRPr lang="en-US" sz="1350" dirty="0"/>
          </a:p>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It overlaps with admissions / future-students messaging, and with course-planning content.</a:t>
            </a:r>
            <a:endParaRPr lang="en-US" sz="1350" dirty="0"/>
          </a:p>
          <a:p>
            <a:pPr marL="203200" indent="-203200">
              <a:spcAft>
                <a:spcPts val="1000"/>
              </a:spcAft>
              <a:buSzPct val="100000"/>
              <a:buChar char="•"/>
            </a:pPr>
            <a:r>
              <a:rPr lang="en-US" sz="1350" dirty="0">
                <a:solidFill>
                  <a:srgbClr val="1C1C28"/>
                </a:solidFill>
                <a:latin typeface="Source Sans 3" pitchFamily="34" charset="0"/>
                <a:ea typeface="Source Sans 3" pitchFamily="34" charset="-122"/>
                <a:cs typeface="Source Sans 3" pitchFamily="34" charset="-120"/>
              </a:rPr>
              <a:t>Research candidature alone is around 240 pages, largely held by faculties.</a:t>
            </a:r>
            <a:endParaRPr lang="en-US" sz="1350" dirty="0"/>
          </a:p>
        </p:txBody>
      </p:sp>
      <p:sp>
        <p:nvSpPr>
          <p:cNvPr id="8" name="Shape 6"/>
          <p:cNvSpPr/>
          <p:nvPr/>
        </p:nvSpPr>
        <p:spPr>
          <a:xfrm>
            <a:off x="6967728" y="1280160"/>
            <a:ext cx="4672584" cy="4846320"/>
          </a:xfrm>
          <a:prstGeom prst="rect">
            <a:avLst/>
          </a:prstGeom>
          <a:solidFill>
            <a:srgbClr val="EAF6FB"/>
          </a:solidFill>
          <a:ln/>
        </p:spPr>
      </p:sp>
      <p:sp>
        <p:nvSpPr>
          <p:cNvPr id="9" name="Shape 7"/>
          <p:cNvSpPr/>
          <p:nvPr/>
        </p:nvSpPr>
        <p:spPr>
          <a:xfrm>
            <a:off x="6967728" y="1280160"/>
            <a:ext cx="91440" cy="4846320"/>
          </a:xfrm>
          <a:prstGeom prst="rect">
            <a:avLst/>
          </a:prstGeom>
          <a:solidFill>
            <a:srgbClr val="46C8F0"/>
          </a:solidFill>
          <a:ln/>
        </p:spPr>
      </p:sp>
      <p:sp>
        <p:nvSpPr>
          <p:cNvPr id="10" name="Text 8"/>
          <p:cNvSpPr/>
          <p:nvPr/>
        </p:nvSpPr>
        <p:spPr>
          <a:xfrm>
            <a:off x="7269480" y="1481328"/>
            <a:ext cx="4206240" cy="274320"/>
          </a:xfrm>
          <a:prstGeom prst="rect">
            <a:avLst/>
          </a:prstGeom>
          <a:noFill/>
          <a:ln/>
        </p:spPr>
        <p:txBody>
          <a:bodyPr wrap="square" lIns="0" tIns="0" rIns="0" bIns="0" rtlCol="0" anchor="ctr"/>
          <a:lstStyle/>
          <a:p>
            <a:pPr indent="0" marL="0">
              <a:buNone/>
            </a:pPr>
            <a:r>
              <a:rPr lang="en-US" sz="1100" b="1" spc="200" kern="0" dirty="0">
                <a:solidFill>
                  <a:srgbClr val="000F46"/>
                </a:solidFill>
                <a:latin typeface="Source Code Pro" pitchFamily="34" charset="0"/>
                <a:ea typeface="Source Code Pro" pitchFamily="34" charset="-122"/>
                <a:cs typeface="Source Code Pro" pitchFamily="34" charset="-120"/>
              </a:rPr>
              <a:t>TO DISCUSS</a:t>
            </a:r>
            <a:endParaRPr lang="en-US" sz="1100" dirty="0"/>
          </a:p>
        </p:txBody>
      </p:sp>
      <p:sp>
        <p:nvSpPr>
          <p:cNvPr id="11" name="Text 9"/>
          <p:cNvSpPr/>
          <p:nvPr/>
        </p:nvSpPr>
        <p:spPr>
          <a:xfrm>
            <a:off x="7269480" y="1883664"/>
            <a:ext cx="4160520" cy="411480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How does a current student find out about further study options?</a:t>
            </a:r>
            <a:endParaRPr lang="en-US" sz="1400" dirty="0"/>
          </a:p>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Where should 'current student' stop and 'future student / admissions' begin?</a:t>
            </a:r>
            <a:endParaRPr lang="en-US" sz="1400" dirty="0"/>
          </a:p>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What is already underway to support student progression?</a:t>
            </a:r>
            <a:endParaRPr lang="en-US" sz="1400" dirty="0"/>
          </a:p>
          <a:p>
            <a:pPr marL="203200" indent="-203200">
              <a:spcAft>
                <a:spcPts val="1200"/>
              </a:spcAft>
              <a:buSzPct val="100000"/>
              <a:buChar char="•"/>
            </a:pPr>
            <a:r>
              <a:rPr lang="en-US" sz="1400" dirty="0">
                <a:solidFill>
                  <a:srgbClr val="000B34"/>
                </a:solidFill>
                <a:latin typeface="Source Sans 3" pitchFamily="34" charset="0"/>
                <a:ea typeface="Source Sans 3" pitchFamily="34" charset="-122"/>
                <a:cs typeface="Source Sans 3" pitchFamily="34" charset="-120"/>
              </a:rPr>
              <a:t>How do we make the path to further study clear for current students?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sp>
      <p:sp>
        <p:nvSpPr>
          <p:cNvPr id="3" name="Text 1"/>
          <p:cNvSpPr/>
          <p:nvPr/>
        </p:nvSpPr>
        <p:spPr>
          <a:xfrm>
            <a:off x="914400" y="457200"/>
            <a:ext cx="10698480" cy="502920"/>
          </a:xfrm>
          <a:prstGeom prst="rect">
            <a:avLst/>
          </a:prstGeom>
          <a:noFill/>
          <a:ln/>
        </p:spPr>
        <p:txBody>
          <a:bodyPr wrap="square" lIns="0" tIns="0" rIns="0" bIns="0" rtlCol="0" anchor="ctr"/>
          <a:lstStyle/>
          <a:p>
            <a:pPr indent="0" marL="0">
              <a:buNone/>
            </a:pPr>
            <a:r>
              <a:rPr lang="en-US" sz="2900" b="1" dirty="0">
                <a:solidFill>
                  <a:srgbClr val="000F46"/>
                </a:solidFill>
                <a:latin typeface="Fraunces" pitchFamily="34" charset="0"/>
                <a:ea typeface="Fraunces" pitchFamily="34" charset="-122"/>
                <a:cs typeface="Fraunces" pitchFamily="34" charset="-120"/>
              </a:rPr>
              <a:t>One student, four topics</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indent="0" marL="0">
              <a:buNone/>
            </a:pPr>
            <a:r>
              <a:rPr lang="en-US" sz="900" dirty="0">
                <a:solidFill>
                  <a:srgbClr val="5B5B6B"/>
                </a:solidFill>
                <a:latin typeface="Source Sans 3" pitchFamily="34" charset="0"/>
                <a:ea typeface="Source Sans 3" pitchFamily="34" charset="-122"/>
                <a:cs typeface="Source Sans 3" pitchFamily="34" charset="-120"/>
              </a:rPr>
              <a:t>Current Students: End-to-End Experience —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algn="r" indent="0" marL="0">
              <a:buNone/>
            </a:pPr>
            <a:r>
              <a:rPr lang="en-US" sz="900" dirty="0">
                <a:solidFill>
                  <a:srgbClr val="5B5B6B"/>
                </a:solidFill>
                <a:latin typeface="Source Sans 3" pitchFamily="34" charset="0"/>
                <a:ea typeface="Source Sans 3" pitchFamily="34" charset="-122"/>
                <a:cs typeface="Source Sans 3" pitchFamily="34" charset="-120"/>
              </a:rPr>
              <a:t>11</a:t>
            </a:r>
            <a:endParaRPr lang="en-US" sz="900" dirty="0"/>
          </a:p>
        </p:txBody>
      </p:sp>
      <p:sp>
        <p:nvSpPr>
          <p:cNvPr id="6" name="Shape 4"/>
          <p:cNvSpPr/>
          <p:nvPr/>
        </p:nvSpPr>
        <p:spPr>
          <a:xfrm>
            <a:off x="566928" y="1280160"/>
            <a:ext cx="10881360" cy="566928"/>
          </a:xfrm>
          <a:prstGeom prst="rect">
            <a:avLst/>
          </a:prstGeom>
          <a:solidFill>
            <a:srgbClr val="000F46"/>
          </a:solidFill>
          <a:ln/>
        </p:spPr>
      </p:sp>
      <p:sp>
        <p:nvSpPr>
          <p:cNvPr id="7" name="Text 5"/>
          <p:cNvSpPr/>
          <p:nvPr/>
        </p:nvSpPr>
        <p:spPr>
          <a:xfrm>
            <a:off x="777240" y="1280160"/>
            <a:ext cx="10515600" cy="566928"/>
          </a:xfrm>
          <a:prstGeom prst="rect">
            <a:avLst/>
          </a:prstGeom>
          <a:noFill/>
          <a:ln/>
        </p:spPr>
        <p:txBody>
          <a:bodyPr wrap="square" lIns="0" tIns="0" rIns="0" bIns="0" rtlCol="0" anchor="ctr"/>
          <a:lstStyle/>
          <a:p>
            <a:pPr indent="0" marL="0">
              <a:buNone/>
            </a:pPr>
            <a:r>
              <a:rPr lang="en-US" sz="1500" b="1" dirty="0">
                <a:solidFill>
                  <a:srgbClr val="FFFFFF"/>
                </a:solidFill>
                <a:latin typeface="Source Sans 3" pitchFamily="34" charset="0"/>
                <a:ea typeface="Source Sans 3" pitchFamily="34" charset="-122"/>
                <a:cs typeface="Source Sans 3" pitchFamily="34" charset="-120"/>
              </a:rPr>
              <a:t>Maya  </a:t>
            </a:r>
            <a:pPr indent="0" marL="0">
              <a:buNone/>
            </a:pPr>
            <a:r>
              <a:rPr lang="en-US" sz="1300" dirty="0">
                <a:solidFill>
                  <a:srgbClr val="C9CDE6"/>
                </a:solidFill>
                <a:latin typeface="Source Sans 3" pitchFamily="34" charset="0"/>
                <a:ea typeface="Source Sans 3" pitchFamily="34" charset="-122"/>
                <a:cs typeface="Source Sans 3" pitchFamily="34" charset="-120"/>
              </a:rPr>
              <a:t>· second-year Science undergraduate · one semester</a:t>
            </a:r>
            <a:endParaRPr lang="en-US" sz="1500" dirty="0"/>
          </a:p>
        </p:txBody>
      </p:sp>
      <p:sp>
        <p:nvSpPr>
          <p:cNvPr id="8" name="Shape 6"/>
          <p:cNvSpPr/>
          <p:nvPr/>
        </p:nvSpPr>
        <p:spPr>
          <a:xfrm>
            <a:off x="640080" y="2093976"/>
            <a:ext cx="457200" cy="457200"/>
          </a:xfrm>
          <a:prstGeom prst="ellipse">
            <a:avLst/>
          </a:prstGeom>
          <a:solidFill>
            <a:srgbClr val="46C8F0"/>
          </a:solidFill>
          <a:ln/>
        </p:spPr>
      </p:sp>
      <p:sp>
        <p:nvSpPr>
          <p:cNvPr id="9" name="Text 7"/>
          <p:cNvSpPr/>
          <p:nvPr/>
        </p:nvSpPr>
        <p:spPr>
          <a:xfrm>
            <a:off x="640080" y="2093976"/>
            <a:ext cx="457200" cy="457200"/>
          </a:xfrm>
          <a:prstGeom prst="rect">
            <a:avLst/>
          </a:prstGeom>
          <a:noFill/>
          <a:ln/>
        </p:spPr>
        <p:txBody>
          <a:bodyPr wrap="square" lIns="0" tIns="0" rIns="0" bIns="0" rtlCol="0" anchor="ctr"/>
          <a:lstStyle/>
          <a:p>
            <a:pPr algn="ctr" indent="0" marL="0">
              <a:buNone/>
            </a:pPr>
            <a:r>
              <a:rPr lang="en-US" sz="1600" b="1" dirty="0">
                <a:solidFill>
                  <a:srgbClr val="000F46"/>
                </a:solidFill>
                <a:latin typeface="Fraunces" pitchFamily="34" charset="0"/>
                <a:ea typeface="Fraunces" pitchFamily="34" charset="-122"/>
                <a:cs typeface="Fraunces" pitchFamily="34" charset="-120"/>
              </a:rPr>
              <a:t>1</a:t>
            </a:r>
            <a:endParaRPr lang="en-US" sz="1600" dirty="0"/>
          </a:p>
        </p:txBody>
      </p:sp>
      <p:sp>
        <p:nvSpPr>
          <p:cNvPr id="10" name="Text 8"/>
          <p:cNvSpPr/>
          <p:nvPr/>
        </p:nvSpPr>
        <p:spPr>
          <a:xfrm>
            <a:off x="1280160" y="2057400"/>
            <a:ext cx="7040880" cy="548640"/>
          </a:xfrm>
          <a:prstGeom prst="rect">
            <a:avLst/>
          </a:prstGeom>
          <a:noFill/>
          <a:ln/>
        </p:spPr>
        <p:txBody>
          <a:bodyPr wrap="square" lIns="0" tIns="0" rIns="0" bIns="0" rtlCol="0" anchor="ctr"/>
          <a:lstStyle/>
          <a:p>
            <a:pPr indent="0" marL="0">
              <a:buNone/>
            </a:pPr>
            <a:r>
              <a:rPr lang="en-US" sz="1400" b="1" dirty="0">
                <a:solidFill>
                  <a:srgbClr val="000F46"/>
                </a:solidFill>
                <a:latin typeface="Source Sans 3" pitchFamily="34" charset="0"/>
                <a:ea typeface="Source Sans 3" pitchFamily="34" charset="-122"/>
                <a:cs typeface="Source Sans 3" pitchFamily="34" charset="-120"/>
              </a:rPr>
              <a:t>Course planning  —  </a:t>
            </a:r>
            <a:pPr indent="0" marL="0">
              <a:buNone/>
            </a:pPr>
            <a:r>
              <a:rPr lang="en-US" sz="1400" dirty="0">
                <a:solidFill>
                  <a:srgbClr val="1C1C28"/>
                </a:solidFill>
                <a:latin typeface="Source Sans 3" pitchFamily="34" charset="0"/>
                <a:ea typeface="Source Sans 3" pitchFamily="34" charset="-122"/>
                <a:cs typeface="Source Sans 3" pitchFamily="34" charset="-120"/>
              </a:rPr>
              <a:t>Plans her second-year subjects</a:t>
            </a:r>
            <a:endParaRPr lang="en-US" sz="1400" dirty="0"/>
          </a:p>
        </p:txBody>
      </p:sp>
      <p:sp>
        <p:nvSpPr>
          <p:cNvPr id="11" name="Shape 9"/>
          <p:cNvSpPr/>
          <p:nvPr/>
        </p:nvSpPr>
        <p:spPr>
          <a:xfrm>
            <a:off x="8458200" y="2112264"/>
            <a:ext cx="3154680" cy="420624"/>
          </a:xfrm>
          <a:prstGeom prst="rect">
            <a:avLst/>
          </a:prstGeom>
          <a:solidFill>
            <a:srgbClr val="EAF6FB"/>
          </a:solidFill>
          <a:ln/>
        </p:spPr>
      </p:sp>
      <p:sp>
        <p:nvSpPr>
          <p:cNvPr id="12" name="Text 10"/>
          <p:cNvSpPr/>
          <p:nvPr/>
        </p:nvSpPr>
        <p:spPr>
          <a:xfrm>
            <a:off x="8549640" y="2112264"/>
            <a:ext cx="3017520" cy="420624"/>
          </a:xfrm>
          <a:prstGeom prst="rect">
            <a:avLst/>
          </a:prstGeom>
          <a:noFill/>
          <a:ln/>
        </p:spPr>
        <p:txBody>
          <a:bodyPr wrap="square" lIns="0" tIns="0" rIns="0" bIns="0" rtlCol="0" anchor="ctr"/>
          <a:lstStyle/>
          <a:p>
            <a:pPr indent="0" marL="0">
              <a:buNone/>
            </a:pPr>
            <a:r>
              <a:rPr lang="en-US" sz="1050" dirty="0">
                <a:solidFill>
                  <a:srgbClr val="000B34"/>
                </a:solidFill>
                <a:latin typeface="Source Sans 3" pitchFamily="34" charset="0"/>
                <a:ea typeface="Source Sans 3" pitchFamily="34" charset="-122"/>
                <a:cs typeface="Source Sans 3" pitchFamily="34" charset="-120"/>
              </a:rPr>
              <a:t>Hub planner + Science course guides</a:t>
            </a:r>
            <a:endParaRPr lang="en-US" sz="1050" dirty="0"/>
          </a:p>
        </p:txBody>
      </p:sp>
      <p:sp>
        <p:nvSpPr>
          <p:cNvPr id="13" name="Shape 11"/>
          <p:cNvSpPr/>
          <p:nvPr/>
        </p:nvSpPr>
        <p:spPr>
          <a:xfrm>
            <a:off x="640080" y="2880360"/>
            <a:ext cx="457200" cy="457200"/>
          </a:xfrm>
          <a:prstGeom prst="ellipse">
            <a:avLst/>
          </a:prstGeom>
          <a:solidFill>
            <a:srgbClr val="46C8F0"/>
          </a:solidFill>
          <a:ln/>
        </p:spPr>
      </p:sp>
      <p:sp>
        <p:nvSpPr>
          <p:cNvPr id="14" name="Text 12"/>
          <p:cNvSpPr/>
          <p:nvPr/>
        </p:nvSpPr>
        <p:spPr>
          <a:xfrm>
            <a:off x="640080" y="2880360"/>
            <a:ext cx="457200" cy="457200"/>
          </a:xfrm>
          <a:prstGeom prst="rect">
            <a:avLst/>
          </a:prstGeom>
          <a:noFill/>
          <a:ln/>
        </p:spPr>
        <p:txBody>
          <a:bodyPr wrap="square" lIns="0" tIns="0" rIns="0" bIns="0" rtlCol="0" anchor="ctr"/>
          <a:lstStyle/>
          <a:p>
            <a:pPr algn="ctr" indent="0" marL="0">
              <a:buNone/>
            </a:pPr>
            <a:r>
              <a:rPr lang="en-US" sz="1600" b="1" dirty="0">
                <a:solidFill>
                  <a:srgbClr val="000F46"/>
                </a:solidFill>
                <a:latin typeface="Fraunces" pitchFamily="34" charset="0"/>
                <a:ea typeface="Fraunces" pitchFamily="34" charset="-122"/>
                <a:cs typeface="Fraunces" pitchFamily="34" charset="-120"/>
              </a:rPr>
              <a:t>2</a:t>
            </a:r>
            <a:endParaRPr lang="en-US" sz="1600" dirty="0"/>
          </a:p>
        </p:txBody>
      </p:sp>
      <p:sp>
        <p:nvSpPr>
          <p:cNvPr id="15" name="Text 13"/>
          <p:cNvSpPr/>
          <p:nvPr/>
        </p:nvSpPr>
        <p:spPr>
          <a:xfrm>
            <a:off x="1280160" y="2843784"/>
            <a:ext cx="7040880" cy="548640"/>
          </a:xfrm>
          <a:prstGeom prst="rect">
            <a:avLst/>
          </a:prstGeom>
          <a:noFill/>
          <a:ln/>
        </p:spPr>
        <p:txBody>
          <a:bodyPr wrap="square" lIns="0" tIns="0" rIns="0" bIns="0" rtlCol="0" anchor="ctr"/>
          <a:lstStyle/>
          <a:p>
            <a:pPr indent="0" marL="0">
              <a:buNone/>
            </a:pPr>
            <a:r>
              <a:rPr lang="en-US" sz="1400" b="1" dirty="0">
                <a:solidFill>
                  <a:srgbClr val="000F46"/>
                </a:solidFill>
                <a:latin typeface="Source Sans 3" pitchFamily="34" charset="0"/>
                <a:ea typeface="Source Sans 3" pitchFamily="34" charset="-122"/>
                <a:cs typeface="Source Sans 3" pitchFamily="34" charset="-120"/>
              </a:rPr>
              <a:t>Employability  —  </a:t>
            </a:r>
            <a:pPr indent="0" marL="0">
              <a:buNone/>
            </a:pPr>
            <a:r>
              <a:rPr lang="en-US" sz="1400" dirty="0">
                <a:solidFill>
                  <a:srgbClr val="1C1C28"/>
                </a:solidFill>
                <a:latin typeface="Source Sans 3" pitchFamily="34" charset="0"/>
                <a:ea typeface="Source Sans 3" pitchFamily="34" charset="-122"/>
                <a:cs typeface="Source Sans 3" pitchFamily="34" charset="-120"/>
              </a:rPr>
              <a:t>Looks for a summer internship</a:t>
            </a:r>
            <a:endParaRPr lang="en-US" sz="1400" dirty="0"/>
          </a:p>
        </p:txBody>
      </p:sp>
      <p:sp>
        <p:nvSpPr>
          <p:cNvPr id="16" name="Shape 14"/>
          <p:cNvSpPr/>
          <p:nvPr/>
        </p:nvSpPr>
        <p:spPr>
          <a:xfrm>
            <a:off x="8458200" y="2898648"/>
            <a:ext cx="3154680" cy="420624"/>
          </a:xfrm>
          <a:prstGeom prst="rect">
            <a:avLst/>
          </a:prstGeom>
          <a:solidFill>
            <a:srgbClr val="EAF6FB"/>
          </a:solidFill>
          <a:ln/>
        </p:spPr>
      </p:sp>
      <p:sp>
        <p:nvSpPr>
          <p:cNvPr id="17" name="Text 15"/>
          <p:cNvSpPr/>
          <p:nvPr/>
        </p:nvSpPr>
        <p:spPr>
          <a:xfrm>
            <a:off x="8549640" y="2898648"/>
            <a:ext cx="3017520" cy="420624"/>
          </a:xfrm>
          <a:prstGeom prst="rect">
            <a:avLst/>
          </a:prstGeom>
          <a:noFill/>
          <a:ln/>
        </p:spPr>
        <p:txBody>
          <a:bodyPr wrap="square" lIns="0" tIns="0" rIns="0" bIns="0" rtlCol="0" anchor="ctr"/>
          <a:lstStyle/>
          <a:p>
            <a:pPr indent="0" marL="0">
              <a:buNone/>
            </a:pPr>
            <a:r>
              <a:rPr lang="en-US" sz="1050" dirty="0">
                <a:solidFill>
                  <a:srgbClr val="000B34"/>
                </a:solidFill>
                <a:latin typeface="Source Sans 3" pitchFamily="34" charset="0"/>
                <a:ea typeface="Source Sans 3" pitchFamily="34" charset="-122"/>
                <a:cs typeface="Source Sans 3" pitchFamily="34" charset="-120"/>
              </a:rPr>
              <a:t>Science WIL pages — nothing central</a:t>
            </a:r>
            <a:endParaRPr lang="en-US" sz="1050" dirty="0"/>
          </a:p>
        </p:txBody>
      </p:sp>
      <p:sp>
        <p:nvSpPr>
          <p:cNvPr id="18" name="Shape 16"/>
          <p:cNvSpPr/>
          <p:nvPr/>
        </p:nvSpPr>
        <p:spPr>
          <a:xfrm>
            <a:off x="640080" y="3666744"/>
            <a:ext cx="457200" cy="457200"/>
          </a:xfrm>
          <a:prstGeom prst="ellipse">
            <a:avLst/>
          </a:prstGeom>
          <a:solidFill>
            <a:srgbClr val="46C8F0"/>
          </a:solidFill>
          <a:ln/>
        </p:spPr>
      </p:sp>
      <p:sp>
        <p:nvSpPr>
          <p:cNvPr id="19" name="Text 17"/>
          <p:cNvSpPr/>
          <p:nvPr/>
        </p:nvSpPr>
        <p:spPr>
          <a:xfrm>
            <a:off x="640080" y="3666744"/>
            <a:ext cx="457200" cy="457200"/>
          </a:xfrm>
          <a:prstGeom prst="rect">
            <a:avLst/>
          </a:prstGeom>
          <a:noFill/>
          <a:ln/>
        </p:spPr>
        <p:txBody>
          <a:bodyPr wrap="square" lIns="0" tIns="0" rIns="0" bIns="0" rtlCol="0" anchor="ctr"/>
          <a:lstStyle/>
          <a:p>
            <a:pPr algn="ctr" indent="0" marL="0">
              <a:buNone/>
            </a:pPr>
            <a:r>
              <a:rPr lang="en-US" sz="1600" b="1" dirty="0">
                <a:solidFill>
                  <a:srgbClr val="000F46"/>
                </a:solidFill>
                <a:latin typeface="Fraunces" pitchFamily="34" charset="0"/>
                <a:ea typeface="Fraunces" pitchFamily="34" charset="-122"/>
                <a:cs typeface="Fraunces" pitchFamily="34" charset="-120"/>
              </a:rPr>
              <a:t>3</a:t>
            </a:r>
            <a:endParaRPr lang="en-US" sz="1600" dirty="0"/>
          </a:p>
        </p:txBody>
      </p:sp>
      <p:sp>
        <p:nvSpPr>
          <p:cNvPr id="20" name="Text 18"/>
          <p:cNvSpPr/>
          <p:nvPr/>
        </p:nvSpPr>
        <p:spPr>
          <a:xfrm>
            <a:off x="1280160" y="3630168"/>
            <a:ext cx="7040880" cy="548640"/>
          </a:xfrm>
          <a:prstGeom prst="rect">
            <a:avLst/>
          </a:prstGeom>
          <a:noFill/>
          <a:ln/>
        </p:spPr>
        <p:txBody>
          <a:bodyPr wrap="square" lIns="0" tIns="0" rIns="0" bIns="0" rtlCol="0" anchor="ctr"/>
          <a:lstStyle/>
          <a:p>
            <a:pPr indent="0" marL="0">
              <a:buNone/>
            </a:pPr>
            <a:r>
              <a:rPr lang="en-US" sz="1400" b="1" dirty="0">
                <a:solidFill>
                  <a:srgbClr val="000F46"/>
                </a:solidFill>
                <a:latin typeface="Source Sans 3" pitchFamily="34" charset="0"/>
                <a:ea typeface="Source Sans 3" pitchFamily="34" charset="-122"/>
                <a:cs typeface="Source Sans 3" pitchFamily="34" charset="-120"/>
              </a:rPr>
              <a:t>Service request  —  </a:t>
            </a:r>
            <a:pPr indent="0" marL="0">
              <a:buNone/>
            </a:pPr>
            <a:r>
              <a:rPr lang="en-US" sz="1400" dirty="0">
                <a:solidFill>
                  <a:srgbClr val="1C1C28"/>
                </a:solidFill>
                <a:latin typeface="Source Sans 3" pitchFamily="34" charset="0"/>
                <a:ea typeface="Source Sans 3" pitchFamily="34" charset="-122"/>
                <a:cs typeface="Source Sans 3" pitchFamily="34" charset="-120"/>
              </a:rPr>
              <a:t>Applies for special consideration</a:t>
            </a:r>
            <a:endParaRPr lang="en-US" sz="1400" dirty="0"/>
          </a:p>
        </p:txBody>
      </p:sp>
      <p:sp>
        <p:nvSpPr>
          <p:cNvPr id="21" name="Shape 19"/>
          <p:cNvSpPr/>
          <p:nvPr/>
        </p:nvSpPr>
        <p:spPr>
          <a:xfrm>
            <a:off x="8458200" y="3685032"/>
            <a:ext cx="3154680" cy="420624"/>
          </a:xfrm>
          <a:prstGeom prst="rect">
            <a:avLst/>
          </a:prstGeom>
          <a:solidFill>
            <a:srgbClr val="EAF6FB"/>
          </a:solidFill>
          <a:ln/>
        </p:spPr>
      </p:sp>
      <p:sp>
        <p:nvSpPr>
          <p:cNvPr id="22" name="Text 20"/>
          <p:cNvSpPr/>
          <p:nvPr/>
        </p:nvSpPr>
        <p:spPr>
          <a:xfrm>
            <a:off x="8549640" y="3685032"/>
            <a:ext cx="3017520" cy="420624"/>
          </a:xfrm>
          <a:prstGeom prst="rect">
            <a:avLst/>
          </a:prstGeom>
          <a:noFill/>
          <a:ln/>
        </p:spPr>
        <p:txBody>
          <a:bodyPr wrap="square" lIns="0" tIns="0" rIns="0" bIns="0" rtlCol="0" anchor="ctr"/>
          <a:lstStyle/>
          <a:p>
            <a:pPr indent="0" marL="0">
              <a:buNone/>
            </a:pPr>
            <a:r>
              <a:rPr lang="en-US" sz="1050" dirty="0">
                <a:solidFill>
                  <a:srgbClr val="000B34"/>
                </a:solidFill>
                <a:latin typeface="Source Sans 3" pitchFamily="34" charset="0"/>
                <a:ea typeface="Source Sans 3" pitchFamily="34" charset="-122"/>
                <a:cs typeface="Source Sans 3" pitchFamily="34" charset="-120"/>
              </a:rPr>
              <a:t>Starts at Stop 1 → handled by the faculty</a:t>
            </a:r>
            <a:endParaRPr lang="en-US" sz="1050" dirty="0"/>
          </a:p>
        </p:txBody>
      </p:sp>
      <p:sp>
        <p:nvSpPr>
          <p:cNvPr id="23" name="Shape 21"/>
          <p:cNvSpPr/>
          <p:nvPr/>
        </p:nvSpPr>
        <p:spPr>
          <a:xfrm>
            <a:off x="640080" y="4453128"/>
            <a:ext cx="457200" cy="457200"/>
          </a:xfrm>
          <a:prstGeom prst="ellipse">
            <a:avLst/>
          </a:prstGeom>
          <a:solidFill>
            <a:srgbClr val="46C8F0"/>
          </a:solidFill>
          <a:ln/>
        </p:spPr>
      </p:sp>
      <p:sp>
        <p:nvSpPr>
          <p:cNvPr id="24" name="Text 22"/>
          <p:cNvSpPr/>
          <p:nvPr/>
        </p:nvSpPr>
        <p:spPr>
          <a:xfrm>
            <a:off x="640080" y="4453128"/>
            <a:ext cx="457200" cy="457200"/>
          </a:xfrm>
          <a:prstGeom prst="rect">
            <a:avLst/>
          </a:prstGeom>
          <a:noFill/>
          <a:ln/>
        </p:spPr>
        <p:txBody>
          <a:bodyPr wrap="square" lIns="0" tIns="0" rIns="0" bIns="0" rtlCol="0" anchor="ctr"/>
          <a:lstStyle/>
          <a:p>
            <a:pPr algn="ctr" indent="0" marL="0">
              <a:buNone/>
            </a:pPr>
            <a:r>
              <a:rPr lang="en-US" sz="1600" b="1" dirty="0">
                <a:solidFill>
                  <a:srgbClr val="000F46"/>
                </a:solidFill>
                <a:latin typeface="Fraunces" pitchFamily="34" charset="0"/>
                <a:ea typeface="Fraunces" pitchFamily="34" charset="-122"/>
                <a:cs typeface="Fraunces" pitchFamily="34" charset="-120"/>
              </a:rPr>
              <a:t>4</a:t>
            </a:r>
            <a:endParaRPr lang="en-US" sz="1600" dirty="0"/>
          </a:p>
        </p:txBody>
      </p:sp>
      <p:sp>
        <p:nvSpPr>
          <p:cNvPr id="25" name="Text 23"/>
          <p:cNvSpPr/>
          <p:nvPr/>
        </p:nvSpPr>
        <p:spPr>
          <a:xfrm>
            <a:off x="1280160" y="4416552"/>
            <a:ext cx="7040880" cy="548640"/>
          </a:xfrm>
          <a:prstGeom prst="rect">
            <a:avLst/>
          </a:prstGeom>
          <a:noFill/>
          <a:ln/>
        </p:spPr>
        <p:txBody>
          <a:bodyPr wrap="square" lIns="0" tIns="0" rIns="0" bIns="0" rtlCol="0" anchor="ctr"/>
          <a:lstStyle/>
          <a:p>
            <a:pPr indent="0" marL="0">
              <a:buNone/>
            </a:pPr>
            <a:r>
              <a:rPr lang="en-US" sz="1400" b="1" dirty="0">
                <a:solidFill>
                  <a:srgbClr val="000F46"/>
                </a:solidFill>
                <a:latin typeface="Source Sans 3" pitchFamily="34" charset="0"/>
                <a:ea typeface="Source Sans 3" pitchFamily="34" charset="-122"/>
                <a:cs typeface="Source Sans 3" pitchFamily="34" charset="-120"/>
              </a:rPr>
              <a:t>Further study  —  </a:t>
            </a:r>
            <a:pPr indent="0" marL="0">
              <a:buNone/>
            </a:pPr>
            <a:r>
              <a:rPr lang="en-US" sz="1400" dirty="0">
                <a:solidFill>
                  <a:srgbClr val="1C1C28"/>
                </a:solidFill>
                <a:latin typeface="Source Sans 3" pitchFamily="34" charset="0"/>
                <a:ea typeface="Source Sans 3" pitchFamily="34" charset="-122"/>
                <a:cs typeface="Source Sans 3" pitchFamily="34" charset="-120"/>
              </a:rPr>
              <a:t>Starts weighing up Honours</a:t>
            </a:r>
            <a:endParaRPr lang="en-US" sz="1400" dirty="0"/>
          </a:p>
        </p:txBody>
      </p:sp>
      <p:sp>
        <p:nvSpPr>
          <p:cNvPr id="26" name="Shape 24"/>
          <p:cNvSpPr/>
          <p:nvPr/>
        </p:nvSpPr>
        <p:spPr>
          <a:xfrm>
            <a:off x="8458200" y="4471416"/>
            <a:ext cx="3154680" cy="420624"/>
          </a:xfrm>
          <a:prstGeom prst="rect">
            <a:avLst/>
          </a:prstGeom>
          <a:solidFill>
            <a:srgbClr val="EAF6FB"/>
          </a:solidFill>
          <a:ln/>
        </p:spPr>
      </p:sp>
      <p:sp>
        <p:nvSpPr>
          <p:cNvPr id="27" name="Text 25"/>
          <p:cNvSpPr/>
          <p:nvPr/>
        </p:nvSpPr>
        <p:spPr>
          <a:xfrm>
            <a:off x="8549640" y="4471416"/>
            <a:ext cx="3017520" cy="420624"/>
          </a:xfrm>
          <a:prstGeom prst="rect">
            <a:avLst/>
          </a:prstGeom>
          <a:noFill/>
          <a:ln/>
        </p:spPr>
        <p:txBody>
          <a:bodyPr wrap="square" lIns="0" tIns="0" rIns="0" bIns="0" rtlCol="0" anchor="ctr"/>
          <a:lstStyle/>
          <a:p>
            <a:pPr indent="0" marL="0">
              <a:buNone/>
            </a:pPr>
            <a:r>
              <a:rPr lang="en-US" sz="1050" dirty="0">
                <a:solidFill>
                  <a:srgbClr val="000B34"/>
                </a:solidFill>
                <a:latin typeface="Source Sans 3" pitchFamily="34" charset="0"/>
                <a:ea typeface="Source Sans 3" pitchFamily="34" charset="-122"/>
                <a:cs typeface="Source Sans 3" pitchFamily="34" charset="-120"/>
              </a:rPr>
              <a:t>Science Honours info (would compare faculties)</a:t>
            </a:r>
            <a:endParaRPr lang="en-US" sz="1050" dirty="0"/>
          </a:p>
        </p:txBody>
      </p:sp>
      <p:sp>
        <p:nvSpPr>
          <p:cNvPr id="28" name="Text 26"/>
          <p:cNvSpPr/>
          <p:nvPr/>
        </p:nvSpPr>
        <p:spPr>
          <a:xfrm>
            <a:off x="640080" y="5440680"/>
            <a:ext cx="10972800" cy="640080"/>
          </a:xfrm>
          <a:prstGeom prst="rect">
            <a:avLst/>
          </a:prstGeom>
          <a:noFill/>
          <a:ln/>
        </p:spPr>
        <p:txBody>
          <a:bodyPr wrap="square" lIns="0" tIns="0" rIns="0" bIns="0" rtlCol="0" anchor="t"/>
          <a:lstStyle/>
          <a:p>
            <a:pPr indent="0" marL="0">
              <a:lnSpc>
                <a:spcPct val="110000"/>
              </a:lnSpc>
              <a:buNone/>
            </a:pPr>
            <a:r>
              <a:rPr lang="en-US" sz="1350" i="1" dirty="0">
                <a:solidFill>
                  <a:srgbClr val="1C1C28"/>
                </a:solidFill>
                <a:latin typeface="Source Sans 3" pitchFamily="34" charset="0"/>
                <a:ea typeface="Source Sans 3" pitchFamily="34" charset="-122"/>
                <a:cs typeface="Source Sans 3" pitchFamily="34" charset="-120"/>
              </a:rPr>
              <a:t>In one semester Maya crosses the central hub, her faculty site and a school site several times — with no single thread tying it together.    </a:t>
            </a:r>
            <a:pPr indent="0" marL="0">
              <a:lnSpc>
                <a:spcPct val="110000"/>
              </a:lnSpc>
              <a:buNone/>
            </a:pPr>
            <a:r>
              <a:rPr lang="en-US" sz="1350" b="1" dirty="0">
                <a:solidFill>
                  <a:srgbClr val="000F46"/>
                </a:solidFill>
                <a:latin typeface="Source Sans 3" pitchFamily="34" charset="0"/>
                <a:ea typeface="Source Sans 3" pitchFamily="34" charset="-122"/>
                <a:cs typeface="Source Sans 3" pitchFamily="34" charset="-120"/>
              </a:rPr>
              <a:t>To discuss: where in this one journey would small changes make the biggest difference?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sp>
      <p:sp>
        <p:nvSpPr>
          <p:cNvPr id="3" name="Text 1"/>
          <p:cNvSpPr/>
          <p:nvPr/>
        </p:nvSpPr>
        <p:spPr>
          <a:xfrm>
            <a:off x="914400" y="457200"/>
            <a:ext cx="10698480" cy="502920"/>
          </a:xfrm>
          <a:prstGeom prst="rect">
            <a:avLst/>
          </a:prstGeom>
          <a:noFill/>
          <a:ln/>
        </p:spPr>
        <p:txBody>
          <a:bodyPr wrap="square" lIns="0" tIns="0" rIns="0" bIns="0" rtlCol="0" anchor="ctr"/>
          <a:lstStyle/>
          <a:p>
            <a:pPr indent="0" marL="0">
              <a:buNone/>
            </a:pPr>
            <a:r>
              <a:rPr lang="en-US" sz="2900" b="1" dirty="0">
                <a:solidFill>
                  <a:srgbClr val="000F46"/>
                </a:solidFill>
                <a:latin typeface="Fraunces" pitchFamily="34" charset="0"/>
                <a:ea typeface="Fraunces" pitchFamily="34" charset="-122"/>
                <a:cs typeface="Fraunces" pitchFamily="34" charset="-120"/>
              </a:rPr>
              <a:t>Capturing today's discussion</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indent="0" marL="0">
              <a:buNone/>
            </a:pPr>
            <a:r>
              <a:rPr lang="en-US" sz="900" dirty="0">
                <a:solidFill>
                  <a:srgbClr val="5B5B6B"/>
                </a:solidFill>
                <a:latin typeface="Source Sans 3" pitchFamily="34" charset="0"/>
                <a:ea typeface="Source Sans 3" pitchFamily="34" charset="-122"/>
                <a:cs typeface="Source Sans 3" pitchFamily="34" charset="-120"/>
              </a:rPr>
              <a:t>Current Students: End-to-End Experience —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algn="r" indent="0" marL="0">
              <a:buNone/>
            </a:pPr>
            <a:r>
              <a:rPr lang="en-US" sz="900" dirty="0">
                <a:solidFill>
                  <a:srgbClr val="5B5B6B"/>
                </a:solidFill>
                <a:latin typeface="Source Sans 3" pitchFamily="34" charset="0"/>
                <a:ea typeface="Source Sans 3" pitchFamily="34" charset="-122"/>
                <a:cs typeface="Source Sans 3" pitchFamily="34" charset="-120"/>
              </a:rPr>
              <a:t>12</a:t>
            </a:r>
            <a:endParaRPr lang="en-US" sz="900" dirty="0"/>
          </a:p>
        </p:txBody>
      </p:sp>
      <p:sp>
        <p:nvSpPr>
          <p:cNvPr id="6" name="Text 4"/>
          <p:cNvSpPr/>
          <p:nvPr/>
        </p:nvSpPr>
        <p:spPr>
          <a:xfrm>
            <a:off x="566928" y="1280160"/>
            <a:ext cx="10881360" cy="457200"/>
          </a:xfrm>
          <a:prstGeom prst="rect">
            <a:avLst/>
          </a:prstGeom>
          <a:noFill/>
          <a:ln/>
        </p:spPr>
        <p:txBody>
          <a:bodyPr wrap="square" lIns="0" tIns="0" rIns="0" bIns="0" rtlCol="0" anchor="ctr"/>
          <a:lstStyle/>
          <a:p>
            <a:pPr indent="0" marL="0">
              <a:buNone/>
            </a:pPr>
            <a:r>
              <a:rPr lang="en-US" sz="1500" i="1" dirty="0">
                <a:solidFill>
                  <a:srgbClr val="1C1C28"/>
                </a:solidFill>
                <a:latin typeface="Source Sans 3" pitchFamily="34" charset="0"/>
                <a:ea typeface="Source Sans 3" pitchFamily="34" charset="-122"/>
                <a:cs typeface="Source Sans 3" pitchFamily="34" charset="-120"/>
              </a:rPr>
              <a:t>We'll capture the conversation here — to revisit together, not to conclude today.</a:t>
            </a:r>
            <a:endParaRPr lang="en-US" sz="1500" dirty="0"/>
          </a:p>
        </p:txBody>
      </p:sp>
      <p:sp>
        <p:nvSpPr>
          <p:cNvPr id="7" name="Shape 5"/>
          <p:cNvSpPr/>
          <p:nvPr/>
        </p:nvSpPr>
        <p:spPr>
          <a:xfrm>
            <a:off x="566928" y="1920240"/>
            <a:ext cx="2633472" cy="548640"/>
          </a:xfrm>
          <a:prstGeom prst="rect">
            <a:avLst/>
          </a:prstGeom>
          <a:solidFill>
            <a:srgbClr val="000F46"/>
          </a:solidFill>
          <a:ln/>
        </p:spPr>
      </p:sp>
      <p:sp>
        <p:nvSpPr>
          <p:cNvPr id="8" name="Text 6"/>
          <p:cNvSpPr/>
          <p:nvPr/>
        </p:nvSpPr>
        <p:spPr>
          <a:xfrm>
            <a:off x="676656" y="1920240"/>
            <a:ext cx="2414016" cy="548640"/>
          </a:xfrm>
          <a:prstGeom prst="rect">
            <a:avLst/>
          </a:prstGeom>
          <a:noFill/>
          <a:ln/>
        </p:spPr>
        <p:txBody>
          <a:bodyPr wrap="square" lIns="0" tIns="0" rIns="0" bIns="0" rtlCol="0" anchor="ctr"/>
          <a:lstStyle/>
          <a:p>
            <a:pPr algn="l" indent="0" marL="0">
              <a:buNone/>
            </a:pPr>
            <a:r>
              <a:rPr lang="en-US" sz="1250" b="1" dirty="0">
                <a:solidFill>
                  <a:srgbClr val="FFFFFF"/>
                </a:solidFill>
                <a:latin typeface="Source Sans 3" pitchFamily="34" charset="0"/>
                <a:ea typeface="Source Sans 3" pitchFamily="34" charset="-122"/>
                <a:cs typeface="Source Sans 3" pitchFamily="34" charset="-120"/>
              </a:rPr>
              <a:t>Overlaps to align</a:t>
            </a:r>
            <a:endParaRPr lang="en-US" sz="1250" dirty="0"/>
          </a:p>
        </p:txBody>
      </p:sp>
      <p:sp>
        <p:nvSpPr>
          <p:cNvPr id="9" name="Shape 7"/>
          <p:cNvSpPr/>
          <p:nvPr/>
        </p:nvSpPr>
        <p:spPr>
          <a:xfrm>
            <a:off x="566928" y="2468880"/>
            <a:ext cx="2633472" cy="3566160"/>
          </a:xfrm>
          <a:prstGeom prst="rect">
            <a:avLst/>
          </a:prstGeom>
          <a:solidFill>
            <a:srgbClr val="F4F4F4"/>
          </a:solidFill>
          <a:ln w="12700">
            <a:solidFill>
              <a:srgbClr val="DDDDE7"/>
            </a:solidFill>
            <a:prstDash val="solid"/>
          </a:ln>
        </p:spPr>
      </p:sp>
      <p:sp>
        <p:nvSpPr>
          <p:cNvPr id="10" name="Shape 8"/>
          <p:cNvSpPr/>
          <p:nvPr/>
        </p:nvSpPr>
        <p:spPr>
          <a:xfrm>
            <a:off x="3337560" y="1920240"/>
            <a:ext cx="2633472" cy="548640"/>
          </a:xfrm>
          <a:prstGeom prst="rect">
            <a:avLst/>
          </a:prstGeom>
          <a:solidFill>
            <a:srgbClr val="000F46"/>
          </a:solidFill>
          <a:ln/>
        </p:spPr>
      </p:sp>
      <p:sp>
        <p:nvSpPr>
          <p:cNvPr id="11" name="Text 9"/>
          <p:cNvSpPr/>
          <p:nvPr/>
        </p:nvSpPr>
        <p:spPr>
          <a:xfrm>
            <a:off x="3447288" y="1920240"/>
            <a:ext cx="2414016" cy="548640"/>
          </a:xfrm>
          <a:prstGeom prst="rect">
            <a:avLst/>
          </a:prstGeom>
          <a:noFill/>
          <a:ln/>
        </p:spPr>
        <p:txBody>
          <a:bodyPr wrap="square" lIns="0" tIns="0" rIns="0" bIns="0" rtlCol="0" anchor="ctr"/>
          <a:lstStyle/>
          <a:p>
            <a:pPr algn="l" indent="0" marL="0">
              <a:buNone/>
            </a:pPr>
            <a:r>
              <a:rPr lang="en-US" sz="1250" b="1" dirty="0">
                <a:solidFill>
                  <a:srgbClr val="FFFFFF"/>
                </a:solidFill>
                <a:latin typeface="Source Sans 3" pitchFamily="34" charset="0"/>
                <a:ea typeface="Source Sans 3" pitchFamily="34" charset="-122"/>
                <a:cs typeface="Source Sans 3" pitchFamily="34" charset="-120"/>
              </a:rPr>
              <a:t>Already in flight</a:t>
            </a:r>
            <a:endParaRPr lang="en-US" sz="1250" dirty="0"/>
          </a:p>
        </p:txBody>
      </p:sp>
      <p:sp>
        <p:nvSpPr>
          <p:cNvPr id="12" name="Shape 10"/>
          <p:cNvSpPr/>
          <p:nvPr/>
        </p:nvSpPr>
        <p:spPr>
          <a:xfrm>
            <a:off x="3337560" y="2468880"/>
            <a:ext cx="2633472" cy="3566160"/>
          </a:xfrm>
          <a:prstGeom prst="rect">
            <a:avLst/>
          </a:prstGeom>
          <a:solidFill>
            <a:srgbClr val="F4F4F4"/>
          </a:solidFill>
          <a:ln w="12700">
            <a:solidFill>
              <a:srgbClr val="DDDDE7"/>
            </a:solidFill>
            <a:prstDash val="solid"/>
          </a:ln>
        </p:spPr>
      </p:sp>
      <p:sp>
        <p:nvSpPr>
          <p:cNvPr id="13" name="Shape 11"/>
          <p:cNvSpPr/>
          <p:nvPr/>
        </p:nvSpPr>
        <p:spPr>
          <a:xfrm>
            <a:off x="6108192" y="1920240"/>
            <a:ext cx="2633472" cy="548640"/>
          </a:xfrm>
          <a:prstGeom prst="rect">
            <a:avLst/>
          </a:prstGeom>
          <a:solidFill>
            <a:srgbClr val="000F46"/>
          </a:solidFill>
          <a:ln/>
        </p:spPr>
      </p:sp>
      <p:sp>
        <p:nvSpPr>
          <p:cNvPr id="14" name="Text 12"/>
          <p:cNvSpPr/>
          <p:nvPr/>
        </p:nvSpPr>
        <p:spPr>
          <a:xfrm>
            <a:off x="6217920" y="1920240"/>
            <a:ext cx="2414016" cy="548640"/>
          </a:xfrm>
          <a:prstGeom prst="rect">
            <a:avLst/>
          </a:prstGeom>
          <a:noFill/>
          <a:ln/>
        </p:spPr>
        <p:txBody>
          <a:bodyPr wrap="square" lIns="0" tIns="0" rIns="0" bIns="0" rtlCol="0" anchor="ctr"/>
          <a:lstStyle/>
          <a:p>
            <a:pPr algn="l" indent="0" marL="0">
              <a:buNone/>
            </a:pPr>
            <a:r>
              <a:rPr lang="en-US" sz="1250" b="1" dirty="0">
                <a:solidFill>
                  <a:srgbClr val="FFFFFF"/>
                </a:solidFill>
                <a:latin typeface="Source Sans 3" pitchFamily="34" charset="0"/>
                <a:ea typeface="Source Sans 3" pitchFamily="34" charset="-122"/>
                <a:cs typeface="Source Sans 3" pitchFamily="34" charset="-120"/>
              </a:rPr>
              <a:t>Worth exploring</a:t>
            </a:r>
            <a:endParaRPr lang="en-US" sz="1250" dirty="0"/>
          </a:p>
        </p:txBody>
      </p:sp>
      <p:sp>
        <p:nvSpPr>
          <p:cNvPr id="15" name="Shape 13"/>
          <p:cNvSpPr/>
          <p:nvPr/>
        </p:nvSpPr>
        <p:spPr>
          <a:xfrm>
            <a:off x="6108192" y="2468880"/>
            <a:ext cx="2633472" cy="3566160"/>
          </a:xfrm>
          <a:prstGeom prst="rect">
            <a:avLst/>
          </a:prstGeom>
          <a:solidFill>
            <a:srgbClr val="F4F4F4"/>
          </a:solidFill>
          <a:ln w="12700">
            <a:solidFill>
              <a:srgbClr val="DDDDE7"/>
            </a:solidFill>
            <a:prstDash val="solid"/>
          </a:ln>
        </p:spPr>
      </p:sp>
      <p:sp>
        <p:nvSpPr>
          <p:cNvPr id="16" name="Shape 14"/>
          <p:cNvSpPr/>
          <p:nvPr/>
        </p:nvSpPr>
        <p:spPr>
          <a:xfrm>
            <a:off x="8878824" y="1920240"/>
            <a:ext cx="2633472" cy="548640"/>
          </a:xfrm>
          <a:prstGeom prst="rect">
            <a:avLst/>
          </a:prstGeom>
          <a:solidFill>
            <a:srgbClr val="000F46"/>
          </a:solidFill>
          <a:ln/>
        </p:spPr>
      </p:sp>
      <p:sp>
        <p:nvSpPr>
          <p:cNvPr id="17" name="Text 15"/>
          <p:cNvSpPr/>
          <p:nvPr/>
        </p:nvSpPr>
        <p:spPr>
          <a:xfrm>
            <a:off x="8988552" y="1920240"/>
            <a:ext cx="2414016" cy="548640"/>
          </a:xfrm>
          <a:prstGeom prst="rect">
            <a:avLst/>
          </a:prstGeom>
          <a:noFill/>
          <a:ln/>
        </p:spPr>
        <p:txBody>
          <a:bodyPr wrap="square" lIns="0" tIns="0" rIns="0" bIns="0" rtlCol="0" anchor="ctr"/>
          <a:lstStyle/>
          <a:p>
            <a:pPr algn="l" indent="0" marL="0">
              <a:buNone/>
            </a:pPr>
            <a:r>
              <a:rPr lang="en-US" sz="1250" b="1" dirty="0">
                <a:solidFill>
                  <a:srgbClr val="FFFFFF"/>
                </a:solidFill>
                <a:latin typeface="Source Sans 3" pitchFamily="34" charset="0"/>
                <a:ea typeface="Source Sans 3" pitchFamily="34" charset="-122"/>
                <a:cs typeface="Source Sans 3" pitchFamily="34" charset="-120"/>
              </a:rPr>
              <a:t>Owners / next step</a:t>
            </a:r>
            <a:endParaRPr lang="en-US" sz="1250" dirty="0"/>
          </a:p>
        </p:txBody>
      </p:sp>
      <p:sp>
        <p:nvSpPr>
          <p:cNvPr id="18" name="Shape 16"/>
          <p:cNvSpPr/>
          <p:nvPr/>
        </p:nvSpPr>
        <p:spPr>
          <a:xfrm>
            <a:off x="8878824" y="2468880"/>
            <a:ext cx="2633472" cy="3566160"/>
          </a:xfrm>
          <a:prstGeom prst="rect">
            <a:avLst/>
          </a:prstGeom>
          <a:solidFill>
            <a:srgbClr val="F4F4F4"/>
          </a:solidFill>
          <a:ln w="12700">
            <a:solidFill>
              <a:srgbClr val="DDDDE7"/>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F46"/>
        </a:solidFill>
      </p:bgPr>
    </p:bg>
    <p:spTree>
      <p:nvGrpSpPr>
        <p:cNvPr id="1" name=""/>
        <p:cNvGrpSpPr/>
        <p:nvPr/>
      </p:nvGrpSpPr>
      <p:grpSpPr>
        <a:xfrm>
          <a:off x="0" y="0"/>
          <a:ext cx="0" cy="0"/>
          <a:chOff x="0" y="0"/>
          <a:chExt cx="0" cy="0"/>
        </a:xfrm>
      </p:grpSpPr>
      <p:sp>
        <p:nvSpPr>
          <p:cNvPr id="2" name="Shape 0"/>
          <p:cNvSpPr/>
          <p:nvPr/>
        </p:nvSpPr>
        <p:spPr>
          <a:xfrm>
            <a:off x="566928" y="658368"/>
            <a:ext cx="274320" cy="274320"/>
          </a:xfrm>
          <a:prstGeom prst="rect">
            <a:avLst/>
          </a:prstGeom>
          <a:solidFill>
            <a:srgbClr val="46C8F0"/>
          </a:solidFill>
          <a:ln/>
        </p:spPr>
      </p:sp>
      <p:sp>
        <p:nvSpPr>
          <p:cNvPr id="3" name="Text 1"/>
          <p:cNvSpPr/>
          <p:nvPr/>
        </p:nvSpPr>
        <p:spPr>
          <a:xfrm>
            <a:off x="969264" y="548640"/>
            <a:ext cx="10058400" cy="640080"/>
          </a:xfrm>
          <a:prstGeom prst="rect">
            <a:avLst/>
          </a:prstGeom>
          <a:noFill/>
          <a:ln/>
        </p:spPr>
        <p:txBody>
          <a:bodyPr wrap="square" lIns="0" tIns="0" rIns="0" bIns="0" rtlCol="0" anchor="ctr"/>
          <a:lstStyle/>
          <a:p>
            <a:pPr indent="0" marL="0">
              <a:buNone/>
            </a:pPr>
            <a:r>
              <a:rPr lang="en-US" sz="3200" b="1" dirty="0">
                <a:solidFill>
                  <a:srgbClr val="FFFFFF"/>
                </a:solidFill>
                <a:latin typeface="Fraunces" pitchFamily="34" charset="0"/>
                <a:ea typeface="Fraunces" pitchFamily="34" charset="-122"/>
                <a:cs typeface="Fraunces" pitchFamily="34" charset="-120"/>
              </a:rPr>
              <a:t>Where to from here — together</a:t>
            </a:r>
            <a:endParaRPr lang="en-US" sz="3200" dirty="0"/>
          </a:p>
        </p:txBody>
      </p:sp>
      <p:sp>
        <p:nvSpPr>
          <p:cNvPr id="4" name="Text 2"/>
          <p:cNvSpPr/>
          <p:nvPr/>
        </p:nvSpPr>
        <p:spPr>
          <a:xfrm>
            <a:off x="585216" y="1508760"/>
            <a:ext cx="10058400" cy="457200"/>
          </a:xfrm>
          <a:prstGeom prst="rect">
            <a:avLst/>
          </a:prstGeom>
          <a:noFill/>
          <a:ln/>
        </p:spPr>
        <p:txBody>
          <a:bodyPr wrap="square" lIns="0" tIns="0" rIns="0" bIns="0" rtlCol="0" anchor="ctr"/>
          <a:lstStyle/>
          <a:p>
            <a:pPr indent="0" marL="0">
              <a:buNone/>
            </a:pPr>
            <a:r>
              <a:rPr lang="en-US" sz="1700" i="1" dirty="0">
                <a:solidFill>
                  <a:srgbClr val="46C8F0"/>
                </a:solidFill>
                <a:latin typeface="Source Sans 3" pitchFamily="34" charset="0"/>
                <a:ea typeface="Source Sans 3" pitchFamily="34" charset="-122"/>
                <a:cs typeface="Source Sans 3" pitchFamily="34" charset="-120"/>
              </a:rPr>
              <a:t>Not conclusions — questions to take forward.</a:t>
            </a:r>
            <a:endParaRPr lang="en-US" sz="1700" dirty="0"/>
          </a:p>
        </p:txBody>
      </p:sp>
      <p:sp>
        <p:nvSpPr>
          <p:cNvPr id="5" name="Text 3"/>
          <p:cNvSpPr/>
          <p:nvPr/>
        </p:nvSpPr>
        <p:spPr>
          <a:xfrm>
            <a:off x="603504" y="2286000"/>
            <a:ext cx="10424160" cy="3291840"/>
          </a:xfrm>
          <a:prstGeom prst="rect">
            <a:avLst/>
          </a:prstGeom>
          <a:noFill/>
          <a:ln/>
        </p:spPr>
        <p:txBody>
          <a:bodyPr wrap="square" lIns="0" tIns="0" rIns="0" bIns="0" rtlCol="0" anchor="t"/>
          <a:lstStyle/>
          <a:p>
            <a:pPr marL="228600" indent="-228600">
              <a:spcAft>
                <a:spcPts val="1600"/>
              </a:spcAft>
              <a:buSzPct val="100000"/>
              <a:buChar char="•"/>
            </a:pPr>
            <a:r>
              <a:rPr lang="en-US" sz="1800" dirty="0">
                <a:solidFill>
                  <a:srgbClr val="FFFFFF"/>
                </a:solidFill>
                <a:latin typeface="Source Sans 3" pitchFamily="34" charset="0"/>
                <a:ea typeface="Source Sans 3" pitchFamily="34" charset="-122"/>
                <a:cs typeface="Source Sans 3" pitchFamily="34" charset="-120"/>
              </a:rPr>
              <a:t>Across the four topics, what did we agree are the real overlaps?</a:t>
            </a:r>
            <a:endParaRPr lang="en-US" sz="1800" dirty="0"/>
          </a:p>
          <a:p>
            <a:pPr marL="228600" indent="-228600">
              <a:spcAft>
                <a:spcPts val="1600"/>
              </a:spcAft>
              <a:buSzPct val="100000"/>
              <a:buChar char="•"/>
            </a:pPr>
            <a:r>
              <a:rPr lang="en-US" sz="1800" dirty="0">
                <a:solidFill>
                  <a:srgbClr val="FFFFFF"/>
                </a:solidFill>
                <a:latin typeface="Source Sans 3" pitchFamily="34" charset="0"/>
                <a:ea typeface="Source Sans 3" pitchFamily="34" charset="-122"/>
                <a:cs typeface="Source Sans 3" pitchFamily="34" charset="-120"/>
              </a:rPr>
              <a:t>What is already in flight that we could connect or build on?</a:t>
            </a:r>
            <a:endParaRPr lang="en-US" sz="1800" dirty="0"/>
          </a:p>
          <a:p>
            <a:pPr marL="228600" indent="-228600">
              <a:spcAft>
                <a:spcPts val="1600"/>
              </a:spcAft>
              <a:buSzPct val="100000"/>
              <a:buChar char="•"/>
            </a:pPr>
            <a:r>
              <a:rPr lang="en-US" sz="1800" dirty="0">
                <a:solidFill>
                  <a:srgbClr val="FFFFFF"/>
                </a:solidFill>
                <a:latin typeface="Source Sans 3" pitchFamily="34" charset="0"/>
                <a:ea typeface="Source Sans 3" pitchFamily="34" charset="-122"/>
                <a:cs typeface="Source Sans 3" pitchFamily="34" charset="-120"/>
              </a:rPr>
              <a:t>For each topic — what is one thing we'd like to explore next, and who is involved?</a:t>
            </a:r>
            <a:endParaRPr lang="en-US" sz="1800" dirty="0"/>
          </a:p>
          <a:p>
            <a:pPr marL="228600" indent="-228600">
              <a:spcAft>
                <a:spcPts val="1600"/>
              </a:spcAft>
              <a:buSzPct val="100000"/>
              <a:buChar char="•"/>
            </a:pPr>
            <a:r>
              <a:rPr lang="en-US" sz="1800" dirty="0">
                <a:solidFill>
                  <a:srgbClr val="FFFFFF"/>
                </a:solidFill>
                <a:latin typeface="Source Sans 3" pitchFamily="34" charset="0"/>
                <a:ea typeface="Source Sans 3" pitchFamily="34" charset="-122"/>
                <a:cs typeface="Source Sans 3" pitchFamily="34" charset="-120"/>
              </a:rPr>
              <a:t>How will we keep aligned as this work continues?</a:t>
            </a:r>
            <a:endParaRPr lang="en-US" sz="1800" dirty="0"/>
          </a:p>
        </p:txBody>
      </p:sp>
      <p:pic>
        <p:nvPicPr>
          <p:cNvPr id="6" name="Image 0" descr="/Users/djmulholland/Documents/Claude/projects/unimelb-current-students-ia/discussion-deck/assets/logo-white.png">    </p:cNvPr>
          <p:cNvPicPr>
            <a:picLocks noChangeAspect="1"/>
          </p:cNvPicPr>
          <p:nvPr/>
        </p:nvPicPr>
        <p:blipFill>
          <a:blip r:embed="rId1"/>
          <a:stretch>
            <a:fillRect/>
          </a:stretch>
        </p:blipFill>
        <p:spPr>
          <a:xfrm>
            <a:off x="9601200" y="6053328"/>
            <a:ext cx="2011680" cy="632905"/>
          </a:xfrm>
          <a:prstGeom prst="rect">
            <a:avLst/>
          </a:prstGeom>
        </p:spPr>
      </p:pic>
      <p:sp>
        <p:nvSpPr>
          <p:cNvPr id="7" name="Text 4"/>
          <p:cNvSpPr/>
          <p:nvPr/>
        </p:nvSpPr>
        <p:spPr>
          <a:xfrm>
            <a:off x="603504" y="6217920"/>
            <a:ext cx="5486400" cy="365760"/>
          </a:xfrm>
          <a:prstGeom prst="rect">
            <a:avLst/>
          </a:prstGeom>
          <a:noFill/>
          <a:ln/>
        </p:spPr>
        <p:txBody>
          <a:bodyPr wrap="square" lIns="0" tIns="0" rIns="0" bIns="0" rtlCol="0" anchor="ctr"/>
          <a:lstStyle/>
          <a:p>
            <a:pPr indent="0" marL="0">
              <a:buNone/>
            </a:pPr>
            <a:r>
              <a:rPr lang="en-US" sz="1200" dirty="0">
                <a:solidFill>
                  <a:srgbClr val="C9CDE6"/>
                </a:solidFill>
                <a:latin typeface="Source Code Pro" pitchFamily="34" charset="0"/>
                <a:ea typeface="Source Code Pro" pitchFamily="34" charset="-122"/>
                <a:cs typeface="Source Code Pro" pitchFamily="34" charset="-120"/>
              </a:rPr>
              <a:t>Thank you · discussion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B34"/>
        </a:solidFill>
      </p:bgPr>
    </p:bg>
    <p:spTree>
      <p:nvGrpSpPr>
        <p:cNvPr id="1" name=""/>
        <p:cNvGrpSpPr/>
        <p:nvPr/>
      </p:nvGrpSpPr>
      <p:grpSpPr>
        <a:xfrm>
          <a:off x="0" y="0"/>
          <a:ext cx="0" cy="0"/>
          <a:chOff x="0" y="0"/>
          <a:chExt cx="0" cy="0"/>
        </a:xfrm>
      </p:grpSpPr>
      <p:sp>
        <p:nvSpPr>
          <p:cNvPr id="2" name="Shape 0"/>
          <p:cNvSpPr/>
          <p:nvPr/>
        </p:nvSpPr>
        <p:spPr>
          <a:xfrm>
            <a:off x="566928" y="2926080"/>
            <a:ext cx="292608" cy="292608"/>
          </a:xfrm>
          <a:prstGeom prst="rect">
            <a:avLst/>
          </a:prstGeom>
          <a:solidFill>
            <a:srgbClr val="46C8F0"/>
          </a:solidFill>
          <a:ln/>
        </p:spPr>
      </p:sp>
      <p:sp>
        <p:nvSpPr>
          <p:cNvPr id="3" name="Text 1"/>
          <p:cNvSpPr/>
          <p:nvPr/>
        </p:nvSpPr>
        <p:spPr>
          <a:xfrm>
            <a:off x="987552" y="2788920"/>
            <a:ext cx="9144000" cy="640080"/>
          </a:xfrm>
          <a:prstGeom prst="rect">
            <a:avLst/>
          </a:prstGeom>
          <a:noFill/>
          <a:ln/>
        </p:spPr>
        <p:txBody>
          <a:bodyPr wrap="square" lIns="0" tIns="0" rIns="0" bIns="0" rtlCol="0" anchor="ctr"/>
          <a:lstStyle/>
          <a:p>
            <a:pPr indent="0" marL="0">
              <a:buNone/>
            </a:pPr>
            <a:r>
              <a:rPr lang="en-US" sz="3400" b="1" dirty="0">
                <a:solidFill>
                  <a:srgbClr val="FFFFFF"/>
                </a:solidFill>
                <a:latin typeface="Fraunces" pitchFamily="34" charset="0"/>
                <a:ea typeface="Fraunces" pitchFamily="34" charset="-122"/>
                <a:cs typeface="Fraunces" pitchFamily="34" charset="-120"/>
              </a:rPr>
              <a:t>Appendix</a:t>
            </a:r>
            <a:endParaRPr lang="en-US" sz="3400" dirty="0"/>
          </a:p>
        </p:txBody>
      </p:sp>
      <p:sp>
        <p:nvSpPr>
          <p:cNvPr id="4" name="Text 2"/>
          <p:cNvSpPr/>
          <p:nvPr/>
        </p:nvSpPr>
        <p:spPr>
          <a:xfrm>
            <a:off x="585216" y="3611880"/>
            <a:ext cx="9601200" cy="457200"/>
          </a:xfrm>
          <a:prstGeom prst="rect">
            <a:avLst/>
          </a:prstGeom>
          <a:noFill/>
          <a:ln/>
        </p:spPr>
        <p:txBody>
          <a:bodyPr wrap="square" lIns="0" tIns="0" rIns="0" bIns="0" rtlCol="0" anchor="ctr"/>
          <a:lstStyle/>
          <a:p>
            <a:pPr indent="0" marL="0">
              <a:buNone/>
            </a:pPr>
            <a:r>
              <a:rPr lang="en-US" sz="1500" dirty="0">
                <a:solidFill>
                  <a:srgbClr val="C9CDE6"/>
                </a:solidFill>
                <a:latin typeface="Source Sans 3" pitchFamily="34" charset="0"/>
                <a:ea typeface="Source Sans 3" pitchFamily="34" charset="-122"/>
                <a:cs typeface="Source Sans 3" pitchFamily="34" charset="-120"/>
              </a:rPr>
              <a:t>Backup detail — per-faculty data, for reference if the discussion calls for specifics.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sp>
      <p:sp>
        <p:nvSpPr>
          <p:cNvPr id="3" name="Text 1"/>
          <p:cNvSpPr/>
          <p:nvPr/>
        </p:nvSpPr>
        <p:spPr>
          <a:xfrm>
            <a:off x="914400" y="457200"/>
            <a:ext cx="10698480" cy="502920"/>
          </a:xfrm>
          <a:prstGeom prst="rect">
            <a:avLst/>
          </a:prstGeom>
          <a:noFill/>
          <a:ln/>
        </p:spPr>
        <p:txBody>
          <a:bodyPr wrap="square" lIns="0" tIns="0" rIns="0" bIns="0" rtlCol="0" anchor="ctr"/>
          <a:lstStyle/>
          <a:p>
            <a:pPr indent="0" marL="0">
              <a:buNone/>
            </a:pPr>
            <a:r>
              <a:rPr lang="en-US" sz="2900" b="1" dirty="0">
                <a:solidFill>
                  <a:srgbClr val="000F46"/>
                </a:solidFill>
                <a:latin typeface="Fraunces" pitchFamily="34" charset="0"/>
                <a:ea typeface="Fraunces" pitchFamily="34" charset="-122"/>
                <a:cs typeface="Fraunces" pitchFamily="34" charset="-120"/>
              </a:rPr>
              <a:t>Who holds what — pages by faculty and topic</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indent="0" marL="0">
              <a:buNone/>
            </a:pPr>
            <a:r>
              <a:rPr lang="en-US" sz="900" dirty="0">
                <a:solidFill>
                  <a:srgbClr val="5B5B6B"/>
                </a:solidFill>
                <a:latin typeface="Source Sans 3" pitchFamily="34" charset="0"/>
                <a:ea typeface="Source Sans 3" pitchFamily="34" charset="-122"/>
                <a:cs typeface="Source Sans 3" pitchFamily="34" charset="-120"/>
              </a:rPr>
              <a:t>Current Students: End-to-End Experience —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algn="r" indent="0" marL="0">
              <a:buNone/>
            </a:pPr>
            <a:r>
              <a:rPr lang="en-US" sz="900" dirty="0">
                <a:solidFill>
                  <a:srgbClr val="5B5B6B"/>
                </a:solidFill>
                <a:latin typeface="Source Sans 3" pitchFamily="34" charset="0"/>
                <a:ea typeface="Source Sans 3" pitchFamily="34" charset="-122"/>
                <a:cs typeface="Source Sans 3"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64240" cy="914400"/>
        </p:xfrm>
        <a:graphic>
          <a:graphicData uri="http://schemas.openxmlformats.org/drawingml/2006/table">
            <a:tbl>
              <a:tblPr/>
              <a:tblGrid>
                <a:gridCol w="3108960"/>
                <a:gridCol w="1591056"/>
                <a:gridCol w="1591056"/>
                <a:gridCol w="1591056"/>
                <a:gridCol w="1591056"/>
                <a:gridCol w="1591056"/>
              </a:tblGrid>
              <a:tr h="365760">
                <a:tc>
                  <a:txBody>
                    <a:bodyPr/>
                    <a:lstStyle/>
                    <a:p>
                      <a:pPr algn="l" indent="0" marL="0">
                        <a:buNone/>
                      </a:pPr>
                      <a:r>
                        <a:rPr lang="en-US" sz="1100" b="1" dirty="0">
                          <a:solidFill>
                            <a:srgbClr val="FFFFFF"/>
                          </a:solidFill>
                          <a:latin typeface="Source Sans 3" pitchFamily="34" charset="0"/>
                          <a:ea typeface="Source Sans 3" pitchFamily="34" charset="-122"/>
                          <a:cs typeface="Source Sans 3" pitchFamily="34" charset="-120"/>
                        </a:rPr>
                        <a:t>Faculty / school</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algn="r" indent="0" marL="0">
                        <a:buNone/>
                      </a:pPr>
                      <a:r>
                        <a:rPr lang="en-US" sz="1100" b="1" dirty="0">
                          <a:solidFill>
                            <a:srgbClr val="FFFFFF"/>
                          </a:solidFill>
                          <a:latin typeface="Source Sans 3" pitchFamily="34" charset="0"/>
                          <a:ea typeface="Source Sans 3" pitchFamily="34" charset="-122"/>
                          <a:cs typeface="Source Sans 3" pitchFamily="34" charset="-120"/>
                        </a:rPr>
                        <a:t>Course</a:t>
                      </a:r>
                      <a:endParaRPr lang="en-US" sz="1100" dirty="0">
                        <a:latin typeface="Source Sans 3" charset="0"/>
                        <a:ea typeface="Source Sans 3" charset="0"/>
                        <a:cs typeface="Source Sans 3" charset="0"/>
                      </a:endParaRPr>
                    </a:p>
                    <a:p>
                      <a:pPr algn="r" indent="0" marL="0">
                        <a:buNone/>
                      </a:pPr>
                      <a:r>
                        <a:rPr lang="en-US" sz="1100" b="1" dirty="0">
                          <a:solidFill>
                            <a:srgbClr val="FFFFFF"/>
                          </a:solidFill>
                          <a:latin typeface="Source Sans 3" pitchFamily="34" charset="0"/>
                          <a:ea typeface="Source Sans 3" pitchFamily="34" charset="-122"/>
                          <a:cs typeface="Source Sans 3" pitchFamily="34" charset="-120"/>
                        </a:rPr>
                        <a:t>planning</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algn="r" indent="0" marL="0">
                        <a:buNone/>
                      </a:pPr>
                      <a:r>
                        <a:rPr lang="en-US" sz="1100" b="1" dirty="0">
                          <a:solidFill>
                            <a:srgbClr val="FFFFFF"/>
                          </a:solidFill>
                          <a:latin typeface="Source Sans 3" pitchFamily="34" charset="0"/>
                          <a:ea typeface="Source Sans 3" pitchFamily="34" charset="-122"/>
                          <a:cs typeface="Source Sans 3" pitchFamily="34" charset="-120"/>
                        </a:rPr>
                        <a:t>Careers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algn="r" indent="0" marL="0">
                        <a:buNone/>
                      </a:pPr>
                      <a:r>
                        <a:rPr lang="en-US" sz="1100" b="1" dirty="0">
                          <a:solidFill>
                            <a:srgbClr val="FFFFFF"/>
                          </a:solidFill>
                          <a:latin typeface="Source Sans 3" pitchFamily="34" charset="0"/>
                          <a:ea typeface="Source Sans 3" pitchFamily="34" charset="-122"/>
                          <a:cs typeface="Source Sans 3" pitchFamily="34" charset="-120"/>
                        </a:rPr>
                        <a:t>Placements</a:t>
                      </a:r>
                      <a:endParaRPr lang="en-US" sz="1100" dirty="0">
                        <a:latin typeface="Source Sans 3" charset="0"/>
                        <a:ea typeface="Source Sans 3" charset="0"/>
                        <a:cs typeface="Source Sans 3" charset="0"/>
                      </a:endParaRPr>
                    </a:p>
                    <a:p>
                      <a:pPr algn="r" indent="0" marL="0">
                        <a:buNone/>
                      </a:pPr>
                      <a:r>
                        <a:rPr lang="en-US" sz="1100" b="1" dirty="0">
                          <a:solidFill>
                            <a:srgbClr val="FFFFFF"/>
                          </a:solidFill>
                          <a:latin typeface="Source Sans 3" pitchFamily="34" charset="0"/>
                          <a:ea typeface="Source Sans 3" pitchFamily="34" charset="-122"/>
                          <a:cs typeface="Source Sans 3" pitchFamily="34" charset="-120"/>
                        </a:rPr>
                        <a:t>/ WIL</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algn="r" indent="0" marL="0">
                        <a:buNone/>
                      </a:pPr>
                      <a:r>
                        <a:rPr lang="en-US" sz="1100" b="1" dirty="0">
                          <a:solidFill>
                            <a:srgbClr val="FFFFFF"/>
                          </a:solidFill>
                          <a:latin typeface="Source Sans 3" pitchFamily="34" charset="0"/>
                          <a:ea typeface="Source Sans 3" pitchFamily="34" charset="-122"/>
                          <a:cs typeface="Source Sans 3" pitchFamily="34" charset="-120"/>
                        </a:rPr>
                        <a:t>Forms</a:t>
                      </a:r>
                      <a:endParaRPr lang="en-US" sz="1100" dirty="0">
                        <a:latin typeface="Source Sans 3" charset="0"/>
                        <a:ea typeface="Source Sans 3" charset="0"/>
                        <a:cs typeface="Source Sans 3" charset="0"/>
                      </a:endParaRPr>
                    </a:p>
                    <a:p>
                      <a:pPr algn="r" indent="0" marL="0">
                        <a:buNone/>
                      </a:pPr>
                      <a:r>
                        <a:rPr lang="en-US" sz="1100" b="1" dirty="0">
                          <a:solidFill>
                            <a:srgbClr val="FFFFFF"/>
                          </a:solidFill>
                          <a:latin typeface="Source Sans 3" pitchFamily="34" charset="0"/>
                          <a:ea typeface="Source Sans 3" pitchFamily="34" charset="-122"/>
                          <a:cs typeface="Source Sans 3" pitchFamily="34" charset="-120"/>
                        </a:rPr>
                        <a:t>/ admin</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algn="r" indent="0" marL="0">
                        <a:buNone/>
                      </a:pPr>
                      <a:r>
                        <a:rPr lang="en-US" sz="1100" b="1" dirty="0">
                          <a:solidFill>
                            <a:srgbClr val="FFFFFF"/>
                          </a:solidFill>
                          <a:latin typeface="Source Sans 3" pitchFamily="34" charset="0"/>
                          <a:ea typeface="Source Sans 3" pitchFamily="34" charset="-122"/>
                          <a:cs typeface="Source Sans 3" pitchFamily="34" charset="-120"/>
                        </a:rPr>
                        <a:t>Research</a:t>
                      </a:r>
                      <a:endParaRPr lang="en-US" sz="1100" dirty="0">
                        <a:latin typeface="Source Sans 3" charset="0"/>
                        <a:ea typeface="Source Sans 3" charset="0"/>
                        <a:cs typeface="Source Sans 3" charset="0"/>
                      </a:endParaRPr>
                    </a:p>
                    <a:p>
                      <a:pPr algn="r" indent="0" marL="0">
                        <a:buNone/>
                      </a:pPr>
                      <a:r>
                        <a:rPr lang="en-US" sz="1100" b="1" dirty="0">
                          <a:solidFill>
                            <a:srgbClr val="FFFFFF"/>
                          </a:solidFill>
                          <a:latin typeface="Source Sans 3" pitchFamily="34" charset="0"/>
                          <a:ea typeface="Source Sans 3" pitchFamily="34" charset="-122"/>
                          <a:cs typeface="Source Sans 3" pitchFamily="34" charset="-120"/>
                        </a:rPr>
                        <a:t>candidature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r>
              <a:tr h="365760">
                <a:tc>
                  <a:txBody>
                    <a:bodyPr/>
                    <a:lstStyle/>
                    <a:p>
                      <a:pPr indent="0" marL="0">
                        <a:buNone/>
                      </a:pPr>
                      <a:r>
                        <a:rPr lang="en-US" sz="1100" b="1" dirty="0">
                          <a:solidFill>
                            <a:srgbClr val="000B34"/>
                          </a:solidFill>
                          <a:latin typeface="Source Sans 3" pitchFamily="34" charset="0"/>
                          <a:ea typeface="Source Sans 3" pitchFamily="34" charset="-122"/>
                          <a:cs typeface="Source Sans 3" pitchFamily="34" charset="-120"/>
                        </a:rPr>
                        <a:t>Arts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28</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0B34"/>
                          </a:solidFill>
                          <a:latin typeface="Source Sans 3" pitchFamily="34" charset="0"/>
                          <a:ea typeface="Source Sans 3" pitchFamily="34" charset="-122"/>
                          <a:cs typeface="Source Sans 3" pitchFamily="34" charset="-120"/>
                        </a:rPr>
                        <a:t>ABP / MSD</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29</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9</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43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0B34"/>
                          </a:solidFill>
                          <a:latin typeface="Source Sans 3" pitchFamily="34" charset="0"/>
                          <a:ea typeface="Source Sans 3" pitchFamily="34" charset="-122"/>
                          <a:cs typeface="Source Sans 3" pitchFamily="34" charset="-120"/>
                        </a:rPr>
                        <a:t>Business &amp; Economics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8</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8</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0B34"/>
                          </a:solidFill>
                          <a:latin typeface="Source Sans 3" pitchFamily="34" charset="0"/>
                          <a:ea typeface="Source Sans 3" pitchFamily="34" charset="-122"/>
                          <a:cs typeface="Source Sans 3" pitchFamily="34" charset="-120"/>
                        </a:rPr>
                        <a:t>Education</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0B34"/>
                          </a:solidFill>
                          <a:latin typeface="Source Sans 3" pitchFamily="34" charset="0"/>
                          <a:ea typeface="Source Sans 3" pitchFamily="34" charset="-122"/>
                          <a:cs typeface="Source Sans 3" pitchFamily="34" charset="-120"/>
                        </a:rPr>
                        <a:t>Engineering &amp; IT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19</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31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0B34"/>
                          </a:solidFill>
                          <a:latin typeface="Source Sans 3" pitchFamily="34" charset="0"/>
                          <a:ea typeface="Source Sans 3" pitchFamily="34" charset="-122"/>
                          <a:cs typeface="Source Sans 3" pitchFamily="34" charset="-120"/>
                        </a:rPr>
                        <a:t>Fine Arts &amp; Music</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5</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0B34"/>
                          </a:solidFill>
                          <a:latin typeface="Source Sans 3" pitchFamily="34" charset="0"/>
                          <a:ea typeface="Source Sans 3" pitchFamily="34" charset="-122"/>
                          <a:cs typeface="Source Sans 3" pitchFamily="34" charset="-120"/>
                        </a:rPr>
                        <a:t>Law</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36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66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86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0B34"/>
                          </a:solidFill>
                          <a:latin typeface="Source Sans 3" pitchFamily="34" charset="0"/>
                          <a:ea typeface="Source Sans 3" pitchFamily="34" charset="-122"/>
                          <a:cs typeface="Source Sans 3" pitchFamily="34" charset="-120"/>
                        </a:rPr>
                        <a:t>Medicine, Dentistry &amp; HS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96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36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0B34"/>
                          </a:solidFill>
                          <a:latin typeface="Source Sans 3" pitchFamily="34" charset="0"/>
                          <a:ea typeface="Source Sans 3" pitchFamily="34" charset="-122"/>
                          <a:cs typeface="Source Sans 3" pitchFamily="34" charset="-120"/>
                        </a:rPr>
                        <a:t>Science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0B34"/>
                          </a:solidFill>
                          <a:latin typeface="Source Sans 3" pitchFamily="34" charset="0"/>
                          <a:ea typeface="Source Sans 3" pitchFamily="34" charset="-122"/>
                          <a:cs typeface="Source Sans 3" pitchFamily="34" charset="-120"/>
                        </a:rPr>
                        <a:t>Melbourne Business School *</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58</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0B34"/>
                          </a:solidFill>
                          <a:latin typeface="Source Sans 3" pitchFamily="34" charset="0"/>
                          <a:ea typeface="Source Sans 3" pitchFamily="34" charset="-122"/>
                          <a:cs typeface="Source Sans 3" pitchFamily="34" charset="-120"/>
                        </a:rPr>
                        <a:t>Biomedical Sciences *</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37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17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34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0B34"/>
                          </a:solidFill>
                          <a:latin typeface="Source Sans 3" pitchFamily="34" charset="0"/>
                          <a:ea typeface="Source Sans 3" pitchFamily="34" charset="-122"/>
                          <a:cs typeface="Source Sans 3" pitchFamily="34" charset="-120"/>
                        </a:rPr>
                        <a:t>Dental School *</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1C28"/>
                          </a:solidFill>
                          <a:latin typeface="Source Sans 3" pitchFamily="34" charset="0"/>
                          <a:ea typeface="Source Sans 3" pitchFamily="34" charset="-122"/>
                          <a:cs typeface="Source Sans 3" pitchFamily="34" charset="-120"/>
                        </a:rPr>
                        <a:t>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5989320"/>
            <a:ext cx="10881360" cy="365760"/>
          </a:xfrm>
          <a:prstGeom prst="rect">
            <a:avLst/>
          </a:prstGeom>
          <a:noFill/>
          <a:ln/>
        </p:spPr>
        <p:txBody>
          <a:bodyPr wrap="square" lIns="0" tIns="0" rIns="0" bIns="0" rtlCol="0" anchor="ctr"/>
          <a:lstStyle/>
          <a:p>
            <a:pPr indent="0" marL="0">
              <a:buNone/>
            </a:pPr>
            <a:r>
              <a:rPr lang="en-US" sz="1000" i="1" dirty="0">
                <a:solidFill>
                  <a:srgbClr val="5B5B6B"/>
                </a:solidFill>
                <a:latin typeface="Source Sans 3" pitchFamily="34" charset="0"/>
                <a:ea typeface="Source Sans 3" pitchFamily="34" charset="-122"/>
                <a:cs typeface="Source Sans 3" pitchFamily="34" charset="-120"/>
              </a:rPr>
              <a:t>* school-level site (runs its own current-students section below its faculty).  Page counts are descriptive — they show where content sits, not its quality. Source: full crawl, June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Current Students — End-to-End Experience (discussion)</dc:title>
  <dc:subject>PptxGenJS Presentation</dc:subject>
  <dc:creator>University of Melbourne</dc:creator>
  <cp:lastModifiedBy>University of Melbourne</cp:lastModifiedBy>
  <cp:revision>1</cp:revision>
  <dcterms:created xsi:type="dcterms:W3CDTF">2026-06-17T03:46:07Z</dcterms:created>
  <dcterms:modified xsi:type="dcterms:W3CDTF">2026-06-17T03:46:07Z</dcterms:modified>
</cp:coreProperties>
</file>