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is a discussion, not a decision meeting (~45 min). Frame: we're aligning on where the University's web experiences overlap across our sites, what's already underway, and what we might explore together. Make clear up front: no recommendations today — the data is a guide, the questions are the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Ground the room in the user's view (~4 min). The journey is illustrative — it shows the current-student view, but the same crossing-between-sites experience applies to anyone moving through University web content. Ask the opening question and capture early themes. We'll go deeper on specific areas shortly.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Scale-setting (~2 min), don't dwell. The point is breadth: 13 sites, 6 address patterns — and this is only the current-students slice. Reinforce the descriptive note — we're not grading anyone's site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overlap neutrally (~2 min): not inherently good or bad. Four circles because four parts of the estate share users and content — current students, faculty sites, further study (study.unimelb) and alumni. This is the lens for everything that follows — 'is the overlap intentional, and does it help or hinder the user?' Keep the room out of solution mode for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rows quickly (~5 min). Don't defend the marks — invite corrections and mark them live. 'Cross-linked?' means: do the central and faculty versions point to each other. Note the bottom two rows are indicative — full audit of study.unimelb and alumni coming. The goal is a shared picture before we open the discussion.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room (~15 min). Work through the areas on the right — use the list as a prompt, not a rigid sequence. For each: is there overlap? Is it helpful? Is someone already working on it? Capture themes on the next slide. Keep out of solution mode — we're mapping the territory, not resolving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'what's already underway in your area that touches these overlaps?' Pre-populate any known initiatives before the session. Goal: we don't want to invent solutions to problems someone else is already solving — connect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 capture mode. Fill the four columns from everything raised: overlaps people agreed on, work already in flight, things worth exploring, and a name against each. This is the artefact we take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 Land next steps as questions, not conclusions. Confirm who picks up what from the capture board, and how we'll stay aligned (e.g. a follow-up). Thank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Pull up the next slide only if the room wants faculty-level specifics.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only. Per-faculty page counts by topic, from the current-students crawl. Schools (*) run their own sites. Use to answer 'how much does faculty X have for topic Y?' Bigger numbers = more content there, not better or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only — broader view of the estate across all four circles from the overlap diagram. All page counts are from the June 2026 crawl. See analysis/cross-site-overlap.md for full breakdown and verdicts.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F46"/>
        </a:solidFill>
      </p:bgPr>
    </p:bg>
    <p:spTree>
      <p:nvGrpSpPr>
        <p:cNvPr id="1" name=""/>
        <p:cNvGrpSpPr/>
        <p:nvPr/>
      </p:nvGrpSpPr>
      <p:grpSpPr>
        <a:xfrm>
          <a:off x="0" y="0"/>
          <a:ext cx="0" cy="0"/>
          <a:chOff x="0" y="0"/>
          <a:chExt cx="0" cy="0"/>
        </a:xfrm>
      </p:grpSpPr>
      <p:pic>
        <p:nvPicPr>
          <p:cNvPr id="2" name="Image 0" descr="/Users/djmulholland/Documents/Claude/projects/unimelb-current-students-ia/discussion-deck/assets/logo-white.png">    </p:cNvPr>
          <p:cNvPicPr>
            <a:picLocks noChangeAspect="1"/>
          </p:cNvPicPr>
          <p:nvPr/>
        </p:nvPicPr>
        <p:blipFill>
          <a:blip r:embed="rId1"/>
          <a:stretch>
            <a:fillRect/>
          </a:stretch>
        </p:blipFill>
        <p:spPr>
          <a:xfrm>
            <a:off x="548640" y="502920"/>
            <a:ext cx="2011680" cy="632905"/>
          </a:xfrm>
          <a:prstGeom prst="rect">
            <a:avLst/>
          </a:prstGeom>
        </p:spPr>
      </p:pic>
      <p:sp>
        <p:nvSpPr>
          <p:cNvPr id="3" name="Shape 0"/>
          <p:cNvSpPr/>
          <p:nvPr/>
        </p:nvSpPr>
        <p:spPr>
          <a:xfrm>
            <a:off x="566928" y="2286000"/>
            <a:ext cx="292608" cy="292608"/>
          </a:xfrm>
          <a:prstGeom prst="rect">
            <a:avLst/>
          </a:prstGeom>
          <a:solidFill>
            <a:srgbClr val="46C8F0"/>
          </a:solidFill>
          <a:ln/>
        </p:spPr>
      </p:sp>
      <p:sp>
        <p:nvSpPr>
          <p:cNvPr id="4" name="Text 1"/>
          <p:cNvSpPr/>
          <p:nvPr/>
        </p:nvSpPr>
        <p:spPr>
          <a:xfrm>
            <a:off x="987552" y="2267712"/>
            <a:ext cx="9144000" cy="347472"/>
          </a:xfrm>
          <a:prstGeom prst="rect">
            <a:avLst/>
          </a:prstGeom>
          <a:noFill/>
          <a:ln/>
        </p:spPr>
        <p:txBody>
          <a:bodyPr wrap="square" lIns="0" tIns="0" rIns="0" bIns="0" rtlCol="0" anchor="ctr"/>
          <a:lstStyle/>
          <a:p>
            <a:pPr indent="0" marL="0">
              <a:buNone/>
            </a:pPr>
            <a:r>
              <a:rPr lang="en-US" sz="1200" b="1" spc="300" kern="0" dirty="0">
                <a:solidFill>
                  <a:srgbClr val="46C8F0"/>
                </a:solidFill>
                <a:latin typeface="Source Code Pro" pitchFamily="34" charset="0"/>
                <a:ea typeface="Source Code Pro" pitchFamily="34" charset="-122"/>
                <a:cs typeface="Source Code Pro" pitchFamily="34" charset="-120"/>
              </a:rPr>
              <a:t>DIGITAL EXPERIENCE · ALIGNMENT DISCUSSION</a:t>
            </a:r>
            <a:endParaRPr lang="en-US" sz="1200" dirty="0"/>
          </a:p>
        </p:txBody>
      </p:sp>
      <p:sp>
        <p:nvSpPr>
          <p:cNvPr id="5" name="Text 2"/>
          <p:cNvSpPr/>
          <p:nvPr/>
        </p:nvSpPr>
        <p:spPr>
          <a:xfrm>
            <a:off x="548640" y="2743200"/>
            <a:ext cx="10972800" cy="1097280"/>
          </a:xfrm>
          <a:prstGeom prst="rect">
            <a:avLst/>
          </a:prstGeom>
          <a:noFill/>
          <a:ln/>
        </p:spPr>
        <p:txBody>
          <a:bodyPr wrap="square" lIns="0" tIns="0" rIns="0" bIns="0" rtlCol="0" anchor="ctr"/>
          <a:lstStyle/>
          <a:p>
            <a:pPr indent="0" marL="0">
              <a:buNone/>
            </a:pPr>
            <a:r>
              <a:rPr lang="en-US" sz="4400" b="1" dirty="0">
                <a:solidFill>
                  <a:srgbClr val="FFFFFF"/>
                </a:solidFill>
                <a:latin typeface="Fraunces" pitchFamily="34" charset="0"/>
                <a:ea typeface="Fraunces" pitchFamily="34" charset="-122"/>
                <a:cs typeface="Fraunces" pitchFamily="34" charset="-120"/>
              </a:rPr>
              <a:t>The end-to-end student experience</a:t>
            </a:r>
            <a:endParaRPr lang="en-US" sz="4400" dirty="0"/>
          </a:p>
        </p:txBody>
      </p:sp>
      <p:sp>
        <p:nvSpPr>
          <p:cNvPr id="6" name="Text 3"/>
          <p:cNvSpPr/>
          <p:nvPr/>
        </p:nvSpPr>
        <p:spPr>
          <a:xfrm>
            <a:off x="576072" y="3977640"/>
            <a:ext cx="9692640" cy="640080"/>
          </a:xfrm>
          <a:prstGeom prst="rect">
            <a:avLst/>
          </a:prstGeom>
          <a:noFill/>
          <a:ln/>
        </p:spPr>
        <p:txBody>
          <a:bodyPr wrap="square" lIns="0" tIns="0" rIns="0" bIns="0" rtlCol="0" anchor="ctr"/>
          <a:lstStyle/>
          <a:p>
            <a:pPr indent="0" marL="0">
              <a:buNone/>
            </a:pPr>
            <a:r>
              <a:rPr lang="en-US" sz="1800" dirty="0">
                <a:solidFill>
                  <a:srgbClr val="C9CDE6"/>
                </a:solidFill>
                <a:latin typeface="Source Sans 3" pitchFamily="34" charset="0"/>
                <a:ea typeface="Source Sans 3" pitchFamily="34" charset="-122"/>
                <a:cs typeface="Source Sans 3" pitchFamily="34" charset="-120"/>
              </a:rPr>
              <a:t>An alignment conversation about overlaps across the University's web estate</a:t>
            </a:r>
            <a:endParaRPr lang="en-US" sz="1800" dirty="0"/>
          </a:p>
        </p:txBody>
      </p:sp>
      <p:sp>
        <p:nvSpPr>
          <p:cNvPr id="7" name="Text 4"/>
          <p:cNvSpPr/>
          <p:nvPr/>
        </p:nvSpPr>
        <p:spPr>
          <a:xfrm>
            <a:off x="576072" y="4663440"/>
            <a:ext cx="7315200" cy="365760"/>
          </a:xfrm>
          <a:prstGeom prst="rect">
            <a:avLst/>
          </a:prstGeom>
          <a:noFill/>
          <a:ln/>
        </p:spPr>
        <p:txBody>
          <a:bodyPr wrap="square" lIns="0" tIns="0" rIns="0" bIns="0" rtlCol="0" anchor="ctr"/>
          <a:lstStyle/>
          <a:p>
            <a:pPr indent="0" marL="0">
              <a:buNone/>
            </a:pPr>
            <a:r>
              <a:rPr lang="en-US" sz="1200" dirty="0">
                <a:solidFill>
                  <a:srgbClr val="AAB0D4"/>
                </a:solidFill>
                <a:latin typeface="Source Code Pro" pitchFamily="34" charset="0"/>
                <a:ea typeface="Source Code Pro" pitchFamily="34" charset="-122"/>
                <a:cs typeface="Source Code Pro" pitchFamily="34" charset="-120"/>
              </a:rPr>
              <a:t>For discussion · June 2026</a:t>
            </a:r>
            <a:endParaRPr lang="en-US" sz="1200" dirty="0"/>
          </a:p>
        </p:txBody>
      </p:sp>
      <p:sp>
        <p:nvSpPr>
          <p:cNvPr id="8" name="Text 5"/>
          <p:cNvSpPr/>
          <p:nvPr/>
        </p:nvSpPr>
        <p:spPr>
          <a:xfrm>
            <a:off x="576072" y="6126480"/>
            <a:ext cx="10607040" cy="548640"/>
          </a:xfrm>
          <a:prstGeom prst="rect">
            <a:avLst/>
          </a:prstGeom>
          <a:noFill/>
          <a:ln/>
        </p:spPr>
        <p:txBody>
          <a:bodyPr wrap="square" lIns="0" tIns="0" rIns="0" bIns="0" rtlCol="0" anchor="ctr"/>
          <a:lstStyle/>
          <a:p>
            <a:pPr indent="0" marL="0">
              <a:buNone/>
            </a:pPr>
            <a:r>
              <a:rPr lang="en-US" sz="950" i="1" dirty="0">
                <a:solidFill>
                  <a:srgbClr val="C9CDE6"/>
                </a:solidFill>
                <a:latin typeface="Source Sans 3" pitchFamily="34" charset="0"/>
                <a:ea typeface="Source Sans 3" pitchFamily="34" charset="-122"/>
                <a:cs typeface="Source Sans 3" pitchFamily="34" charset="-120"/>
              </a:rPr>
              <a:t>The University of Melbourne acknowledges the Traditional Owners of the unceded land on which we work, learn and live, and pays respect to their Elders, past and present, and to Indigenous Australians today.</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256032" cy="256032"/>
          </a:xfrm>
          <a:prstGeom prst="rect">
            <a:avLst/>
          </a:prstGeom>
          <a:solidFill>
            <a:srgbClr val="46C8F0"/>
          </a:solidFill>
          <a:ln/>
        </p:spPr>
      </p:sp>
      <p:sp>
        <p:nvSpPr>
          <p:cNvPr id="3" name="Text 1"/>
          <p:cNvSpPr/>
          <p:nvPr/>
        </p:nvSpPr>
        <p:spPr>
          <a:xfrm>
            <a:off x="914400" y="457200"/>
            <a:ext cx="10698480" cy="502920"/>
          </a:xfrm>
          <a:prstGeom prst="rect">
            <a:avLst/>
          </a:prstGeom>
          <a:noFill/>
          <a:ln/>
        </p:spPr>
        <p:txBody>
          <a:bodyPr wrap="square" lIns="0" tIns="0" rIns="0" bIns="0" rtlCol="0" anchor="ctr"/>
          <a:lstStyle/>
          <a:p>
            <a:pPr indent="0" marL="0">
              <a:buNone/>
            </a:pPr>
            <a:r>
              <a:rPr lang="en-US" sz="2900" b="1" dirty="0">
                <a:solidFill>
                  <a:srgbClr val="000F46"/>
                </a:solidFill>
                <a:latin typeface="Fraunces" pitchFamily="34" charset="0"/>
                <a:ea typeface="Fraunces" pitchFamily="34" charset="-122"/>
                <a:cs typeface="Fraunces" pitchFamily="34" charset="-120"/>
              </a:rPr>
              <a:t>How users move across our websites</a:t>
            </a:r>
            <a:endParaRPr lang="en-US" sz="2900" dirty="0"/>
          </a:p>
        </p:txBody>
      </p:sp>
      <p:sp>
        <p:nvSpPr>
          <p:cNvPr id="4" name="Text 2"/>
          <p:cNvSpPr/>
          <p:nvPr/>
        </p:nvSpPr>
        <p:spPr>
          <a:xfrm>
            <a:off x="548640" y="6437376"/>
            <a:ext cx="9601200" cy="274320"/>
          </a:xfrm>
          <a:prstGeom prst="rect">
            <a:avLst/>
          </a:prstGeom>
          <a:noFill/>
          <a:ln/>
        </p:spPr>
        <p:txBody>
          <a:bodyPr wrap="square" lIns="0" tIns="0" rIns="0" bIns="0" rtlCol="0" anchor="ctr"/>
          <a:lstStyle/>
          <a:p>
            <a:pPr indent="0" marL="0">
              <a:buNone/>
            </a:pPr>
            <a:r>
              <a:rPr lang="en-US" sz="900" dirty="0">
                <a:solidFill>
                  <a:srgbClr val="5B5B6B"/>
                </a:solidFill>
                <a:latin typeface="Source Sans 3" pitchFamily="34" charset="0"/>
                <a:ea typeface="Source Sans 3" pitchFamily="34" charset="-122"/>
                <a:cs typeface="Source Sans 3" pitchFamily="34" charset="-120"/>
              </a:rPr>
              <a:t>University of Melbourne — web estate alignment discussion · for discussion</a:t>
            </a:r>
            <a:endParaRPr lang="en-US" sz="900" dirty="0"/>
          </a:p>
        </p:txBody>
      </p:sp>
      <p:sp>
        <p:nvSpPr>
          <p:cNvPr id="5" name="Text 3"/>
          <p:cNvSpPr/>
          <p:nvPr/>
        </p:nvSpPr>
        <p:spPr>
          <a:xfrm>
            <a:off x="11247120" y="6437376"/>
            <a:ext cx="411480" cy="274320"/>
          </a:xfrm>
          <a:prstGeom prst="rect">
            <a:avLst/>
          </a:prstGeom>
          <a:noFill/>
          <a:ln/>
        </p:spPr>
        <p:txBody>
          <a:bodyPr wrap="square" lIns="0" tIns="0" rIns="0" bIns="0" rtlCol="0" anchor="ctr"/>
          <a:lstStyle/>
          <a:p>
            <a:pPr algn="r" indent="0" marL="0">
              <a:buNone/>
            </a:pPr>
            <a:r>
              <a:rPr lang="en-US" sz="900" dirty="0">
                <a:solidFill>
                  <a:srgbClr val="5B5B6B"/>
                </a:solidFill>
                <a:latin typeface="Source Sans 3" pitchFamily="34" charset="0"/>
                <a:ea typeface="Source Sans 3" pitchFamily="34" charset="-122"/>
                <a:cs typeface="Source Sans 3" pitchFamily="34" charset="-120"/>
              </a:rPr>
              <a:t>2</a:t>
            </a:r>
            <a:endParaRPr lang="en-US" sz="900" dirty="0"/>
          </a:p>
        </p:txBody>
      </p:sp>
      <p:sp>
        <p:nvSpPr>
          <p:cNvPr id="6" name="Text 4"/>
          <p:cNvSpPr/>
          <p:nvPr/>
        </p:nvSpPr>
        <p:spPr>
          <a:xfrm>
            <a:off x="566928" y="1325880"/>
            <a:ext cx="10881360" cy="731520"/>
          </a:xfrm>
          <a:prstGeom prst="rect">
            <a:avLst/>
          </a:prstGeom>
          <a:noFill/>
          <a:ln/>
        </p:spPr>
        <p:txBody>
          <a:bodyPr wrap="square" lIns="0" tIns="0" rIns="0" bIns="0" rtlCol="0" anchor="ctr"/>
          <a:lstStyle/>
          <a:p>
            <a:pPr indent="0" marL="0">
              <a:lnSpc>
                <a:spcPct val="112000"/>
              </a:lnSpc>
              <a:buNone/>
            </a:pPr>
            <a:r>
              <a:rPr lang="en-US" sz="1600" dirty="0">
                <a:solidFill>
                  <a:srgbClr val="1C1C28"/>
                </a:solidFill>
                <a:latin typeface="Source Sans 3" pitchFamily="34" charset="0"/>
                <a:ea typeface="Source Sans 3" pitchFamily="34" charset="-122"/>
                <a:cs typeface="Source Sans 3" pitchFamily="34" charset="-120"/>
              </a:rPr>
              <a:t>Our websites are experienced as one University — not as separate sites. Users cross between them as they try to do things, and the seams show.</a:t>
            </a:r>
            <a:endParaRPr lang="en-US" sz="1600" dirty="0"/>
          </a:p>
        </p:txBody>
      </p:sp>
      <p:sp>
        <p:nvSpPr>
          <p:cNvPr id="7" name="Shape 5"/>
          <p:cNvSpPr/>
          <p:nvPr/>
        </p:nvSpPr>
        <p:spPr>
          <a:xfrm>
            <a:off x="960120" y="3063240"/>
            <a:ext cx="10012680" cy="0"/>
          </a:xfrm>
          <a:prstGeom prst="line">
            <a:avLst/>
          </a:prstGeom>
          <a:noFill/>
          <a:ln w="25400">
            <a:solidFill>
              <a:srgbClr val="46C8F0"/>
            </a:solidFill>
            <a:prstDash val="solid"/>
          </a:ln>
        </p:spPr>
      </p:sp>
      <p:sp>
        <p:nvSpPr>
          <p:cNvPr id="8" name="Shape 6"/>
          <p:cNvSpPr/>
          <p:nvPr/>
        </p:nvSpPr>
        <p:spPr>
          <a:xfrm>
            <a:off x="786384" y="2889504"/>
            <a:ext cx="347472" cy="347472"/>
          </a:xfrm>
          <a:prstGeom prst="ellipse">
            <a:avLst/>
          </a:prstGeom>
          <a:solidFill>
            <a:srgbClr val="000F46"/>
          </a:solidFill>
          <a:ln w="19050">
            <a:solidFill>
              <a:srgbClr val="FFFFFF"/>
            </a:solidFill>
            <a:prstDash val="solid"/>
          </a:ln>
        </p:spPr>
      </p:sp>
      <p:sp>
        <p:nvSpPr>
          <p:cNvPr id="9" name="Text 7"/>
          <p:cNvSpPr/>
          <p:nvPr/>
        </p:nvSpPr>
        <p:spPr>
          <a:xfrm>
            <a:off x="786384" y="288950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1</a:t>
            </a:r>
            <a:endParaRPr lang="en-US" sz="1100" dirty="0"/>
          </a:p>
        </p:txBody>
      </p:sp>
      <p:sp>
        <p:nvSpPr>
          <p:cNvPr id="10" name="Text 8"/>
          <p:cNvSpPr/>
          <p:nvPr/>
        </p:nvSpPr>
        <p:spPr>
          <a:xfrm>
            <a:off x="91440" y="3319272"/>
            <a:ext cx="1737360" cy="640080"/>
          </a:xfrm>
          <a:prstGeom prst="rect">
            <a:avLst/>
          </a:prstGeom>
          <a:noFill/>
          <a:ln/>
        </p:spPr>
        <p:txBody>
          <a:bodyPr wrap="square" lIns="0" tIns="0" rIns="0" bIns="0" rtlCol="0" anchor="t"/>
          <a:lstStyle/>
          <a:p>
            <a:pPr algn="ctr" indent="0" marL="0">
              <a:buNone/>
            </a:pPr>
            <a:r>
              <a:rPr lang="en-US" sz="1100" b="1" dirty="0">
                <a:solidFill>
                  <a:srgbClr val="000B34"/>
                </a:solidFill>
                <a:latin typeface="Source Sans 3" pitchFamily="34" charset="0"/>
                <a:ea typeface="Source Sans 3" pitchFamily="34" charset="-122"/>
                <a:cs typeface="Source Sans 3" pitchFamily="34" charset="-120"/>
              </a:rPr>
              <a:t>Orientate</a:t>
            </a:r>
            <a:endParaRPr lang="en-US" sz="1100" dirty="0"/>
          </a:p>
        </p:txBody>
      </p:sp>
      <p:sp>
        <p:nvSpPr>
          <p:cNvPr id="11" name="Shape 9"/>
          <p:cNvSpPr/>
          <p:nvPr/>
        </p:nvSpPr>
        <p:spPr>
          <a:xfrm>
            <a:off x="2455164" y="2889504"/>
            <a:ext cx="347472" cy="347472"/>
          </a:xfrm>
          <a:prstGeom prst="ellipse">
            <a:avLst/>
          </a:prstGeom>
          <a:solidFill>
            <a:srgbClr val="000F46"/>
          </a:solidFill>
          <a:ln w="19050">
            <a:solidFill>
              <a:srgbClr val="FFFFFF"/>
            </a:solidFill>
            <a:prstDash val="solid"/>
          </a:ln>
        </p:spPr>
      </p:sp>
      <p:sp>
        <p:nvSpPr>
          <p:cNvPr id="12" name="Text 10"/>
          <p:cNvSpPr/>
          <p:nvPr/>
        </p:nvSpPr>
        <p:spPr>
          <a:xfrm>
            <a:off x="2455164" y="288950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2</a:t>
            </a:r>
            <a:endParaRPr lang="en-US" sz="1100" dirty="0"/>
          </a:p>
        </p:txBody>
      </p:sp>
      <p:sp>
        <p:nvSpPr>
          <p:cNvPr id="13" name="Text 11"/>
          <p:cNvSpPr/>
          <p:nvPr/>
        </p:nvSpPr>
        <p:spPr>
          <a:xfrm>
            <a:off x="1760220" y="3319272"/>
            <a:ext cx="1737360" cy="640080"/>
          </a:xfrm>
          <a:prstGeom prst="rect">
            <a:avLst/>
          </a:prstGeom>
          <a:noFill/>
          <a:ln/>
        </p:spPr>
        <p:txBody>
          <a:bodyPr wrap="square" lIns="0" tIns="0" rIns="0" bIns="0" rtlCol="0" anchor="t"/>
          <a:lstStyle/>
          <a:p>
            <a:pPr algn="ctr" indent="0" marL="0">
              <a:buNone/>
            </a:pPr>
            <a:r>
              <a:rPr lang="en-US" sz="1100" b="1" dirty="0">
                <a:solidFill>
                  <a:srgbClr val="000B34"/>
                </a:solidFill>
                <a:latin typeface="Source Sans 3" pitchFamily="34" charset="0"/>
                <a:ea typeface="Source Sans 3" pitchFamily="34" charset="-122"/>
                <a:cs typeface="Source Sans 3" pitchFamily="34" charset="-120"/>
              </a:rPr>
              <a:t>Plan my course</a:t>
            </a:r>
            <a:endParaRPr lang="en-US" sz="1100" dirty="0"/>
          </a:p>
        </p:txBody>
      </p:sp>
      <p:sp>
        <p:nvSpPr>
          <p:cNvPr id="14" name="Shape 12"/>
          <p:cNvSpPr/>
          <p:nvPr/>
        </p:nvSpPr>
        <p:spPr>
          <a:xfrm>
            <a:off x="4123944" y="2889504"/>
            <a:ext cx="347472" cy="347472"/>
          </a:xfrm>
          <a:prstGeom prst="ellipse">
            <a:avLst/>
          </a:prstGeom>
          <a:solidFill>
            <a:srgbClr val="000F46"/>
          </a:solidFill>
          <a:ln w="19050">
            <a:solidFill>
              <a:srgbClr val="FFFFFF"/>
            </a:solidFill>
            <a:prstDash val="solid"/>
          </a:ln>
        </p:spPr>
      </p:sp>
      <p:sp>
        <p:nvSpPr>
          <p:cNvPr id="15" name="Text 13"/>
          <p:cNvSpPr/>
          <p:nvPr/>
        </p:nvSpPr>
        <p:spPr>
          <a:xfrm>
            <a:off x="4123944" y="288950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3</a:t>
            </a:r>
            <a:endParaRPr lang="en-US" sz="1100" dirty="0"/>
          </a:p>
        </p:txBody>
      </p:sp>
      <p:sp>
        <p:nvSpPr>
          <p:cNvPr id="16" name="Text 14"/>
          <p:cNvSpPr/>
          <p:nvPr/>
        </p:nvSpPr>
        <p:spPr>
          <a:xfrm>
            <a:off x="3429000" y="3319272"/>
            <a:ext cx="1737360" cy="640080"/>
          </a:xfrm>
          <a:prstGeom prst="rect">
            <a:avLst/>
          </a:prstGeom>
          <a:noFill/>
          <a:ln/>
        </p:spPr>
        <p:txBody>
          <a:bodyPr wrap="square" lIns="0" tIns="0" rIns="0" bIns="0" rtlCol="0" anchor="t"/>
          <a:lstStyle/>
          <a:p>
            <a:pPr algn="ctr" indent="0" marL="0">
              <a:buNone/>
            </a:pPr>
            <a:r>
              <a:rPr lang="en-US" sz="1100" b="1" dirty="0">
                <a:solidFill>
                  <a:srgbClr val="000B34"/>
                </a:solidFill>
                <a:latin typeface="Source Sans 3" pitchFamily="34" charset="0"/>
                <a:ea typeface="Source Sans 3" pitchFamily="34" charset="-122"/>
                <a:cs typeface="Source Sans 3" pitchFamily="34" charset="-120"/>
              </a:rPr>
              <a:t>Manage study</a:t>
            </a:r>
            <a:endParaRPr lang="en-US" sz="1100" dirty="0"/>
          </a:p>
        </p:txBody>
      </p:sp>
      <p:sp>
        <p:nvSpPr>
          <p:cNvPr id="17" name="Shape 15"/>
          <p:cNvSpPr/>
          <p:nvPr/>
        </p:nvSpPr>
        <p:spPr>
          <a:xfrm>
            <a:off x="5792724" y="2889504"/>
            <a:ext cx="347472" cy="347472"/>
          </a:xfrm>
          <a:prstGeom prst="ellipse">
            <a:avLst/>
          </a:prstGeom>
          <a:solidFill>
            <a:srgbClr val="000F46"/>
          </a:solidFill>
          <a:ln w="19050">
            <a:solidFill>
              <a:srgbClr val="FFFFFF"/>
            </a:solidFill>
            <a:prstDash val="solid"/>
          </a:ln>
        </p:spPr>
      </p:sp>
      <p:sp>
        <p:nvSpPr>
          <p:cNvPr id="18" name="Text 16"/>
          <p:cNvSpPr/>
          <p:nvPr/>
        </p:nvSpPr>
        <p:spPr>
          <a:xfrm>
            <a:off x="5792724" y="288950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4</a:t>
            </a:r>
            <a:endParaRPr lang="en-US" sz="1100" dirty="0"/>
          </a:p>
        </p:txBody>
      </p:sp>
      <p:sp>
        <p:nvSpPr>
          <p:cNvPr id="19" name="Text 17"/>
          <p:cNvSpPr/>
          <p:nvPr/>
        </p:nvSpPr>
        <p:spPr>
          <a:xfrm>
            <a:off x="5097780" y="3319272"/>
            <a:ext cx="1737360" cy="640080"/>
          </a:xfrm>
          <a:prstGeom prst="rect">
            <a:avLst/>
          </a:prstGeom>
          <a:noFill/>
          <a:ln/>
        </p:spPr>
        <p:txBody>
          <a:bodyPr wrap="square" lIns="0" tIns="0" rIns="0" bIns="0" rtlCol="0" anchor="t"/>
          <a:lstStyle/>
          <a:p>
            <a:pPr algn="ctr" indent="0" marL="0">
              <a:buNone/>
            </a:pPr>
            <a:r>
              <a:rPr lang="en-US" sz="1100" b="1" dirty="0">
                <a:solidFill>
                  <a:srgbClr val="000B34"/>
                </a:solidFill>
                <a:latin typeface="Source Sans 3" pitchFamily="34" charset="0"/>
                <a:ea typeface="Source Sans 3" pitchFamily="34" charset="-122"/>
                <a:cs typeface="Source Sans 3" pitchFamily="34" charset="-120"/>
              </a:rPr>
              <a:t>Get experience</a:t>
            </a:r>
            <a:endParaRPr lang="en-US" sz="1100" dirty="0"/>
          </a:p>
        </p:txBody>
      </p:sp>
      <p:sp>
        <p:nvSpPr>
          <p:cNvPr id="20" name="Shape 18"/>
          <p:cNvSpPr/>
          <p:nvPr/>
        </p:nvSpPr>
        <p:spPr>
          <a:xfrm>
            <a:off x="7461504" y="2889504"/>
            <a:ext cx="347472" cy="347472"/>
          </a:xfrm>
          <a:prstGeom prst="ellipse">
            <a:avLst/>
          </a:prstGeom>
          <a:solidFill>
            <a:srgbClr val="000F46"/>
          </a:solidFill>
          <a:ln w="19050">
            <a:solidFill>
              <a:srgbClr val="FFFFFF"/>
            </a:solidFill>
            <a:prstDash val="solid"/>
          </a:ln>
        </p:spPr>
      </p:sp>
      <p:sp>
        <p:nvSpPr>
          <p:cNvPr id="21" name="Text 19"/>
          <p:cNvSpPr/>
          <p:nvPr/>
        </p:nvSpPr>
        <p:spPr>
          <a:xfrm>
            <a:off x="7461504" y="288950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5</a:t>
            </a:r>
            <a:endParaRPr lang="en-US" sz="1100" dirty="0"/>
          </a:p>
        </p:txBody>
      </p:sp>
      <p:sp>
        <p:nvSpPr>
          <p:cNvPr id="22" name="Text 20"/>
          <p:cNvSpPr/>
          <p:nvPr/>
        </p:nvSpPr>
        <p:spPr>
          <a:xfrm>
            <a:off x="6766560" y="3319272"/>
            <a:ext cx="1737360" cy="640080"/>
          </a:xfrm>
          <a:prstGeom prst="rect">
            <a:avLst/>
          </a:prstGeom>
          <a:noFill/>
          <a:ln/>
        </p:spPr>
        <p:txBody>
          <a:bodyPr wrap="square" lIns="0" tIns="0" rIns="0" bIns="0" rtlCol="0" anchor="t"/>
          <a:lstStyle/>
          <a:p>
            <a:pPr algn="ctr" indent="0" marL="0">
              <a:buNone/>
            </a:pPr>
            <a:r>
              <a:rPr lang="en-US" sz="1100" b="1" dirty="0">
                <a:solidFill>
                  <a:srgbClr val="000B34"/>
                </a:solidFill>
                <a:latin typeface="Source Sans 3" pitchFamily="34" charset="0"/>
                <a:ea typeface="Source Sans 3" pitchFamily="34" charset="-122"/>
                <a:cs typeface="Source Sans 3" pitchFamily="34" charset="-120"/>
              </a:rPr>
              <a:t>Build my career</a:t>
            </a:r>
            <a:endParaRPr lang="en-US" sz="1100" dirty="0"/>
          </a:p>
        </p:txBody>
      </p:sp>
      <p:sp>
        <p:nvSpPr>
          <p:cNvPr id="23" name="Shape 21"/>
          <p:cNvSpPr/>
          <p:nvPr/>
        </p:nvSpPr>
        <p:spPr>
          <a:xfrm>
            <a:off x="9130284" y="2889504"/>
            <a:ext cx="347472" cy="347472"/>
          </a:xfrm>
          <a:prstGeom prst="ellipse">
            <a:avLst/>
          </a:prstGeom>
          <a:solidFill>
            <a:srgbClr val="000F46"/>
          </a:solidFill>
          <a:ln w="19050">
            <a:solidFill>
              <a:srgbClr val="FFFFFF"/>
            </a:solidFill>
            <a:prstDash val="solid"/>
          </a:ln>
        </p:spPr>
      </p:sp>
      <p:sp>
        <p:nvSpPr>
          <p:cNvPr id="24" name="Text 22"/>
          <p:cNvSpPr/>
          <p:nvPr/>
        </p:nvSpPr>
        <p:spPr>
          <a:xfrm>
            <a:off x="9130284" y="288950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6</a:t>
            </a:r>
            <a:endParaRPr lang="en-US" sz="1100" dirty="0"/>
          </a:p>
        </p:txBody>
      </p:sp>
      <p:sp>
        <p:nvSpPr>
          <p:cNvPr id="25" name="Text 23"/>
          <p:cNvSpPr/>
          <p:nvPr/>
        </p:nvSpPr>
        <p:spPr>
          <a:xfrm>
            <a:off x="8435340" y="3319272"/>
            <a:ext cx="1737360" cy="640080"/>
          </a:xfrm>
          <a:prstGeom prst="rect">
            <a:avLst/>
          </a:prstGeom>
          <a:noFill/>
          <a:ln/>
        </p:spPr>
        <p:txBody>
          <a:bodyPr wrap="square" lIns="0" tIns="0" rIns="0" bIns="0" rtlCol="0" anchor="t"/>
          <a:lstStyle/>
          <a:p>
            <a:pPr algn="ctr" indent="0" marL="0">
              <a:buNone/>
            </a:pPr>
            <a:r>
              <a:rPr lang="en-US" sz="1100" b="1" dirty="0">
                <a:solidFill>
                  <a:srgbClr val="000B34"/>
                </a:solidFill>
                <a:latin typeface="Source Sans 3" pitchFamily="34" charset="0"/>
                <a:ea typeface="Source Sans 3" pitchFamily="34" charset="-122"/>
                <a:cs typeface="Source Sans 3" pitchFamily="34" charset="-120"/>
              </a:rPr>
              <a:t>Get support</a:t>
            </a:r>
            <a:endParaRPr lang="en-US" sz="1100" dirty="0"/>
          </a:p>
        </p:txBody>
      </p:sp>
      <p:sp>
        <p:nvSpPr>
          <p:cNvPr id="26" name="Shape 24"/>
          <p:cNvSpPr/>
          <p:nvPr/>
        </p:nvSpPr>
        <p:spPr>
          <a:xfrm>
            <a:off x="10799064" y="2889504"/>
            <a:ext cx="347472" cy="347472"/>
          </a:xfrm>
          <a:prstGeom prst="ellipse">
            <a:avLst/>
          </a:prstGeom>
          <a:solidFill>
            <a:srgbClr val="000F46"/>
          </a:solidFill>
          <a:ln w="19050">
            <a:solidFill>
              <a:srgbClr val="FFFFFF"/>
            </a:solidFill>
            <a:prstDash val="solid"/>
          </a:ln>
        </p:spPr>
      </p:sp>
      <p:sp>
        <p:nvSpPr>
          <p:cNvPr id="27" name="Text 25"/>
          <p:cNvSpPr/>
          <p:nvPr/>
        </p:nvSpPr>
        <p:spPr>
          <a:xfrm>
            <a:off x="10799064" y="288950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7</a:t>
            </a:r>
            <a:endParaRPr lang="en-US" sz="1100" dirty="0"/>
          </a:p>
        </p:txBody>
      </p:sp>
      <p:sp>
        <p:nvSpPr>
          <p:cNvPr id="28" name="Text 26"/>
          <p:cNvSpPr/>
          <p:nvPr/>
        </p:nvSpPr>
        <p:spPr>
          <a:xfrm>
            <a:off x="10104120" y="3319272"/>
            <a:ext cx="1737360" cy="640080"/>
          </a:xfrm>
          <a:prstGeom prst="rect">
            <a:avLst/>
          </a:prstGeom>
          <a:noFill/>
          <a:ln/>
        </p:spPr>
        <p:txBody>
          <a:bodyPr wrap="square" lIns="0" tIns="0" rIns="0" bIns="0" rtlCol="0" anchor="t"/>
          <a:lstStyle/>
          <a:p>
            <a:pPr algn="ctr" indent="0" marL="0">
              <a:buNone/>
            </a:pPr>
            <a:r>
              <a:rPr lang="en-US" sz="1100" b="1" dirty="0">
                <a:solidFill>
                  <a:srgbClr val="000B34"/>
                </a:solidFill>
                <a:latin typeface="Source Sans 3" pitchFamily="34" charset="0"/>
                <a:ea typeface="Source Sans 3" pitchFamily="34" charset="-122"/>
                <a:cs typeface="Source Sans 3" pitchFamily="34" charset="-120"/>
              </a:rPr>
              <a:t>Finish &amp; graduate</a:t>
            </a:r>
            <a:endParaRPr lang="en-US" sz="1100" dirty="0"/>
          </a:p>
        </p:txBody>
      </p:sp>
      <p:sp>
        <p:nvSpPr>
          <p:cNvPr id="29" name="Text 27"/>
          <p:cNvSpPr/>
          <p:nvPr/>
        </p:nvSpPr>
        <p:spPr>
          <a:xfrm>
            <a:off x="566928" y="4096512"/>
            <a:ext cx="10881360" cy="384048"/>
          </a:xfrm>
          <a:prstGeom prst="rect">
            <a:avLst/>
          </a:prstGeom>
          <a:noFill/>
          <a:ln/>
        </p:spPr>
        <p:txBody>
          <a:bodyPr wrap="square" lIns="0" tIns="0" rIns="0" bIns="0" rtlCol="0" anchor="ctr"/>
          <a:lstStyle/>
          <a:p>
            <a:pPr algn="ctr" indent="0" marL="0">
              <a:buNone/>
            </a:pPr>
            <a:r>
              <a:rPr lang="en-US" sz="1000" i="1" dirty="0">
                <a:solidFill>
                  <a:srgbClr val="5B5B6B"/>
                </a:solidFill>
                <a:latin typeface="Source Code Pro" pitchFamily="34" charset="0"/>
                <a:ea typeface="Source Code Pro" pitchFamily="34" charset="-122"/>
                <a:cs typeface="Source Code Pro" pitchFamily="34" charset="-120"/>
              </a:rPr>
              <a:t>Shown for a current student — the same pattern of crossing between sites applies across further study, alumni and faculty experiences.</a:t>
            </a:r>
            <a:endParaRPr lang="en-US" sz="1000" dirty="0"/>
          </a:p>
        </p:txBody>
      </p:sp>
      <p:sp>
        <p:nvSpPr>
          <p:cNvPr id="30" name="Shape 28"/>
          <p:cNvSpPr/>
          <p:nvPr/>
        </p:nvSpPr>
        <p:spPr>
          <a:xfrm>
            <a:off x="566928" y="4617720"/>
            <a:ext cx="10881360" cy="960120"/>
          </a:xfrm>
          <a:prstGeom prst="rect">
            <a:avLst/>
          </a:prstGeom>
          <a:solidFill>
            <a:srgbClr val="EAF6FB"/>
          </a:solidFill>
          <a:ln/>
        </p:spPr>
      </p:sp>
      <p:sp>
        <p:nvSpPr>
          <p:cNvPr id="31" name="Shape 29"/>
          <p:cNvSpPr/>
          <p:nvPr/>
        </p:nvSpPr>
        <p:spPr>
          <a:xfrm>
            <a:off x="566928" y="4617720"/>
            <a:ext cx="91440" cy="960120"/>
          </a:xfrm>
          <a:prstGeom prst="rect">
            <a:avLst/>
          </a:prstGeom>
          <a:solidFill>
            <a:srgbClr val="46C8F0"/>
          </a:solidFill>
          <a:ln/>
        </p:spPr>
      </p:sp>
      <p:sp>
        <p:nvSpPr>
          <p:cNvPr id="32" name="Text 30"/>
          <p:cNvSpPr/>
          <p:nvPr/>
        </p:nvSpPr>
        <p:spPr>
          <a:xfrm>
            <a:off x="868680" y="4617720"/>
            <a:ext cx="10332720" cy="960120"/>
          </a:xfrm>
          <a:prstGeom prst="rect">
            <a:avLst/>
          </a:prstGeom>
          <a:noFill/>
          <a:ln/>
        </p:spPr>
        <p:txBody>
          <a:bodyPr wrap="square" lIns="0" tIns="0" rIns="0" bIns="0" rtlCol="0" anchor="ctr"/>
          <a:lstStyle/>
          <a:p>
            <a:pPr indent="0" marL="0">
              <a:buNone/>
            </a:pPr>
            <a:r>
              <a:rPr lang="en-US" sz="1500" b="1" dirty="0">
                <a:solidFill>
                  <a:srgbClr val="000F46"/>
                </a:solidFill>
                <a:latin typeface="Source Sans 3" pitchFamily="34" charset="0"/>
                <a:ea typeface="Source Sans 3" pitchFamily="34" charset="-122"/>
                <a:cs typeface="Source Sans 3" pitchFamily="34" charset="-120"/>
              </a:rPr>
              <a:t>To discuss:  </a:t>
            </a:r>
            <a:pPr indent="0" marL="0">
              <a:buNone/>
            </a:pPr>
            <a:r>
              <a:rPr lang="en-US" sz="1500" dirty="0">
                <a:solidFill>
                  <a:srgbClr val="000B34"/>
                </a:solidFill>
                <a:latin typeface="Source Sans 3" pitchFamily="34" charset="0"/>
                <a:ea typeface="Source Sans 3" pitchFamily="34" charset="-122"/>
                <a:cs typeface="Source Sans 3" pitchFamily="34" charset="-120"/>
              </a:rPr>
              <a:t>Where do users cross between websites most — and where does that crossing help or hinder them?</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256032" cy="256032"/>
          </a:xfrm>
          <a:prstGeom prst="rect">
            <a:avLst/>
          </a:prstGeom>
          <a:solidFill>
            <a:srgbClr val="46C8F0"/>
          </a:solidFill>
          <a:ln/>
        </p:spPr>
      </p:sp>
      <p:sp>
        <p:nvSpPr>
          <p:cNvPr id="3" name="Text 1"/>
          <p:cNvSpPr/>
          <p:nvPr/>
        </p:nvSpPr>
        <p:spPr>
          <a:xfrm>
            <a:off x="914400" y="457200"/>
            <a:ext cx="10698480" cy="502920"/>
          </a:xfrm>
          <a:prstGeom prst="rect">
            <a:avLst/>
          </a:prstGeom>
          <a:noFill/>
          <a:ln/>
        </p:spPr>
        <p:txBody>
          <a:bodyPr wrap="square" lIns="0" tIns="0" rIns="0" bIns="0" rtlCol="0" anchor="ctr"/>
          <a:lstStyle/>
          <a:p>
            <a:pPr indent="0" marL="0">
              <a:buNone/>
            </a:pPr>
            <a:r>
              <a:rPr lang="en-US" sz="2900" b="1" dirty="0">
                <a:solidFill>
                  <a:srgbClr val="000F46"/>
                </a:solidFill>
                <a:latin typeface="Fraunces" pitchFamily="34" charset="0"/>
                <a:ea typeface="Fraunces" pitchFamily="34" charset="-122"/>
                <a:cs typeface="Fraunces" pitchFamily="34" charset="-120"/>
              </a:rPr>
              <a:t>The shared landscape</a:t>
            </a:r>
            <a:endParaRPr lang="en-US" sz="2900" dirty="0"/>
          </a:p>
        </p:txBody>
      </p:sp>
      <p:sp>
        <p:nvSpPr>
          <p:cNvPr id="4" name="Text 2"/>
          <p:cNvSpPr/>
          <p:nvPr/>
        </p:nvSpPr>
        <p:spPr>
          <a:xfrm>
            <a:off x="548640" y="6437376"/>
            <a:ext cx="9601200" cy="274320"/>
          </a:xfrm>
          <a:prstGeom prst="rect">
            <a:avLst/>
          </a:prstGeom>
          <a:noFill/>
          <a:ln/>
        </p:spPr>
        <p:txBody>
          <a:bodyPr wrap="square" lIns="0" tIns="0" rIns="0" bIns="0" rtlCol="0" anchor="ctr"/>
          <a:lstStyle/>
          <a:p>
            <a:pPr indent="0" marL="0">
              <a:buNone/>
            </a:pPr>
            <a:r>
              <a:rPr lang="en-US" sz="900" dirty="0">
                <a:solidFill>
                  <a:srgbClr val="5B5B6B"/>
                </a:solidFill>
                <a:latin typeface="Source Sans 3" pitchFamily="34" charset="0"/>
                <a:ea typeface="Source Sans 3" pitchFamily="34" charset="-122"/>
                <a:cs typeface="Source Sans 3" pitchFamily="34" charset="-120"/>
              </a:rPr>
              <a:t>University of Melbourne — web estate alignment discussion · for discussion</a:t>
            </a:r>
            <a:endParaRPr lang="en-US" sz="900" dirty="0"/>
          </a:p>
        </p:txBody>
      </p:sp>
      <p:sp>
        <p:nvSpPr>
          <p:cNvPr id="5" name="Text 3"/>
          <p:cNvSpPr/>
          <p:nvPr/>
        </p:nvSpPr>
        <p:spPr>
          <a:xfrm>
            <a:off x="11247120" y="6437376"/>
            <a:ext cx="411480" cy="274320"/>
          </a:xfrm>
          <a:prstGeom prst="rect">
            <a:avLst/>
          </a:prstGeom>
          <a:noFill/>
          <a:ln/>
        </p:spPr>
        <p:txBody>
          <a:bodyPr wrap="square" lIns="0" tIns="0" rIns="0" bIns="0" rtlCol="0" anchor="ctr"/>
          <a:lstStyle/>
          <a:p>
            <a:pPr algn="r" indent="0" marL="0">
              <a:buNone/>
            </a:pPr>
            <a:r>
              <a:rPr lang="en-US" sz="900" dirty="0">
                <a:solidFill>
                  <a:srgbClr val="5B5B6B"/>
                </a:solidFill>
                <a:latin typeface="Source Sans 3" pitchFamily="34" charset="0"/>
                <a:ea typeface="Source Sans 3" pitchFamily="34" charset="-122"/>
                <a:cs typeface="Source Sans 3" pitchFamily="34" charset="-120"/>
              </a:rPr>
              <a:t>3</a:t>
            </a:r>
            <a:endParaRPr lang="en-US" sz="900" dirty="0"/>
          </a:p>
        </p:txBody>
      </p:sp>
      <p:sp>
        <p:nvSpPr>
          <p:cNvPr id="6" name="Text 4"/>
          <p:cNvSpPr/>
          <p:nvPr/>
        </p:nvSpPr>
        <p:spPr>
          <a:xfrm>
            <a:off x="566928" y="1325880"/>
            <a:ext cx="10881360" cy="914400"/>
          </a:xfrm>
          <a:prstGeom prst="rect">
            <a:avLst/>
          </a:prstGeom>
          <a:noFill/>
          <a:ln/>
        </p:spPr>
        <p:txBody>
          <a:bodyPr wrap="square" lIns="0" tIns="0" rIns="0" bIns="0" rtlCol="0" anchor="ctr"/>
          <a:lstStyle/>
          <a:p>
            <a:pPr indent="0" marL="0">
              <a:lnSpc>
                <a:spcPct val="112000"/>
              </a:lnSpc>
              <a:buNone/>
            </a:pPr>
            <a:r>
              <a:rPr lang="en-US" sz="1550" dirty="0">
                <a:solidFill>
                  <a:srgbClr val="1C1C28"/>
                </a:solidFill>
                <a:latin typeface="Source Sans 3" pitchFamily="34" charset="0"/>
                <a:ea typeface="Source Sans 3" pitchFamily="34" charset="-122"/>
                <a:cs typeface="Source Sans 3" pitchFamily="34" charset="-120"/>
              </a:rPr>
              <a:t>A full content scan of the current-students estate — the central hub plus nine faculties and three schools. The same user need is often served in more than one place; some content is genuinely discipline-specific, and some is shared.</a:t>
            </a:r>
            <a:endParaRPr lang="en-US" sz="1550" dirty="0"/>
          </a:p>
        </p:txBody>
      </p:sp>
      <p:sp>
        <p:nvSpPr>
          <p:cNvPr id="7" name="Shape 5"/>
          <p:cNvSpPr/>
          <p:nvPr/>
        </p:nvSpPr>
        <p:spPr>
          <a:xfrm>
            <a:off x="566928" y="2606040"/>
            <a:ext cx="3529584" cy="1828800"/>
          </a:xfrm>
          <a:prstGeom prst="rect">
            <a:avLst/>
          </a:prstGeom>
          <a:solidFill>
            <a:srgbClr val="F4F4F4"/>
          </a:solidFill>
          <a:ln/>
        </p:spPr>
      </p:sp>
      <p:sp>
        <p:nvSpPr>
          <p:cNvPr id="8" name="Shape 6"/>
          <p:cNvSpPr/>
          <p:nvPr/>
        </p:nvSpPr>
        <p:spPr>
          <a:xfrm>
            <a:off x="566928" y="2606040"/>
            <a:ext cx="3529584" cy="91440"/>
          </a:xfrm>
          <a:prstGeom prst="rect">
            <a:avLst/>
          </a:prstGeom>
          <a:solidFill>
            <a:srgbClr val="46C8F0"/>
          </a:solidFill>
          <a:ln/>
        </p:spPr>
      </p:sp>
      <p:sp>
        <p:nvSpPr>
          <p:cNvPr id="9" name="Text 7"/>
          <p:cNvSpPr/>
          <p:nvPr/>
        </p:nvSpPr>
        <p:spPr>
          <a:xfrm>
            <a:off x="566928" y="2834640"/>
            <a:ext cx="3529584" cy="914400"/>
          </a:xfrm>
          <a:prstGeom prst="rect">
            <a:avLst/>
          </a:prstGeom>
          <a:noFill/>
          <a:ln/>
        </p:spPr>
        <p:txBody>
          <a:bodyPr wrap="square" lIns="0" tIns="0" rIns="0" bIns="0" rtlCol="0" anchor="ctr"/>
          <a:lstStyle/>
          <a:p>
            <a:pPr algn="ctr" indent="0" marL="0">
              <a:buNone/>
            </a:pPr>
            <a:r>
              <a:rPr lang="en-US" sz="5200" b="1" dirty="0">
                <a:solidFill>
                  <a:srgbClr val="000F46"/>
                </a:solidFill>
                <a:latin typeface="Fraunces" pitchFamily="34" charset="0"/>
                <a:ea typeface="Fraunces" pitchFamily="34" charset="-122"/>
                <a:cs typeface="Fraunces" pitchFamily="34" charset="-120"/>
              </a:rPr>
              <a:t>1,161</a:t>
            </a:r>
            <a:endParaRPr lang="en-US" sz="5200" dirty="0"/>
          </a:p>
        </p:txBody>
      </p:sp>
      <p:sp>
        <p:nvSpPr>
          <p:cNvPr id="10" name="Text 8"/>
          <p:cNvSpPr/>
          <p:nvPr/>
        </p:nvSpPr>
        <p:spPr>
          <a:xfrm>
            <a:off x="795528" y="3749040"/>
            <a:ext cx="3072384" cy="548640"/>
          </a:xfrm>
          <a:prstGeom prst="rect">
            <a:avLst/>
          </a:prstGeom>
          <a:noFill/>
          <a:ln/>
        </p:spPr>
        <p:txBody>
          <a:bodyPr wrap="square" lIns="0" tIns="0" rIns="0" bIns="0" rtlCol="0" anchor="ctr"/>
          <a:lstStyle/>
          <a:p>
            <a:pPr algn="ctr" indent="0" marL="0">
              <a:buNone/>
            </a:pPr>
            <a:r>
              <a:rPr lang="en-US" sz="1300" dirty="0">
                <a:solidFill>
                  <a:srgbClr val="5B5B6B"/>
                </a:solidFill>
                <a:latin typeface="Source Sans 3" pitchFamily="34" charset="0"/>
                <a:ea typeface="Source Sans 3" pitchFamily="34" charset="-122"/>
                <a:cs typeface="Source Sans 3" pitchFamily="34" charset="-120"/>
              </a:rPr>
              <a:t>pages of current-students content</a:t>
            </a:r>
            <a:endParaRPr lang="en-US" sz="1300" dirty="0"/>
          </a:p>
        </p:txBody>
      </p:sp>
      <p:sp>
        <p:nvSpPr>
          <p:cNvPr id="11" name="Shape 9"/>
          <p:cNvSpPr/>
          <p:nvPr/>
        </p:nvSpPr>
        <p:spPr>
          <a:xfrm>
            <a:off x="4334256" y="2606040"/>
            <a:ext cx="3529584" cy="1828800"/>
          </a:xfrm>
          <a:prstGeom prst="rect">
            <a:avLst/>
          </a:prstGeom>
          <a:solidFill>
            <a:srgbClr val="F4F4F4"/>
          </a:solidFill>
          <a:ln/>
        </p:spPr>
      </p:sp>
      <p:sp>
        <p:nvSpPr>
          <p:cNvPr id="12" name="Shape 10"/>
          <p:cNvSpPr/>
          <p:nvPr/>
        </p:nvSpPr>
        <p:spPr>
          <a:xfrm>
            <a:off x="4334256" y="2606040"/>
            <a:ext cx="3529584" cy="91440"/>
          </a:xfrm>
          <a:prstGeom prst="rect">
            <a:avLst/>
          </a:prstGeom>
          <a:solidFill>
            <a:srgbClr val="46C8F0"/>
          </a:solidFill>
          <a:ln/>
        </p:spPr>
      </p:sp>
      <p:sp>
        <p:nvSpPr>
          <p:cNvPr id="13" name="Text 11"/>
          <p:cNvSpPr/>
          <p:nvPr/>
        </p:nvSpPr>
        <p:spPr>
          <a:xfrm>
            <a:off x="4334256" y="2834640"/>
            <a:ext cx="3529584" cy="914400"/>
          </a:xfrm>
          <a:prstGeom prst="rect">
            <a:avLst/>
          </a:prstGeom>
          <a:noFill/>
          <a:ln/>
        </p:spPr>
        <p:txBody>
          <a:bodyPr wrap="square" lIns="0" tIns="0" rIns="0" bIns="0" rtlCol="0" anchor="ctr"/>
          <a:lstStyle/>
          <a:p>
            <a:pPr algn="ctr" indent="0" marL="0">
              <a:buNone/>
            </a:pPr>
            <a:r>
              <a:rPr lang="en-US" sz="5200" b="1" dirty="0">
                <a:solidFill>
                  <a:srgbClr val="000F46"/>
                </a:solidFill>
                <a:latin typeface="Fraunces" pitchFamily="34" charset="0"/>
                <a:ea typeface="Fraunces" pitchFamily="34" charset="-122"/>
                <a:cs typeface="Fraunces" pitchFamily="34" charset="-120"/>
              </a:rPr>
              <a:t>13</a:t>
            </a:r>
            <a:endParaRPr lang="en-US" sz="5200" dirty="0"/>
          </a:p>
        </p:txBody>
      </p:sp>
      <p:sp>
        <p:nvSpPr>
          <p:cNvPr id="14" name="Text 12"/>
          <p:cNvSpPr/>
          <p:nvPr/>
        </p:nvSpPr>
        <p:spPr>
          <a:xfrm>
            <a:off x="4562856" y="3749040"/>
            <a:ext cx="3072384" cy="548640"/>
          </a:xfrm>
          <a:prstGeom prst="rect">
            <a:avLst/>
          </a:prstGeom>
          <a:noFill/>
          <a:ln/>
        </p:spPr>
        <p:txBody>
          <a:bodyPr wrap="square" lIns="0" tIns="0" rIns="0" bIns="0" rtlCol="0" anchor="ctr"/>
          <a:lstStyle/>
          <a:p>
            <a:pPr algn="ctr" indent="0" marL="0">
              <a:buNone/>
            </a:pPr>
            <a:r>
              <a:rPr lang="en-US" sz="1300" dirty="0">
                <a:solidFill>
                  <a:srgbClr val="5B5B6B"/>
                </a:solidFill>
                <a:latin typeface="Source Sans 3" pitchFamily="34" charset="0"/>
                <a:ea typeface="Source Sans 3" pitchFamily="34" charset="-122"/>
                <a:cs typeface="Source Sans 3" pitchFamily="34" charset="-120"/>
              </a:rPr>
              <a:t>separate websites</a:t>
            </a:r>
            <a:endParaRPr lang="en-US" sz="1300" dirty="0"/>
          </a:p>
        </p:txBody>
      </p:sp>
      <p:sp>
        <p:nvSpPr>
          <p:cNvPr id="15" name="Shape 13"/>
          <p:cNvSpPr/>
          <p:nvPr/>
        </p:nvSpPr>
        <p:spPr>
          <a:xfrm>
            <a:off x="8101584" y="2606040"/>
            <a:ext cx="3529584" cy="1828800"/>
          </a:xfrm>
          <a:prstGeom prst="rect">
            <a:avLst/>
          </a:prstGeom>
          <a:solidFill>
            <a:srgbClr val="F4F4F4"/>
          </a:solidFill>
          <a:ln/>
        </p:spPr>
      </p:sp>
      <p:sp>
        <p:nvSpPr>
          <p:cNvPr id="16" name="Shape 14"/>
          <p:cNvSpPr/>
          <p:nvPr/>
        </p:nvSpPr>
        <p:spPr>
          <a:xfrm>
            <a:off x="8101584" y="2606040"/>
            <a:ext cx="3529584" cy="91440"/>
          </a:xfrm>
          <a:prstGeom prst="rect">
            <a:avLst/>
          </a:prstGeom>
          <a:solidFill>
            <a:srgbClr val="46C8F0"/>
          </a:solidFill>
          <a:ln/>
        </p:spPr>
      </p:sp>
      <p:sp>
        <p:nvSpPr>
          <p:cNvPr id="17" name="Text 15"/>
          <p:cNvSpPr/>
          <p:nvPr/>
        </p:nvSpPr>
        <p:spPr>
          <a:xfrm>
            <a:off x="8101584" y="2834640"/>
            <a:ext cx="3529584" cy="914400"/>
          </a:xfrm>
          <a:prstGeom prst="rect">
            <a:avLst/>
          </a:prstGeom>
          <a:noFill/>
          <a:ln/>
        </p:spPr>
        <p:txBody>
          <a:bodyPr wrap="square" lIns="0" tIns="0" rIns="0" bIns="0" rtlCol="0" anchor="ctr"/>
          <a:lstStyle/>
          <a:p>
            <a:pPr algn="ctr" indent="0" marL="0">
              <a:buNone/>
            </a:pPr>
            <a:r>
              <a:rPr lang="en-US" sz="5200" b="1" dirty="0">
                <a:solidFill>
                  <a:srgbClr val="000F46"/>
                </a:solidFill>
                <a:latin typeface="Fraunces" pitchFamily="34" charset="0"/>
                <a:ea typeface="Fraunces" pitchFamily="34" charset="-122"/>
                <a:cs typeface="Fraunces" pitchFamily="34" charset="-120"/>
              </a:rPr>
              <a:t>6</a:t>
            </a:r>
            <a:endParaRPr lang="en-US" sz="5200" dirty="0"/>
          </a:p>
        </p:txBody>
      </p:sp>
      <p:sp>
        <p:nvSpPr>
          <p:cNvPr id="18" name="Text 16"/>
          <p:cNvSpPr/>
          <p:nvPr/>
        </p:nvSpPr>
        <p:spPr>
          <a:xfrm>
            <a:off x="8330184" y="3749040"/>
            <a:ext cx="3072384" cy="548640"/>
          </a:xfrm>
          <a:prstGeom prst="rect">
            <a:avLst/>
          </a:prstGeom>
          <a:noFill/>
          <a:ln/>
        </p:spPr>
        <p:txBody>
          <a:bodyPr wrap="square" lIns="0" tIns="0" rIns="0" bIns="0" rtlCol="0" anchor="ctr"/>
          <a:lstStyle/>
          <a:p>
            <a:pPr algn="ctr" indent="0" marL="0">
              <a:buNone/>
            </a:pPr>
            <a:r>
              <a:rPr lang="en-US" sz="1300" dirty="0">
                <a:solidFill>
                  <a:srgbClr val="5B5B6B"/>
                </a:solidFill>
                <a:latin typeface="Source Sans 3" pitchFamily="34" charset="0"/>
                <a:ea typeface="Source Sans 3" pitchFamily="34" charset="-122"/>
                <a:cs typeface="Source Sans 3" pitchFamily="34" charset="-120"/>
              </a:rPr>
              <a:t>different web-address patterns</a:t>
            </a:r>
            <a:endParaRPr lang="en-US" sz="1300" dirty="0"/>
          </a:p>
        </p:txBody>
      </p:sp>
      <p:sp>
        <p:nvSpPr>
          <p:cNvPr id="19" name="Text 17"/>
          <p:cNvSpPr/>
          <p:nvPr/>
        </p:nvSpPr>
        <p:spPr>
          <a:xfrm>
            <a:off x="566928" y="4754880"/>
            <a:ext cx="10881360" cy="822960"/>
          </a:xfrm>
          <a:prstGeom prst="rect">
            <a:avLst/>
          </a:prstGeom>
          <a:noFill/>
          <a:ln/>
        </p:spPr>
        <p:txBody>
          <a:bodyPr wrap="square" lIns="0" tIns="0" rIns="0" bIns="0" rtlCol="0" anchor="ctr"/>
          <a:lstStyle/>
          <a:p>
            <a:pPr indent="0" marL="0">
              <a:lnSpc>
                <a:spcPct val="118000"/>
              </a:lnSpc>
              <a:buNone/>
            </a:pPr>
            <a:r>
              <a:rPr lang="en-US" sz="1250" i="1" dirty="0">
                <a:solidFill>
                  <a:srgbClr val="000B34"/>
                </a:solidFill>
                <a:latin typeface="Source Sans 3" pitchFamily="34" charset="0"/>
                <a:ea typeface="Source Sans 3" pitchFamily="34" charset="-122"/>
                <a:cs typeface="Source Sans 3" pitchFamily="34" charset="-120"/>
              </a:rPr>
              <a:t>Central hub · Architecture, Building &amp; Planning · Arts · Business &amp; Economics · Education · Engineering &amp; IT · Fine Arts &amp; Music · Law · Medicine, Dentistry &amp; Health Sciences · Science  —  plus separate Business School, Biomedical Sciences and Dental school sites.</a:t>
            </a:r>
            <a:endParaRPr lang="en-US" sz="1250" dirty="0"/>
          </a:p>
        </p:txBody>
      </p:sp>
      <p:sp>
        <p:nvSpPr>
          <p:cNvPr id="20" name="Text 18"/>
          <p:cNvSpPr/>
          <p:nvPr/>
        </p:nvSpPr>
        <p:spPr>
          <a:xfrm>
            <a:off x="566928" y="5669280"/>
            <a:ext cx="10881360" cy="320040"/>
          </a:xfrm>
          <a:prstGeom prst="rect">
            <a:avLst/>
          </a:prstGeom>
          <a:noFill/>
          <a:ln/>
        </p:spPr>
        <p:txBody>
          <a:bodyPr wrap="square" lIns="0" tIns="0" rIns="0" bIns="0" rtlCol="0" anchor="ctr"/>
          <a:lstStyle/>
          <a:p>
            <a:pPr indent="0" marL="0">
              <a:buNone/>
            </a:pPr>
            <a:r>
              <a:rPr lang="en-US" sz="950" dirty="0">
                <a:solidFill>
                  <a:srgbClr val="5B5B6B"/>
                </a:solidFill>
                <a:latin typeface="Source Code Pro" pitchFamily="34" charset="0"/>
                <a:ea typeface="Source Code Pro" pitchFamily="34" charset="-122"/>
                <a:cs typeface="Source Code Pro" pitchFamily="34" charset="-120"/>
              </a:rPr>
              <a:t>Scope note: this scan covers the current-students sections. The broader picture also includes study.unimelb.edu.au and the University's alumni estate.</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256032" cy="256032"/>
          </a:xfrm>
          <a:prstGeom prst="rect">
            <a:avLst/>
          </a:prstGeom>
          <a:solidFill>
            <a:srgbClr val="46C8F0"/>
          </a:solidFill>
          <a:ln/>
        </p:spPr>
      </p:sp>
      <p:sp>
        <p:nvSpPr>
          <p:cNvPr id="3" name="Text 1"/>
          <p:cNvSpPr/>
          <p:nvPr/>
        </p:nvSpPr>
        <p:spPr>
          <a:xfrm>
            <a:off x="914400" y="457200"/>
            <a:ext cx="10698480" cy="502920"/>
          </a:xfrm>
          <a:prstGeom prst="rect">
            <a:avLst/>
          </a:prstGeom>
          <a:noFill/>
          <a:ln/>
        </p:spPr>
        <p:txBody>
          <a:bodyPr wrap="square" lIns="0" tIns="0" rIns="0" bIns="0" rtlCol="0" anchor="ctr"/>
          <a:lstStyle/>
          <a:p>
            <a:pPr indent="0" marL="0">
              <a:buNone/>
            </a:pPr>
            <a:r>
              <a:rPr lang="en-US" sz="2900" b="1" dirty="0">
                <a:solidFill>
                  <a:srgbClr val="000F46"/>
                </a:solidFill>
                <a:latin typeface="Fraunces" pitchFamily="34" charset="0"/>
                <a:ea typeface="Fraunces" pitchFamily="34" charset="-122"/>
                <a:cs typeface="Fraunces" pitchFamily="34" charset="-120"/>
              </a:rPr>
              <a:t>A lens for today: overlap</a:t>
            </a:r>
            <a:endParaRPr lang="en-US" sz="2900" dirty="0"/>
          </a:p>
        </p:txBody>
      </p:sp>
      <p:sp>
        <p:nvSpPr>
          <p:cNvPr id="4" name="Text 2"/>
          <p:cNvSpPr/>
          <p:nvPr/>
        </p:nvSpPr>
        <p:spPr>
          <a:xfrm>
            <a:off x="548640" y="6437376"/>
            <a:ext cx="9601200" cy="274320"/>
          </a:xfrm>
          <a:prstGeom prst="rect">
            <a:avLst/>
          </a:prstGeom>
          <a:noFill/>
          <a:ln/>
        </p:spPr>
        <p:txBody>
          <a:bodyPr wrap="square" lIns="0" tIns="0" rIns="0" bIns="0" rtlCol="0" anchor="ctr"/>
          <a:lstStyle/>
          <a:p>
            <a:pPr indent="0" marL="0">
              <a:buNone/>
            </a:pPr>
            <a:r>
              <a:rPr lang="en-US" sz="900" dirty="0">
                <a:solidFill>
                  <a:srgbClr val="5B5B6B"/>
                </a:solidFill>
                <a:latin typeface="Source Sans 3" pitchFamily="34" charset="0"/>
                <a:ea typeface="Source Sans 3" pitchFamily="34" charset="-122"/>
                <a:cs typeface="Source Sans 3" pitchFamily="34" charset="-120"/>
              </a:rPr>
              <a:t>University of Melbourne — web estate alignment discussion · for discussion</a:t>
            </a:r>
            <a:endParaRPr lang="en-US" sz="900" dirty="0"/>
          </a:p>
        </p:txBody>
      </p:sp>
      <p:sp>
        <p:nvSpPr>
          <p:cNvPr id="5" name="Text 3"/>
          <p:cNvSpPr/>
          <p:nvPr/>
        </p:nvSpPr>
        <p:spPr>
          <a:xfrm>
            <a:off x="11247120" y="6437376"/>
            <a:ext cx="411480" cy="274320"/>
          </a:xfrm>
          <a:prstGeom prst="rect">
            <a:avLst/>
          </a:prstGeom>
          <a:noFill/>
          <a:ln/>
        </p:spPr>
        <p:txBody>
          <a:bodyPr wrap="square" lIns="0" tIns="0" rIns="0" bIns="0" rtlCol="0" anchor="ctr"/>
          <a:lstStyle/>
          <a:p>
            <a:pPr algn="r" indent="0" marL="0">
              <a:buNone/>
            </a:pPr>
            <a:r>
              <a:rPr lang="en-US" sz="900" dirty="0">
                <a:solidFill>
                  <a:srgbClr val="5B5B6B"/>
                </a:solidFill>
                <a:latin typeface="Source Sans 3" pitchFamily="34" charset="0"/>
                <a:ea typeface="Source Sans 3" pitchFamily="34" charset="-122"/>
                <a:cs typeface="Source Sans 3" pitchFamily="34" charset="-120"/>
              </a:rPr>
              <a:t>4</a:t>
            </a:r>
            <a:endParaRPr lang="en-US" sz="900" dirty="0"/>
          </a:p>
        </p:txBody>
      </p:sp>
      <p:sp>
        <p:nvSpPr>
          <p:cNvPr id="6" name="Text 4"/>
          <p:cNvSpPr/>
          <p:nvPr/>
        </p:nvSpPr>
        <p:spPr>
          <a:xfrm>
            <a:off x="566928" y="1417320"/>
            <a:ext cx="5760720" cy="3657600"/>
          </a:xfrm>
          <a:prstGeom prst="rect">
            <a:avLst/>
          </a:prstGeom>
          <a:noFill/>
          <a:ln/>
        </p:spPr>
        <p:txBody>
          <a:bodyPr wrap="square" lIns="0" tIns="0" rIns="0" bIns="0" rtlCol="0" anchor="t"/>
          <a:lstStyle/>
          <a:p>
            <a:pPr indent="0" marL="0">
              <a:lnSpc>
                <a:spcPct val="122000"/>
              </a:lnSpc>
              <a:buNone/>
            </a:pPr>
            <a:r>
              <a:rPr lang="en-US" sz="1700" dirty="0">
                <a:solidFill>
                  <a:srgbClr val="1C1C28"/>
                </a:solidFill>
                <a:latin typeface="Source Sans 3" pitchFamily="34" charset="0"/>
                <a:ea typeface="Source Sans 3" pitchFamily="34" charset="-122"/>
                <a:cs typeface="Source Sans 3" pitchFamily="34" charset="-120"/>
              </a:rPr>
              <a:t>Overlap isn't automatically a problem. Sometimes it is helpful local context; sometimes it is duplicated effort or mixed messages. For each area today, we will look at where the content sits — then ask whether the overlap is intentional, and whether it helps or hinders the user.</a:t>
            </a:r>
            <a:endParaRPr lang="en-US" sz="1700" dirty="0"/>
          </a:p>
        </p:txBody>
      </p:sp>
      <p:sp>
        <p:nvSpPr>
          <p:cNvPr id="7" name="Shape 5"/>
          <p:cNvSpPr/>
          <p:nvPr/>
        </p:nvSpPr>
        <p:spPr>
          <a:xfrm>
            <a:off x="6949440" y="1645920"/>
            <a:ext cx="2606040" cy="2606040"/>
          </a:xfrm>
          <a:prstGeom prst="ellipse">
            <a:avLst/>
          </a:prstGeom>
          <a:solidFill>
            <a:srgbClr val="000F46">
              <a:alpha val="18000"/>
            </a:srgbClr>
          </a:solidFill>
          <a:ln w="19050">
            <a:solidFill>
              <a:srgbClr val="000F46"/>
            </a:solidFill>
            <a:prstDash val="solid"/>
          </a:ln>
        </p:spPr>
      </p:sp>
      <p:sp>
        <p:nvSpPr>
          <p:cNvPr id="8" name="Shape 6"/>
          <p:cNvSpPr/>
          <p:nvPr/>
        </p:nvSpPr>
        <p:spPr>
          <a:xfrm>
            <a:off x="8778240" y="1645920"/>
            <a:ext cx="2606040" cy="2606040"/>
          </a:xfrm>
          <a:prstGeom prst="ellipse">
            <a:avLst/>
          </a:prstGeom>
          <a:solidFill>
            <a:srgbClr val="46C8F0">
              <a:alpha val="28000"/>
            </a:srgbClr>
          </a:solidFill>
          <a:ln w="19050">
            <a:solidFill>
              <a:srgbClr val="2F95B7"/>
            </a:solidFill>
            <a:prstDash val="solid"/>
          </a:ln>
        </p:spPr>
      </p:sp>
      <p:sp>
        <p:nvSpPr>
          <p:cNvPr id="9" name="Shape 7"/>
          <p:cNvSpPr/>
          <p:nvPr/>
        </p:nvSpPr>
        <p:spPr>
          <a:xfrm>
            <a:off x="6949440" y="3291840"/>
            <a:ext cx="2606040" cy="2606040"/>
          </a:xfrm>
          <a:prstGeom prst="ellipse">
            <a:avLst/>
          </a:prstGeom>
          <a:solidFill>
            <a:srgbClr val="000F46">
              <a:alpha val="18000"/>
            </a:srgbClr>
          </a:solidFill>
          <a:ln w="19050">
            <a:solidFill>
              <a:srgbClr val="000F46"/>
            </a:solidFill>
            <a:prstDash val="solid"/>
          </a:ln>
        </p:spPr>
      </p:sp>
      <p:sp>
        <p:nvSpPr>
          <p:cNvPr id="10" name="Shape 8"/>
          <p:cNvSpPr/>
          <p:nvPr/>
        </p:nvSpPr>
        <p:spPr>
          <a:xfrm>
            <a:off x="8778240" y="3291840"/>
            <a:ext cx="2606040" cy="2606040"/>
          </a:xfrm>
          <a:prstGeom prst="ellipse">
            <a:avLst/>
          </a:prstGeom>
          <a:solidFill>
            <a:srgbClr val="46C8F0">
              <a:alpha val="28000"/>
            </a:srgbClr>
          </a:solidFill>
          <a:ln w="19050">
            <a:solidFill>
              <a:srgbClr val="2F95B7"/>
            </a:solidFill>
            <a:prstDash val="solid"/>
          </a:ln>
        </p:spPr>
      </p:sp>
      <p:sp>
        <p:nvSpPr>
          <p:cNvPr id="11" name="Text 9"/>
          <p:cNvSpPr/>
          <p:nvPr/>
        </p:nvSpPr>
        <p:spPr>
          <a:xfrm>
            <a:off x="6995160" y="1737360"/>
            <a:ext cx="1691640" cy="347472"/>
          </a:xfrm>
          <a:prstGeom prst="rect">
            <a:avLst/>
          </a:prstGeom>
          <a:noFill/>
          <a:ln/>
        </p:spPr>
        <p:txBody>
          <a:bodyPr wrap="square" lIns="0" tIns="0" rIns="0" bIns="0" rtlCol="0" anchor="ctr"/>
          <a:lstStyle/>
          <a:p>
            <a:pPr algn="ctr" indent="0" marL="0">
              <a:buNone/>
            </a:pPr>
            <a:r>
              <a:rPr lang="en-US" sz="1200" b="1" dirty="0">
                <a:solidFill>
                  <a:srgbClr val="000F46"/>
                </a:solidFill>
                <a:latin typeface="Source Sans 3" pitchFamily="34" charset="0"/>
                <a:ea typeface="Source Sans 3" pitchFamily="34" charset="-122"/>
                <a:cs typeface="Source Sans 3" pitchFamily="34" charset="-120"/>
              </a:rPr>
              <a:t>Central hub</a:t>
            </a:r>
            <a:endParaRPr lang="en-US" sz="1200" dirty="0"/>
          </a:p>
        </p:txBody>
      </p:sp>
      <p:sp>
        <p:nvSpPr>
          <p:cNvPr id="12" name="Text 10"/>
          <p:cNvSpPr/>
          <p:nvPr/>
        </p:nvSpPr>
        <p:spPr>
          <a:xfrm>
            <a:off x="9738360" y="1691640"/>
            <a:ext cx="1600200" cy="502920"/>
          </a:xfrm>
          <a:prstGeom prst="rect">
            <a:avLst/>
          </a:prstGeom>
          <a:noFill/>
          <a:ln/>
        </p:spPr>
        <p:txBody>
          <a:bodyPr wrap="square" lIns="0" tIns="0" rIns="0" bIns="0" rtlCol="0" anchor="ctr"/>
          <a:lstStyle/>
          <a:p>
            <a:pPr algn="ctr" indent="0" marL="0">
              <a:buNone/>
            </a:pPr>
            <a:r>
              <a:rPr lang="en-US" sz="1200" b="1" dirty="0">
                <a:solidFill>
                  <a:srgbClr val="000F46"/>
                </a:solidFill>
                <a:latin typeface="Source Sans 3" pitchFamily="34" charset="0"/>
                <a:ea typeface="Source Sans 3" pitchFamily="34" charset="-122"/>
                <a:cs typeface="Source Sans 3" pitchFamily="34" charset="-120"/>
              </a:rPr>
              <a:t>Faculty /</a:t>
            </a:r>
            <a:endParaRPr lang="en-US" sz="1200" dirty="0"/>
          </a:p>
          <a:p>
            <a:pPr algn="ctr" indent="0" marL="0">
              <a:buNone/>
            </a:pPr>
            <a:r>
              <a:rPr lang="en-US" sz="1200" b="1" dirty="0">
                <a:solidFill>
                  <a:srgbClr val="000F46"/>
                </a:solidFill>
                <a:latin typeface="Source Sans 3" pitchFamily="34" charset="0"/>
                <a:ea typeface="Source Sans 3" pitchFamily="34" charset="-122"/>
                <a:cs typeface="Source Sans 3" pitchFamily="34" charset="-120"/>
              </a:rPr>
              <a:t>school sites</a:t>
            </a:r>
            <a:endParaRPr lang="en-US" sz="1200" dirty="0"/>
          </a:p>
        </p:txBody>
      </p:sp>
      <p:sp>
        <p:nvSpPr>
          <p:cNvPr id="13" name="Text 11"/>
          <p:cNvSpPr/>
          <p:nvPr/>
        </p:nvSpPr>
        <p:spPr>
          <a:xfrm>
            <a:off x="6995160" y="5257800"/>
            <a:ext cx="1691640" cy="347472"/>
          </a:xfrm>
          <a:prstGeom prst="rect">
            <a:avLst/>
          </a:prstGeom>
          <a:noFill/>
          <a:ln/>
        </p:spPr>
        <p:txBody>
          <a:bodyPr wrap="square" lIns="0" tIns="0" rIns="0" bIns="0" rtlCol="0" anchor="ctr"/>
          <a:lstStyle/>
          <a:p>
            <a:pPr algn="ctr" indent="0" marL="0">
              <a:buNone/>
            </a:pPr>
            <a:r>
              <a:rPr lang="en-US" sz="1200" b="1" dirty="0">
                <a:solidFill>
                  <a:srgbClr val="000F46"/>
                </a:solidFill>
                <a:latin typeface="Source Sans 3" pitchFamily="34" charset="0"/>
                <a:ea typeface="Source Sans 3" pitchFamily="34" charset="-122"/>
                <a:cs typeface="Source Sans 3" pitchFamily="34" charset="-120"/>
              </a:rPr>
              <a:t>Further study</a:t>
            </a:r>
            <a:endParaRPr lang="en-US" sz="1200" dirty="0"/>
          </a:p>
        </p:txBody>
      </p:sp>
      <p:sp>
        <p:nvSpPr>
          <p:cNvPr id="14" name="Text 12"/>
          <p:cNvSpPr/>
          <p:nvPr/>
        </p:nvSpPr>
        <p:spPr>
          <a:xfrm>
            <a:off x="9784080" y="5257800"/>
            <a:ext cx="1554480" cy="347472"/>
          </a:xfrm>
          <a:prstGeom prst="rect">
            <a:avLst/>
          </a:prstGeom>
          <a:noFill/>
          <a:ln/>
        </p:spPr>
        <p:txBody>
          <a:bodyPr wrap="square" lIns="0" tIns="0" rIns="0" bIns="0" rtlCol="0" anchor="ctr"/>
          <a:lstStyle/>
          <a:p>
            <a:pPr algn="ctr" indent="0" marL="0">
              <a:buNone/>
            </a:pPr>
            <a:r>
              <a:rPr lang="en-US" sz="1200" b="1" dirty="0">
                <a:solidFill>
                  <a:srgbClr val="000F46"/>
                </a:solidFill>
                <a:latin typeface="Source Sans 3" pitchFamily="34" charset="0"/>
                <a:ea typeface="Source Sans 3" pitchFamily="34" charset="-122"/>
                <a:cs typeface="Source Sans 3" pitchFamily="34" charset="-120"/>
              </a:rPr>
              <a:t>Alumni</a:t>
            </a:r>
            <a:endParaRPr lang="en-US" sz="1200" dirty="0"/>
          </a:p>
        </p:txBody>
      </p:sp>
      <p:sp>
        <p:nvSpPr>
          <p:cNvPr id="15" name="Text 13"/>
          <p:cNvSpPr/>
          <p:nvPr/>
        </p:nvSpPr>
        <p:spPr>
          <a:xfrm>
            <a:off x="8778240" y="3611880"/>
            <a:ext cx="914400" cy="320040"/>
          </a:xfrm>
          <a:prstGeom prst="rect">
            <a:avLst/>
          </a:prstGeom>
          <a:noFill/>
          <a:ln/>
        </p:spPr>
        <p:txBody>
          <a:bodyPr wrap="square" lIns="0" tIns="0" rIns="0" bIns="0" rtlCol="0" anchor="ctr"/>
          <a:lstStyle/>
          <a:p>
            <a:pPr algn="ctr" indent="0" marL="0">
              <a:buNone/>
            </a:pPr>
            <a:r>
              <a:rPr lang="en-US" sz="1100" b="1" dirty="0">
                <a:solidFill>
                  <a:srgbClr val="000B34"/>
                </a:solidFill>
                <a:latin typeface="Source Code Pro" pitchFamily="34" charset="0"/>
                <a:ea typeface="Source Code Pro" pitchFamily="34" charset="-122"/>
                <a:cs typeface="Source Code Pro" pitchFamily="34" charset="-120"/>
              </a:rPr>
              <a:t>overlap</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256032" cy="256032"/>
          </a:xfrm>
          <a:prstGeom prst="rect">
            <a:avLst/>
          </a:prstGeom>
          <a:solidFill>
            <a:srgbClr val="46C8F0"/>
          </a:solidFill>
          <a:ln/>
        </p:spPr>
      </p:sp>
      <p:sp>
        <p:nvSpPr>
          <p:cNvPr id="3" name="Text 1"/>
          <p:cNvSpPr/>
          <p:nvPr/>
        </p:nvSpPr>
        <p:spPr>
          <a:xfrm>
            <a:off x="914400" y="457200"/>
            <a:ext cx="10698480" cy="502920"/>
          </a:xfrm>
          <a:prstGeom prst="rect">
            <a:avLst/>
          </a:prstGeom>
          <a:noFill/>
          <a:ln/>
        </p:spPr>
        <p:txBody>
          <a:bodyPr wrap="square" lIns="0" tIns="0" rIns="0" bIns="0" rtlCol="0" anchor="ctr"/>
          <a:lstStyle/>
          <a:p>
            <a:pPr indent="0" marL="0">
              <a:buNone/>
            </a:pPr>
            <a:r>
              <a:rPr lang="en-US" sz="2900" b="1" dirty="0">
                <a:solidFill>
                  <a:srgbClr val="000F46"/>
                </a:solidFill>
                <a:latin typeface="Fraunces" pitchFamily="34" charset="0"/>
                <a:ea typeface="Fraunces" pitchFamily="34" charset="-122"/>
                <a:cs typeface="Fraunces" pitchFamily="34" charset="-120"/>
              </a:rPr>
              <a:t>Overlap at a glance</a:t>
            </a:r>
            <a:endParaRPr lang="en-US" sz="2900" dirty="0"/>
          </a:p>
        </p:txBody>
      </p:sp>
      <p:sp>
        <p:nvSpPr>
          <p:cNvPr id="4" name="Text 2"/>
          <p:cNvSpPr/>
          <p:nvPr/>
        </p:nvSpPr>
        <p:spPr>
          <a:xfrm>
            <a:off x="548640" y="6437376"/>
            <a:ext cx="9601200" cy="274320"/>
          </a:xfrm>
          <a:prstGeom prst="rect">
            <a:avLst/>
          </a:prstGeom>
          <a:noFill/>
          <a:ln/>
        </p:spPr>
        <p:txBody>
          <a:bodyPr wrap="square" lIns="0" tIns="0" rIns="0" bIns="0" rtlCol="0" anchor="ctr"/>
          <a:lstStyle/>
          <a:p>
            <a:pPr indent="0" marL="0">
              <a:buNone/>
            </a:pPr>
            <a:r>
              <a:rPr lang="en-US" sz="900" dirty="0">
                <a:solidFill>
                  <a:srgbClr val="5B5B6B"/>
                </a:solidFill>
                <a:latin typeface="Source Sans 3" pitchFamily="34" charset="0"/>
                <a:ea typeface="Source Sans 3" pitchFamily="34" charset="-122"/>
                <a:cs typeface="Source Sans 3" pitchFamily="34" charset="-120"/>
              </a:rPr>
              <a:t>University of Melbourne — web estate alignment discussion · for discussion</a:t>
            </a:r>
            <a:endParaRPr lang="en-US" sz="900" dirty="0"/>
          </a:p>
        </p:txBody>
      </p:sp>
      <p:sp>
        <p:nvSpPr>
          <p:cNvPr id="5" name="Text 3"/>
          <p:cNvSpPr/>
          <p:nvPr/>
        </p:nvSpPr>
        <p:spPr>
          <a:xfrm>
            <a:off x="11247120" y="6437376"/>
            <a:ext cx="411480" cy="274320"/>
          </a:xfrm>
          <a:prstGeom prst="rect">
            <a:avLst/>
          </a:prstGeom>
          <a:noFill/>
          <a:ln/>
        </p:spPr>
        <p:txBody>
          <a:bodyPr wrap="square" lIns="0" tIns="0" rIns="0" bIns="0" rtlCol="0" anchor="ctr"/>
          <a:lstStyle/>
          <a:p>
            <a:pPr algn="r" indent="0" marL="0">
              <a:buNone/>
            </a:pPr>
            <a:r>
              <a:rPr lang="en-US" sz="900" dirty="0">
                <a:solidFill>
                  <a:srgbClr val="5B5B6B"/>
                </a:solidFill>
                <a:latin typeface="Source Sans 3" pitchFamily="34" charset="0"/>
                <a:ea typeface="Source Sans 3" pitchFamily="34" charset="-122"/>
                <a:cs typeface="Source Sans 3" pitchFamily="34" charset="-120"/>
              </a:rPr>
              <a:t>5</a:t>
            </a:r>
            <a:endParaRPr lang="en-US" sz="900" dirty="0"/>
          </a:p>
        </p:txBody>
      </p:sp>
      <p:sp>
        <p:nvSpPr>
          <p:cNvPr id="6" name="Text 4"/>
          <p:cNvSpPr/>
          <p:nvPr/>
        </p:nvSpPr>
        <p:spPr>
          <a:xfrm>
            <a:off x="566928" y="1280160"/>
            <a:ext cx="10881360" cy="457200"/>
          </a:xfrm>
          <a:prstGeom prst="rect">
            <a:avLst/>
          </a:prstGeom>
          <a:noFill/>
          <a:ln/>
        </p:spPr>
        <p:txBody>
          <a:bodyPr wrap="square" lIns="0" tIns="0" rIns="0" bIns="0" rtlCol="0" anchor="ctr"/>
          <a:lstStyle/>
          <a:p>
            <a:pPr indent="0" marL="0">
              <a:buNone/>
            </a:pPr>
            <a:r>
              <a:rPr lang="en-US" sz="1500" dirty="0">
                <a:solidFill>
                  <a:srgbClr val="1C1C28"/>
                </a:solidFill>
                <a:latin typeface="Source Sans 3" pitchFamily="34" charset="0"/>
                <a:ea typeface="Source Sans 3" pitchFamily="34" charset="-122"/>
                <a:cs typeface="Source Sans 3" pitchFamily="34" charset="-120"/>
              </a:rPr>
              <a:t>Where each topic is provided today, across the estate. The same need often appears in several places.</a:t>
            </a:r>
            <a:endParaRPr lang="en-US" sz="15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66928" y="1874520"/>
          <a:ext cx="11064240" cy="914400"/>
        </p:xfrm>
        <a:graphic>
          <a:graphicData uri="http://schemas.openxmlformats.org/drawingml/2006/table">
            <a:tbl>
              <a:tblPr/>
              <a:tblGrid>
                <a:gridCol w="2651760"/>
                <a:gridCol w="2468880"/>
                <a:gridCol w="2468880"/>
                <a:gridCol w="1828800"/>
                <a:gridCol w="1645920"/>
              </a:tblGrid>
              <a:tr h="457200">
                <a:tc>
                  <a:txBody>
                    <a:bodyPr/>
                    <a:lstStyle/>
                    <a:p>
                      <a:pPr algn="l" indent="0" marL="0">
                        <a:buNone/>
                      </a:pPr>
                      <a:r>
                        <a:rPr lang="en-US" sz="1200" b="1" dirty="0">
                          <a:solidFill>
                            <a:srgbClr val="FFFFFF"/>
                          </a:solidFill>
                          <a:latin typeface="Source Sans 3" pitchFamily="34" charset="0"/>
                          <a:ea typeface="Source Sans 3" pitchFamily="34" charset="-122"/>
                          <a:cs typeface="Source Sans 3" pitchFamily="34" charset="-120"/>
                        </a:rPr>
                        <a:t>Topic</a:t>
                      </a:r>
                      <a:endParaRPr lang="en-US" sz="120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l" indent="0" marL="0">
                        <a:buNone/>
                      </a:pPr>
                      <a:r>
                        <a:rPr lang="en-US" sz="1200" b="1" dirty="0">
                          <a:solidFill>
                            <a:srgbClr val="FFFFFF"/>
                          </a:solidFill>
                          <a:latin typeface="Source Sans 3" pitchFamily="34" charset="0"/>
                          <a:ea typeface="Source Sans 3" pitchFamily="34" charset="-122"/>
                          <a:cs typeface="Source Sans 3" pitchFamily="34" charset="-120"/>
                        </a:rPr>
                        <a:t>Central hub</a:t>
                      </a:r>
                      <a:endParaRPr lang="en-US" sz="120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l" indent="0" marL="0">
                        <a:buNone/>
                      </a:pPr>
                      <a:r>
                        <a:rPr lang="en-US" sz="1200" b="1" dirty="0">
                          <a:solidFill>
                            <a:srgbClr val="FFFFFF"/>
                          </a:solidFill>
                          <a:latin typeface="Source Sans 3" pitchFamily="34" charset="0"/>
                          <a:ea typeface="Source Sans 3" pitchFamily="34" charset="-122"/>
                          <a:cs typeface="Source Sans 3" pitchFamily="34" charset="-120"/>
                        </a:rPr>
                        <a:t>Faculties</a:t>
                      </a:r>
                      <a:endParaRPr lang="en-US" sz="120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l" indent="0" marL="0">
                        <a:buNone/>
                      </a:pPr>
                      <a:r>
                        <a:rPr lang="en-US" sz="1200" b="1" dirty="0">
                          <a:solidFill>
                            <a:srgbClr val="FFFFFF"/>
                          </a:solidFill>
                          <a:latin typeface="Source Sans 3" pitchFamily="34" charset="0"/>
                          <a:ea typeface="Source Sans 3" pitchFamily="34" charset="-122"/>
                          <a:cs typeface="Source Sans 3" pitchFamily="34" charset="-120"/>
                        </a:rPr>
                        <a:t>Schools</a:t>
                      </a:r>
                      <a:endParaRPr lang="en-US" sz="120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l" indent="0" marL="0">
                        <a:buNone/>
                      </a:pPr>
                      <a:r>
                        <a:rPr lang="en-US" sz="1200" b="1" dirty="0">
                          <a:solidFill>
                            <a:srgbClr val="FFFFFF"/>
                          </a:solidFill>
                          <a:latin typeface="Source Sans 3" pitchFamily="34" charset="0"/>
                          <a:ea typeface="Source Sans 3" pitchFamily="34" charset="-122"/>
                          <a:cs typeface="Source Sans 3" pitchFamily="34" charset="-120"/>
                        </a:rPr>
                        <a:t>Cross-linked?</a:t>
                      </a:r>
                      <a:endParaRPr lang="en-US" sz="120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r>
              <a:tr h="457200">
                <a:tc>
                  <a:txBody>
                    <a:bodyPr/>
                    <a:lstStyle/>
                    <a:p>
                      <a:pPr indent="0" marL="0">
                        <a:buNone/>
                      </a:pPr>
                      <a:r>
                        <a:rPr lang="en-US" sz="1150" dirty="0">
                          <a:solidFill>
                            <a:srgbClr val="1C1C28"/>
                          </a:solidFill>
                          <a:latin typeface="Source Sans 3" pitchFamily="34" charset="0"/>
                          <a:ea typeface="Source Sans 3" pitchFamily="34" charset="-122"/>
                          <a:cs typeface="Source Sans 3" pitchFamily="34" charset="-120"/>
                        </a:rPr>
                        <a:t>Course planning</a:t>
                      </a:r>
                      <a:endParaRPr lang="en-US" sz="115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50" dirty="0">
                          <a:solidFill>
                            <a:srgbClr val="1C1C28"/>
                          </a:solidFill>
                          <a:latin typeface="Source Sans 3" pitchFamily="34" charset="0"/>
                          <a:ea typeface="Source Sans 3" pitchFamily="34" charset="-122"/>
                          <a:cs typeface="Source Sans 3" pitchFamily="34" charset="-120"/>
                        </a:rPr>
                        <a:t>Planner + Handbook</a:t>
                      </a:r>
                      <a:endParaRPr lang="en-US" sz="115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50" dirty="0">
                          <a:solidFill>
                            <a:srgbClr val="1C1C28"/>
                          </a:solidFill>
                          <a:latin typeface="Source Sans 3" pitchFamily="34" charset="0"/>
                          <a:ea typeface="Source Sans 3" pitchFamily="34" charset="-122"/>
                          <a:cs typeface="Source Sans 3" pitchFamily="34" charset="-120"/>
                        </a:rPr>
                        <a:t>Every faculty</a:t>
                      </a:r>
                      <a:endParaRPr lang="en-US" sz="115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50" dirty="0">
                          <a:solidFill>
                            <a:srgbClr val="1C1C28"/>
                          </a:solidFill>
                          <a:latin typeface="Source Sans 3" pitchFamily="34" charset="0"/>
                          <a:ea typeface="Source Sans 3" pitchFamily="34" charset="-122"/>
                          <a:cs typeface="Source Sans 3" pitchFamily="34" charset="-120"/>
                        </a:rPr>
                        <a:t>MBS, Biomedical</a:t>
                      </a:r>
                      <a:endParaRPr lang="en-US" sz="115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50" dirty="0">
                          <a:solidFill>
                            <a:srgbClr val="1C1C28"/>
                          </a:solidFill>
                          <a:latin typeface="Source Sans 3" pitchFamily="34" charset="0"/>
                          <a:ea typeface="Source Sans 3" pitchFamily="34" charset="-122"/>
                          <a:cs typeface="Source Sans 3" pitchFamily="34" charset="-120"/>
                        </a:rPr>
                        <a:t>Partly</a:t>
                      </a:r>
                      <a:endParaRPr lang="en-US" sz="115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457200">
                <a:tc>
                  <a:txBody>
                    <a:bodyPr/>
                    <a:lstStyle/>
                    <a:p>
                      <a:pPr indent="0" marL="0">
                        <a:buNone/>
                      </a:pPr>
                      <a:r>
                        <a:rPr lang="en-US" sz="1150" dirty="0">
                          <a:solidFill>
                            <a:srgbClr val="1C1C28"/>
                          </a:solidFill>
                          <a:latin typeface="Source Sans 3" pitchFamily="34" charset="0"/>
                          <a:ea typeface="Source Sans 3" pitchFamily="34" charset="-122"/>
                          <a:cs typeface="Source Sans 3" pitchFamily="34" charset="-120"/>
                        </a:rPr>
                        <a:t>Careers</a:t>
                      </a:r>
                      <a:endParaRPr lang="en-US" sz="115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50" dirty="0">
                          <a:solidFill>
                            <a:srgbClr val="1C1C28"/>
                          </a:solidFill>
                          <a:latin typeface="Source Sans 3" pitchFamily="34" charset="0"/>
                          <a:ea typeface="Source Sans 3" pitchFamily="34" charset="-122"/>
                          <a:cs typeface="Source Sans 3" pitchFamily="34" charset="-120"/>
                        </a:rPr>
                        <a:t>Central platform</a:t>
                      </a:r>
                      <a:endParaRPr lang="en-US" sz="115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50" dirty="0">
                          <a:solidFill>
                            <a:srgbClr val="1C1C28"/>
                          </a:solidFill>
                          <a:latin typeface="Source Sans 3" pitchFamily="34" charset="0"/>
                          <a:ea typeface="Source Sans 3" pitchFamily="34" charset="-122"/>
                          <a:cs typeface="Source Sans 3" pitchFamily="34" charset="-120"/>
                        </a:rPr>
                        <a:t>8 of 9</a:t>
                      </a:r>
                      <a:endParaRPr lang="en-US" sz="115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50" dirty="0">
                          <a:solidFill>
                            <a:srgbClr val="1C1C28"/>
                          </a:solidFill>
                          <a:latin typeface="Source Sans 3" pitchFamily="34" charset="0"/>
                          <a:ea typeface="Source Sans 3" pitchFamily="34" charset="-122"/>
                          <a:cs typeface="Source Sans 3" pitchFamily="34" charset="-120"/>
                        </a:rPr>
                        <a:t>MBS</a:t>
                      </a:r>
                      <a:endParaRPr lang="en-US" sz="115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50" dirty="0">
                          <a:solidFill>
                            <a:srgbClr val="1C1C28"/>
                          </a:solidFill>
                          <a:latin typeface="Source Sans 3" pitchFamily="34" charset="0"/>
                          <a:ea typeface="Source Sans 3" pitchFamily="34" charset="-122"/>
                          <a:cs typeface="Source Sans 3" pitchFamily="34" charset="-120"/>
                        </a:rPr>
                        <a:t>Rarely</a:t>
                      </a:r>
                      <a:endParaRPr lang="en-US" sz="115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457200">
                <a:tc>
                  <a:txBody>
                    <a:bodyPr/>
                    <a:lstStyle/>
                    <a:p>
                      <a:pPr indent="0" marL="0">
                        <a:buNone/>
                      </a:pPr>
                      <a:r>
                        <a:rPr lang="en-US" sz="1150" dirty="0">
                          <a:solidFill>
                            <a:srgbClr val="1C1C28"/>
                          </a:solidFill>
                          <a:latin typeface="Source Sans 3" pitchFamily="34" charset="0"/>
                          <a:ea typeface="Source Sans 3" pitchFamily="34" charset="-122"/>
                          <a:cs typeface="Source Sans 3" pitchFamily="34" charset="-120"/>
                        </a:rPr>
                        <a:t>Placements / WIL</a:t>
                      </a:r>
                      <a:endParaRPr lang="en-US" sz="115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50" dirty="0">
                          <a:solidFill>
                            <a:srgbClr val="1C1C28"/>
                          </a:solidFill>
                          <a:latin typeface="Source Sans 3" pitchFamily="34" charset="0"/>
                          <a:ea typeface="Source Sans 3" pitchFamily="34" charset="-122"/>
                          <a:cs typeface="Source Sans 3" pitchFamily="34" charset="-120"/>
                        </a:rPr>
                        <a:t>—</a:t>
                      </a:r>
                      <a:endParaRPr lang="en-US" sz="115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50" dirty="0">
                          <a:solidFill>
                            <a:srgbClr val="1C1C28"/>
                          </a:solidFill>
                          <a:latin typeface="Source Sans 3" pitchFamily="34" charset="0"/>
                          <a:ea typeface="Source Sans 3" pitchFamily="34" charset="-122"/>
                          <a:cs typeface="Source Sans 3" pitchFamily="34" charset="-120"/>
                        </a:rPr>
                        <a:t>Every faculty</a:t>
                      </a:r>
                      <a:endParaRPr lang="en-US" sz="115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50" dirty="0">
                          <a:solidFill>
                            <a:srgbClr val="1C1C28"/>
                          </a:solidFill>
                          <a:latin typeface="Source Sans 3" pitchFamily="34" charset="0"/>
                          <a:ea typeface="Source Sans 3" pitchFamily="34" charset="-122"/>
                          <a:cs typeface="Source Sans 3" pitchFamily="34" charset="-120"/>
                        </a:rPr>
                        <a:t>Some</a:t>
                      </a:r>
                      <a:endParaRPr lang="en-US" sz="115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50" dirty="0">
                          <a:solidFill>
                            <a:srgbClr val="1C1C28"/>
                          </a:solidFill>
                          <a:latin typeface="Source Sans 3" pitchFamily="34" charset="0"/>
                          <a:ea typeface="Source Sans 3" pitchFamily="34" charset="-122"/>
                          <a:cs typeface="Source Sans 3" pitchFamily="34" charset="-120"/>
                        </a:rPr>
                        <a:t>—</a:t>
                      </a:r>
                      <a:endParaRPr lang="en-US" sz="115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457200">
                <a:tc>
                  <a:txBody>
                    <a:bodyPr/>
                    <a:lstStyle/>
                    <a:p>
                      <a:pPr indent="0" marL="0">
                        <a:buNone/>
                      </a:pPr>
                      <a:r>
                        <a:rPr lang="en-US" sz="1150" dirty="0">
                          <a:solidFill>
                            <a:srgbClr val="1C1C28"/>
                          </a:solidFill>
                          <a:latin typeface="Source Sans 3" pitchFamily="34" charset="0"/>
                          <a:ea typeface="Source Sans 3" pitchFamily="34" charset="-122"/>
                          <a:cs typeface="Source Sans 3" pitchFamily="34" charset="-120"/>
                        </a:rPr>
                        <a:t>Service requests</a:t>
                      </a:r>
                      <a:endParaRPr lang="en-US" sz="115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50" dirty="0">
                          <a:solidFill>
                            <a:srgbClr val="1C1C28"/>
                          </a:solidFill>
                          <a:latin typeface="Source Sans 3" pitchFamily="34" charset="0"/>
                          <a:ea typeface="Source Sans 3" pitchFamily="34" charset="-122"/>
                          <a:cs typeface="Source Sans 3" pitchFamily="34" charset="-120"/>
                        </a:rPr>
                        <a:t>Stop 1 + processes</a:t>
                      </a:r>
                      <a:endParaRPr lang="en-US" sz="115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50" dirty="0">
                          <a:solidFill>
                            <a:srgbClr val="1C1C28"/>
                          </a:solidFill>
                          <a:latin typeface="Source Sans 3" pitchFamily="34" charset="0"/>
                          <a:ea typeface="Source Sans 3" pitchFamily="34" charset="-122"/>
                          <a:cs typeface="Source Sans 3" pitchFamily="34" charset="-120"/>
                        </a:rPr>
                        <a:t>Student centres + forms</a:t>
                      </a:r>
                      <a:endParaRPr lang="en-US" sz="115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50" dirty="0">
                          <a:solidFill>
                            <a:srgbClr val="1C1C28"/>
                          </a:solidFill>
                          <a:latin typeface="Source Sans 3" pitchFamily="34" charset="0"/>
                          <a:ea typeface="Source Sans 3" pitchFamily="34" charset="-122"/>
                          <a:cs typeface="Source Sans 3" pitchFamily="34" charset="-120"/>
                        </a:rPr>
                        <a:t>Some</a:t>
                      </a:r>
                      <a:endParaRPr lang="en-US" sz="115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50" dirty="0">
                          <a:solidFill>
                            <a:srgbClr val="1C1C28"/>
                          </a:solidFill>
                          <a:latin typeface="Source Sans 3" pitchFamily="34" charset="0"/>
                          <a:ea typeface="Source Sans 3" pitchFamily="34" charset="-122"/>
                          <a:cs typeface="Source Sans 3" pitchFamily="34" charset="-120"/>
                        </a:rPr>
                        <a:t>Mixed</a:t>
                      </a:r>
                      <a:endParaRPr lang="en-US" sz="115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457200">
                <a:tc>
                  <a:txBody>
                    <a:bodyPr/>
                    <a:lstStyle/>
                    <a:p>
                      <a:pPr indent="0" marL="0">
                        <a:buNone/>
                      </a:pPr>
                      <a:r>
                        <a:rPr lang="en-US" sz="1150" dirty="0">
                          <a:solidFill>
                            <a:srgbClr val="1C1C28"/>
                          </a:solidFill>
                          <a:latin typeface="Source Sans 3" pitchFamily="34" charset="0"/>
                          <a:ea typeface="Source Sans 3" pitchFamily="34" charset="-122"/>
                          <a:cs typeface="Source Sans 3" pitchFamily="34" charset="-120"/>
                        </a:rPr>
                        <a:t>Further study</a:t>
                      </a:r>
                      <a:endParaRPr lang="en-US" sz="115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50" dirty="0">
                          <a:solidFill>
                            <a:srgbClr val="1C1C28"/>
                          </a:solidFill>
                          <a:latin typeface="Source Sans 3" pitchFamily="34" charset="0"/>
                          <a:ea typeface="Source Sans 3" pitchFamily="34" charset="-122"/>
                          <a:cs typeface="Source Sans 3" pitchFamily="34" charset="-120"/>
                        </a:rPr>
                        <a:t>Some</a:t>
                      </a:r>
                      <a:endParaRPr lang="en-US" sz="115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50" dirty="0">
                          <a:solidFill>
                            <a:srgbClr val="1C1C28"/>
                          </a:solidFill>
                          <a:latin typeface="Source Sans 3" pitchFamily="34" charset="0"/>
                          <a:ea typeface="Source Sans 3" pitchFamily="34" charset="-122"/>
                          <a:cs typeface="Source Sans 3" pitchFamily="34" charset="-120"/>
                        </a:rPr>
                        <a:t>Faculties</a:t>
                      </a:r>
                      <a:endParaRPr lang="en-US" sz="115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50" dirty="0">
                          <a:solidFill>
                            <a:srgbClr val="1C1C28"/>
                          </a:solidFill>
                          <a:latin typeface="Source Sans 3" pitchFamily="34" charset="0"/>
                          <a:ea typeface="Source Sans 3" pitchFamily="34" charset="-122"/>
                          <a:cs typeface="Source Sans 3" pitchFamily="34" charset="-120"/>
                        </a:rPr>
                        <a:t>Some</a:t>
                      </a:r>
                      <a:endParaRPr lang="en-US" sz="115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50" dirty="0">
                          <a:solidFill>
                            <a:srgbClr val="1C1C28"/>
                          </a:solidFill>
                          <a:latin typeface="Source Sans 3" pitchFamily="34" charset="0"/>
                          <a:ea typeface="Source Sans 3" pitchFamily="34" charset="-122"/>
                          <a:cs typeface="Source Sans 3" pitchFamily="34" charset="-120"/>
                        </a:rPr>
                        <a:t>Mixed</a:t>
                      </a:r>
                      <a:endParaRPr lang="en-US" sz="115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457200">
                <a:tc>
                  <a:txBody>
                    <a:bodyPr/>
                    <a:lstStyle/>
                    <a:p>
                      <a:pPr indent="0" marL="0">
                        <a:buNone/>
                      </a:pPr>
                      <a:r>
                        <a:rPr lang="en-US" sz="1100" i="1" dirty="0">
                          <a:solidFill>
                            <a:srgbClr val="5B5B6B"/>
                          </a:solidFill>
                          <a:latin typeface="Source Sans 3" pitchFamily="34" charset="0"/>
                          <a:ea typeface="Source Sans 3" pitchFamily="34" charset="-122"/>
                          <a:cs typeface="Source Sans 3" pitchFamily="34" charset="-120"/>
                        </a:rPr>
                        <a:t>Alumni engagement</a:t>
                      </a:r>
                      <a:endParaRPr lang="en-US" sz="110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i="1" dirty="0">
                          <a:solidFill>
                            <a:srgbClr val="5B5B6B"/>
                          </a:solidFill>
                          <a:latin typeface="Source Sans 3" pitchFamily="34" charset="0"/>
                          <a:ea typeface="Source Sans 3" pitchFamily="34" charset="-122"/>
                          <a:cs typeface="Source Sans 3" pitchFamily="34" charset="-120"/>
                        </a:rPr>
                        <a:t>—</a:t>
                      </a:r>
                      <a:endParaRPr lang="en-US" sz="110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i="1" dirty="0">
                          <a:solidFill>
                            <a:srgbClr val="5B5B6B"/>
                          </a:solidFill>
                          <a:latin typeface="Source Sans 3" pitchFamily="34" charset="0"/>
                          <a:ea typeface="Source Sans 3" pitchFamily="34" charset="-122"/>
                          <a:cs typeface="Source Sans 3" pitchFamily="34" charset="-120"/>
                        </a:rPr>
                        <a:t>Some faculties</a:t>
                      </a:r>
                      <a:endParaRPr lang="en-US" sz="110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i="1" dirty="0">
                          <a:solidFill>
                            <a:srgbClr val="5B5B6B"/>
                          </a:solidFill>
                          <a:latin typeface="Source Sans 3" pitchFamily="34" charset="0"/>
                          <a:ea typeface="Source Sans 3" pitchFamily="34" charset="-122"/>
                          <a:cs typeface="Source Sans 3" pitchFamily="34" charset="-120"/>
                        </a:rPr>
                        <a:t>MBS</a:t>
                      </a:r>
                      <a:endParaRPr lang="en-US" sz="110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i="1" dirty="0">
                          <a:solidFill>
                            <a:srgbClr val="5B5B6B"/>
                          </a:solidFill>
                          <a:latin typeface="Source Sans 3" pitchFamily="34" charset="0"/>
                          <a:ea typeface="Source Sans 3" pitchFamily="34" charset="-122"/>
                          <a:cs typeface="Source Sans 3" pitchFamily="34" charset="-120"/>
                        </a:rPr>
                        <a:t>No</a:t>
                      </a:r>
                      <a:endParaRPr lang="en-US" sz="110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457200">
                <a:tc>
                  <a:txBody>
                    <a:bodyPr/>
                    <a:lstStyle/>
                    <a:p>
                      <a:pPr indent="0" marL="0">
                        <a:buNone/>
                      </a:pPr>
                      <a:r>
                        <a:rPr lang="en-US" sz="1100" i="1" dirty="0">
                          <a:solidFill>
                            <a:srgbClr val="5B5B6B"/>
                          </a:solidFill>
                          <a:latin typeface="Source Sans 3" pitchFamily="34" charset="0"/>
                          <a:ea typeface="Source Sans 3" pitchFamily="34" charset="-122"/>
                          <a:cs typeface="Source Sans 3" pitchFamily="34" charset="-120"/>
                        </a:rPr>
                        <a:t>study.unimelb</a:t>
                      </a:r>
                      <a:endParaRPr lang="en-US" sz="110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i="1" dirty="0">
                          <a:solidFill>
                            <a:srgbClr val="5B5B6B"/>
                          </a:solidFill>
                          <a:latin typeface="Source Sans 3" pitchFamily="34" charset="0"/>
                          <a:ea typeface="Source Sans 3" pitchFamily="34" charset="-122"/>
                          <a:cs typeface="Source Sans 3" pitchFamily="34" charset="-120"/>
                        </a:rPr>
                        <a:t>Entry paths</a:t>
                      </a:r>
                      <a:endParaRPr lang="en-US" sz="110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i="1" dirty="0">
                          <a:solidFill>
                            <a:srgbClr val="5B5B6B"/>
                          </a:solidFill>
                          <a:latin typeface="Source Sans 3" pitchFamily="34" charset="0"/>
                          <a:ea typeface="Source Sans 3" pitchFamily="34" charset="-122"/>
                          <a:cs typeface="Source Sans 3" pitchFamily="34" charset="-120"/>
                        </a:rPr>
                        <a:t>Some</a:t>
                      </a:r>
                      <a:endParaRPr lang="en-US" sz="110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i="1" dirty="0">
                          <a:solidFill>
                            <a:srgbClr val="5B5B6B"/>
                          </a:solidFill>
                          <a:latin typeface="Source Sans 3" pitchFamily="34" charset="0"/>
                          <a:ea typeface="Source Sans 3" pitchFamily="34" charset="-122"/>
                          <a:cs typeface="Source Sans 3" pitchFamily="34" charset="-120"/>
                        </a:rPr>
                        <a:t>—</a:t>
                      </a:r>
                      <a:endParaRPr lang="en-US" sz="110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i="1" dirty="0">
                          <a:solidFill>
                            <a:srgbClr val="5B5B6B"/>
                          </a:solidFill>
                          <a:latin typeface="Source Sans 3" pitchFamily="34" charset="0"/>
                          <a:ea typeface="Source Sans 3" pitchFamily="34" charset="-122"/>
                          <a:cs typeface="Source Sans 3" pitchFamily="34" charset="-120"/>
                        </a:rPr>
                        <a:t>Rarely</a:t>
                      </a:r>
                      <a:endParaRPr lang="en-US" sz="110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bl>
          </a:graphicData>
        </a:graphic>
      </p:graphicFrame>
      <p:sp>
        <p:nvSpPr>
          <p:cNvPr id="8" name="Text 5"/>
          <p:cNvSpPr/>
          <p:nvPr/>
        </p:nvSpPr>
        <p:spPr>
          <a:xfrm>
            <a:off x="566928" y="5596128"/>
            <a:ext cx="6400800" cy="256032"/>
          </a:xfrm>
          <a:prstGeom prst="rect">
            <a:avLst/>
          </a:prstGeom>
          <a:noFill/>
          <a:ln/>
        </p:spPr>
        <p:txBody>
          <a:bodyPr wrap="square" lIns="0" tIns="0" rIns="0" bIns="0" rtlCol="0" anchor="ctr"/>
          <a:lstStyle/>
          <a:p>
            <a:pPr indent="0" marL="0">
              <a:buNone/>
            </a:pPr>
            <a:r>
              <a:rPr lang="en-US" sz="900" i="1" dirty="0">
                <a:solidFill>
                  <a:srgbClr val="5B5B6B"/>
                </a:solidFill>
                <a:latin typeface="Source Code Pro" pitchFamily="34" charset="0"/>
                <a:ea typeface="Source Code Pro" pitchFamily="34" charset="-122"/>
                <a:cs typeface="Source Code Pro" pitchFamily="34" charset="-120"/>
              </a:rPr>
              <a:t>Alumni and study.unimelb rows are indicative — full audit in progress.</a:t>
            </a:r>
            <a:endParaRPr lang="en-US" sz="900" dirty="0"/>
          </a:p>
        </p:txBody>
      </p:sp>
      <p:sp>
        <p:nvSpPr>
          <p:cNvPr id="9" name="Shape 6"/>
          <p:cNvSpPr/>
          <p:nvPr/>
        </p:nvSpPr>
        <p:spPr>
          <a:xfrm>
            <a:off x="566928" y="5897880"/>
            <a:ext cx="10881360" cy="621792"/>
          </a:xfrm>
          <a:prstGeom prst="rect">
            <a:avLst/>
          </a:prstGeom>
          <a:solidFill>
            <a:srgbClr val="EAF6FB"/>
          </a:solidFill>
          <a:ln/>
        </p:spPr>
      </p:sp>
      <p:sp>
        <p:nvSpPr>
          <p:cNvPr id="10" name="Shape 7"/>
          <p:cNvSpPr/>
          <p:nvPr/>
        </p:nvSpPr>
        <p:spPr>
          <a:xfrm>
            <a:off x="566928" y="5897880"/>
            <a:ext cx="91440" cy="621792"/>
          </a:xfrm>
          <a:prstGeom prst="rect">
            <a:avLst/>
          </a:prstGeom>
          <a:solidFill>
            <a:srgbClr val="46C8F0"/>
          </a:solidFill>
          <a:ln/>
        </p:spPr>
      </p:sp>
      <p:sp>
        <p:nvSpPr>
          <p:cNvPr id="11" name="Text 8"/>
          <p:cNvSpPr/>
          <p:nvPr/>
        </p:nvSpPr>
        <p:spPr>
          <a:xfrm>
            <a:off x="868680" y="5897880"/>
            <a:ext cx="10332720" cy="621792"/>
          </a:xfrm>
          <a:prstGeom prst="rect">
            <a:avLst/>
          </a:prstGeom>
          <a:noFill/>
          <a:ln/>
        </p:spPr>
        <p:txBody>
          <a:bodyPr wrap="square" lIns="0" tIns="0" rIns="0" bIns="0" rtlCol="0" anchor="ctr"/>
          <a:lstStyle/>
          <a:p>
            <a:pPr indent="0" marL="0">
              <a:buNone/>
            </a:pPr>
            <a:r>
              <a:rPr lang="en-US" sz="1350" b="1" dirty="0">
                <a:solidFill>
                  <a:srgbClr val="000F46"/>
                </a:solidFill>
                <a:latin typeface="Source Sans 3" pitchFamily="34" charset="0"/>
                <a:ea typeface="Source Sans 3" pitchFamily="34" charset="-122"/>
                <a:cs typeface="Source Sans 3" pitchFamily="34" charset="-120"/>
              </a:rPr>
              <a:t>To discuss:  </a:t>
            </a:r>
            <a:pPr indent="0" marL="0">
              <a:buNone/>
            </a:pPr>
            <a:r>
              <a:rPr lang="en-US" sz="1350" dirty="0">
                <a:solidFill>
                  <a:srgbClr val="000B34"/>
                </a:solidFill>
                <a:latin typeface="Source Sans 3" pitchFamily="34" charset="0"/>
                <a:ea typeface="Source Sans 3" pitchFamily="34" charset="-122"/>
                <a:cs typeface="Source Sans 3" pitchFamily="34" charset="-120"/>
              </a:rPr>
              <a:t>Is this the right picture of where things live? Where is the overlap helpful — and where is it accidental or frustrating?</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256032" cy="256032"/>
          </a:xfrm>
          <a:prstGeom prst="rect">
            <a:avLst/>
          </a:prstGeom>
          <a:solidFill>
            <a:srgbClr val="46C8F0"/>
          </a:solidFill>
          <a:ln/>
        </p:spPr>
      </p:sp>
      <p:sp>
        <p:nvSpPr>
          <p:cNvPr id="3" name="Text 1"/>
          <p:cNvSpPr/>
          <p:nvPr/>
        </p:nvSpPr>
        <p:spPr>
          <a:xfrm>
            <a:off x="914400" y="457200"/>
            <a:ext cx="10698480" cy="502920"/>
          </a:xfrm>
          <a:prstGeom prst="rect">
            <a:avLst/>
          </a:prstGeom>
          <a:noFill/>
          <a:ln/>
        </p:spPr>
        <p:txBody>
          <a:bodyPr wrap="square" lIns="0" tIns="0" rIns="0" bIns="0" rtlCol="0" anchor="ctr"/>
          <a:lstStyle/>
          <a:p>
            <a:pPr indent="0" marL="0">
              <a:buNone/>
            </a:pPr>
            <a:r>
              <a:rPr lang="en-US" sz="2900" b="1" dirty="0">
                <a:solidFill>
                  <a:srgbClr val="000F46"/>
                </a:solidFill>
                <a:latin typeface="Fraunces" pitchFamily="34" charset="0"/>
                <a:ea typeface="Fraunces" pitchFamily="34" charset="-122"/>
                <a:cs typeface="Fraunces" pitchFamily="34" charset="-120"/>
              </a:rPr>
              <a:t>Where overlap shows up — and where it matters</a:t>
            </a:r>
            <a:endParaRPr lang="en-US" sz="2900" dirty="0"/>
          </a:p>
        </p:txBody>
      </p:sp>
      <p:sp>
        <p:nvSpPr>
          <p:cNvPr id="4" name="Text 2"/>
          <p:cNvSpPr/>
          <p:nvPr/>
        </p:nvSpPr>
        <p:spPr>
          <a:xfrm>
            <a:off x="548640" y="6437376"/>
            <a:ext cx="9601200" cy="274320"/>
          </a:xfrm>
          <a:prstGeom prst="rect">
            <a:avLst/>
          </a:prstGeom>
          <a:noFill/>
          <a:ln/>
        </p:spPr>
        <p:txBody>
          <a:bodyPr wrap="square" lIns="0" tIns="0" rIns="0" bIns="0" rtlCol="0" anchor="ctr"/>
          <a:lstStyle/>
          <a:p>
            <a:pPr indent="0" marL="0">
              <a:buNone/>
            </a:pPr>
            <a:r>
              <a:rPr lang="en-US" sz="900" dirty="0">
                <a:solidFill>
                  <a:srgbClr val="5B5B6B"/>
                </a:solidFill>
                <a:latin typeface="Source Sans 3" pitchFamily="34" charset="0"/>
                <a:ea typeface="Source Sans 3" pitchFamily="34" charset="-122"/>
                <a:cs typeface="Source Sans 3" pitchFamily="34" charset="-120"/>
              </a:rPr>
              <a:t>University of Melbourne — web estate alignment discussion · for discussion</a:t>
            </a:r>
            <a:endParaRPr lang="en-US" sz="900" dirty="0"/>
          </a:p>
        </p:txBody>
      </p:sp>
      <p:sp>
        <p:nvSpPr>
          <p:cNvPr id="5" name="Text 3"/>
          <p:cNvSpPr/>
          <p:nvPr/>
        </p:nvSpPr>
        <p:spPr>
          <a:xfrm>
            <a:off x="11247120" y="6437376"/>
            <a:ext cx="411480" cy="274320"/>
          </a:xfrm>
          <a:prstGeom prst="rect">
            <a:avLst/>
          </a:prstGeom>
          <a:noFill/>
          <a:ln/>
        </p:spPr>
        <p:txBody>
          <a:bodyPr wrap="square" lIns="0" tIns="0" rIns="0" bIns="0" rtlCol="0" anchor="ctr"/>
          <a:lstStyle/>
          <a:p>
            <a:pPr algn="r" indent="0" marL="0">
              <a:buNone/>
            </a:pPr>
            <a:r>
              <a:rPr lang="en-US" sz="900" dirty="0">
                <a:solidFill>
                  <a:srgbClr val="5B5B6B"/>
                </a:solidFill>
                <a:latin typeface="Source Sans 3" pitchFamily="34" charset="0"/>
                <a:ea typeface="Source Sans 3" pitchFamily="34" charset="-122"/>
                <a:cs typeface="Source Sans 3" pitchFamily="34" charset="-120"/>
              </a:rPr>
              <a:t>6</a:t>
            </a:r>
            <a:endParaRPr lang="en-US" sz="900" dirty="0"/>
          </a:p>
        </p:txBody>
      </p:sp>
      <p:sp>
        <p:nvSpPr>
          <p:cNvPr id="6" name="Text 4"/>
          <p:cNvSpPr/>
          <p:nvPr/>
        </p:nvSpPr>
        <p:spPr>
          <a:xfrm>
            <a:off x="566928" y="1325880"/>
            <a:ext cx="5760720" cy="4389120"/>
          </a:xfrm>
          <a:prstGeom prst="rect">
            <a:avLst/>
          </a:prstGeom>
          <a:noFill/>
          <a:ln/>
        </p:spPr>
        <p:txBody>
          <a:bodyPr wrap="square" lIns="0" tIns="0" rIns="0" bIns="0" rtlCol="0" anchor="t"/>
          <a:lstStyle/>
          <a:p>
            <a:pPr indent="0" marL="0">
              <a:lnSpc>
                <a:spcPct val="122000"/>
              </a:lnSpc>
              <a:spcAft>
                <a:spcPts val="1600"/>
              </a:spcAft>
              <a:buNone/>
            </a:pPr>
            <a:r>
              <a:rPr lang="en-US" sz="1550" b="1" dirty="0">
                <a:solidFill>
                  <a:srgbClr val="1C1C28"/>
                </a:solidFill>
                <a:latin typeface="Source Sans 3" pitchFamily="34" charset="0"/>
                <a:ea typeface="Source Sans 3" pitchFamily="34" charset="-122"/>
                <a:cs typeface="Source Sans 3" pitchFamily="34" charset="-120"/>
              </a:rPr>
              <a:t>For each area — the same three questions:</a:t>
            </a:r>
            <a:endParaRPr lang="en-US" sz="1550" dirty="0"/>
          </a:p>
          <a:p>
            <a:pPr indent="0" marL="0">
              <a:lnSpc>
                <a:spcPct val="122000"/>
              </a:lnSpc>
              <a:spcAft>
                <a:spcPts val="1000"/>
              </a:spcAft>
              <a:buNone/>
            </a:pPr>
            <a:r>
              <a:rPr lang="en-US" sz="1550" dirty="0">
                <a:solidFill>
                  <a:srgbClr val="1C1C28"/>
                </a:solidFill>
                <a:latin typeface="Source Sans 3" pitchFamily="34" charset="0"/>
                <a:ea typeface="Source Sans 3" pitchFamily="34" charset="-122"/>
                <a:cs typeface="Source Sans 3" pitchFamily="34" charset="-120"/>
              </a:rPr>
              <a:t>1.  Is the overlap intentional, or accidental?</a:t>
            </a:r>
            <a:endParaRPr lang="en-US" sz="1550" dirty="0"/>
          </a:p>
          <a:p>
            <a:pPr indent="0" marL="0">
              <a:lnSpc>
                <a:spcPct val="122000"/>
              </a:lnSpc>
              <a:spcAft>
                <a:spcPts val="1000"/>
              </a:spcAft>
              <a:buNone/>
            </a:pPr>
            <a:r>
              <a:rPr lang="en-US" sz="1550" dirty="0">
                <a:solidFill>
                  <a:srgbClr val="1C1C28"/>
                </a:solidFill>
                <a:latin typeface="Source Sans 3" pitchFamily="34" charset="0"/>
                <a:ea typeface="Source Sans 3" pitchFamily="34" charset="-122"/>
                <a:cs typeface="Source Sans 3" pitchFamily="34" charset="-120"/>
              </a:rPr>
              <a:t>2.  Does it help or hinder the user?</a:t>
            </a:r>
            <a:endParaRPr lang="en-US" sz="1550" dirty="0"/>
          </a:p>
          <a:p>
            <a:pPr indent="0" marL="0">
              <a:lnSpc>
                <a:spcPct val="122000"/>
              </a:lnSpc>
              <a:spcAft>
                <a:spcPts val="2800"/>
              </a:spcAft>
              <a:buNone/>
            </a:pPr>
            <a:r>
              <a:rPr lang="en-US" sz="1550" dirty="0">
                <a:solidFill>
                  <a:srgbClr val="1C1C28"/>
                </a:solidFill>
                <a:latin typeface="Source Sans 3" pitchFamily="34" charset="0"/>
                <a:ea typeface="Source Sans 3" pitchFamily="34" charset="-122"/>
                <a:cs typeface="Source Sans 3" pitchFamily="34" charset="-120"/>
              </a:rPr>
              <a:t>3.  Is someone already working on it?</a:t>
            </a:r>
            <a:endParaRPr lang="en-US" sz="1550" dirty="0"/>
          </a:p>
          <a:p>
            <a:pPr indent="0" marL="0">
              <a:lnSpc>
                <a:spcPct val="122000"/>
              </a:lnSpc>
              <a:buNone/>
            </a:pPr>
            <a:r>
              <a:rPr lang="en-US" sz="1550" dirty="0">
                <a:solidFill>
                  <a:srgbClr val="5B5B6B"/>
                </a:solidFill>
                <a:latin typeface="Source Sans 3" pitchFamily="34" charset="0"/>
                <a:ea typeface="Source Sans 3" pitchFamily="34" charset="-122"/>
                <a:cs typeface="Source Sans 3" pitchFamily="34" charset="-120"/>
              </a:rPr>
              <a:t>Use the capture board to note what we agree on, what's already in flight, what's worth exploring, and who's involved.</a:t>
            </a:r>
            <a:endParaRPr lang="en-US" sz="1550" dirty="0"/>
          </a:p>
        </p:txBody>
      </p:sp>
      <p:sp>
        <p:nvSpPr>
          <p:cNvPr id="7" name="Shape 5"/>
          <p:cNvSpPr/>
          <p:nvPr/>
        </p:nvSpPr>
        <p:spPr>
          <a:xfrm>
            <a:off x="6720840" y="1280160"/>
            <a:ext cx="4910328" cy="4846320"/>
          </a:xfrm>
          <a:prstGeom prst="rect">
            <a:avLst/>
          </a:prstGeom>
          <a:solidFill>
            <a:srgbClr val="EAF6FB"/>
          </a:solidFill>
          <a:ln/>
        </p:spPr>
      </p:sp>
      <p:sp>
        <p:nvSpPr>
          <p:cNvPr id="8" name="Shape 6"/>
          <p:cNvSpPr/>
          <p:nvPr/>
        </p:nvSpPr>
        <p:spPr>
          <a:xfrm>
            <a:off x="6720840" y="1280160"/>
            <a:ext cx="91440" cy="4846320"/>
          </a:xfrm>
          <a:prstGeom prst="rect">
            <a:avLst/>
          </a:prstGeom>
          <a:solidFill>
            <a:srgbClr val="46C8F0"/>
          </a:solidFill>
          <a:ln/>
        </p:spPr>
      </p:sp>
      <p:sp>
        <p:nvSpPr>
          <p:cNvPr id="9" name="Text 7"/>
          <p:cNvSpPr/>
          <p:nvPr/>
        </p:nvSpPr>
        <p:spPr>
          <a:xfrm>
            <a:off x="7022592" y="1481328"/>
            <a:ext cx="4480560" cy="274320"/>
          </a:xfrm>
          <a:prstGeom prst="rect">
            <a:avLst/>
          </a:prstGeom>
          <a:noFill/>
          <a:ln/>
        </p:spPr>
        <p:txBody>
          <a:bodyPr wrap="square" lIns="0" tIns="0" rIns="0" bIns="0" rtlCol="0" anchor="ctr"/>
          <a:lstStyle/>
          <a:p>
            <a:pPr indent="0" marL="0">
              <a:buNone/>
            </a:pPr>
            <a:r>
              <a:rPr lang="en-US" sz="1100" b="1" spc="200" kern="0" dirty="0">
                <a:solidFill>
                  <a:srgbClr val="2F95B7"/>
                </a:solidFill>
                <a:latin typeface="Source Code Pro" pitchFamily="34" charset="0"/>
                <a:ea typeface="Source Code Pro" pitchFamily="34" charset="-122"/>
                <a:cs typeface="Source Code Pro" pitchFamily="34" charset="-120"/>
              </a:rPr>
              <a:t>AREAS TO DISCUSS</a:t>
            </a:r>
            <a:endParaRPr lang="en-US" sz="1100" dirty="0"/>
          </a:p>
        </p:txBody>
      </p:sp>
      <p:sp>
        <p:nvSpPr>
          <p:cNvPr id="10" name="Shape 8"/>
          <p:cNvSpPr/>
          <p:nvPr/>
        </p:nvSpPr>
        <p:spPr>
          <a:xfrm>
            <a:off x="7022592" y="1920240"/>
            <a:ext cx="4389120" cy="512064"/>
          </a:xfrm>
          <a:prstGeom prst="rect">
            <a:avLst/>
          </a:prstGeom>
          <a:solidFill>
            <a:srgbClr val="FFFFFF"/>
          </a:solidFill>
          <a:ln w="12700">
            <a:solidFill>
              <a:srgbClr val="DDDDE7"/>
            </a:solidFill>
            <a:prstDash val="solid"/>
          </a:ln>
        </p:spPr>
      </p:sp>
      <p:sp>
        <p:nvSpPr>
          <p:cNvPr id="11" name="Text 9"/>
          <p:cNvSpPr/>
          <p:nvPr/>
        </p:nvSpPr>
        <p:spPr>
          <a:xfrm>
            <a:off x="7150608" y="1920240"/>
            <a:ext cx="4206240" cy="512064"/>
          </a:xfrm>
          <a:prstGeom prst="rect">
            <a:avLst/>
          </a:prstGeom>
          <a:noFill/>
          <a:ln/>
        </p:spPr>
        <p:txBody>
          <a:bodyPr wrap="square" lIns="0" tIns="0" rIns="0" bIns="0" rtlCol="0" anchor="ctr"/>
          <a:lstStyle/>
          <a:p>
            <a:pPr indent="0" marL="0">
              <a:buNone/>
            </a:pPr>
            <a:r>
              <a:rPr lang="en-US" sz="1300" dirty="0">
                <a:solidFill>
                  <a:srgbClr val="000B34"/>
                </a:solidFill>
                <a:latin typeface="Source Sans 3" pitchFamily="34" charset="0"/>
                <a:ea typeface="Source Sans 3" pitchFamily="34" charset="-122"/>
                <a:cs typeface="Source Sans 3" pitchFamily="34" charset="-120"/>
              </a:rPr>
              <a:t>Course planning</a:t>
            </a:r>
            <a:endParaRPr lang="en-US" sz="1300" dirty="0"/>
          </a:p>
        </p:txBody>
      </p:sp>
      <p:sp>
        <p:nvSpPr>
          <p:cNvPr id="12" name="Shape 10"/>
          <p:cNvSpPr/>
          <p:nvPr/>
        </p:nvSpPr>
        <p:spPr>
          <a:xfrm>
            <a:off x="7022592" y="2578608"/>
            <a:ext cx="4389120" cy="512064"/>
          </a:xfrm>
          <a:prstGeom prst="rect">
            <a:avLst/>
          </a:prstGeom>
          <a:solidFill>
            <a:srgbClr val="FFFFFF"/>
          </a:solidFill>
          <a:ln w="12700">
            <a:solidFill>
              <a:srgbClr val="DDDDE7"/>
            </a:solidFill>
            <a:prstDash val="solid"/>
          </a:ln>
        </p:spPr>
      </p:sp>
      <p:sp>
        <p:nvSpPr>
          <p:cNvPr id="13" name="Text 11"/>
          <p:cNvSpPr/>
          <p:nvPr/>
        </p:nvSpPr>
        <p:spPr>
          <a:xfrm>
            <a:off x="7150608" y="2578608"/>
            <a:ext cx="4206240" cy="512064"/>
          </a:xfrm>
          <a:prstGeom prst="rect">
            <a:avLst/>
          </a:prstGeom>
          <a:noFill/>
          <a:ln/>
        </p:spPr>
        <p:txBody>
          <a:bodyPr wrap="square" lIns="0" tIns="0" rIns="0" bIns="0" rtlCol="0" anchor="ctr"/>
          <a:lstStyle/>
          <a:p>
            <a:pPr indent="0" marL="0">
              <a:buNone/>
            </a:pPr>
            <a:r>
              <a:rPr lang="en-US" sz="1300" dirty="0">
                <a:solidFill>
                  <a:srgbClr val="000B34"/>
                </a:solidFill>
                <a:latin typeface="Source Sans 3" pitchFamily="34" charset="0"/>
                <a:ea typeface="Source Sans 3" pitchFamily="34" charset="-122"/>
                <a:cs typeface="Source Sans 3" pitchFamily="34" charset="-120"/>
              </a:rPr>
              <a:t>Careers &amp; employability</a:t>
            </a:r>
            <a:endParaRPr lang="en-US" sz="1300" dirty="0"/>
          </a:p>
        </p:txBody>
      </p:sp>
      <p:sp>
        <p:nvSpPr>
          <p:cNvPr id="14" name="Shape 12"/>
          <p:cNvSpPr/>
          <p:nvPr/>
        </p:nvSpPr>
        <p:spPr>
          <a:xfrm>
            <a:off x="7022592" y="3236976"/>
            <a:ext cx="4389120" cy="512064"/>
          </a:xfrm>
          <a:prstGeom prst="rect">
            <a:avLst/>
          </a:prstGeom>
          <a:solidFill>
            <a:srgbClr val="FFFFFF"/>
          </a:solidFill>
          <a:ln w="12700">
            <a:solidFill>
              <a:srgbClr val="DDDDE7"/>
            </a:solidFill>
            <a:prstDash val="solid"/>
          </a:ln>
        </p:spPr>
      </p:sp>
      <p:sp>
        <p:nvSpPr>
          <p:cNvPr id="15" name="Text 13"/>
          <p:cNvSpPr/>
          <p:nvPr/>
        </p:nvSpPr>
        <p:spPr>
          <a:xfrm>
            <a:off x="7150608" y="3236976"/>
            <a:ext cx="4206240" cy="512064"/>
          </a:xfrm>
          <a:prstGeom prst="rect">
            <a:avLst/>
          </a:prstGeom>
          <a:noFill/>
          <a:ln/>
        </p:spPr>
        <p:txBody>
          <a:bodyPr wrap="square" lIns="0" tIns="0" rIns="0" bIns="0" rtlCol="0" anchor="ctr"/>
          <a:lstStyle/>
          <a:p>
            <a:pPr indent="0" marL="0">
              <a:buNone/>
            </a:pPr>
            <a:r>
              <a:rPr lang="en-US" sz="1300" dirty="0">
                <a:solidFill>
                  <a:srgbClr val="000B34"/>
                </a:solidFill>
                <a:latin typeface="Source Sans 3" pitchFamily="34" charset="0"/>
                <a:ea typeface="Source Sans 3" pitchFamily="34" charset="-122"/>
                <a:cs typeface="Source Sans 3" pitchFamily="34" charset="-120"/>
              </a:rPr>
              <a:t>Faculty service requests</a:t>
            </a:r>
            <a:endParaRPr lang="en-US" sz="1300" dirty="0"/>
          </a:p>
        </p:txBody>
      </p:sp>
      <p:sp>
        <p:nvSpPr>
          <p:cNvPr id="16" name="Shape 14"/>
          <p:cNvSpPr/>
          <p:nvPr/>
        </p:nvSpPr>
        <p:spPr>
          <a:xfrm>
            <a:off x="7022592" y="3895344"/>
            <a:ext cx="4389120" cy="512064"/>
          </a:xfrm>
          <a:prstGeom prst="rect">
            <a:avLst/>
          </a:prstGeom>
          <a:solidFill>
            <a:srgbClr val="FFFFFF"/>
          </a:solidFill>
          <a:ln w="12700">
            <a:solidFill>
              <a:srgbClr val="DDDDE7"/>
            </a:solidFill>
            <a:prstDash val="solid"/>
          </a:ln>
        </p:spPr>
      </p:sp>
      <p:sp>
        <p:nvSpPr>
          <p:cNvPr id="17" name="Text 15"/>
          <p:cNvSpPr/>
          <p:nvPr/>
        </p:nvSpPr>
        <p:spPr>
          <a:xfrm>
            <a:off x="7150608" y="3895344"/>
            <a:ext cx="4206240" cy="512064"/>
          </a:xfrm>
          <a:prstGeom prst="rect">
            <a:avLst/>
          </a:prstGeom>
          <a:noFill/>
          <a:ln/>
        </p:spPr>
        <p:txBody>
          <a:bodyPr wrap="square" lIns="0" tIns="0" rIns="0" bIns="0" rtlCol="0" anchor="ctr"/>
          <a:lstStyle/>
          <a:p>
            <a:pPr indent="0" marL="0">
              <a:buNone/>
            </a:pPr>
            <a:r>
              <a:rPr lang="en-US" sz="1300" dirty="0">
                <a:solidFill>
                  <a:srgbClr val="000B34"/>
                </a:solidFill>
                <a:latin typeface="Source Sans 3" pitchFamily="34" charset="0"/>
                <a:ea typeface="Source Sans 3" pitchFamily="34" charset="-122"/>
                <a:cs typeface="Source Sans 3" pitchFamily="34" charset="-120"/>
              </a:rPr>
              <a:t>Further study pathways</a:t>
            </a:r>
            <a:endParaRPr lang="en-US" sz="1300" dirty="0"/>
          </a:p>
        </p:txBody>
      </p:sp>
      <p:sp>
        <p:nvSpPr>
          <p:cNvPr id="18" name="Shape 16"/>
          <p:cNvSpPr/>
          <p:nvPr/>
        </p:nvSpPr>
        <p:spPr>
          <a:xfrm>
            <a:off x="7022592" y="4553712"/>
            <a:ext cx="4389120" cy="512064"/>
          </a:xfrm>
          <a:prstGeom prst="rect">
            <a:avLst/>
          </a:prstGeom>
          <a:solidFill>
            <a:srgbClr val="FFFFFF"/>
          </a:solidFill>
          <a:ln w="12700">
            <a:solidFill>
              <a:srgbClr val="DDDDE7"/>
            </a:solidFill>
            <a:prstDash val="solid"/>
          </a:ln>
        </p:spPr>
      </p:sp>
      <p:sp>
        <p:nvSpPr>
          <p:cNvPr id="19" name="Text 17"/>
          <p:cNvSpPr/>
          <p:nvPr/>
        </p:nvSpPr>
        <p:spPr>
          <a:xfrm>
            <a:off x="7150608" y="4553712"/>
            <a:ext cx="4206240" cy="512064"/>
          </a:xfrm>
          <a:prstGeom prst="rect">
            <a:avLst/>
          </a:prstGeom>
          <a:noFill/>
          <a:ln/>
        </p:spPr>
        <p:txBody>
          <a:bodyPr wrap="square" lIns="0" tIns="0" rIns="0" bIns="0" rtlCol="0" anchor="ctr"/>
          <a:lstStyle/>
          <a:p>
            <a:pPr indent="0" marL="0">
              <a:buNone/>
            </a:pPr>
            <a:r>
              <a:rPr lang="en-US" sz="1300" dirty="0">
                <a:solidFill>
                  <a:srgbClr val="000B34"/>
                </a:solidFill>
                <a:latin typeface="Source Sans 3" pitchFamily="34" charset="0"/>
                <a:ea typeface="Source Sans 3" pitchFamily="34" charset="-122"/>
                <a:cs typeface="Source Sans 3" pitchFamily="34" charset="-120"/>
              </a:rPr>
              <a:t>Alumni engagement</a:t>
            </a:r>
            <a:endParaRPr lang="en-US" sz="1300" dirty="0"/>
          </a:p>
        </p:txBody>
      </p:sp>
      <p:sp>
        <p:nvSpPr>
          <p:cNvPr id="20" name="Shape 18"/>
          <p:cNvSpPr/>
          <p:nvPr/>
        </p:nvSpPr>
        <p:spPr>
          <a:xfrm>
            <a:off x="7022592" y="5212080"/>
            <a:ext cx="4389120" cy="512064"/>
          </a:xfrm>
          <a:prstGeom prst="rect">
            <a:avLst/>
          </a:prstGeom>
          <a:solidFill>
            <a:srgbClr val="FFFFFF"/>
          </a:solidFill>
          <a:ln w="12700">
            <a:solidFill>
              <a:srgbClr val="DDDDE7"/>
            </a:solidFill>
            <a:prstDash val="solid"/>
          </a:ln>
        </p:spPr>
      </p:sp>
      <p:sp>
        <p:nvSpPr>
          <p:cNvPr id="21" name="Text 19"/>
          <p:cNvSpPr/>
          <p:nvPr/>
        </p:nvSpPr>
        <p:spPr>
          <a:xfrm>
            <a:off x="7150608" y="5212080"/>
            <a:ext cx="4206240" cy="512064"/>
          </a:xfrm>
          <a:prstGeom prst="rect">
            <a:avLst/>
          </a:prstGeom>
          <a:noFill/>
          <a:ln/>
        </p:spPr>
        <p:txBody>
          <a:bodyPr wrap="square" lIns="0" tIns="0" rIns="0" bIns="0" rtlCol="0" anchor="ctr"/>
          <a:lstStyle/>
          <a:p>
            <a:pPr indent="0" marL="0">
              <a:buNone/>
            </a:pPr>
            <a:r>
              <a:rPr lang="en-US" sz="1300" dirty="0">
                <a:solidFill>
                  <a:srgbClr val="000B34"/>
                </a:solidFill>
                <a:latin typeface="Source Sans 3" pitchFamily="34" charset="0"/>
                <a:ea typeface="Source Sans 3" pitchFamily="34" charset="-122"/>
                <a:cs typeface="Source Sans 3" pitchFamily="34" charset="-120"/>
              </a:rPr>
              <a:t>study.unimelb.edu.au</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256032" cy="256032"/>
          </a:xfrm>
          <a:prstGeom prst="rect">
            <a:avLst/>
          </a:prstGeom>
          <a:solidFill>
            <a:srgbClr val="46C8F0"/>
          </a:solidFill>
          <a:ln/>
        </p:spPr>
      </p:sp>
      <p:sp>
        <p:nvSpPr>
          <p:cNvPr id="3" name="Text 1"/>
          <p:cNvSpPr/>
          <p:nvPr/>
        </p:nvSpPr>
        <p:spPr>
          <a:xfrm>
            <a:off x="914400" y="457200"/>
            <a:ext cx="10698480" cy="502920"/>
          </a:xfrm>
          <a:prstGeom prst="rect">
            <a:avLst/>
          </a:prstGeom>
          <a:noFill/>
          <a:ln/>
        </p:spPr>
        <p:txBody>
          <a:bodyPr wrap="square" lIns="0" tIns="0" rIns="0" bIns="0" rtlCol="0" anchor="ctr"/>
          <a:lstStyle/>
          <a:p>
            <a:pPr indent="0" marL="0">
              <a:buNone/>
            </a:pPr>
            <a:r>
              <a:rPr lang="en-US" sz="2900" b="1" dirty="0">
                <a:solidFill>
                  <a:srgbClr val="000F46"/>
                </a:solidFill>
                <a:latin typeface="Fraunces" pitchFamily="34" charset="0"/>
                <a:ea typeface="Fraunces" pitchFamily="34" charset="-122"/>
                <a:cs typeface="Fraunces" pitchFamily="34" charset="-120"/>
              </a:rPr>
              <a:t>What's already in flight</a:t>
            </a:r>
            <a:endParaRPr lang="en-US" sz="2900" dirty="0"/>
          </a:p>
        </p:txBody>
      </p:sp>
      <p:sp>
        <p:nvSpPr>
          <p:cNvPr id="4" name="Text 2"/>
          <p:cNvSpPr/>
          <p:nvPr/>
        </p:nvSpPr>
        <p:spPr>
          <a:xfrm>
            <a:off x="548640" y="6437376"/>
            <a:ext cx="9601200" cy="274320"/>
          </a:xfrm>
          <a:prstGeom prst="rect">
            <a:avLst/>
          </a:prstGeom>
          <a:noFill/>
          <a:ln/>
        </p:spPr>
        <p:txBody>
          <a:bodyPr wrap="square" lIns="0" tIns="0" rIns="0" bIns="0" rtlCol="0" anchor="ctr"/>
          <a:lstStyle/>
          <a:p>
            <a:pPr indent="0" marL="0">
              <a:buNone/>
            </a:pPr>
            <a:r>
              <a:rPr lang="en-US" sz="900" dirty="0">
                <a:solidFill>
                  <a:srgbClr val="5B5B6B"/>
                </a:solidFill>
                <a:latin typeface="Source Sans 3" pitchFamily="34" charset="0"/>
                <a:ea typeface="Source Sans 3" pitchFamily="34" charset="-122"/>
                <a:cs typeface="Source Sans 3" pitchFamily="34" charset="-120"/>
              </a:rPr>
              <a:t>University of Melbourne — web estate alignment discussion · for discussion</a:t>
            </a:r>
            <a:endParaRPr lang="en-US" sz="900" dirty="0"/>
          </a:p>
        </p:txBody>
      </p:sp>
      <p:sp>
        <p:nvSpPr>
          <p:cNvPr id="5" name="Text 3"/>
          <p:cNvSpPr/>
          <p:nvPr/>
        </p:nvSpPr>
        <p:spPr>
          <a:xfrm>
            <a:off x="11247120" y="6437376"/>
            <a:ext cx="411480" cy="274320"/>
          </a:xfrm>
          <a:prstGeom prst="rect">
            <a:avLst/>
          </a:prstGeom>
          <a:noFill/>
          <a:ln/>
        </p:spPr>
        <p:txBody>
          <a:bodyPr wrap="square" lIns="0" tIns="0" rIns="0" bIns="0" rtlCol="0" anchor="ctr"/>
          <a:lstStyle/>
          <a:p>
            <a:pPr algn="r" indent="0" marL="0">
              <a:buNone/>
            </a:pPr>
            <a:r>
              <a:rPr lang="en-US" sz="900" dirty="0">
                <a:solidFill>
                  <a:srgbClr val="5B5B6B"/>
                </a:solidFill>
                <a:latin typeface="Source Sans 3" pitchFamily="34" charset="0"/>
                <a:ea typeface="Source Sans 3" pitchFamily="34" charset="-122"/>
                <a:cs typeface="Source Sans 3" pitchFamily="34" charset="-120"/>
              </a:rPr>
              <a:t>7</a:t>
            </a:r>
            <a:endParaRPr lang="en-US" sz="900" dirty="0"/>
          </a:p>
        </p:txBody>
      </p:sp>
      <p:sp>
        <p:nvSpPr>
          <p:cNvPr id="6" name="Text 4"/>
          <p:cNvSpPr/>
          <p:nvPr/>
        </p:nvSpPr>
        <p:spPr>
          <a:xfrm>
            <a:off x="566928" y="1325880"/>
            <a:ext cx="10881360" cy="457200"/>
          </a:xfrm>
          <a:prstGeom prst="rect">
            <a:avLst/>
          </a:prstGeom>
          <a:noFill/>
          <a:ln/>
        </p:spPr>
        <p:txBody>
          <a:bodyPr wrap="square" lIns="0" tIns="0" rIns="0" bIns="0" rtlCol="0" anchor="ctr"/>
          <a:lstStyle/>
          <a:p>
            <a:pPr indent="0" marL="0">
              <a:buNone/>
            </a:pPr>
            <a:r>
              <a:rPr lang="en-US" sz="1500" dirty="0">
                <a:solidFill>
                  <a:srgbClr val="1C1C28"/>
                </a:solidFill>
                <a:latin typeface="Source Sans 3" pitchFamily="34" charset="0"/>
                <a:ea typeface="Source Sans 3" pitchFamily="34" charset="-122"/>
                <a:cs typeface="Source Sans 3" pitchFamily="34" charset="-120"/>
              </a:rPr>
              <a:t>Initiatives already underway — to build on rather than duplicate.</a:t>
            </a:r>
            <a:endParaRPr lang="en-US" sz="15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1920240"/>
          <a:ext cx="11064240" cy="914400"/>
        </p:xfrm>
        <a:graphic>
          <a:graphicData uri="http://schemas.openxmlformats.org/drawingml/2006/table">
            <a:tbl>
              <a:tblPr/>
              <a:tblGrid>
                <a:gridCol w="6217920"/>
                <a:gridCol w="2926080"/>
                <a:gridCol w="1920240"/>
              </a:tblGrid>
              <a:tr h="566928">
                <a:tc>
                  <a:txBody>
                    <a:bodyPr/>
                    <a:lstStyle/>
                    <a:p>
                      <a:pPr algn="l" indent="0" marL="0">
                        <a:buNone/>
                      </a:pPr>
                      <a:r>
                        <a:rPr lang="en-US" sz="1200" b="1" dirty="0">
                          <a:solidFill>
                            <a:srgbClr val="FFFFFF"/>
                          </a:solidFill>
                          <a:latin typeface="Source Sans 3" pitchFamily="34" charset="0"/>
                          <a:ea typeface="Source Sans 3" pitchFamily="34" charset="-122"/>
                          <a:cs typeface="Source Sans 3" pitchFamily="34" charset="-120"/>
                        </a:rPr>
                        <a:t>Initiative</a:t>
                      </a:r>
                      <a:endParaRPr lang="en-US" sz="120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l" indent="0" marL="0">
                        <a:buNone/>
                      </a:pPr>
                      <a:r>
                        <a:rPr lang="en-US" sz="1200" b="1" dirty="0">
                          <a:solidFill>
                            <a:srgbClr val="FFFFFF"/>
                          </a:solidFill>
                          <a:latin typeface="Source Sans 3" pitchFamily="34" charset="0"/>
                          <a:ea typeface="Source Sans 3" pitchFamily="34" charset="-122"/>
                          <a:cs typeface="Source Sans 3" pitchFamily="34" charset="-120"/>
                        </a:rPr>
                        <a:t>Owner area</a:t>
                      </a:r>
                      <a:endParaRPr lang="en-US" sz="120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l" indent="0" marL="0">
                        <a:buNone/>
                      </a:pPr>
                      <a:r>
                        <a:rPr lang="en-US" sz="1200" b="1" dirty="0">
                          <a:solidFill>
                            <a:srgbClr val="FFFFFF"/>
                          </a:solidFill>
                          <a:latin typeface="Source Sans 3" pitchFamily="34" charset="0"/>
                          <a:ea typeface="Source Sans 3" pitchFamily="34" charset="-122"/>
                          <a:cs typeface="Source Sans 3" pitchFamily="34" charset="-120"/>
                        </a:rPr>
                        <a:t>Status</a:t>
                      </a:r>
                      <a:endParaRPr lang="en-US" sz="120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r>
              <a:tr h="566928">
                <a:tc>
                  <a:txBody>
                    <a:bodyPr/>
                    <a:lstStyle/>
                    <a:p>
                      <a:pPr indent="0" marL="0">
                        <a:buNone/>
                      </a:pPr>
                      <a:r>
                        <a:rPr lang="en-US" sz="1200" dirty="0">
                          <a:solidFill>
                            <a:srgbClr val="1C1C28"/>
                          </a:solidFill>
                          <a:latin typeface="Source Sans 3" pitchFamily="34" charset="0"/>
                          <a:ea typeface="Source Sans 3" pitchFamily="34" charset="-122"/>
                          <a:cs typeface="Source Sans 3" pitchFamily="34" charset="-120"/>
                        </a:rPr>
                        <a:t>Employability Service Integration</a:t>
                      </a:r>
                      <a:endParaRPr lang="en-US" sz="120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200" dirty="0">
                          <a:solidFill>
                            <a:srgbClr val="1C1C28"/>
                          </a:solidFill>
                          <a:latin typeface="Source Sans 3" pitchFamily="34" charset="0"/>
                          <a:ea typeface="Source Sans 3" pitchFamily="34" charset="-122"/>
                          <a:cs typeface="Source Sans 3" pitchFamily="34" charset="-120"/>
                        </a:rPr>
                        <a:t>Central Careers / Faculties</a:t>
                      </a:r>
                      <a:endParaRPr lang="en-US" sz="120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200" dirty="0">
                          <a:solidFill>
                            <a:srgbClr val="1C1C28"/>
                          </a:solidFill>
                          <a:latin typeface="Source Sans 3" pitchFamily="34" charset="0"/>
                          <a:ea typeface="Source Sans 3" pitchFamily="34" charset="-122"/>
                          <a:cs typeface="Source Sans 3" pitchFamily="34" charset="-120"/>
                        </a:rPr>
                        <a:t>In progress</a:t>
                      </a:r>
                      <a:endParaRPr lang="en-US" sz="120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566928">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566928">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566928">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566928">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566928">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bl>
          </a:graphicData>
        </a:graphic>
      </p:graphicFrame>
      <p:sp>
        <p:nvSpPr>
          <p:cNvPr id="8" name="Text 5"/>
          <p:cNvSpPr/>
          <p:nvPr/>
        </p:nvSpPr>
        <p:spPr>
          <a:xfrm>
            <a:off x="566928" y="5989320"/>
            <a:ext cx="10881360" cy="274320"/>
          </a:xfrm>
          <a:prstGeom prst="rect">
            <a:avLst/>
          </a:prstGeom>
          <a:noFill/>
          <a:ln/>
        </p:spPr>
        <p:txBody>
          <a:bodyPr wrap="square" lIns="0" tIns="0" rIns="0" bIns="0" rtlCol="0" anchor="ctr"/>
          <a:lstStyle/>
          <a:p>
            <a:pPr indent="0" marL="0">
              <a:buNone/>
            </a:pPr>
            <a:r>
              <a:rPr lang="en-US" sz="950" dirty="0">
                <a:solidFill>
                  <a:srgbClr val="5B5B6B"/>
                </a:solidFill>
                <a:latin typeface="Source Code Pro" pitchFamily="34" charset="0"/>
                <a:ea typeface="Source Code Pro" pitchFamily="34" charset="-122"/>
                <a:cs typeface="Source Code Pro" pitchFamily="34" charset="-120"/>
              </a:rPr>
              <a:t>Pre-populate any known initiatives before the session — or capture from the room.</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256032" cy="256032"/>
          </a:xfrm>
          <a:prstGeom prst="rect">
            <a:avLst/>
          </a:prstGeom>
          <a:solidFill>
            <a:srgbClr val="46C8F0"/>
          </a:solidFill>
          <a:ln/>
        </p:spPr>
      </p:sp>
      <p:sp>
        <p:nvSpPr>
          <p:cNvPr id="3" name="Text 1"/>
          <p:cNvSpPr/>
          <p:nvPr/>
        </p:nvSpPr>
        <p:spPr>
          <a:xfrm>
            <a:off x="914400" y="457200"/>
            <a:ext cx="10698480" cy="502920"/>
          </a:xfrm>
          <a:prstGeom prst="rect">
            <a:avLst/>
          </a:prstGeom>
          <a:noFill/>
          <a:ln/>
        </p:spPr>
        <p:txBody>
          <a:bodyPr wrap="square" lIns="0" tIns="0" rIns="0" bIns="0" rtlCol="0" anchor="ctr"/>
          <a:lstStyle/>
          <a:p>
            <a:pPr indent="0" marL="0">
              <a:buNone/>
            </a:pPr>
            <a:r>
              <a:rPr lang="en-US" sz="2900" b="1" dirty="0">
                <a:solidFill>
                  <a:srgbClr val="000F46"/>
                </a:solidFill>
                <a:latin typeface="Fraunces" pitchFamily="34" charset="0"/>
                <a:ea typeface="Fraunces" pitchFamily="34" charset="-122"/>
                <a:cs typeface="Fraunces" pitchFamily="34" charset="-120"/>
              </a:rPr>
              <a:t>Capturing today's discussion</a:t>
            </a:r>
            <a:endParaRPr lang="en-US" sz="2900" dirty="0"/>
          </a:p>
        </p:txBody>
      </p:sp>
      <p:sp>
        <p:nvSpPr>
          <p:cNvPr id="4" name="Text 2"/>
          <p:cNvSpPr/>
          <p:nvPr/>
        </p:nvSpPr>
        <p:spPr>
          <a:xfrm>
            <a:off x="548640" y="6437376"/>
            <a:ext cx="9601200" cy="274320"/>
          </a:xfrm>
          <a:prstGeom prst="rect">
            <a:avLst/>
          </a:prstGeom>
          <a:noFill/>
          <a:ln/>
        </p:spPr>
        <p:txBody>
          <a:bodyPr wrap="square" lIns="0" tIns="0" rIns="0" bIns="0" rtlCol="0" anchor="ctr"/>
          <a:lstStyle/>
          <a:p>
            <a:pPr indent="0" marL="0">
              <a:buNone/>
            </a:pPr>
            <a:r>
              <a:rPr lang="en-US" sz="900" dirty="0">
                <a:solidFill>
                  <a:srgbClr val="5B5B6B"/>
                </a:solidFill>
                <a:latin typeface="Source Sans 3" pitchFamily="34" charset="0"/>
                <a:ea typeface="Source Sans 3" pitchFamily="34" charset="-122"/>
                <a:cs typeface="Source Sans 3" pitchFamily="34" charset="-120"/>
              </a:rPr>
              <a:t>University of Melbourne — web estate alignment discussion · for discussion</a:t>
            </a:r>
            <a:endParaRPr lang="en-US" sz="900" dirty="0"/>
          </a:p>
        </p:txBody>
      </p:sp>
      <p:sp>
        <p:nvSpPr>
          <p:cNvPr id="5" name="Text 3"/>
          <p:cNvSpPr/>
          <p:nvPr/>
        </p:nvSpPr>
        <p:spPr>
          <a:xfrm>
            <a:off x="11247120" y="6437376"/>
            <a:ext cx="411480" cy="274320"/>
          </a:xfrm>
          <a:prstGeom prst="rect">
            <a:avLst/>
          </a:prstGeom>
          <a:noFill/>
          <a:ln/>
        </p:spPr>
        <p:txBody>
          <a:bodyPr wrap="square" lIns="0" tIns="0" rIns="0" bIns="0" rtlCol="0" anchor="ctr"/>
          <a:lstStyle/>
          <a:p>
            <a:pPr algn="r" indent="0" marL="0">
              <a:buNone/>
            </a:pPr>
            <a:r>
              <a:rPr lang="en-US" sz="900" dirty="0">
                <a:solidFill>
                  <a:srgbClr val="5B5B6B"/>
                </a:solidFill>
                <a:latin typeface="Source Sans 3" pitchFamily="34" charset="0"/>
                <a:ea typeface="Source Sans 3" pitchFamily="34" charset="-122"/>
                <a:cs typeface="Source Sans 3" pitchFamily="34" charset="-120"/>
              </a:rPr>
              <a:t>8</a:t>
            </a:r>
            <a:endParaRPr lang="en-US" sz="900" dirty="0"/>
          </a:p>
        </p:txBody>
      </p:sp>
      <p:sp>
        <p:nvSpPr>
          <p:cNvPr id="6" name="Text 4"/>
          <p:cNvSpPr/>
          <p:nvPr/>
        </p:nvSpPr>
        <p:spPr>
          <a:xfrm>
            <a:off x="566928" y="1280160"/>
            <a:ext cx="10881360" cy="457200"/>
          </a:xfrm>
          <a:prstGeom prst="rect">
            <a:avLst/>
          </a:prstGeom>
          <a:noFill/>
          <a:ln/>
        </p:spPr>
        <p:txBody>
          <a:bodyPr wrap="square" lIns="0" tIns="0" rIns="0" bIns="0" rtlCol="0" anchor="ctr"/>
          <a:lstStyle/>
          <a:p>
            <a:pPr indent="0" marL="0">
              <a:buNone/>
            </a:pPr>
            <a:r>
              <a:rPr lang="en-US" sz="1500" i="1" dirty="0">
                <a:solidFill>
                  <a:srgbClr val="1C1C28"/>
                </a:solidFill>
                <a:latin typeface="Source Sans 3" pitchFamily="34" charset="0"/>
                <a:ea typeface="Source Sans 3" pitchFamily="34" charset="-122"/>
                <a:cs typeface="Source Sans 3" pitchFamily="34" charset="-120"/>
              </a:rPr>
              <a:t>We'll capture the conversation here — to revisit together, not to conclude today.</a:t>
            </a:r>
            <a:endParaRPr lang="en-US" sz="1500" dirty="0"/>
          </a:p>
        </p:txBody>
      </p:sp>
      <p:sp>
        <p:nvSpPr>
          <p:cNvPr id="7" name="Shape 5"/>
          <p:cNvSpPr/>
          <p:nvPr/>
        </p:nvSpPr>
        <p:spPr>
          <a:xfrm>
            <a:off x="566928" y="1920240"/>
            <a:ext cx="2633472" cy="548640"/>
          </a:xfrm>
          <a:prstGeom prst="rect">
            <a:avLst/>
          </a:prstGeom>
          <a:solidFill>
            <a:srgbClr val="000F46"/>
          </a:solidFill>
          <a:ln/>
        </p:spPr>
      </p:sp>
      <p:sp>
        <p:nvSpPr>
          <p:cNvPr id="8" name="Text 6"/>
          <p:cNvSpPr/>
          <p:nvPr/>
        </p:nvSpPr>
        <p:spPr>
          <a:xfrm>
            <a:off x="676656" y="1920240"/>
            <a:ext cx="2414016" cy="548640"/>
          </a:xfrm>
          <a:prstGeom prst="rect">
            <a:avLst/>
          </a:prstGeom>
          <a:noFill/>
          <a:ln/>
        </p:spPr>
        <p:txBody>
          <a:bodyPr wrap="square" lIns="0" tIns="0" rIns="0" bIns="0" rtlCol="0" anchor="ctr"/>
          <a:lstStyle/>
          <a:p>
            <a:pPr algn="l" indent="0" marL="0">
              <a:buNone/>
            </a:pPr>
            <a:r>
              <a:rPr lang="en-US" sz="1250" b="1" dirty="0">
                <a:solidFill>
                  <a:srgbClr val="FFFFFF"/>
                </a:solidFill>
                <a:latin typeface="Source Sans 3" pitchFamily="34" charset="0"/>
                <a:ea typeface="Source Sans 3" pitchFamily="34" charset="-122"/>
                <a:cs typeface="Source Sans 3" pitchFamily="34" charset="-120"/>
              </a:rPr>
              <a:t>Overlaps to align</a:t>
            </a:r>
            <a:endParaRPr lang="en-US" sz="1250" dirty="0"/>
          </a:p>
        </p:txBody>
      </p:sp>
      <p:sp>
        <p:nvSpPr>
          <p:cNvPr id="9" name="Shape 7"/>
          <p:cNvSpPr/>
          <p:nvPr/>
        </p:nvSpPr>
        <p:spPr>
          <a:xfrm>
            <a:off x="566928" y="2468880"/>
            <a:ext cx="2633472" cy="3566160"/>
          </a:xfrm>
          <a:prstGeom prst="rect">
            <a:avLst/>
          </a:prstGeom>
          <a:solidFill>
            <a:srgbClr val="F4F4F4"/>
          </a:solidFill>
          <a:ln w="12700">
            <a:solidFill>
              <a:srgbClr val="DDDDE7"/>
            </a:solidFill>
            <a:prstDash val="solid"/>
          </a:ln>
        </p:spPr>
      </p:sp>
      <p:sp>
        <p:nvSpPr>
          <p:cNvPr id="10" name="Shape 8"/>
          <p:cNvSpPr/>
          <p:nvPr/>
        </p:nvSpPr>
        <p:spPr>
          <a:xfrm>
            <a:off x="3337560" y="1920240"/>
            <a:ext cx="2633472" cy="548640"/>
          </a:xfrm>
          <a:prstGeom prst="rect">
            <a:avLst/>
          </a:prstGeom>
          <a:solidFill>
            <a:srgbClr val="000F46"/>
          </a:solidFill>
          <a:ln/>
        </p:spPr>
      </p:sp>
      <p:sp>
        <p:nvSpPr>
          <p:cNvPr id="11" name="Text 9"/>
          <p:cNvSpPr/>
          <p:nvPr/>
        </p:nvSpPr>
        <p:spPr>
          <a:xfrm>
            <a:off x="3447288" y="1920240"/>
            <a:ext cx="2414016" cy="548640"/>
          </a:xfrm>
          <a:prstGeom prst="rect">
            <a:avLst/>
          </a:prstGeom>
          <a:noFill/>
          <a:ln/>
        </p:spPr>
        <p:txBody>
          <a:bodyPr wrap="square" lIns="0" tIns="0" rIns="0" bIns="0" rtlCol="0" anchor="ctr"/>
          <a:lstStyle/>
          <a:p>
            <a:pPr algn="l" indent="0" marL="0">
              <a:buNone/>
            </a:pPr>
            <a:r>
              <a:rPr lang="en-US" sz="1250" b="1" dirty="0">
                <a:solidFill>
                  <a:srgbClr val="FFFFFF"/>
                </a:solidFill>
                <a:latin typeface="Source Sans 3" pitchFamily="34" charset="0"/>
                <a:ea typeface="Source Sans 3" pitchFamily="34" charset="-122"/>
                <a:cs typeface="Source Sans 3" pitchFamily="34" charset="-120"/>
              </a:rPr>
              <a:t>Already in flight</a:t>
            </a:r>
            <a:endParaRPr lang="en-US" sz="1250" dirty="0"/>
          </a:p>
        </p:txBody>
      </p:sp>
      <p:sp>
        <p:nvSpPr>
          <p:cNvPr id="12" name="Shape 10"/>
          <p:cNvSpPr/>
          <p:nvPr/>
        </p:nvSpPr>
        <p:spPr>
          <a:xfrm>
            <a:off x="3337560" y="2468880"/>
            <a:ext cx="2633472" cy="3566160"/>
          </a:xfrm>
          <a:prstGeom prst="rect">
            <a:avLst/>
          </a:prstGeom>
          <a:solidFill>
            <a:srgbClr val="F4F4F4"/>
          </a:solidFill>
          <a:ln w="12700">
            <a:solidFill>
              <a:srgbClr val="DDDDE7"/>
            </a:solidFill>
            <a:prstDash val="solid"/>
          </a:ln>
        </p:spPr>
      </p:sp>
      <p:sp>
        <p:nvSpPr>
          <p:cNvPr id="13" name="Shape 11"/>
          <p:cNvSpPr/>
          <p:nvPr/>
        </p:nvSpPr>
        <p:spPr>
          <a:xfrm>
            <a:off x="6108192" y="1920240"/>
            <a:ext cx="2633472" cy="548640"/>
          </a:xfrm>
          <a:prstGeom prst="rect">
            <a:avLst/>
          </a:prstGeom>
          <a:solidFill>
            <a:srgbClr val="000F46"/>
          </a:solidFill>
          <a:ln/>
        </p:spPr>
      </p:sp>
      <p:sp>
        <p:nvSpPr>
          <p:cNvPr id="14" name="Text 12"/>
          <p:cNvSpPr/>
          <p:nvPr/>
        </p:nvSpPr>
        <p:spPr>
          <a:xfrm>
            <a:off x="6217920" y="1920240"/>
            <a:ext cx="2414016" cy="548640"/>
          </a:xfrm>
          <a:prstGeom prst="rect">
            <a:avLst/>
          </a:prstGeom>
          <a:noFill/>
          <a:ln/>
        </p:spPr>
        <p:txBody>
          <a:bodyPr wrap="square" lIns="0" tIns="0" rIns="0" bIns="0" rtlCol="0" anchor="ctr"/>
          <a:lstStyle/>
          <a:p>
            <a:pPr algn="l" indent="0" marL="0">
              <a:buNone/>
            </a:pPr>
            <a:r>
              <a:rPr lang="en-US" sz="1250" b="1" dirty="0">
                <a:solidFill>
                  <a:srgbClr val="FFFFFF"/>
                </a:solidFill>
                <a:latin typeface="Source Sans 3" pitchFamily="34" charset="0"/>
                <a:ea typeface="Source Sans 3" pitchFamily="34" charset="-122"/>
                <a:cs typeface="Source Sans 3" pitchFamily="34" charset="-120"/>
              </a:rPr>
              <a:t>Worth exploring</a:t>
            </a:r>
            <a:endParaRPr lang="en-US" sz="1250" dirty="0"/>
          </a:p>
        </p:txBody>
      </p:sp>
      <p:sp>
        <p:nvSpPr>
          <p:cNvPr id="15" name="Shape 13"/>
          <p:cNvSpPr/>
          <p:nvPr/>
        </p:nvSpPr>
        <p:spPr>
          <a:xfrm>
            <a:off x="6108192" y="2468880"/>
            <a:ext cx="2633472" cy="3566160"/>
          </a:xfrm>
          <a:prstGeom prst="rect">
            <a:avLst/>
          </a:prstGeom>
          <a:solidFill>
            <a:srgbClr val="F4F4F4"/>
          </a:solidFill>
          <a:ln w="12700">
            <a:solidFill>
              <a:srgbClr val="DDDDE7"/>
            </a:solidFill>
            <a:prstDash val="solid"/>
          </a:ln>
        </p:spPr>
      </p:sp>
      <p:sp>
        <p:nvSpPr>
          <p:cNvPr id="16" name="Shape 14"/>
          <p:cNvSpPr/>
          <p:nvPr/>
        </p:nvSpPr>
        <p:spPr>
          <a:xfrm>
            <a:off x="8878824" y="1920240"/>
            <a:ext cx="2633472" cy="548640"/>
          </a:xfrm>
          <a:prstGeom prst="rect">
            <a:avLst/>
          </a:prstGeom>
          <a:solidFill>
            <a:srgbClr val="000F46"/>
          </a:solidFill>
          <a:ln/>
        </p:spPr>
      </p:sp>
      <p:sp>
        <p:nvSpPr>
          <p:cNvPr id="17" name="Text 15"/>
          <p:cNvSpPr/>
          <p:nvPr/>
        </p:nvSpPr>
        <p:spPr>
          <a:xfrm>
            <a:off x="8988552" y="1920240"/>
            <a:ext cx="2414016" cy="548640"/>
          </a:xfrm>
          <a:prstGeom prst="rect">
            <a:avLst/>
          </a:prstGeom>
          <a:noFill/>
          <a:ln/>
        </p:spPr>
        <p:txBody>
          <a:bodyPr wrap="square" lIns="0" tIns="0" rIns="0" bIns="0" rtlCol="0" anchor="ctr"/>
          <a:lstStyle/>
          <a:p>
            <a:pPr algn="l" indent="0" marL="0">
              <a:buNone/>
            </a:pPr>
            <a:r>
              <a:rPr lang="en-US" sz="1250" b="1" dirty="0">
                <a:solidFill>
                  <a:srgbClr val="FFFFFF"/>
                </a:solidFill>
                <a:latin typeface="Source Sans 3" pitchFamily="34" charset="0"/>
                <a:ea typeface="Source Sans 3" pitchFamily="34" charset="-122"/>
                <a:cs typeface="Source Sans 3" pitchFamily="34" charset="-120"/>
              </a:rPr>
              <a:t>Owners / next step</a:t>
            </a:r>
            <a:endParaRPr lang="en-US" sz="1250" dirty="0"/>
          </a:p>
        </p:txBody>
      </p:sp>
      <p:sp>
        <p:nvSpPr>
          <p:cNvPr id="18" name="Shape 16"/>
          <p:cNvSpPr/>
          <p:nvPr/>
        </p:nvSpPr>
        <p:spPr>
          <a:xfrm>
            <a:off x="8878824" y="2468880"/>
            <a:ext cx="2633472" cy="3566160"/>
          </a:xfrm>
          <a:prstGeom prst="rect">
            <a:avLst/>
          </a:prstGeom>
          <a:solidFill>
            <a:srgbClr val="F4F4F4"/>
          </a:solidFill>
          <a:ln w="12700">
            <a:solidFill>
              <a:srgbClr val="DDDDE7"/>
            </a:solidFill>
            <a:prstDash val="solid"/>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F46"/>
        </a:solidFill>
      </p:bgPr>
    </p:bg>
    <p:spTree>
      <p:nvGrpSpPr>
        <p:cNvPr id="1" name=""/>
        <p:cNvGrpSpPr/>
        <p:nvPr/>
      </p:nvGrpSpPr>
      <p:grpSpPr>
        <a:xfrm>
          <a:off x="0" y="0"/>
          <a:ext cx="0" cy="0"/>
          <a:chOff x="0" y="0"/>
          <a:chExt cx="0" cy="0"/>
        </a:xfrm>
      </p:grpSpPr>
      <p:sp>
        <p:nvSpPr>
          <p:cNvPr id="2" name="Shape 0"/>
          <p:cNvSpPr/>
          <p:nvPr/>
        </p:nvSpPr>
        <p:spPr>
          <a:xfrm>
            <a:off x="566928" y="658368"/>
            <a:ext cx="274320" cy="274320"/>
          </a:xfrm>
          <a:prstGeom prst="rect">
            <a:avLst/>
          </a:prstGeom>
          <a:solidFill>
            <a:srgbClr val="46C8F0"/>
          </a:solidFill>
          <a:ln/>
        </p:spPr>
      </p:sp>
      <p:sp>
        <p:nvSpPr>
          <p:cNvPr id="3" name="Text 1"/>
          <p:cNvSpPr/>
          <p:nvPr/>
        </p:nvSpPr>
        <p:spPr>
          <a:xfrm>
            <a:off x="969264" y="548640"/>
            <a:ext cx="10058400" cy="640080"/>
          </a:xfrm>
          <a:prstGeom prst="rect">
            <a:avLst/>
          </a:prstGeom>
          <a:noFill/>
          <a:ln/>
        </p:spPr>
        <p:txBody>
          <a:bodyPr wrap="square" lIns="0" tIns="0" rIns="0" bIns="0" rtlCol="0" anchor="ctr"/>
          <a:lstStyle/>
          <a:p>
            <a:pPr indent="0" marL="0">
              <a:buNone/>
            </a:pPr>
            <a:r>
              <a:rPr lang="en-US" sz="3200" b="1" dirty="0">
                <a:solidFill>
                  <a:srgbClr val="FFFFFF"/>
                </a:solidFill>
                <a:latin typeface="Fraunces" pitchFamily="34" charset="0"/>
                <a:ea typeface="Fraunces" pitchFamily="34" charset="-122"/>
                <a:cs typeface="Fraunces" pitchFamily="34" charset="-120"/>
              </a:rPr>
              <a:t>Where to from here — together</a:t>
            </a:r>
            <a:endParaRPr lang="en-US" sz="3200" dirty="0"/>
          </a:p>
        </p:txBody>
      </p:sp>
      <p:sp>
        <p:nvSpPr>
          <p:cNvPr id="4" name="Text 2"/>
          <p:cNvSpPr/>
          <p:nvPr/>
        </p:nvSpPr>
        <p:spPr>
          <a:xfrm>
            <a:off x="585216" y="1508760"/>
            <a:ext cx="10058400" cy="457200"/>
          </a:xfrm>
          <a:prstGeom prst="rect">
            <a:avLst/>
          </a:prstGeom>
          <a:noFill/>
          <a:ln/>
        </p:spPr>
        <p:txBody>
          <a:bodyPr wrap="square" lIns="0" tIns="0" rIns="0" bIns="0" rtlCol="0" anchor="ctr"/>
          <a:lstStyle/>
          <a:p>
            <a:pPr indent="0" marL="0">
              <a:buNone/>
            </a:pPr>
            <a:r>
              <a:rPr lang="en-US" sz="1700" i="1" dirty="0">
                <a:solidFill>
                  <a:srgbClr val="46C8F0"/>
                </a:solidFill>
                <a:latin typeface="Source Sans 3" pitchFamily="34" charset="0"/>
                <a:ea typeface="Source Sans 3" pitchFamily="34" charset="-122"/>
                <a:cs typeface="Source Sans 3" pitchFamily="34" charset="-120"/>
              </a:rPr>
              <a:t>Not conclusions — questions to take forward.</a:t>
            </a:r>
            <a:endParaRPr lang="en-US" sz="1700" dirty="0"/>
          </a:p>
        </p:txBody>
      </p:sp>
      <p:sp>
        <p:nvSpPr>
          <p:cNvPr id="5" name="Text 3"/>
          <p:cNvSpPr/>
          <p:nvPr/>
        </p:nvSpPr>
        <p:spPr>
          <a:xfrm>
            <a:off x="603504" y="2286000"/>
            <a:ext cx="10424160" cy="3291840"/>
          </a:xfrm>
          <a:prstGeom prst="rect">
            <a:avLst/>
          </a:prstGeom>
          <a:noFill/>
          <a:ln/>
        </p:spPr>
        <p:txBody>
          <a:bodyPr wrap="square" lIns="0" tIns="0" rIns="0" bIns="0" rtlCol="0" anchor="t"/>
          <a:lstStyle/>
          <a:p>
            <a:pPr marL="228600" indent="-228600">
              <a:spcAft>
                <a:spcPts val="1600"/>
              </a:spcAft>
              <a:buSzPct val="100000"/>
              <a:buChar char="•"/>
            </a:pPr>
            <a:r>
              <a:rPr lang="en-US" sz="1800" dirty="0">
                <a:solidFill>
                  <a:srgbClr val="FFFFFF"/>
                </a:solidFill>
                <a:latin typeface="Source Sans 3" pitchFamily="34" charset="0"/>
                <a:ea typeface="Source Sans 3" pitchFamily="34" charset="-122"/>
                <a:cs typeface="Source Sans 3" pitchFamily="34" charset="-120"/>
              </a:rPr>
              <a:t>Across all areas: what did we agree are the real overlaps?</a:t>
            </a:r>
            <a:endParaRPr lang="en-US" sz="1800" dirty="0"/>
          </a:p>
          <a:p>
            <a:pPr marL="228600" indent="-228600">
              <a:spcAft>
                <a:spcPts val="1600"/>
              </a:spcAft>
              <a:buSzPct val="100000"/>
              <a:buChar char="•"/>
            </a:pPr>
            <a:r>
              <a:rPr lang="en-US" sz="1800" dirty="0">
                <a:solidFill>
                  <a:srgbClr val="FFFFFF"/>
                </a:solidFill>
                <a:latin typeface="Source Sans 3" pitchFamily="34" charset="0"/>
                <a:ea typeface="Source Sans 3" pitchFamily="34" charset="-122"/>
                <a:cs typeface="Source Sans 3" pitchFamily="34" charset="-120"/>
              </a:rPr>
              <a:t>What is already in flight that we could connect or build on?</a:t>
            </a:r>
            <a:endParaRPr lang="en-US" sz="1800" dirty="0"/>
          </a:p>
          <a:p>
            <a:pPr marL="228600" indent="-228600">
              <a:spcAft>
                <a:spcPts val="1600"/>
              </a:spcAft>
              <a:buSzPct val="100000"/>
              <a:buChar char="•"/>
            </a:pPr>
            <a:r>
              <a:rPr lang="en-US" sz="1800" dirty="0">
                <a:solidFill>
                  <a:srgbClr val="FFFFFF"/>
                </a:solidFill>
                <a:latin typeface="Source Sans 3" pitchFamily="34" charset="0"/>
                <a:ea typeface="Source Sans 3" pitchFamily="34" charset="-122"/>
                <a:cs typeface="Source Sans 3" pitchFamily="34" charset="-120"/>
              </a:rPr>
              <a:t>For the biggest overlap — what is one next step, and who is involved?</a:t>
            </a:r>
            <a:endParaRPr lang="en-US" sz="1800" dirty="0"/>
          </a:p>
          <a:p>
            <a:pPr marL="228600" indent="-228600">
              <a:spcAft>
                <a:spcPts val="1600"/>
              </a:spcAft>
              <a:buSzPct val="100000"/>
              <a:buChar char="•"/>
            </a:pPr>
            <a:r>
              <a:rPr lang="en-US" sz="1800" dirty="0">
                <a:solidFill>
                  <a:srgbClr val="FFFFFF"/>
                </a:solidFill>
                <a:latin typeface="Source Sans 3" pitchFamily="34" charset="0"/>
                <a:ea typeface="Source Sans 3" pitchFamily="34" charset="-122"/>
                <a:cs typeface="Source Sans 3" pitchFamily="34" charset="-120"/>
              </a:rPr>
              <a:t>How will we keep aligned as this work continues?</a:t>
            </a:r>
            <a:endParaRPr lang="en-US" sz="1800" dirty="0"/>
          </a:p>
        </p:txBody>
      </p:sp>
      <p:pic>
        <p:nvPicPr>
          <p:cNvPr id="6" name="Image 0" descr="/Users/djmulholland/Documents/Claude/projects/unimelb-current-students-ia/discussion-deck/assets/logo-white.png">    </p:cNvPr>
          <p:cNvPicPr>
            <a:picLocks noChangeAspect="1"/>
          </p:cNvPicPr>
          <p:nvPr/>
        </p:nvPicPr>
        <p:blipFill>
          <a:blip r:embed="rId1"/>
          <a:stretch>
            <a:fillRect/>
          </a:stretch>
        </p:blipFill>
        <p:spPr>
          <a:xfrm>
            <a:off x="9601200" y="6053328"/>
            <a:ext cx="2011680" cy="632905"/>
          </a:xfrm>
          <a:prstGeom prst="rect">
            <a:avLst/>
          </a:prstGeom>
        </p:spPr>
      </p:pic>
      <p:sp>
        <p:nvSpPr>
          <p:cNvPr id="7" name="Text 4"/>
          <p:cNvSpPr/>
          <p:nvPr/>
        </p:nvSpPr>
        <p:spPr>
          <a:xfrm>
            <a:off x="603504" y="6217920"/>
            <a:ext cx="5486400" cy="365760"/>
          </a:xfrm>
          <a:prstGeom prst="rect">
            <a:avLst/>
          </a:prstGeom>
          <a:noFill/>
          <a:ln/>
        </p:spPr>
        <p:txBody>
          <a:bodyPr wrap="square" lIns="0" tIns="0" rIns="0" bIns="0" rtlCol="0" anchor="ctr"/>
          <a:lstStyle/>
          <a:p>
            <a:pPr indent="0" marL="0">
              <a:buNone/>
            </a:pPr>
            <a:r>
              <a:rPr lang="en-US" sz="1200" dirty="0">
                <a:solidFill>
                  <a:srgbClr val="C9CDE6"/>
                </a:solidFill>
                <a:latin typeface="Source Code Pro" pitchFamily="34" charset="0"/>
                <a:ea typeface="Source Code Pro" pitchFamily="34" charset="-122"/>
                <a:cs typeface="Source Code Pro" pitchFamily="34" charset="-120"/>
              </a:rPr>
              <a:t>Thank you · discussion</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B34"/>
        </a:solidFill>
      </p:bgPr>
    </p:bg>
    <p:spTree>
      <p:nvGrpSpPr>
        <p:cNvPr id="1" name=""/>
        <p:cNvGrpSpPr/>
        <p:nvPr/>
      </p:nvGrpSpPr>
      <p:grpSpPr>
        <a:xfrm>
          <a:off x="0" y="0"/>
          <a:ext cx="0" cy="0"/>
          <a:chOff x="0" y="0"/>
          <a:chExt cx="0" cy="0"/>
        </a:xfrm>
      </p:grpSpPr>
      <p:sp>
        <p:nvSpPr>
          <p:cNvPr id="2" name="Shape 0"/>
          <p:cNvSpPr/>
          <p:nvPr/>
        </p:nvSpPr>
        <p:spPr>
          <a:xfrm>
            <a:off x="566928" y="2926080"/>
            <a:ext cx="292608" cy="292608"/>
          </a:xfrm>
          <a:prstGeom prst="rect">
            <a:avLst/>
          </a:prstGeom>
          <a:solidFill>
            <a:srgbClr val="46C8F0"/>
          </a:solidFill>
          <a:ln/>
        </p:spPr>
      </p:sp>
      <p:sp>
        <p:nvSpPr>
          <p:cNvPr id="3" name="Text 1"/>
          <p:cNvSpPr/>
          <p:nvPr/>
        </p:nvSpPr>
        <p:spPr>
          <a:xfrm>
            <a:off x="987552" y="2788920"/>
            <a:ext cx="9144000" cy="640080"/>
          </a:xfrm>
          <a:prstGeom prst="rect">
            <a:avLst/>
          </a:prstGeom>
          <a:noFill/>
          <a:ln/>
        </p:spPr>
        <p:txBody>
          <a:bodyPr wrap="square" lIns="0" tIns="0" rIns="0" bIns="0" rtlCol="0" anchor="ctr"/>
          <a:lstStyle/>
          <a:p>
            <a:pPr indent="0" marL="0">
              <a:buNone/>
            </a:pPr>
            <a:r>
              <a:rPr lang="en-US" sz="3400" b="1" dirty="0">
                <a:solidFill>
                  <a:srgbClr val="FFFFFF"/>
                </a:solidFill>
                <a:latin typeface="Fraunces" pitchFamily="34" charset="0"/>
                <a:ea typeface="Fraunces" pitchFamily="34" charset="-122"/>
                <a:cs typeface="Fraunces" pitchFamily="34" charset="-120"/>
              </a:rPr>
              <a:t>Appendix</a:t>
            </a:r>
            <a:endParaRPr lang="en-US" sz="3400" dirty="0"/>
          </a:p>
        </p:txBody>
      </p:sp>
      <p:sp>
        <p:nvSpPr>
          <p:cNvPr id="4" name="Text 2"/>
          <p:cNvSpPr/>
          <p:nvPr/>
        </p:nvSpPr>
        <p:spPr>
          <a:xfrm>
            <a:off x="585216" y="3611880"/>
            <a:ext cx="9601200" cy="457200"/>
          </a:xfrm>
          <a:prstGeom prst="rect">
            <a:avLst/>
          </a:prstGeom>
          <a:noFill/>
          <a:ln/>
        </p:spPr>
        <p:txBody>
          <a:bodyPr wrap="square" lIns="0" tIns="0" rIns="0" bIns="0" rtlCol="0" anchor="ctr"/>
          <a:lstStyle/>
          <a:p>
            <a:pPr indent="0" marL="0">
              <a:buNone/>
            </a:pPr>
            <a:r>
              <a:rPr lang="en-US" sz="1500" dirty="0">
                <a:solidFill>
                  <a:srgbClr val="C9CDE6"/>
                </a:solidFill>
                <a:latin typeface="Source Sans 3" pitchFamily="34" charset="0"/>
                <a:ea typeface="Source Sans 3" pitchFamily="34" charset="-122"/>
                <a:cs typeface="Source Sans 3" pitchFamily="34" charset="-120"/>
              </a:rPr>
              <a:t>Backup detail — per-faculty data, for reference if the discussion calls for specifics.</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256032" cy="256032"/>
          </a:xfrm>
          <a:prstGeom prst="rect">
            <a:avLst/>
          </a:prstGeom>
          <a:solidFill>
            <a:srgbClr val="46C8F0"/>
          </a:solidFill>
          <a:ln/>
        </p:spPr>
      </p:sp>
      <p:sp>
        <p:nvSpPr>
          <p:cNvPr id="3" name="Text 1"/>
          <p:cNvSpPr/>
          <p:nvPr/>
        </p:nvSpPr>
        <p:spPr>
          <a:xfrm>
            <a:off x="914400" y="457200"/>
            <a:ext cx="10698480" cy="502920"/>
          </a:xfrm>
          <a:prstGeom prst="rect">
            <a:avLst/>
          </a:prstGeom>
          <a:noFill/>
          <a:ln/>
        </p:spPr>
        <p:txBody>
          <a:bodyPr wrap="square" lIns="0" tIns="0" rIns="0" bIns="0" rtlCol="0" anchor="ctr"/>
          <a:lstStyle/>
          <a:p>
            <a:pPr indent="0" marL="0">
              <a:buNone/>
            </a:pPr>
            <a:r>
              <a:rPr lang="en-US" sz="2900" b="1" dirty="0">
                <a:solidFill>
                  <a:srgbClr val="000F46"/>
                </a:solidFill>
                <a:latin typeface="Fraunces" pitchFamily="34" charset="0"/>
                <a:ea typeface="Fraunces" pitchFamily="34" charset="-122"/>
                <a:cs typeface="Fraunces" pitchFamily="34" charset="-120"/>
              </a:rPr>
              <a:t>Who holds what — pages by faculty and topic</a:t>
            </a:r>
            <a:endParaRPr lang="en-US" sz="2900" dirty="0"/>
          </a:p>
        </p:txBody>
      </p:sp>
      <p:sp>
        <p:nvSpPr>
          <p:cNvPr id="4" name="Text 2"/>
          <p:cNvSpPr/>
          <p:nvPr/>
        </p:nvSpPr>
        <p:spPr>
          <a:xfrm>
            <a:off x="548640" y="6437376"/>
            <a:ext cx="9601200" cy="274320"/>
          </a:xfrm>
          <a:prstGeom prst="rect">
            <a:avLst/>
          </a:prstGeom>
          <a:noFill/>
          <a:ln/>
        </p:spPr>
        <p:txBody>
          <a:bodyPr wrap="square" lIns="0" tIns="0" rIns="0" bIns="0" rtlCol="0" anchor="ctr"/>
          <a:lstStyle/>
          <a:p>
            <a:pPr indent="0" marL="0">
              <a:buNone/>
            </a:pPr>
            <a:r>
              <a:rPr lang="en-US" sz="900" dirty="0">
                <a:solidFill>
                  <a:srgbClr val="5B5B6B"/>
                </a:solidFill>
                <a:latin typeface="Source Sans 3" pitchFamily="34" charset="0"/>
                <a:ea typeface="Source Sans 3" pitchFamily="34" charset="-122"/>
                <a:cs typeface="Source Sans 3" pitchFamily="34" charset="-120"/>
              </a:rPr>
              <a:t>University of Melbourne — web estate alignment discussion · for discussion</a:t>
            </a:r>
            <a:endParaRPr lang="en-US" sz="900" dirty="0"/>
          </a:p>
        </p:txBody>
      </p:sp>
      <p:sp>
        <p:nvSpPr>
          <p:cNvPr id="5" name="Text 3"/>
          <p:cNvSpPr/>
          <p:nvPr/>
        </p:nvSpPr>
        <p:spPr>
          <a:xfrm>
            <a:off x="11247120" y="6437376"/>
            <a:ext cx="411480" cy="274320"/>
          </a:xfrm>
          <a:prstGeom prst="rect">
            <a:avLst/>
          </a:prstGeom>
          <a:noFill/>
          <a:ln/>
        </p:spPr>
        <p:txBody>
          <a:bodyPr wrap="square" lIns="0" tIns="0" rIns="0" bIns="0" rtlCol="0" anchor="ctr"/>
          <a:lstStyle/>
          <a:p>
            <a:pPr algn="r" indent="0" marL="0">
              <a:buNone/>
            </a:pPr>
            <a:r>
              <a:rPr lang="en-US" sz="900" dirty="0">
                <a:solidFill>
                  <a:srgbClr val="5B5B6B"/>
                </a:solidFill>
                <a:latin typeface="Source Sans 3" pitchFamily="34" charset="0"/>
                <a:ea typeface="Source Sans 3" pitchFamily="34" charset="-122"/>
                <a:cs typeface="Source Sans 3" pitchFamily="34" charset="-120"/>
              </a:rPr>
              <a:t>11</a:t>
            </a:r>
            <a:endParaRPr lang="en-US" sz="9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66928" y="1325880"/>
          <a:ext cx="11064240" cy="914400"/>
        </p:xfrm>
        <a:graphic>
          <a:graphicData uri="http://schemas.openxmlformats.org/drawingml/2006/table">
            <a:tbl>
              <a:tblPr/>
              <a:tblGrid>
                <a:gridCol w="3108960"/>
                <a:gridCol w="1591056"/>
                <a:gridCol w="1591056"/>
                <a:gridCol w="1591056"/>
                <a:gridCol w="1591056"/>
                <a:gridCol w="1591056"/>
              </a:tblGrid>
              <a:tr h="365760">
                <a:tc>
                  <a:txBody>
                    <a:bodyPr/>
                    <a:lstStyle/>
                    <a:p>
                      <a:pPr algn="l" indent="0" marL="0">
                        <a:buNone/>
                      </a:pPr>
                      <a:r>
                        <a:rPr lang="en-US" sz="1100" b="1" dirty="0">
                          <a:solidFill>
                            <a:srgbClr val="FFFFFF"/>
                          </a:solidFill>
                          <a:latin typeface="Source Sans 3" pitchFamily="34" charset="0"/>
                          <a:ea typeface="Source Sans 3" pitchFamily="34" charset="-122"/>
                          <a:cs typeface="Source Sans 3" pitchFamily="34" charset="-120"/>
                        </a:rPr>
                        <a:t>Faculty / school</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r" indent="0" marL="0">
                        <a:buNone/>
                      </a:pPr>
                      <a:r>
                        <a:rPr lang="en-US" sz="1100" b="1" dirty="0">
                          <a:solidFill>
                            <a:srgbClr val="FFFFFF"/>
                          </a:solidFill>
                          <a:latin typeface="Source Sans 3" pitchFamily="34" charset="0"/>
                          <a:ea typeface="Source Sans 3" pitchFamily="34" charset="-122"/>
                          <a:cs typeface="Source Sans 3" pitchFamily="34" charset="-120"/>
                        </a:rPr>
                        <a:t>Course</a:t>
                      </a:r>
                      <a:endParaRPr lang="en-US" sz="1100" dirty="0">
                        <a:latin typeface="Source Sans 3" charset="0"/>
                        <a:ea typeface="Source Sans 3" charset="0"/>
                        <a:cs typeface="Source Sans 3" charset="0"/>
                      </a:endParaRPr>
                    </a:p>
                    <a:p>
                      <a:pPr algn="r" indent="0" marL="0">
                        <a:buNone/>
                      </a:pPr>
                      <a:r>
                        <a:rPr lang="en-US" sz="1100" b="1" dirty="0">
                          <a:solidFill>
                            <a:srgbClr val="FFFFFF"/>
                          </a:solidFill>
                          <a:latin typeface="Source Sans 3" pitchFamily="34" charset="0"/>
                          <a:ea typeface="Source Sans 3" pitchFamily="34" charset="-122"/>
                          <a:cs typeface="Source Sans 3" pitchFamily="34" charset="-120"/>
                        </a:rPr>
                        <a:t>planning</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r" indent="0" marL="0">
                        <a:buNone/>
                      </a:pPr>
                      <a:r>
                        <a:rPr lang="en-US" sz="1100" b="1" dirty="0">
                          <a:solidFill>
                            <a:srgbClr val="FFFFFF"/>
                          </a:solidFill>
                          <a:latin typeface="Source Sans 3" pitchFamily="34" charset="0"/>
                          <a:ea typeface="Source Sans 3" pitchFamily="34" charset="-122"/>
                          <a:cs typeface="Source Sans 3" pitchFamily="34" charset="-120"/>
                        </a:rPr>
                        <a:t>Careers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r" indent="0" marL="0">
                        <a:buNone/>
                      </a:pPr>
                      <a:r>
                        <a:rPr lang="en-US" sz="1100" b="1" dirty="0">
                          <a:solidFill>
                            <a:srgbClr val="FFFFFF"/>
                          </a:solidFill>
                          <a:latin typeface="Source Sans 3" pitchFamily="34" charset="0"/>
                          <a:ea typeface="Source Sans 3" pitchFamily="34" charset="-122"/>
                          <a:cs typeface="Source Sans 3" pitchFamily="34" charset="-120"/>
                        </a:rPr>
                        <a:t>Placements</a:t>
                      </a:r>
                      <a:endParaRPr lang="en-US" sz="1100" dirty="0">
                        <a:latin typeface="Source Sans 3" charset="0"/>
                        <a:ea typeface="Source Sans 3" charset="0"/>
                        <a:cs typeface="Source Sans 3" charset="0"/>
                      </a:endParaRPr>
                    </a:p>
                    <a:p>
                      <a:pPr algn="r" indent="0" marL="0">
                        <a:buNone/>
                      </a:pPr>
                      <a:r>
                        <a:rPr lang="en-US" sz="1100" b="1" dirty="0">
                          <a:solidFill>
                            <a:srgbClr val="FFFFFF"/>
                          </a:solidFill>
                          <a:latin typeface="Source Sans 3" pitchFamily="34" charset="0"/>
                          <a:ea typeface="Source Sans 3" pitchFamily="34" charset="-122"/>
                          <a:cs typeface="Source Sans 3" pitchFamily="34" charset="-120"/>
                        </a:rPr>
                        <a:t>/ WIL</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r" indent="0" marL="0">
                        <a:buNone/>
                      </a:pPr>
                      <a:r>
                        <a:rPr lang="en-US" sz="1100" b="1" dirty="0">
                          <a:solidFill>
                            <a:srgbClr val="FFFFFF"/>
                          </a:solidFill>
                          <a:latin typeface="Source Sans 3" pitchFamily="34" charset="0"/>
                          <a:ea typeface="Source Sans 3" pitchFamily="34" charset="-122"/>
                          <a:cs typeface="Source Sans 3" pitchFamily="34" charset="-120"/>
                        </a:rPr>
                        <a:t>Forms</a:t>
                      </a:r>
                      <a:endParaRPr lang="en-US" sz="1100" dirty="0">
                        <a:latin typeface="Source Sans 3" charset="0"/>
                        <a:ea typeface="Source Sans 3" charset="0"/>
                        <a:cs typeface="Source Sans 3" charset="0"/>
                      </a:endParaRPr>
                    </a:p>
                    <a:p>
                      <a:pPr algn="r" indent="0" marL="0">
                        <a:buNone/>
                      </a:pPr>
                      <a:r>
                        <a:rPr lang="en-US" sz="1100" b="1" dirty="0">
                          <a:solidFill>
                            <a:srgbClr val="FFFFFF"/>
                          </a:solidFill>
                          <a:latin typeface="Source Sans 3" pitchFamily="34" charset="0"/>
                          <a:ea typeface="Source Sans 3" pitchFamily="34" charset="-122"/>
                          <a:cs typeface="Source Sans 3" pitchFamily="34" charset="-120"/>
                        </a:rPr>
                        <a:t>/ admin</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r" indent="0" marL="0">
                        <a:buNone/>
                      </a:pPr>
                      <a:r>
                        <a:rPr lang="en-US" sz="1100" b="1" dirty="0">
                          <a:solidFill>
                            <a:srgbClr val="FFFFFF"/>
                          </a:solidFill>
                          <a:latin typeface="Source Sans 3" pitchFamily="34" charset="0"/>
                          <a:ea typeface="Source Sans 3" pitchFamily="34" charset="-122"/>
                          <a:cs typeface="Source Sans 3" pitchFamily="34" charset="-120"/>
                        </a:rPr>
                        <a:t>Research</a:t>
                      </a:r>
                      <a:endParaRPr lang="en-US" sz="1100" dirty="0">
                        <a:latin typeface="Source Sans 3" charset="0"/>
                        <a:ea typeface="Source Sans 3" charset="0"/>
                        <a:cs typeface="Source Sans 3" charset="0"/>
                      </a:endParaRPr>
                    </a:p>
                    <a:p>
                      <a:pPr algn="r" indent="0" marL="0">
                        <a:buNone/>
                      </a:pPr>
                      <a:r>
                        <a:rPr lang="en-US" sz="1100" b="1" dirty="0">
                          <a:solidFill>
                            <a:srgbClr val="FFFFFF"/>
                          </a:solidFill>
                          <a:latin typeface="Source Sans 3" pitchFamily="34" charset="0"/>
                          <a:ea typeface="Source Sans 3" pitchFamily="34" charset="-122"/>
                          <a:cs typeface="Source Sans 3" pitchFamily="34" charset="-120"/>
                        </a:rPr>
                        <a:t>candidature</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r>
              <a:tr h="365760">
                <a:tc>
                  <a:txBody>
                    <a:bodyPr/>
                    <a:lstStyle/>
                    <a:p>
                      <a:pPr indent="0" marL="0">
                        <a:buNone/>
                      </a:pPr>
                      <a:r>
                        <a:rPr lang="en-US" sz="1100" b="1" dirty="0">
                          <a:solidFill>
                            <a:srgbClr val="000B34"/>
                          </a:solidFill>
                          <a:latin typeface="Source Sans 3" pitchFamily="34" charset="0"/>
                          <a:ea typeface="Source Sans 3" pitchFamily="34" charset="-122"/>
                          <a:cs typeface="Source Sans 3" pitchFamily="34" charset="-120"/>
                        </a:rPr>
                        <a:t>Arts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6</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22</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13</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16</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28</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0B34"/>
                          </a:solidFill>
                          <a:latin typeface="Source Sans 3" pitchFamily="34" charset="0"/>
                          <a:ea typeface="Source Sans 3" pitchFamily="34" charset="-122"/>
                          <a:cs typeface="Source Sans 3" pitchFamily="34" charset="-120"/>
                        </a:rPr>
                        <a:t>ABP / MSD</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29</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13</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9</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26</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43</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0B34"/>
                          </a:solidFill>
                          <a:latin typeface="Source Sans 3" pitchFamily="34" charset="0"/>
                          <a:ea typeface="Source Sans 3" pitchFamily="34" charset="-122"/>
                          <a:cs typeface="Source Sans 3" pitchFamily="34" charset="-120"/>
                        </a:rPr>
                        <a:t>Business &amp; Economics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8</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0</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8</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0B34"/>
                          </a:solidFill>
                          <a:latin typeface="Source Sans 3" pitchFamily="34" charset="0"/>
                          <a:ea typeface="Source Sans 3" pitchFamily="34" charset="-122"/>
                          <a:cs typeface="Source Sans 3" pitchFamily="34" charset="-120"/>
                        </a:rPr>
                        <a:t>Education</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20</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23</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24</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4</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0B34"/>
                          </a:solidFill>
                          <a:latin typeface="Source Sans 3" pitchFamily="34" charset="0"/>
                          <a:ea typeface="Source Sans 3" pitchFamily="34" charset="-122"/>
                          <a:cs typeface="Source Sans 3" pitchFamily="34" charset="-120"/>
                        </a:rPr>
                        <a:t>Engineering &amp; IT</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19</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17</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31</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0B34"/>
                          </a:solidFill>
                          <a:latin typeface="Source Sans 3" pitchFamily="34" charset="0"/>
                          <a:ea typeface="Source Sans 3" pitchFamily="34" charset="-122"/>
                          <a:cs typeface="Source Sans 3" pitchFamily="34" charset="-120"/>
                        </a:rPr>
                        <a:t>Fine Arts &amp; Music</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6</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4</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5</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22</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12</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0B34"/>
                          </a:solidFill>
                          <a:latin typeface="Source Sans 3" pitchFamily="34" charset="0"/>
                          <a:ea typeface="Source Sans 3" pitchFamily="34" charset="-122"/>
                          <a:cs typeface="Source Sans 3" pitchFamily="34" charset="-120"/>
                        </a:rPr>
                        <a:t>Law</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11</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24</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36</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66</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86</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0B34"/>
                          </a:solidFill>
                          <a:latin typeface="Source Sans 3" pitchFamily="34" charset="0"/>
                          <a:ea typeface="Source Sans 3" pitchFamily="34" charset="-122"/>
                          <a:cs typeface="Source Sans 3" pitchFamily="34" charset="-120"/>
                        </a:rPr>
                        <a:t>Medicine, Dentistry &amp; HS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4</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13</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96</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36</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0B34"/>
                          </a:solidFill>
                          <a:latin typeface="Source Sans 3" pitchFamily="34" charset="0"/>
                          <a:ea typeface="Source Sans 3" pitchFamily="34" charset="-122"/>
                          <a:cs typeface="Source Sans 3" pitchFamily="34" charset="-120"/>
                        </a:rPr>
                        <a:t>Science</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26</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4</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10</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0B34"/>
                          </a:solidFill>
                          <a:latin typeface="Source Sans 3" pitchFamily="34" charset="0"/>
                          <a:ea typeface="Source Sans 3" pitchFamily="34" charset="-122"/>
                          <a:cs typeface="Source Sans 3" pitchFamily="34" charset="-120"/>
                        </a:rPr>
                        <a:t>Melbourne Business School *</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58</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0</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0</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13</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0B34"/>
                          </a:solidFill>
                          <a:latin typeface="Source Sans 3" pitchFamily="34" charset="0"/>
                          <a:ea typeface="Source Sans 3" pitchFamily="34" charset="-122"/>
                          <a:cs typeface="Source Sans 3" pitchFamily="34" charset="-120"/>
                        </a:rPr>
                        <a:t>Biomedical Sciences *</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37</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17</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4</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34</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4</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0B34"/>
                          </a:solidFill>
                          <a:latin typeface="Source Sans 3" pitchFamily="34" charset="0"/>
                          <a:ea typeface="Source Sans 3" pitchFamily="34" charset="-122"/>
                          <a:cs typeface="Source Sans 3" pitchFamily="34" charset="-120"/>
                        </a:rPr>
                        <a:t>Dental School *</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0</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0</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0</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3</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3</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bl>
          </a:graphicData>
        </a:graphic>
      </p:graphicFrame>
      <p:sp>
        <p:nvSpPr>
          <p:cNvPr id="7" name="Text 4"/>
          <p:cNvSpPr/>
          <p:nvPr/>
        </p:nvSpPr>
        <p:spPr>
          <a:xfrm>
            <a:off x="566928" y="5989320"/>
            <a:ext cx="10881360" cy="365760"/>
          </a:xfrm>
          <a:prstGeom prst="rect">
            <a:avLst/>
          </a:prstGeom>
          <a:noFill/>
          <a:ln/>
        </p:spPr>
        <p:txBody>
          <a:bodyPr wrap="square" lIns="0" tIns="0" rIns="0" bIns="0" rtlCol="0" anchor="ctr"/>
          <a:lstStyle/>
          <a:p>
            <a:pPr indent="0" marL="0">
              <a:buNone/>
            </a:pPr>
            <a:r>
              <a:rPr lang="en-US" sz="1000" i="1" dirty="0">
                <a:solidFill>
                  <a:srgbClr val="5B5B6B"/>
                </a:solidFill>
                <a:latin typeface="Source Sans 3" pitchFamily="34" charset="0"/>
                <a:ea typeface="Source Sans 3" pitchFamily="34" charset="-122"/>
                <a:cs typeface="Source Sans 3" pitchFamily="34" charset="-120"/>
              </a:rPr>
              <a:t>* school-level site (runs its own current-students section below its faculty).  Page counts are descriptive — they show where content sits, not its quality. Source: current-students crawl, June 2026.</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256032" cy="256032"/>
          </a:xfrm>
          <a:prstGeom prst="rect">
            <a:avLst/>
          </a:prstGeom>
          <a:solidFill>
            <a:srgbClr val="46C8F0"/>
          </a:solidFill>
          <a:ln/>
        </p:spPr>
      </p:sp>
      <p:sp>
        <p:nvSpPr>
          <p:cNvPr id="3" name="Text 1"/>
          <p:cNvSpPr/>
          <p:nvPr/>
        </p:nvSpPr>
        <p:spPr>
          <a:xfrm>
            <a:off x="914400" y="457200"/>
            <a:ext cx="10698480" cy="502920"/>
          </a:xfrm>
          <a:prstGeom prst="rect">
            <a:avLst/>
          </a:prstGeom>
          <a:noFill/>
          <a:ln/>
        </p:spPr>
        <p:txBody>
          <a:bodyPr wrap="square" lIns="0" tIns="0" rIns="0" bIns="0" rtlCol="0" anchor="ctr"/>
          <a:lstStyle/>
          <a:p>
            <a:pPr indent="0" marL="0">
              <a:buNone/>
            </a:pPr>
            <a:r>
              <a:rPr lang="en-US" sz="2900" b="1" dirty="0">
                <a:solidFill>
                  <a:srgbClr val="000F46"/>
                </a:solidFill>
                <a:latin typeface="Fraunces" pitchFamily="34" charset="0"/>
                <a:ea typeface="Fraunces" pitchFamily="34" charset="-122"/>
                <a:cs typeface="Fraunces" pitchFamily="34" charset="-120"/>
              </a:rPr>
              <a:t>The broader estate — where each topic lives</a:t>
            </a:r>
            <a:endParaRPr lang="en-US" sz="2900" dirty="0"/>
          </a:p>
        </p:txBody>
      </p:sp>
      <p:sp>
        <p:nvSpPr>
          <p:cNvPr id="4" name="Text 2"/>
          <p:cNvSpPr/>
          <p:nvPr/>
        </p:nvSpPr>
        <p:spPr>
          <a:xfrm>
            <a:off x="548640" y="6437376"/>
            <a:ext cx="9601200" cy="274320"/>
          </a:xfrm>
          <a:prstGeom prst="rect">
            <a:avLst/>
          </a:prstGeom>
          <a:noFill/>
          <a:ln/>
        </p:spPr>
        <p:txBody>
          <a:bodyPr wrap="square" lIns="0" tIns="0" rIns="0" bIns="0" rtlCol="0" anchor="ctr"/>
          <a:lstStyle/>
          <a:p>
            <a:pPr indent="0" marL="0">
              <a:buNone/>
            </a:pPr>
            <a:r>
              <a:rPr lang="en-US" sz="900" dirty="0">
                <a:solidFill>
                  <a:srgbClr val="5B5B6B"/>
                </a:solidFill>
                <a:latin typeface="Source Sans 3" pitchFamily="34" charset="0"/>
                <a:ea typeface="Source Sans 3" pitchFamily="34" charset="-122"/>
                <a:cs typeface="Source Sans 3" pitchFamily="34" charset="-120"/>
              </a:rPr>
              <a:t>University of Melbourne — web estate alignment discussion · for discussion</a:t>
            </a:r>
            <a:endParaRPr lang="en-US" sz="900" dirty="0"/>
          </a:p>
        </p:txBody>
      </p:sp>
      <p:sp>
        <p:nvSpPr>
          <p:cNvPr id="5" name="Text 3"/>
          <p:cNvSpPr/>
          <p:nvPr/>
        </p:nvSpPr>
        <p:spPr>
          <a:xfrm>
            <a:off x="11247120" y="6437376"/>
            <a:ext cx="411480" cy="274320"/>
          </a:xfrm>
          <a:prstGeom prst="rect">
            <a:avLst/>
          </a:prstGeom>
          <a:noFill/>
          <a:ln/>
        </p:spPr>
        <p:txBody>
          <a:bodyPr wrap="square" lIns="0" tIns="0" rIns="0" bIns="0" rtlCol="0" anchor="ctr"/>
          <a:lstStyle/>
          <a:p>
            <a:pPr algn="r" indent="0" marL="0">
              <a:buNone/>
            </a:pPr>
            <a:r>
              <a:rPr lang="en-US" sz="900" dirty="0">
                <a:solidFill>
                  <a:srgbClr val="5B5B6B"/>
                </a:solidFill>
                <a:latin typeface="Source Sans 3" pitchFamily="34" charset="0"/>
                <a:ea typeface="Source Sans 3" pitchFamily="34" charset="-122"/>
                <a:cs typeface="Source Sans 3" pitchFamily="34" charset="-120"/>
              </a:rPr>
              <a:t>12</a:t>
            </a:r>
            <a:endParaRPr lang="en-US" sz="900" dirty="0"/>
          </a:p>
        </p:txBody>
      </p:sp>
      <p:sp>
        <p:nvSpPr>
          <p:cNvPr id="6" name="Text 4"/>
          <p:cNvSpPr/>
          <p:nvPr/>
        </p:nvSpPr>
        <p:spPr>
          <a:xfrm>
            <a:off x="566928" y="1325880"/>
            <a:ext cx="10881360" cy="594360"/>
          </a:xfrm>
          <a:prstGeom prst="rect">
            <a:avLst/>
          </a:prstGeom>
          <a:noFill/>
          <a:ln/>
        </p:spPr>
        <p:txBody>
          <a:bodyPr wrap="square" lIns="0" tIns="0" rIns="0" bIns="0" rtlCol="0" anchor="ctr"/>
          <a:lstStyle/>
          <a:p>
            <a:pPr indent="0" marL="0">
              <a:lnSpc>
                <a:spcPct val="112000"/>
              </a:lnSpc>
              <a:buNone/>
            </a:pPr>
            <a:r>
              <a:rPr lang="en-US" sz="1400" dirty="0">
                <a:solidFill>
                  <a:srgbClr val="1C1C28"/>
                </a:solidFill>
                <a:latin typeface="Source Sans 3" pitchFamily="34" charset="0"/>
                <a:ea typeface="Source Sans 3" pitchFamily="34" charset="-122"/>
                <a:cs typeface="Source Sans 3" pitchFamily="34" charset="-120"/>
              </a:rPr>
              <a:t>Across all four parts of the University's web estate. Source: June 2026 crawl — 1,173 pages (current-students), 300 pages (study.unimelb), 116 pages (alumni.unimelb).</a:t>
            </a:r>
            <a:endParaRPr lang="en-US" sz="1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2011680"/>
          <a:ext cx="11064240" cy="914400"/>
        </p:xfrm>
        <a:graphic>
          <a:graphicData uri="http://schemas.openxmlformats.org/drawingml/2006/table">
            <a:tbl>
              <a:tblPr/>
              <a:tblGrid>
                <a:gridCol w="3108960"/>
                <a:gridCol w="2286000"/>
                <a:gridCol w="2286000"/>
                <a:gridCol w="1920240"/>
                <a:gridCol w="1463040"/>
              </a:tblGrid>
              <a:tr h="429768">
                <a:tc>
                  <a:txBody>
                    <a:bodyPr/>
                    <a:lstStyle/>
                    <a:p>
                      <a:pPr algn="l" indent="0" marL="0">
                        <a:buNone/>
                      </a:pPr>
                      <a:r>
                        <a:rPr lang="en-US" sz="1100" b="1" dirty="0">
                          <a:solidFill>
                            <a:srgbClr val="FFFFFF"/>
                          </a:solidFill>
                          <a:latin typeface="Source Sans 3" pitchFamily="34" charset="0"/>
                          <a:ea typeface="Source Sans 3" pitchFamily="34" charset="-122"/>
                          <a:cs typeface="Source Sans 3" pitchFamily="34" charset="-120"/>
                        </a:rPr>
                        <a:t>Topic area</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Hub</a:t>
                      </a:r>
                      <a:endParaRPr lang="en-US" sz="1100" dirty="0">
                        <a:latin typeface="Source Sans 3" charset="0"/>
                        <a:ea typeface="Source Sans 3" charset="0"/>
                        <a:cs typeface="Source Sans 3" charset="0"/>
                      </a:endParaRPr>
                    </a:p>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(students.)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Faculty sites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Further study</a:t>
                      </a:r>
                      <a:endParaRPr lang="en-US" sz="1100" dirty="0">
                        <a:latin typeface="Source Sans 3" charset="0"/>
                        <a:ea typeface="Source Sans 3" charset="0"/>
                        <a:cs typeface="Source Sans 3" charset="0"/>
                      </a:endParaRPr>
                    </a:p>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(study.)</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Alumni</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r>
              <a:tr h="429768">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Course / degree info</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Planner + Handbook</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Every faculty</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224 pages — full coverage</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429768">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Careers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Central platform</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8 of 9 (141 pp)</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37 pages — entry only</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38 pp + mentoring</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429768">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Placements / WIL</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Every faculty</a:t>
                      </a:r>
                      <a:endParaRPr lang="en-US" sz="1100" dirty="0">
                        <a:latin typeface="Source Sans 3" charset="0"/>
                        <a:ea typeface="Source Sans 3" charset="0"/>
                        <a:cs typeface="Source Sans 3" charset="0"/>
                      </a:endParaRPr>
                    </a:p>
                    <a:p>
                      <a:pPr indent="0" marL="0">
                        <a:buNone/>
                      </a:pPr>
                      <a:r>
                        <a:rPr lang="en-US" sz="1100" dirty="0">
                          <a:solidFill>
                            <a:srgbClr val="1C1C28"/>
                          </a:solidFill>
                          <a:latin typeface="Source Sans 3" pitchFamily="34" charset="0"/>
                          <a:ea typeface="Source Sans 3" pitchFamily="34" charset="-122"/>
                          <a:cs typeface="Source Sans 3" pitchFamily="34" charset="-120"/>
                        </a:rPr>
                        <a:t>(207 pp)</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10 pages — overview</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429768">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Scholarships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Some (141 pp)</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75 pages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1 page</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429768">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Research candidature</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Thin</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Heavy</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1 page — entry only</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1 page</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429768">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Alumni engagement</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Some (patchy)</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116 pages — full</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429768">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Service requests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Stop 1 + processes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Student centres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bl>
          </a:graphicData>
        </a:graphic>
      </p:graphicFrame>
      <p:sp>
        <p:nvSpPr>
          <p:cNvPr id="8" name="Text 5"/>
          <p:cNvSpPr/>
          <p:nvPr/>
        </p:nvSpPr>
        <p:spPr>
          <a:xfrm>
            <a:off x="566928" y="5669280"/>
            <a:ext cx="10881360" cy="274320"/>
          </a:xfrm>
          <a:prstGeom prst="rect">
            <a:avLst/>
          </a:prstGeom>
          <a:noFill/>
          <a:ln/>
        </p:spPr>
        <p:txBody>
          <a:bodyPr wrap="square" lIns="0" tIns="0" rIns="0" bIns="0" rtlCol="0" anchor="ctr"/>
          <a:lstStyle/>
          <a:p>
            <a:pPr indent="0" marL="0">
              <a:buNone/>
            </a:pPr>
            <a:r>
              <a:rPr lang="en-US" sz="900" i="1" dirty="0">
                <a:solidFill>
                  <a:srgbClr val="5B5B6B"/>
                </a:solidFill>
                <a:latin typeface="Source Code Pro" pitchFamily="34" charset="0"/>
                <a:ea typeface="Source Code Pro" pitchFamily="34" charset="-122"/>
                <a:cs typeface="Source Code Pro" pitchFamily="34" charset="-120"/>
              </a:rPr>
              <a:t>Source: analysis/cross-site-overlap.md · crawl/pages/study-unimelb.json (300 pp) · crawl/pages/alumni-unimelb.json (116 pp)</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University of Melbourne — Web Estate Alignment Discussion</dc:title>
  <dc:subject>PptxGenJS Presentation</dc:subject>
  <dc:creator>University of Melbourne</dc:creator>
  <cp:lastModifiedBy>University of Melbourne</cp:lastModifiedBy>
  <cp:revision>1</cp:revision>
  <dcterms:created xsi:type="dcterms:W3CDTF">2026-06-20T09:30:36Z</dcterms:created>
  <dcterms:modified xsi:type="dcterms:W3CDTF">2026-06-20T09:30:36Z</dcterms:modified>
</cp:coreProperties>
</file>