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F46"/>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defRPr sz="4000" b="1">
                <a:solidFill>
                  <a:srgbClr val="FFFFFF"/>
                </a:solidFill>
              </a:defRPr>
            </a:pPr>
            <a:r>
              <a:t>Fragmentation, Duplication</a:t>
            </a:r>
            <a:br/>
            <a:r>
              <a:t>&amp; the Student Experience</a:t>
            </a:r>
          </a:p>
        </p:txBody>
      </p:sp>
      <p:sp>
        <p:nvSpPr>
          <p:cNvPr id="3" name="TextBox 2"/>
          <p:cNvSpPr txBox="1"/>
          <p:nvPr/>
        </p:nvSpPr>
        <p:spPr>
          <a:xfrm>
            <a:off x="914400" y="4114800"/>
            <a:ext cx="10058400" cy="914400"/>
          </a:xfrm>
          <a:prstGeom prst="rect">
            <a:avLst/>
          </a:prstGeom>
          <a:noFill/>
        </p:spPr>
        <p:txBody>
          <a:bodyPr wrap="none">
            <a:spAutoFit/>
          </a:bodyPr>
          <a:lstStyle/>
          <a:p>
            <a:pPr>
              <a:defRPr sz="1800">
                <a:solidFill>
                  <a:srgbClr val="46C8F0"/>
                </a:solidFill>
              </a:defRPr>
            </a:pPr>
            <a:r>
              <a:t>Insights from the University of Melbourne Web Estate Audit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Insights from the University of Melbourne Web Estate Audit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b="1"/>
            </a:pPr>
            <a:r>
              <a:t>June 2026</a:t>
            </a:r>
          </a:p>
          <a:p>
            <a:pPr>
              <a:spcAft>
                <a:spcPts val="600"/>
              </a:spcAft>
              <a:defRPr sz="1600"/>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Executive Summary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The University of Melbourne's web estate for current students spans **19 separate websites** containing over **36,500 pages**. A student trying to find information about their course, fees, placements, or graduation must navigate a landscape where the same topic appears across 9 to 11 different websites, where there are five different URL conventions for "information for current students", and where the pathway from enrolled student to graduate to alumnus is structurally broken at the web level.</a:t>
            </a:r>
          </a:p>
          <a:p>
            <a:pPr>
              <a:spcAft>
                <a:spcPts val="600"/>
              </a:spcAft>
              <a:defRPr sz="1600"/>
            </a:pPr>
            <a:r>
              <a:t>This report synthesises findings from a comprehensive crawl and analysis of the entire estate. It is written for decision-makers who need to understand what a student actually experiences — not the technical architecture, but the fragmentation, duplication, and gaps that shape the day-to-day experience of being a student at Melbourne.</a:t>
            </a:r>
          </a:p>
          <a:p>
            <a:pPr>
              <a:spcAft>
                <a:spcPts val="600"/>
              </a:spcAft>
            </a:pPr>
            <a:r>
              <a:rPr sz="1600" b="1">
                <a:solidFill>
                  <a:srgbClr val="000F46"/>
                </a:solidFill>
              </a:rPr>
              <a:t>Key finding:</a:t>
            </a:r>
            <a:r>
              <a:rPr sz="1600"/>
              <a:t> The fragmentation problem is not primarily between the central hub and faculty sites. It is **faculty-to-faculty** — 65% of content is genuinely unique and discipline-specific, but it is distributed across 13 separate sites with no consistent navigation, labelling, or cross-linking. The real duplication is thin (~120–180 pages) but the **discoverability problem** affects every student, every day.</a:t>
            </a:r>
          </a:p>
          <a:p>
            <a:pPr>
              <a:spcAft>
                <a:spcPts val="600"/>
              </a:spcAft>
              <a:defRPr sz="1600"/>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 The Estate at a Glance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The current-student digital experience is delivered across 19 distinct websites:</a:t>
            </a:r>
          </a:p>
          <a:p>
            <a:pPr>
              <a:spcAft>
                <a:spcPts val="600"/>
              </a:spcAft>
              <a:defRPr sz="1400"/>
            </a:pPr>
            <a:r>
              <a:t>Site  •  Pages  •  Role</a:t>
            </a:r>
          </a:p>
          <a:p/>
          <a:p>
            <a:pPr>
              <a:spcAft>
                <a:spcPts val="600"/>
              </a:spcAft>
              <a:defRPr sz="1400"/>
            </a:pPr>
            <a:r>
              <a:t>students.unimelb.edu.au  •  833  •  Central hub — academic skills, admin, support</a:t>
            </a:r>
          </a:p>
          <a:p>
            <a:pPr>
              <a:spcAft>
                <a:spcPts val="600"/>
              </a:spcAft>
              <a:defRPr sz="1400"/>
            </a:pPr>
            <a:r>
              <a:t>study.unimelb.edu.au  •  4,048  •  Prospective students — course finder, fees, entry requirements</a:t>
            </a:r>
          </a:p>
          <a:p>
            <a:pPr>
              <a:spcAft>
                <a:spcPts val="600"/>
              </a:spcAft>
              <a:defRPr sz="1400"/>
            </a:pPr>
            <a:r>
              <a:t>9 faculty sites  •  25,568  •  Faculty-specific content (largest: mdhs 6,079, law 3,188)</a:t>
            </a:r>
          </a:p>
          <a:p>
            <a:pPr>
              <a:spcAft>
                <a:spcPts val="600"/>
              </a:spcAft>
              <a:defRPr sz="1400"/>
            </a:pPr>
            <a:r>
              <a:t>3 school sub-sites  •  1,871  •  Biomedical, MBS, Dental — independent CS sections</a:t>
            </a:r>
          </a:p>
          <a:p>
            <a:pPr>
              <a:spcAft>
                <a:spcPts val="600"/>
              </a:spcAft>
              <a:defRPr sz="1400"/>
            </a:pPr>
            <a:r>
              <a:t>scholarships.unimelb.edu.au  •  2,226  •  Dedicated scholarships domain</a:t>
            </a:r>
          </a:p>
          <a:p>
            <a:pPr>
              <a:spcAft>
                <a:spcPts val="600"/>
              </a:spcAft>
              <a:defRPr sz="1400"/>
            </a:pPr>
            <a:r>
              <a:t>handbook.unimelb.edu.au  •  3,000  •  Subject and course handbook</a:t>
            </a:r>
          </a:p>
          <a:p>
            <a:pPr>
              <a:spcAft>
                <a:spcPts val="600"/>
              </a:spcAft>
              <a:defRPr sz="1400"/>
            </a:pPr>
            <a:r>
              <a:t>services.unimelb.edu.au  •  176  •  Central services directory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 The Estate at a Glance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400"/>
            </a:pPr>
            <a:r>
              <a:t>alumni (www.unimelb.edu.au/alumni)  •  137  •  Graduate and alumni community</a:t>
            </a:r>
          </a:p>
          <a:p>
            <a:pPr>
              <a:spcAft>
                <a:spcPts val="600"/>
              </a:spcAft>
              <a:defRPr sz="1600"/>
            </a:pPr>
            <a:r>
              <a:t>A student's experience of this estate is shaped not by its total size but by **where their faculty sits on the fragmentation spectrum** — a continuum from central-dependent to self-contained.</a:t>
            </a:r>
          </a:p>
          <a:p>
            <a:pPr>
              <a:spcAft>
                <a:spcPts val="600"/>
              </a:spcAft>
              <a:defRPr sz="1600"/>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2. The Five-URL Problem</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The single concept "information for current students" is served at five different URL patterns across the university:</a:t>
            </a:r>
          </a:p>
          <a:p>
            <a:pPr>
              <a:spcAft>
                <a:spcPts val="600"/>
              </a:spcAft>
              <a:defRPr sz="1400"/>
            </a:pPr>
            <a:r>
              <a:t>URL Pattern  •  Faculties Using It</a:t>
            </a:r>
          </a:p>
          <a:p/>
          <a:p>
            <a:pPr>
              <a:spcAft>
                <a:spcPts val="600"/>
              </a:spcAft>
              <a:defRPr sz="1400"/>
            </a:pPr>
            <a:r>
              <a:t>`/students`  •  Law, Arts, FEIT, Science, FBE</a:t>
            </a:r>
          </a:p>
          <a:p>
            <a:pPr>
              <a:spcAft>
                <a:spcPts val="600"/>
              </a:spcAft>
              <a:defRPr sz="1400"/>
            </a:pPr>
            <a:r>
              <a:t>`/current-students`  •  ABP/MSD, FFAM</a:t>
            </a:r>
          </a:p>
          <a:p>
            <a:pPr>
              <a:spcAft>
                <a:spcPts val="600"/>
              </a:spcAft>
              <a:defRPr sz="1400"/>
            </a:pPr>
            <a:r>
              <a:t>`/study/current-students`  •  Education, MDHS</a:t>
            </a:r>
          </a:p>
          <a:p>
            <a:pPr>
              <a:spcAft>
                <a:spcPts val="600"/>
              </a:spcAft>
              <a:defRPr sz="1400"/>
            </a:pPr>
            <a:r>
              <a:t>`/study/student-resources`  •  Dental School</a:t>
            </a:r>
          </a:p>
          <a:p>
            <a:pPr>
              <a:spcAft>
                <a:spcPts val="600"/>
              </a:spcAft>
              <a:defRPr sz="1400"/>
            </a:pPr>
            <a:r>
              <a:t>`/study/current-student-information`  •  Biomedical Sciences School</a:t>
            </a:r>
          </a:p>
          <a:p>
            <a:pPr>
              <a:spcAft>
                <a:spcPts val="600"/>
              </a:spcAft>
            </a:pPr>
            <a:r>
              <a:rPr sz="1600" b="1">
                <a:solidFill>
                  <a:srgbClr val="000F46"/>
                </a:solidFill>
              </a:rPr>
              <a:t>Impact on the student:</a:t>
            </a:r>
            <a:r>
              <a:rPr sz="1600"/>
              <a:t> A student transferring between faculties — or simply helping a friend in another faculty — cannot guess where their information lives. The URL convention carries no meaning across the university. This is the most basic discoverability failure in the estate and the easiest to fix.</a:t>
            </a:r>
          </a:p>
          <a:p>
            <a:pPr>
              <a:spcAft>
                <a:spcPts val="600"/>
              </a:spcAft>
            </a:pPr>
            <a:r>
              <a:rPr sz="1600" b="1">
                <a:solidFill>
                  <a:srgbClr val="000F46"/>
                </a:solidFill>
              </a:rPr>
              <a:t>Recommendation:</a:t>
            </a:r>
            <a:r>
              <a:rPr sz="1600"/>
              <a:t> Standardise on a single URL convention. Every faculty should serve its current-student content at `/students`. Redirect existing URLs.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2. The Five-URL Problem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3. The Fragmentation Spectrum</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Not all fragmentation is equal. Faculties fall on a spectrum from "central-dependent link directories" to "self-contained parallel ecosystems":</a:t>
            </a:r>
          </a:p>
          <a:p/>
          <a:p>
            <a:pPr>
              <a:spcAft>
                <a:spcPts val="600"/>
              </a:spcAft>
              <a:defRPr sz="1600"/>
            </a:pPr>
            <a:r>
              <a:t>CENTRAL-DEPENDENT ←————————————————————————————————→ SELF-CONTAINED</a:t>
            </a:r>
          </a:p>
          <a:p>
            <a:pPr>
              <a:spcAft>
                <a:spcPts val="600"/>
              </a:spcAft>
              <a:defRPr sz="1600"/>
            </a:pPr>
            <a:r>
              <a:t>ABP     FBE    Education   Arts   Science   MDHS    Law    FFAM    FEIT</a:t>
            </a:r>
          </a:p>
          <a:p/>
          <a:p>
            <a:pPr>
              <a:spcAft>
                <a:spcPts val="600"/>
              </a:spcAft>
            </a:pPr>
            <a:r>
              <a:rPr sz="1600" b="1">
                <a:solidFill>
                  <a:srgbClr val="000F46"/>
                </a:solidFill>
              </a:rPr>
              <a:t>At the central-dependent end (ABP, FBE):</a:t>
            </a:r>
            <a:r>
              <a:rPr sz="1600"/>
              <a:t> The current-student section is primarily a list of links pointing to students.unimelb.edu.au. A student finds most transactional content on the central hub but loses faculty context. Course planning advice, placement information, and discipline-specific support are thin.</a:t>
            </a:r>
          </a:p>
          <a:p>
            <a:pPr>
              <a:spcAft>
                <a:spcPts val="600"/>
              </a:spcAft>
            </a:pPr>
            <a:r>
              <a:rPr sz="1600" b="1">
                <a:solidFill>
                  <a:srgbClr val="000F46"/>
                </a:solidFill>
              </a:rPr>
              <a:t>In the middle (Education, Arts, Science):</a:t>
            </a:r>
            <a:r>
              <a:rPr sz="1600"/>
              <a:t> These faculties maintain a balance — faculty-specific content for discipline needs, with central-redirect for standard transactions. A student gets context-relevant advice without duplicated admin content. This is the closest the estate comes to a working model.</a:t>
            </a:r>
          </a:p>
          <a:p>
            <a:pPr>
              <a:spcAft>
                <a:spcPts val="600"/>
              </a:spcAft>
            </a:pPr>
            <a:r>
              <a:rPr sz="1600" b="1">
                <a:solidFill>
                  <a:srgbClr val="000F46"/>
                </a:solidFill>
              </a:rPr>
              <a:t>At the self-contained end (Law, FEIT, FFAM):</a:t>
            </a:r>
            <a:r>
              <a:rPr sz="1600"/>
              <a:t> These faculties run parallel systems. Law has its own course planning tools, careers services, scholarship listings, and academic skills resources — all on law.unimelb.edu.au, with minimal links to the central hub. FEIT operates a similarly complete parallel universe. An FEIT student and an Arts student have fundamentally different web experiences of the same university.</a:t>
            </a:r>
          </a:p>
          <a:p>
            <a:pPr>
              <a:spcAft>
                <a:spcPts val="600"/>
              </a:spcAft>
            </a:pPr>
            <a:r>
              <a:rPr sz="1600" b="1">
                <a:solidFill>
                  <a:srgbClr val="000F46"/>
                </a:solidFill>
              </a:rPr>
              <a:t>Impact on the student:</a:t>
            </a:r>
            <a:r>
              <a:rPr sz="1600"/>
              <a:t> The experience of being a "University of Melbourne student" does not exist. You are an Arts student, a Law student, or an FEIT student. The quality, depth, and structure of the web experience is determined entirely by faculty choice, not by university-wide student-experience standards.</a:t>
            </a:r>
          </a:p>
          <a:p>
            <a:pPr>
              <a:spcAft>
                <a:spcPts val="600"/>
              </a:spcAft>
            </a:pPr>
            <a:r>
              <a:rPr sz="1600" b="1">
                <a:solidFill>
                  <a:srgbClr val="000F46"/>
                </a:solidFill>
              </a:rPr>
              <a:t>Recommendation:</a:t>
            </a:r>
            <a:r>
              <a:rPr sz="1600"/>
              <a:t> Set a university-wide minimum standard for current-student content. Every faculty must maintain a current-students section with at minimum: course planning guidance, key contacts, placement information (where applicable), and a clear pathway to central services. Faculties can exceed this standard but not fall below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3. The Fragmentation Spectrum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4. The School-Level Split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In two faculties, the fragmentation extends below the faculty level to individual schools:</a:t>
            </a:r>
          </a:p>
          <a:p>
            <a:pPr>
              <a:spcAft>
                <a:spcPts val="600"/>
              </a:spcAft>
              <a:defRPr sz="1600"/>
            </a:pPr>
            <a:r>
              <a:t>**MDHS** is the most fragmented. The faculty site (mdhs.unimelb.edu.au) carries a thin central landing page with four cards. But three schools run their own independent current-student sections on separate subdomains: Biomedical Sciences, Dental School, and the Melbourne School of Population and Global Health. A student in the Medical School gets routed to the faculty page; a Biomedical Sciences student gets a completely separate site.</a:t>
            </a:r>
          </a:p>
          <a:p>
            <a:pPr>
              <a:spcAft>
                <a:spcPts val="600"/>
              </a:spcAft>
              <a:defRPr sz="1600"/>
            </a:pPr>
            <a:r>
              <a:t>**FBE** has a similar split: the main faculty site serves BCom and PhD students, while the Melbourne Business School (mbs.unimelb.edu.au) runs an independent section for graduate business programs.</a:t>
            </a:r>
          </a:p>
          <a:p>
            <a:pPr>
              <a:spcAft>
                <a:spcPts val="600"/>
              </a:spcAft>
              <a:defRPr sz="1600"/>
            </a:pPr>
            <a:r>
              <a:t>No other faculty has school-level fragmentation. Arts schools, Science schools, FEIT schools — all route through a single faculty page.</a:t>
            </a:r>
          </a:p>
          <a:p>
            <a:pPr>
              <a:spcAft>
                <a:spcPts val="600"/>
              </a:spcAft>
            </a:pPr>
            <a:r>
              <a:rPr sz="1600" b="1">
                <a:solidFill>
                  <a:srgbClr val="000F46"/>
                </a:solidFill>
              </a:rPr>
              <a:t>Impact on the student:</a:t>
            </a:r>
            <a:r>
              <a:rPr sz="1600"/>
              <a:t> An MDHS student's experience depends on which school they belong to — not which faculty. Two students in the same faculty can have entirely different web experiences, different navigation, and different access to information. This is fragmentation within fragmentation.</a:t>
            </a:r>
          </a:p>
          <a:p>
            <a:pPr>
              <a:spcAft>
                <a:spcPts val="600"/>
              </a:spcAft>
            </a:pPr>
            <a:r>
              <a:rPr sz="1600" b="1">
                <a:solidFill>
                  <a:srgbClr val="000F46"/>
                </a:solidFill>
              </a:rPr>
              <a:t>Recommendation:</a:t>
            </a:r>
            <a:r>
              <a:rPr sz="1600"/>
              <a:t> MDHS and FBE should consolidate school-level CS sections into the faculty site. Where schools have genuinely unique content (e.g. Dental School clinical placements), it should be a section within the faculty CS page, not a separate website.</a:t>
            </a:r>
          </a:p>
          <a:p>
            <a:pPr>
              <a:spcAft>
                <a:spcPts val="600"/>
              </a:spcAft>
              <a:defRPr sz="1600"/>
            </a:pP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5. Topic Fragmentation: Every Faculty Has Its Own Version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The most pervasive form of fragmentation is not structural — it is topical. Across the estate, **22 topics** are covered by multiple faculties independently:</a:t>
            </a:r>
          </a:p>
          <a:p>
            <a:pPr>
              <a:spcAft>
                <a:spcPts val="600"/>
              </a:spcAft>
              <a:defRPr sz="1400"/>
            </a:pPr>
            <a:r>
              <a:t>Topic  •  Pages Across Estate  •  Faculties Covering It</a:t>
            </a:r>
          </a:p>
          <a:p/>
          <a:p>
            <a:pPr>
              <a:spcAft>
                <a:spcPts val="600"/>
              </a:spcAft>
              <a:defRPr sz="1400"/>
            </a:pPr>
            <a:r>
              <a:t>Placements &amp; WIL  •  186  •  9 faculty sites</a:t>
            </a:r>
          </a:p>
          <a:p>
            <a:pPr>
              <a:spcAft>
                <a:spcPts val="600"/>
              </a:spcAft>
              <a:defRPr sz="1400"/>
            </a:pPr>
            <a:r>
              <a:t>Subjects &amp; Timetable  •  174  •  11 faculty sites</a:t>
            </a:r>
          </a:p>
          <a:p>
            <a:pPr>
              <a:spcAft>
                <a:spcPts val="600"/>
              </a:spcAft>
              <a:defRPr sz="1400"/>
            </a:pPr>
            <a:r>
              <a:t>Course Planning  •  107  •  10 faculty sites</a:t>
            </a:r>
          </a:p>
          <a:p>
            <a:pPr>
              <a:spcAft>
                <a:spcPts val="600"/>
              </a:spcAft>
              <a:defRPr sz="1400"/>
            </a:pPr>
            <a:r>
              <a:t>Scholarships  •  100  •  9 faculty sites</a:t>
            </a:r>
          </a:p>
          <a:p>
            <a:pPr>
              <a:spcAft>
                <a:spcPts val="600"/>
              </a:spcAft>
              <a:defRPr sz="1400"/>
            </a:pPr>
            <a:r>
              <a:t>Research Candidature  •  96  •  9 faculty sites</a:t>
            </a:r>
          </a:p>
          <a:p>
            <a:pPr>
              <a:spcAft>
                <a:spcPts val="600"/>
              </a:spcAft>
              <a:defRPr sz="1400"/>
            </a:pPr>
            <a:r>
              <a:t>Orientation  •  76  •  10 faculty sites</a:t>
            </a:r>
          </a:p>
          <a:p>
            <a:pPr>
              <a:spcAft>
                <a:spcPts val="600"/>
              </a:spcAft>
              <a:defRPr sz="1400"/>
            </a:pPr>
            <a:r>
              <a:t>International  •  74  •  9 faculty sites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5. Topic Fragmentation: Every Faculty Has Its Own Version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400"/>
            </a:pPr>
            <a:r>
              <a:t>Student Life  •  68  •  10 faculty sites</a:t>
            </a:r>
          </a:p>
          <a:p>
            <a:pPr>
              <a:spcAft>
                <a:spcPts val="600"/>
              </a:spcAft>
              <a:defRPr sz="1400"/>
            </a:pPr>
            <a:r>
              <a:t>Careers &amp; Employability  •  63  •  9 faculty sites</a:t>
            </a:r>
          </a:p>
          <a:p>
            <a:pPr>
              <a:spcAft>
                <a:spcPts val="600"/>
              </a:spcAft>
              <a:defRPr sz="1400"/>
            </a:pPr>
            <a:r>
              <a:t>Clubs &amp; Events  •  46  •  9 faculty sites</a:t>
            </a:r>
          </a:p>
          <a:p>
            <a:pPr>
              <a:spcAft>
                <a:spcPts val="600"/>
              </a:spcAft>
              <a:defRPr sz="1600"/>
            </a:pPr>
            <a:r>
              <a:t>Every one of these topics is reproduced independently by most faculties. A student cannot compare placement options across faculties, cannot see all scholarship opportunities in one place, and cannot understand what "orientation" means at Melbourne without first knowing which faculty they belong to.</a:t>
            </a:r>
          </a:p>
          <a:p>
            <a:pPr>
              <a:spcAft>
                <a:spcPts val="600"/>
              </a:spcAft>
              <a:defRPr sz="1600"/>
            </a:pPr>
            <a:r>
              <a:t>**The fragmentation is not malicious — it is organic.** Each faculty built content for its own students. No mechanism exists to surface that content across faculty boundaries.</a:t>
            </a:r>
          </a:p>
          <a:p>
            <a:pPr>
              <a:spcAft>
                <a:spcPts val="600"/>
              </a:spcAft>
            </a:pPr>
            <a:r>
              <a:rPr sz="1600" b="1">
                <a:solidFill>
                  <a:srgbClr val="000F46"/>
                </a:solidFill>
              </a:rPr>
              <a:t>Recommendation:</a:t>
            </a:r>
            <a:r>
              <a:rPr sz="1600"/>
              <a:t> For each high-fragmentation topic, create a central landing page on students.unimelb.edu.au that aggregates and links to faculty-specific detail. The central page provides the overview, comparison, and navigation; faculties retain ownership of discipline-specific depth.</a:t>
            </a:r>
          </a:p>
          <a:p>
            <a:pPr>
              <a:spcAft>
                <a:spcPts val="600"/>
              </a:spcAft>
              <a:defRPr sz="1600"/>
            </a:pPr>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6. The Lifecycle Handoff Problem</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The University's web estate has three distinct lifecycle phases, and the handoffs between them are broken:</a:t>
            </a:r>
          </a:p>
          <a:p/>
          <a:p>
            <a:pPr>
              <a:spcAft>
                <a:spcPts val="600"/>
              </a:spcAft>
              <a:defRPr sz="1600"/>
            </a:pPr>
            <a:r>
              <a:t>PROSPECTIVE           →   CURRENT STUDENT        →   GRADUATE/ALUMNI</a:t>
            </a:r>
          </a:p>
          <a:p>
            <a:pPr>
              <a:spcAft>
                <a:spcPts val="600"/>
              </a:spcAft>
              <a:defRPr sz="1600"/>
            </a:pPr>
            <a:r>
              <a:t>study.unimelb.edu.au      students.unimelb +        alumni.unimelb.edu.au</a:t>
            </a:r>
          </a:p>
          <a:p>
            <a:pPr>
              <a:spcAft>
                <a:spcPts val="600"/>
              </a:spcAft>
              <a:defRPr sz="1600"/>
            </a:pPr>
            <a:r>
              <a:t>13 faculty sites</a:t>
            </a:r>
          </a:p>
          <a:p/>
          <a:p>
            <a:pPr>
              <a:spcAft>
                <a:spcPts val="600"/>
              </a:spcAft>
            </a:pPr>
            <a:r>
              <a:rPr sz="1600" b="1">
                <a:solidFill>
                  <a:srgbClr val="000F46"/>
                </a:solidFill>
              </a:rPr>
              <a:t>Prospective → Current Student:</a:t>
            </a:r>
            <a:r>
              <a:rPr sz="1600"/>
              <a:t> study.unimelb.edu.au contains 4,048 pages — course finders, ATAR tables, the Moving Guide for international students, living cost estimators, and a 6,294-word Glossary that functions as an enrolled-student orientation document. It sends 273 outbound links to students.unimelb.edu.au but has no "you're enrolled: start here" pathway. New students land mid-prospectus, dumped into a site designed for applicants.</a:t>
            </a:r>
          </a:p>
          <a:p>
            <a:pPr>
              <a:spcAft>
                <a:spcPts val="600"/>
              </a:spcAft>
            </a:pPr>
            <a:r>
              <a:rPr sz="1600" b="1">
                <a:solidFill>
                  <a:srgbClr val="000F46"/>
                </a:solidFill>
              </a:rPr>
              <a:t>Current Student → Alumni:</a:t>
            </a:r>
            <a:r>
              <a:rPr sz="1600"/>
              <a:t> This handoff does not exist. Across all 36,500+ pages in the current-student estate, there are **zero links** to alumni.unimelb.edu.au. A graduating student is never told about:</a:t>
            </a:r>
          </a:p>
          <a:p>
            <a:pPr>
              <a:spcAft>
                <a:spcPts val="600"/>
              </a:spcAft>
              <a:defRPr sz="1600"/>
            </a:pPr>
            <a:r>
              <a:t>- The global alumni chapter network (12 faculty-specific mentoring streams)</a:t>
            </a:r>
          </a:p>
          <a:p>
            <a:pPr>
              <a:spcAft>
                <a:spcPts val="600"/>
              </a:spcAft>
              <a:defRPr sz="1600"/>
            </a:pPr>
            <a:r>
              <a:t>- Graduate benefits (library access, alumni email, career tools, language learning, journal access)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6. The Lifecycle Handoff Problem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 The "Welcome new alumni" page (1,745 words of content that no graduating student will ever see)</a:t>
            </a:r>
          </a:p>
          <a:p>
            <a:pPr>
              <a:spcAft>
                <a:spcPts val="600"/>
              </a:spcAft>
              <a:defRPr sz="1600"/>
            </a:pPr>
            <a:r>
              <a:t>- Alumni awards, council, or community</a:t>
            </a:r>
          </a:p>
          <a:p>
            <a:pPr>
              <a:spcAft>
                <a:spcPts val="600"/>
              </a:spcAft>
              <a:defRPr sz="1600"/>
            </a:pPr>
            <a:r>
              <a:t>Graduation is an exit with no destination.</a:t>
            </a:r>
          </a:p>
          <a:p>
            <a:pPr>
              <a:spcAft>
                <a:spcPts val="600"/>
              </a:spcAft>
            </a:pPr>
            <a:r>
              <a:rPr sz="1600" b="1">
                <a:solidFill>
                  <a:srgbClr val="000F46"/>
                </a:solidFill>
              </a:rPr>
              <a:t>Impact on the student:</a:t>
            </a:r>
            <a:r>
              <a:rPr sz="1600"/>
              <a:t> The University operates three separate websites for three phases of what should be a single lifecycle. A student experiences these as disconnected islands. The most expensive acquisition channel (prospective marketing) has no handoff to retention. The most valuable retention outcome (alumni engagement) receives no warm handoff from graduation.</a:t>
            </a:r>
          </a:p>
          <a:p>
            <a:pPr>
              <a:spcAft>
                <a:spcPts val="600"/>
              </a:spcAft>
            </a:pPr>
            <a:r>
              <a:rPr sz="1600" b="1">
                <a:solidFill>
                  <a:srgbClr val="000F46"/>
                </a:solidFill>
              </a:rPr>
              <a:t>Recommendation:</a:t>
            </a:r>
            <a:r>
              <a:rPr sz="1600"/>
              <a:t> Build a single lifecycle navigation element that appears on every page across all three sites: "Prospective → Current → Alumni." Add a graduation pathway page on students.unimelb.edu.au that introduces alumni benefits, the chapter network, and the mentoring pipeline. Add alumni links to every faculty's final-year and graduation content.</a:t>
            </a:r>
          </a:p>
          <a:p>
            <a:pPr>
              <a:spcAft>
                <a:spcPts val="600"/>
              </a:spcAft>
              <a:defRPr sz="1600"/>
            </a:pP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7. Content Quality: Most Faculty Content Is Genuinely Unique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A persistent concern in web consolidation projects is that faculty sites are mostly "link farms" — pages that just redirect to the central hub. The data contradicts this:</a:t>
            </a:r>
          </a:p>
          <a:p>
            <a:pPr>
              <a:spcAft>
                <a:spcPts val="600"/>
              </a:spcAft>
              <a:defRPr sz="1400"/>
            </a:pPr>
            <a:r>
              <a:t>Classification  •  Pages  •  %</a:t>
            </a:r>
          </a:p>
          <a:p/>
          <a:p>
            <a:pPr>
              <a:spcAft>
                <a:spcPts val="600"/>
              </a:spcAft>
              <a:defRPr sz="1400"/>
            </a:pPr>
            <a:r>
              <a:t>Unique (substantive, faculty-specific)  •  755  •  65%</a:t>
            </a:r>
          </a:p>
          <a:p>
            <a:pPr>
              <a:spcAft>
                <a:spcPts val="600"/>
              </a:spcAft>
              <a:defRPr sz="1400"/>
            </a:pPr>
            <a:r>
              <a:t>Mixed (some unique content + some redirection)  •  323  •  28%</a:t>
            </a:r>
          </a:p>
          <a:p>
            <a:pPr>
              <a:spcAft>
                <a:spcPts val="600"/>
              </a:spcAft>
              <a:defRPr sz="1400"/>
            </a:pPr>
            <a:r>
              <a:t>Link-farm (mostly links to central hub)  •  70  •  6%</a:t>
            </a:r>
          </a:p>
          <a:p>
            <a:pPr>
              <a:spcAft>
                <a:spcPts val="600"/>
              </a:spcAft>
              <a:defRPr sz="1400"/>
            </a:pPr>
            <a:r>
              <a:t>Redirect (pass-through only)  •  5  •  &lt;1%</a:t>
            </a:r>
          </a:p>
          <a:p>
            <a:pPr>
              <a:spcAft>
                <a:spcPts val="600"/>
              </a:spcAft>
              <a:defRPr sz="1600"/>
            </a:pPr>
            <a:r>
              <a:t>**Sixty-five percent of faculty current-student content is genuinely unique.** Placements (186 pages), course planning (107 pages), research candidature (96 pages), and careers (63 pages) represent real, discipline-specific content that a central hub cannot replicate. The remaining 34% (mixed + link-farm) is where consolidation makes sense.</a:t>
            </a:r>
          </a:p>
          <a:p>
            <a:pPr>
              <a:spcAft>
                <a:spcPts val="600"/>
              </a:spcAft>
            </a:pPr>
            <a:r>
              <a:rPr sz="1600" b="1">
                <a:solidFill>
                  <a:srgbClr val="000F46"/>
                </a:solidFill>
              </a:rPr>
              <a:t>Impact on the student:</a:t>
            </a:r>
            <a:r>
              <a:rPr sz="1600"/>
              <a:t> The content is not the problem — the discoverability is. A student cannot find content that exists. The solution is not to centralise everything but to make everything findable from everywhere.</a:t>
            </a:r>
          </a:p>
          <a:p>
            <a:pPr>
              <a:spcAft>
                <a:spcPts val="600"/>
              </a:spcAft>
            </a:pPr>
            <a:r>
              <a:rPr sz="1600" b="1">
                <a:solidFill>
                  <a:srgbClr val="000F46"/>
                </a:solidFill>
              </a:rPr>
              <a:t>Recommendation:</a:t>
            </a:r>
            <a:r>
              <a:rPr sz="1600"/>
              <a:t> Consolidate the 70 link-farm pages into the central hub. For the 755 unique pages, build cross-faculty aggregation pages on the central hub that surface discipline-specific content to students who might benefit from it — regardless of which faculty created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7. Content Quality: Most Faculty Content Is Genuinely Unique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8. The Scholarships Three-Way Split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Scholarships represent the most fragmented single topic in the estate:</a:t>
            </a:r>
          </a:p>
          <a:p>
            <a:pPr>
              <a:spcAft>
                <a:spcPts val="600"/>
              </a:spcAft>
              <a:defRPr sz="1400"/>
            </a:pPr>
            <a:r>
              <a:t>Site  •  Scholarship Pages</a:t>
            </a:r>
          </a:p>
          <a:p/>
          <a:p>
            <a:pPr>
              <a:spcAft>
                <a:spcPts val="600"/>
              </a:spcAft>
              <a:defRPr sz="1400"/>
            </a:pPr>
            <a:r>
              <a:t>scholarships.unimelb.edu.au (dedicated domain)  •  2,226</a:t>
            </a:r>
          </a:p>
          <a:p>
            <a:pPr>
              <a:spcAft>
                <a:spcPts val="600"/>
              </a:spcAft>
              <a:defRPr sz="1400"/>
            </a:pPr>
            <a:r>
              <a:t>Faculty sites (9 faculties)  •  100</a:t>
            </a:r>
          </a:p>
          <a:p>
            <a:pPr>
              <a:spcAft>
                <a:spcPts val="600"/>
              </a:spcAft>
              <a:defRPr sz="1400"/>
            </a:pPr>
            <a:r>
              <a:t>study.unimelb.edu.au (prospective)  •  75</a:t>
            </a:r>
          </a:p>
          <a:p>
            <a:pPr>
              <a:spcAft>
                <a:spcPts val="600"/>
              </a:spcAft>
              <a:defRPr sz="1400"/>
            </a:pPr>
            <a:r>
              <a:t>alumni.unimelb.edu.au (alumni-funded scholarships)  •  1</a:t>
            </a:r>
          </a:p>
          <a:p>
            <a:pPr>
              <a:spcAft>
                <a:spcPts val="600"/>
              </a:spcAft>
              <a:defRPr sz="1600"/>
            </a:pPr>
            <a:r>
              <a:t>A dedicated scholarships domain exists (2,226 pages) but is **not consistently linked** from any of the three sites where students actually look for scholarships. Faculty sites list their own. study.unimelb lists entry scholarships. alumni.unimelb lists alumni-funded opportunities. No page aggregates all four sources into a single student view.</a:t>
            </a:r>
          </a:p>
          <a:p>
            <a:pPr>
              <a:spcAft>
                <a:spcPts val="600"/>
              </a:spcAft>
            </a:pPr>
            <a:r>
              <a:rPr sz="1600" b="1">
                <a:solidFill>
                  <a:srgbClr val="000F46"/>
                </a:solidFill>
              </a:rPr>
              <a:t>Impact on the student:</a:t>
            </a:r>
            <a:r>
              <a:rPr sz="1600"/>
              <a:t> A student must check four different websites to find all scholarships they are eligible for. Some scholarships will be discovered only by accident. The least-privileged students — those least likely to know the system — are the most likely to miss opportunities.</a:t>
            </a:r>
          </a:p>
          <a:p>
            <a:pPr>
              <a:spcAft>
                <a:spcPts val="600"/>
              </a:spcAft>
            </a:pPr>
            <a:r>
              <a:rPr sz="1600" b="1">
                <a:solidFill>
                  <a:srgbClr val="000F46"/>
                </a:solidFill>
              </a:rPr>
              <a:t>Recommendation:</a:t>
            </a:r>
            <a:r>
              <a:rPr sz="1600"/>
              <a:t> Make scholarships.unimelb.edu.au the single canonical source. Every faculty scholarship page, every study.unimelb listing, and every alumni-funded opportunity should link to and be discoverable from one place. The dedicated domain exists — it just needs to be wired into the estate.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8. The Scholarships Three-Way Split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9. The Study Hub Problem: Enrolled Content on a Prospective Site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study.unimelb.edu.au is the University's prospective student site — built for applicants considering Melbourne. But the crawl reveals it contains substantial content that enrolled students actually need:</a:t>
            </a:r>
          </a:p>
          <a:p>
            <a:pPr>
              <a:spcAft>
                <a:spcPts val="600"/>
              </a:spcAft>
              <a:defRPr sz="1600"/>
            </a:pPr>
            <a:r>
              <a:t>- **Graduate Degree Packages** (14+ pages, 2,000–4,700 words each): The University's enrolled-student pathway product lives on the prospective site</a:t>
            </a:r>
          </a:p>
          <a:p>
            <a:pPr>
              <a:spcAft>
                <a:spcPts val="600"/>
              </a:spcAft>
              <a:defRPr sz="1600"/>
            </a:pPr>
            <a:r>
              <a:t>- **The Moving Guide**: A post-offer, pre-arrival guide for international students — the highest-stakes misplaced content in the estate</a:t>
            </a:r>
          </a:p>
          <a:p>
            <a:pPr>
              <a:spcAft>
                <a:spcPts val="600"/>
              </a:spcAft>
              <a:defRPr sz="1600"/>
            </a:pPr>
            <a:r>
              <a:t>- **The Glossary** (6,294 words): Functions as an enrolled-student orientation document</a:t>
            </a:r>
          </a:p>
          <a:p>
            <a:pPr>
              <a:spcAft>
                <a:spcPts val="600"/>
              </a:spcAft>
              <a:defRPr sz="1600"/>
            </a:pPr>
            <a:r>
              <a:t>- **Course finder / degree browser** (81 pages): Has no equivalent in the current-student estate</a:t>
            </a:r>
          </a:p>
          <a:p>
            <a:pPr>
              <a:spcAft>
                <a:spcPts val="600"/>
              </a:spcAft>
              <a:defRPr sz="1600"/>
            </a:pPr>
            <a:r>
              <a:t>- **Campus life content** (109 pages): Framed as "will I fit in?" not "how do I participate?"</a:t>
            </a:r>
          </a:p>
          <a:p>
            <a:pPr>
              <a:spcAft>
                <a:spcPts val="600"/>
              </a:spcAft>
              <a:defRPr sz="1600"/>
            </a:pPr>
            <a:r>
              <a:t>study.unimelb sends 273 outbound links to students.unimelb.edu.au — confirming that enrolled students are already using it. But the site has no awareness that its audience includes enrolled students. A student who lands on study.unimelb to look up their course structure is treated as a prospective applicant.</a:t>
            </a:r>
          </a:p>
          <a:p>
            <a:pPr>
              <a:spcAft>
                <a:spcPts val="600"/>
              </a:spcAft>
            </a:pPr>
            <a:r>
              <a:rPr sz="1600" b="1">
                <a:solidFill>
                  <a:srgbClr val="000F46"/>
                </a:solidFill>
              </a:rPr>
              <a:t>Impact on the student:</a:t>
            </a:r>
            <a:r>
              <a:rPr sz="1600"/>
              <a:t> Enrolled students are using a site designed for prospects, receiving messaging designed for applicants, and finding no pathway back to the enrolled-student experience. The University speaks to its own students in a voice designed for people who haven't yet decided to attend.</a:t>
            </a:r>
          </a:p>
          <a:p>
            <a:pPr>
              <a:spcAft>
                <a:spcPts val="600"/>
              </a:spcAft>
            </a:pPr>
            <a:r>
              <a:rPr sz="1600" b="1">
                <a:solidFill>
                  <a:srgbClr val="000F46"/>
                </a:solidFill>
              </a:rPr>
              <a:t>Recommendation:</a:t>
            </a:r>
            <a:r>
              <a:rPr sz="1600"/>
              <a:t> Move the Moving Guide, Graduate Degree Packages, and Glossary to students.unimelb.edu.au. Add a prominent "Current students: start here" pathway on study.unimelb that recognises enrolled users and routes them appropriately.</a:t>
            </a:r>
          </a:p>
          <a:p>
            <a:pPr>
              <a:spcAft>
                <a:spcPts val="600"/>
              </a:spcAft>
              <a:defRPr sz="1600"/>
            </a:pPr>
            <a: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10. The Uneven Experience: Your Faculty Determines Your Web Experience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The 19-site estate creates an experience lottery. The quality and comprehensiveness of a student's web experience is determined by which faculty they join — not by any university-wide standard:</a:t>
            </a:r>
          </a:p>
          <a:p>
            <a:pPr>
              <a:spcAft>
                <a:spcPts val="600"/>
              </a:spcAft>
              <a:defRPr sz="1400"/>
            </a:pPr>
            <a:r>
              <a:t>Faculty  •  CS Pages  •  Experience Quality</a:t>
            </a:r>
          </a:p>
          <a:p/>
          <a:p>
            <a:pPr>
              <a:spcAft>
                <a:spcPts val="600"/>
              </a:spcAft>
              <a:defRPr sz="1400"/>
            </a:pPr>
            <a:r>
              <a:t>FEIT  •  1,985  •  Rich, self-contained — parallel ecosystem</a:t>
            </a:r>
          </a:p>
          <a:p>
            <a:pPr>
              <a:spcAft>
                <a:spcPts val="600"/>
              </a:spcAft>
              <a:defRPr sz="1400"/>
            </a:pPr>
            <a:r>
              <a:t>Law  •  3,188  •  Comprehensive — own course planning, careers, scholarships</a:t>
            </a:r>
          </a:p>
          <a:p>
            <a:pPr>
              <a:spcAft>
                <a:spcPts val="600"/>
              </a:spcAft>
              <a:defRPr sz="1400"/>
            </a:pPr>
            <a:r>
              <a:t>Medicine  •  3,213  •  Extensive — deep discipline-specific content</a:t>
            </a:r>
          </a:p>
          <a:p>
            <a:pPr>
              <a:spcAft>
                <a:spcPts val="600"/>
              </a:spcAft>
              <a:defRPr sz="1400"/>
            </a:pPr>
            <a:r>
              <a:t>Arts  •  2,446  •  Well-structured — good balance of local + central</a:t>
            </a:r>
          </a:p>
          <a:p>
            <a:pPr>
              <a:spcAft>
                <a:spcPts val="600"/>
              </a:spcAft>
              <a:defRPr sz="1400"/>
            </a:pPr>
            <a:r>
              <a:t>MDHS  •  6,079  •  Largest but most fragmented — school-level splits</a:t>
            </a:r>
          </a:p>
          <a:p>
            <a:pPr>
              <a:spcAft>
                <a:spcPts val="600"/>
              </a:spcAft>
              <a:defRPr sz="1400"/>
            </a:pPr>
            <a:r>
              <a:t>MBS  •  83  •  Thin — minimal dedicated content</a:t>
            </a:r>
          </a:p>
          <a:p>
            <a:pPr>
              <a:spcAft>
                <a:spcPts val="600"/>
              </a:spcAft>
              <a:defRPr sz="1600"/>
            </a:pPr>
            <a:r>
              <a:t>An FEIT student has access to detailed course planning tools, faculty-specific scholarship listings, discipline-relevant careers advice, and academic skills resources — all within the FEIT site. An MBS student has 83 pages. They are both students at the same university.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10. The Uneven Experience: Your Faculty Determines Your Web Experience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pPr>
            <a:r>
              <a:rPr sz="1600" b="1">
                <a:solidFill>
                  <a:srgbClr val="000F46"/>
                </a:solidFill>
              </a:rPr>
              <a:t>Impact on the student:</a:t>
            </a:r>
            <a:r>
              <a:rPr sz="1600"/>
              <a:t> The University does not deliver a consistent student experience. The quality of information available to a student is a function of their faculty's web investment, not of any institutional commitment to student support.</a:t>
            </a:r>
          </a:p>
          <a:p>
            <a:pPr>
              <a:spcAft>
                <a:spcPts val="600"/>
              </a:spcAft>
            </a:pPr>
            <a:r>
              <a:rPr sz="1600" b="1">
                <a:solidFill>
                  <a:srgbClr val="000F46"/>
                </a:solidFill>
              </a:rPr>
              <a:t>Recommendation:</a:t>
            </a:r>
            <a:r>
              <a:rPr sz="1600"/>
              <a:t> Establish a university-wide minimum standard for current-student web content. Every faculty must meet a baseline: course planning guidance, key contacts, placement information (where applicable), and clear pathways to central services. Audit annually.</a:t>
            </a:r>
          </a:p>
          <a:p>
            <a:pPr>
              <a:spcAft>
                <a:spcPts val="600"/>
              </a:spcAft>
              <a:defRPr sz="1600"/>
            </a:pPr>
            <a: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11. The Gap Analysis: What Students Cannot Find</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Several critical pieces of information that students need are either missing or trapped on the wrong site:</a:t>
            </a:r>
          </a:p>
          <a:p>
            <a:pPr>
              <a:spcAft>
                <a:spcPts val="600"/>
              </a:spcAft>
              <a:defRPr sz="1400"/>
            </a:pPr>
            <a:r>
              <a:t>What Students Need  •  Where It Is  •  Problem</a:t>
            </a:r>
          </a:p>
          <a:p/>
          <a:p>
            <a:pPr>
              <a:spcAft>
                <a:spcPts val="600"/>
              </a:spcAft>
              <a:defRPr sz="1400"/>
            </a:pPr>
            <a:r>
              <a:t>All scholarships I'm eligible for  •  4 different sites  •  No single view exists</a:t>
            </a:r>
          </a:p>
          <a:p>
            <a:pPr>
              <a:spcAft>
                <a:spcPts val="600"/>
              </a:spcAft>
              <a:defRPr sz="1400"/>
            </a:pPr>
            <a:r>
              <a:t>What happens after graduation  •  alumni.unimelb.edu.au  •  Zero links from current-student estate</a:t>
            </a:r>
          </a:p>
          <a:p>
            <a:pPr>
              <a:spcAft>
                <a:spcPts val="600"/>
              </a:spcAft>
              <a:defRPr sz="1400"/>
            </a:pPr>
            <a:r>
              <a:t>How to plan my course  •  10 faculty sites, study.unimelb, handbook  •  No cross-faculty comparison</a:t>
            </a:r>
          </a:p>
          <a:p>
            <a:pPr>
              <a:spcAft>
                <a:spcPts val="600"/>
              </a:spcAft>
              <a:defRPr sz="1400"/>
            </a:pPr>
            <a:r>
              <a:t>Placement opportunities  •  9 faculty sites  •  Cannot compare across faculties</a:t>
            </a:r>
          </a:p>
          <a:p>
            <a:pPr>
              <a:spcAft>
                <a:spcPts val="600"/>
              </a:spcAft>
              <a:defRPr sz="1400"/>
            </a:pPr>
            <a:r>
              <a:t>Career pathways after my degree  •  Faculty sites + alumni mentoring  •  Two parallel systems, no connection</a:t>
            </a:r>
          </a:p>
          <a:p>
            <a:pPr>
              <a:spcAft>
                <a:spcPts val="600"/>
              </a:spcAft>
              <a:defRPr sz="1400"/>
            </a:pPr>
            <a:r>
              <a:t>Support services available to me  •  students.unimelb + faculty sites  •  Fragmented; faculty-dependent</a:t>
            </a:r>
          </a:p>
          <a:p>
            <a:pPr>
              <a:spcAft>
                <a:spcPts val="600"/>
              </a:spcAft>
              <a:defRPr sz="1400"/>
            </a:pPr>
            <a:r>
              <a:t>What my faculty offers vs central services  •  Neither site makes this clear  •  Student must discover through trial and error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11. The Gap Analysis: What Students Cannot Find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pPr>
            <a:r>
              <a:rPr sz="1600" b="1">
                <a:solidFill>
                  <a:srgbClr val="000F46"/>
                </a:solidFill>
              </a:rPr>
              <a:t>Impact on the student:</a:t>
            </a:r>
            <a:r>
              <a:rPr sz="1600"/>
              <a:t> Students must triangulate information across multiple sites with no guidance about which source is authoritative for which question. The University has not told its students where to look — it expects them to figure it out.</a:t>
            </a:r>
          </a:p>
          <a:p>
            <a:pPr>
              <a:spcAft>
                <a:spcPts val="600"/>
              </a:spcAft>
            </a:pPr>
            <a:r>
              <a:rPr sz="1600" b="1">
                <a:solidFill>
                  <a:srgbClr val="000F46"/>
                </a:solidFill>
              </a:rPr>
              <a:t>Recommendation:</a:t>
            </a:r>
            <a:r>
              <a:rPr sz="1600"/>
              <a:t> For each high-stakes student question (scholarships, placements, course planning, graduation), designate a single canonical starting point and ensure every related page across the estate links to it. The starting point provides overview and navigation; faculty pages provide depth.</a:t>
            </a:r>
          </a:p>
          <a:p>
            <a:pPr>
              <a:spcAft>
                <a:spcPts val="600"/>
              </a:spcAft>
              <a:defRPr sz="1600"/>
            </a:pPr>
            <a: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12. Recommendations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1. **Standardise the URL convention.** Every faculty CS section at `/students`.</a:t>
            </a:r>
          </a:p>
          <a:p>
            <a:pPr>
              <a:spcAft>
                <a:spcPts val="600"/>
              </a:spcAft>
              <a:defRPr sz="1600"/>
            </a:pPr>
            <a:r>
              <a:t>2. **Fix the life cycle navigation.** Add "Prospective → Current → Alumni" navigation element across all sites.</a:t>
            </a:r>
          </a:p>
          <a:p>
            <a:pPr>
              <a:spcAft>
                <a:spcPts val="600"/>
              </a:spcAft>
              <a:defRPr sz="1600"/>
            </a:pPr>
            <a:r>
              <a:t>3. **Build the graduation pathway.** A single page on students.unimelb.edu.au introducing alumni benefits, chapters, and mentoring — linked from every faculty's graduation content.</a:t>
            </a:r>
          </a:p>
          <a:p>
            <a:pPr>
              <a:spcAft>
                <a:spcPts val="600"/>
              </a:spcAft>
              <a:defRPr sz="1600"/>
            </a:pPr>
            <a:r>
              <a:t>4. **Consolidate the 70 link-farm pages** into students.unimelb.edu.au.</a:t>
            </a:r>
          </a:p>
          <a:p>
            <a:pPr>
              <a:spcAft>
                <a:spcPts val="600"/>
              </a:spcAft>
              <a:defRPr sz="1600"/>
            </a:pPr>
            <a:r>
              <a:t>5. **Wire scholarships.unimelb.edu.au** as the canonical source — link from every faculty and from study.unimelb.</a:t>
            </a:r>
          </a:p>
          <a:p>
            <a:pPr>
              <a:spcAft>
                <a:spcPts val="600"/>
              </a:spcAft>
              <a:defRPr sz="1600"/>
            </a:pPr>
            <a:r>
              <a:t>6. **Move the Moving Guide, Graduate Degree Packages, and Glossary** from study.unimelb to students.unimelb.</a:t>
            </a:r>
          </a:p>
          <a:p>
            <a:pPr>
              <a:spcAft>
                <a:spcPts val="600"/>
              </a:spcAft>
              <a:defRPr sz="1600"/>
            </a:pPr>
            <a:r>
              <a:t>7. **Consolidate MDHS and FBE school-level CS sections** into faculty sites.</a:t>
            </a:r>
          </a:p>
          <a:p>
            <a:pPr>
              <a:spcAft>
                <a:spcPts val="600"/>
              </a:spcAft>
              <a:defRPr sz="1600"/>
            </a:pPr>
            <a:r>
              <a:t>8. **Create cross-faculty topic aggregation pages** on students.unimelb for placements, course planning, careers, and scholarships.</a:t>
            </a:r>
          </a:p>
          <a:p>
            <a:pPr>
              <a:spcAft>
                <a:spcPts val="600"/>
              </a:spcAft>
              <a:defRPr sz="1600"/>
            </a:pPr>
            <a:r>
              <a:t>9. **Establish university-wide minimum content standards** for faculty CS sections — audit annually.</a:t>
            </a:r>
          </a:p>
          <a:p>
            <a:pPr>
              <a:spcAft>
                <a:spcPts val="600"/>
              </a:spcAft>
              <a:defRPr sz="1600"/>
            </a:pPr>
            <a:r>
              <a:t>10. **Build a "prospective → enrolled" recognition pathway** on study.unimelb that routes enrolled users to students.unimelb.</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12. Recommendations (cont.)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11. **Create a single signposting framework** — for every high-stakes student question, one canonical starting point that every related page links to.</a:t>
            </a:r>
          </a:p>
          <a:p>
            <a:pPr>
              <a:spcAft>
                <a:spcPts val="600"/>
              </a:spcAft>
              <a:defRPr sz="1600"/>
            </a:pPr>
            <a:r>
              <a:t>---</a:t>
            </a:r>
          </a:p>
          <a:p>
            <a:pPr>
              <a:spcAft>
                <a:spcPts val="600"/>
              </a:spcAft>
              <a:defRPr sz="1600"/>
            </a:pPr>
            <a:r>
              <a:t>*This report is based on analysis of 36,500+ pages across 19 University of Melbourne websites, crawled in June 2026. The crawl captured full HTML content for every page, with per-page link graphs, topic classification, and cross-site overlap analysis. All findings are evidence-grounded and traceable to specific pages in the corpus.*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12 Recommendations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Immediate (this semester):</a:t>
            </a:r>
          </a:p>
          <a:p>
            <a:pPr>
              <a:spcAft>
                <a:spcPts val="600"/>
              </a:spcAft>
              <a:defRPr sz="1600"/>
            </a:pPr>
            <a:r>
              <a:t>1. Standardise URL convention — every faculty at /students</a:t>
            </a:r>
          </a:p>
          <a:p>
            <a:pPr>
              <a:spcAft>
                <a:spcPts val="600"/>
              </a:spcAft>
              <a:defRPr sz="1600"/>
            </a:pPr>
            <a:r>
              <a:t>2. Add Prospective → Current → Alumni lifecycle navigation</a:t>
            </a:r>
          </a:p>
          <a:p>
            <a:pPr>
              <a:spcAft>
                <a:spcPts val="600"/>
              </a:spcAft>
              <a:defRPr sz="1600"/>
            </a:pPr>
            <a:r>
              <a:t>3. Build graduation pathway page on students.unimelb</a:t>
            </a:r>
          </a:p>
          <a:p>
            <a:pPr>
              <a:spcAft>
                <a:spcPts val="600"/>
              </a:spcAft>
              <a:defRPr sz="1600"/>
            </a:pPr>
          </a:p>
          <a:p>
            <a:pPr>
              <a:spcAft>
                <a:spcPts val="600"/>
              </a:spcAft>
              <a:defRPr sz="1600"/>
            </a:pPr>
            <a:r>
              <a:t>Short-term (next 6 months):</a:t>
            </a:r>
          </a:p>
          <a:p>
            <a:pPr>
              <a:spcAft>
                <a:spcPts val="600"/>
              </a:spcAft>
              <a:defRPr sz="1600"/>
            </a:pPr>
            <a:r>
              <a:t>4. Consolidate 70 link-farm pages into central hub</a:t>
            </a:r>
          </a:p>
          <a:p>
            <a:pPr>
              <a:spcAft>
                <a:spcPts val="600"/>
              </a:spcAft>
              <a:defRPr sz="1600"/>
            </a:pPr>
            <a:r>
              <a:t>5. Wire scholarships.unimelb as canonical source</a:t>
            </a:r>
          </a:p>
          <a:p>
            <a:pPr>
              <a:spcAft>
                <a:spcPts val="600"/>
              </a:spcAft>
              <a:defRPr sz="1600"/>
            </a:pPr>
            <a:r>
              <a:t>6. Move Moving Guide, GDP, Glossary from study to students</a:t>
            </a:r>
          </a:p>
          <a:p>
            <a:pPr>
              <a:spcAft>
                <a:spcPts val="600"/>
              </a:spcAft>
              <a:defRPr sz="1600"/>
            </a:pPr>
            <a:r>
              <a:t>7. Consolidate MDHS/FBE school-level CS sections</a:t>
            </a:r>
          </a:p>
          <a:p>
            <a:pPr>
              <a:spcAft>
                <a:spcPts val="600"/>
              </a:spcAft>
              <a:defRPr sz="1600"/>
            </a:pPr>
            <a:r>
              <a:t>8. Create cross-faculty topic aggregation pages</a:t>
            </a:r>
          </a:p>
          <a:p>
            <a:pPr>
              <a:spcAft>
                <a:spcPts val="600"/>
              </a:spcAft>
              <a:defRPr sz="1600"/>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0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515600" cy="731520"/>
          </a:xfrm>
          <a:prstGeom prst="rect">
            <a:avLst/>
          </a:prstGeom>
          <a:noFill/>
        </p:spPr>
        <p:txBody>
          <a:bodyPr wrap="square">
            <a:spAutoFit/>
          </a:bodyPr>
          <a:lstStyle/>
          <a:p>
            <a:pPr>
              <a:defRPr sz="2800" b="1">
                <a:solidFill>
                  <a:srgbClr val="000F46"/>
                </a:solidFill>
              </a:defRPr>
            </a:pPr>
            <a:r>
              <a:t>About the Data</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600"/>
              </a:spcAft>
              <a:defRPr sz="1600"/>
            </a:pPr>
            <a:r>
              <a:t>36,500+ pages across 19 University websites — full HTML crawl, June 2026</a:t>
            </a:r>
          </a:p>
          <a:p>
            <a:pPr>
              <a:spcAft>
                <a:spcPts val="600"/>
              </a:spcAft>
              <a:defRPr sz="1600"/>
            </a:pPr>
          </a:p>
          <a:p>
            <a:pPr>
              <a:spcAft>
                <a:spcPts val="600"/>
              </a:spcAft>
              <a:defRPr sz="1600"/>
            </a:pPr>
            <a:r>
              <a:t>65% of faculty content is genuinely unique (not link-farm)</a:t>
            </a:r>
          </a:p>
          <a:p>
            <a:pPr>
              <a:spcAft>
                <a:spcPts val="600"/>
              </a:spcAft>
              <a:defRPr sz="1600"/>
            </a:pPr>
            <a:r>
              <a:t>22 topics fragmented across 9–11 faculty sites each</a:t>
            </a:r>
          </a:p>
          <a:p>
            <a:pPr>
              <a:spcAft>
                <a:spcPts val="600"/>
              </a:spcAft>
              <a:defRPr sz="1600"/>
            </a:pPr>
            <a:r>
              <a:t>5 different URL conventions for 'current student information'</a:t>
            </a:r>
          </a:p>
          <a:p>
            <a:pPr>
              <a:spcAft>
                <a:spcPts val="600"/>
              </a:spcAft>
              <a:defRPr sz="1600"/>
            </a:pPr>
            <a:r>
              <a:t>Zero links from current-student estate to alumni site</a:t>
            </a:r>
          </a:p>
          <a:p>
            <a:pPr>
              <a:spcAft>
                <a:spcPts val="600"/>
              </a:spcAft>
              <a:defRPr sz="1600"/>
            </a:pPr>
            <a:r>
              <a:t>3-way scholarship split across dedicated domain + faculty + study sites</a:t>
            </a:r>
          </a:p>
          <a:p>
            <a:pPr>
              <a:spcAft>
                <a:spcPts val="600"/>
              </a:spcAft>
              <a:defRPr sz="1600"/>
            </a:pPr>
            <a:r>
              <a:t>Average faculty site: 2,100 pages (range: 83–6,079)</a:t>
            </a:r>
          </a:p>
          <a:p>
            <a:pPr>
              <a:spcAft>
                <a:spcPts val="600"/>
              </a:spcAft>
              <a:defRPr sz="1600"/>
            </a:pPr>
          </a:p>
          <a:p>
            <a:pPr>
              <a:spcAft>
                <a:spcPts val="600"/>
              </a:spcAft>
              <a:defRPr sz="1600"/>
            </a:pPr>
            <a:r>
              <a:t>All findings evidence-grounded and traceable to specific pages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